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000000"/>
                </a:solidFill>
                <a:latin typeface="Arial"/>
              </a:defRPr>
            </a:pPr>
            <a:r>
              <a:rPr sz="1200" b="0" i="0" u="none" strike="noStrike">
                <a:solidFill>
                  <a:srgbClr val="000000"/>
                </a:solidFill>
                <a:latin typeface="Arial"/>
              </a:rPr>
              <a:t>Accuracy by Fold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29ABE2"/>
            </a:solidFill>
            <a:effectLst/>
          </c:spPr>
          <c:invertIfNegative val="0"/>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dPt>
            <c:idx val="0"/>
            <c:invertIfNegative val="0"/>
            <c:bubble3D val="0"/>
            <c:spPr>
              <a:solidFill>
                <a:srgbClr val="29ABE2"/>
              </a:solidFill>
              <a:effectLst/>
            </c:spPr>
          </c:dPt>
          <c:dPt>
            <c:idx val="1"/>
            <c:invertIfNegative val="0"/>
            <c:bubble3D val="0"/>
            <c:spPr>
              <a:solidFill>
                <a:srgbClr val="29ABE2"/>
              </a:solidFill>
              <a:effectLst/>
            </c:spPr>
          </c:dPt>
          <c:dPt>
            <c:idx val="2"/>
            <c:invertIfNegative val="0"/>
            <c:bubble3D val="0"/>
            <c:spPr>
              <a:solidFill>
                <a:srgbClr val="D94F3D"/>
              </a:solidFill>
              <a:effectLst/>
            </c:spPr>
          </c:dPt>
          <c:dPt>
            <c:idx val="3"/>
            <c:invertIfNegative val="0"/>
            <c:bubble3D val="0"/>
            <c:spPr>
              <a:solidFill>
                <a:srgbClr val="29ABE2"/>
              </a:solidFill>
              <a:effectLst/>
            </c:spPr>
          </c:dPt>
          <c:dPt>
            <c:idx val="4"/>
            <c:invertIfNegative val="0"/>
            <c:bubble3D val="0"/>
            <c:spPr>
              <a:solidFill>
                <a:srgbClr val="F5A623"/>
              </a:solidFill>
              <a:effectLst/>
            </c:spPr>
          </c:dPt>
          <c:cat>
            <c:multiLvlStrRef>
              <c:f>Sheet1!$A$2:$A$6</c:f>
              <c:multiLvlStrCache>
                <c:ptCount val="5"/>
                <c:lvl>
                  <c:pt idx="0">
                    <c:v>Fold 0</c:v>
                  </c:pt>
                  <c:pt idx="1">
                    <c:v>Fold 1</c:v>
                  </c:pt>
                  <c:pt idx="2">
                    <c:v>Fold 2
(Mid collapse)</c:v>
                  </c:pt>
                  <c:pt idx="3">
                    <c:v>Fold 3</c:v>
                  </c:pt>
                  <c:pt idx="4">
                    <c:v>Fold 4
(Low collapse)</c:v>
                  </c:pt>
                </c:lvl>
              </c:multiLvlStrCache>
            </c:multiLvlStrRef>
          </c:cat>
          <c:val>
            <c:numRef>
              <c:f>Sheet1!$B$2:$B$6</c:f>
              <c:numCache>
                <c:formatCode>General</c:formatCode>
                <c:ptCount val="5"/>
                <c:pt idx="0">
                  <c:v>56.45</c:v>
                </c:pt>
                <c:pt idx="1">
                  <c:v>54.74</c:v>
                </c:pt>
                <c:pt idx="2">
                  <c:v>33.41</c:v>
                </c:pt>
                <c:pt idx="3">
                  <c:v>56.5</c:v>
                </c:pt>
                <c:pt idx="4">
                  <c:v>56.67</c:v>
                </c:pt>
              </c:numCache>
            </c:numRef>
          </c:val>
        </c:ser>
        <c:dLbls>
          <c:numFmt formatCode="#,##0" sourceLinked="0"/>
          <c:txPr>
            <a:bodyPr/>
            <a:lstStyle/>
            <a:p>
              <a:pPr>
                <a:defRPr b="0" i="0" strike="noStrike" sz="1000" u="none">
                  <a:solidFill>
                    <a:srgbClr val="1E2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000000"/>
                </a:solidFill>
                <a:latin typeface="Arial"/>
              </a:defRPr>
            </a:pPr>
            <a:r>
              <a:rPr sz="1200" b="0" i="0" u="none" strike="noStrike">
                <a:solidFill>
                  <a:srgbClr val="000000"/>
                </a:solidFill>
                <a:latin typeface="Arial"/>
              </a:rPr>
              <a:t>QWK per Fold</a:t>
            </a:r>
          </a:p>
        </c:rich>
      </c:tx>
      <c:layout/>
      <c:overlay val="0"/>
    </c:title>
    <c:autoTitleDeleted val="0"/>
    <c:plotArea>
      <c:layout/>
      <c:lineChart>
        <c:varyColors val="0"/>
        <c:ser>
          <c:idx val="0"/>
          <c:order val="0"/>
          <c:tx>
            <c:strRef>
              <c:f>Sheet1!$B$1</c:f>
              <c:strCache>
                <c:ptCount val="1"/>
                <c:pt idx="0">
                  <c:v>QWK</c:v>
                </c:pt>
              </c:strCache>
            </c:strRef>
          </c:tx>
          <c:spPr>
            <a:solidFill>
              <a:srgbClr val="F5A623"/>
            </a:solidFill>
            <a:ln w="38100" cap="flat">
              <a:solidFill>
                <a:srgbClr val="F5A623"/>
              </a:solidFill>
              <a:prstDash val="solid"/>
              <a:round/>
            </a:ln>
            <a:effectLst/>
          </c:spPr>
          <c:invertIfNegative val="0"/>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F5A623"/>
              </a:solidFill>
              <a:ln w="9525" cap="flat">
                <a:solidFill>
                  <a:srgbClr val="F5A623"/>
                </a:solidFill>
                <a:prstDash val="solid"/>
                <a:round/>
              </a:ln>
              <a:effectLst/>
            </c:spPr>
          </c:marker>
          <c:cat>
            <c:multiLvlStrRef>
              <c:f>Sheet1!$A$2:$A$6</c:f>
              <c:multiLvlStrCache>
                <c:ptCount val="5"/>
                <c:lvl>
                  <c:pt idx="0">
                    <c:v>Fold 0</c:v>
                  </c:pt>
                  <c:pt idx="1">
                    <c:v>Fold 1</c:v>
                  </c:pt>
                  <c:pt idx="2">
                    <c:v>Fold 2</c:v>
                  </c:pt>
                  <c:pt idx="3">
                    <c:v>Fold 3</c:v>
                  </c:pt>
                  <c:pt idx="4">
                    <c:v>Fold 4</c:v>
                  </c:pt>
                </c:lvl>
              </c:multiLvlStrCache>
            </c:multiLvlStrRef>
          </c:cat>
          <c:val>
            <c:numRef>
              <c:f>Sheet1!$B$2:$B$6</c:f>
              <c:numCache>
                <c:formatCode>General</c:formatCode>
                <c:ptCount val="5"/>
                <c:pt idx="0">
                  <c:v>0.1579</c:v>
                </c:pt>
                <c:pt idx="1">
                  <c:v>0.0616</c:v>
                </c:pt>
                <c:pt idx="2">
                  <c:v>0.1049</c:v>
                </c:pt>
                <c:pt idx="3">
                  <c:v>0.029</c:v>
                </c:pt>
                <c:pt idx="4">
                  <c:v>-0.0068</c:v>
                </c:pt>
              </c:numCache>
            </c:numRef>
          </c:val>
          <c:smooth val="0"/>
        </c:ser>
        <c:dLbls>
          <c:numFmt formatCode="#,##0" sourceLinked="0"/>
          <c:txPr>
            <a:bodyPr/>
            <a:lstStyle/>
            <a:p>
              <a:pPr>
                <a:defRPr b="0" i="0" strike="noStrike" sz="9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Open by framing the research context: we are evaluating a 3D convolutional neural network — specifically Facebook/Meta's SLOW 8×8 R50 backbone from the SlowFast framework — on the OUC-CGE classroom engagement dataset. The task is to classify 10-second video clips of groups of students into three ordinal engagement levels: Low, Medium, and High.
This experiment was run on a single Nvidia RTX laptop GPU with a batch size of 8, which is a meaningful hardware constraint that will become relevant when we discuss the collapse behaviour in later slides.
The 5-fold cross-validation setup gives us a robust estimate of generalisation performance across different splits of the dataset rather than a single train/test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Executive Summary
The headline numbers are stark: 51.56% average accuracy on a 3-class problem where random chance gives 33.3%. On the surface this looks like the model learned something, but Macro-F1 of 31.75% tells a very different story. Macro-F1 treats all classes equally — a model that predicts only 'Low' on a balanced dataset would achieve approximately 33% Macro-F1. Our result is barely above that, confirming the model is not generalising.
QWK (Quadratic Weighted Kappa) of 0.069 is critical: anything below 0.20 is considered 'slight agreement' by the Landis &amp; Koch scale. A QWK of 0.069 is functionally near-zero — there is almost no ordinal agreement between the model's predictions and the ground truth labels.
Most importantly, one fold produced a NEGATIVE QWK (Fold 4: -0.0068), meaning predictions are systematically worse than random agreement. This is the hallmark of complete model collapse.
The key takeaway to communicate: this is not a dataset quality problem — it is a training protocol problem. The model architecture is sound (proven by Lu et al.), but it needs more training time to converge.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Dataset &amp; Preprocessing
The preprocessing pipeline has two critical components that directly impact model training quality:
CORRUPTION CHECK: Raw video datasets often contain files that fail to decode (empty frames, codec errors, truncated files). Using OpenCV to pre-scan ensures the DataLoader never hits a null tensor mid-batch, which would crash training or silently corrupt gradients.
STRATIFIED + DOWNSAMPLED SPLITS: The downsampling of majority classes per fold is important to understand. By balancing the training set, we ensure the model sees equal numbers of Low, Mid, and High examples. This removes the naive bias of predicting the majority class — so the collapse we observe in Folds 2 and 4 is NOT attributable to training data imbalance. The collapse is purely a convergence failure.
Note that validation sets (~1,230 samples each) may still reflect natural class distribution rather than the balanced training distribution, so accuracy figures should be interpreted alongside Macro-F1 and QWK.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Model Architecture
The SLOW pathway from SlowFast is a spatially-rich but temporally-sparse encoder. It samples 8 frames from a 10-second clip — approximately one frame per 1.25 seconds — and processes them through a ResNet-50 3D convolutional backbone. The key insight is that this model is designed to capture appearance features (posture, facial configuration) rather than rapid motion dynamics.
This is actually a good choice for classroom engagement: Lu et al. (2025) showed that the SLOW backbone achieves the best results on OUC-CGE precisely because engagement is more about static configuration (are they leaning forward? taking notes?) than moment-to-moment motion.
The hardware constraint (single RTX laptop GPU, batch size 8) is significant. With a large model like SLOW R50 pretrained on Kinetics-400, meaningful convergence typically requires 30–60 epochs. A limited epoch budget means the model's loss surface exploration is truncated — it finds a local minimum (predict majority class) and stops there.
The Kinetics-400 pretraining gives good weight initialisation, but the fine-tuning task (classroom engagement) is a substantial domain shift from action recognition, so more epochs are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Performance Table
Walk through the table column by column:
ACCURACY: Folds 0, 1, 3, 4 all cluster around 54–57%, which is notable — they are barely above the accuracy achievable by always predicting 'Low' on a balanced dataset. Fold 2's 33.41% unmasks a Mid-class collapse — the 'accuracy' here equals approximately the proportion of Mid-class samples in the validation set.
MACRO-F1: This is the most honest metric. Fold 0 at 41.63% is the best — it actually learned something about all three classes. Folds 3 and 4 at 32–25% indicate the model learned primarily one class. The mean of 31.75% is barely above random (33.3% for a uniform random classifier).
QWK: The progression from Fold 0 (0.158) to Fold 4 (-0.007) shows increasing collapse severity. A negative QWK means the model's ordinal predictions are inversely correlated with ground truth rank ordering. Fold 4 predicted almost exclusively Low when the true label distribution included Mid and High — the opposite of correct ordinal behaviour.
HIGH STD (±9.10% accuracy): This tells us the model is extremely sensitive to which fold it's trained on — a sign of high variance due to insufficient training, not dataset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Model Collapse
This slide is the diagnostic centrepiece of the presentation.
FOLD 2 COLLAPSE (Mid): The model predicted 'Mid' for 1,023 out of 1,233 validation samples. Critically, it predicted 0 'High' samples. This tells us the model never learned the feature space for 'High' engagement at all. The moderate 575 'Low→Mid' misclassifications suggest the model learned that 'Mid' is a 'safe' prediction that incurs low average loss.
FOLD 4 COLLAPSE (Low): Even more extreme — 1,216/1,230 samples predicted as 'Low'. The QWK of -0.0068 is technically sub-random. The 339 Mid samples and 188 High samples all predicted as Low means the model completely ignored the higher engagement states. Interestingly, the raw accuracy (56.67%) looks reasonable because the validation set naturally contains many Low-engagement clips — this is a perfect example of why accuracy alone is a misleading metric for class-imbalanced tasks.
THE KEY INSIGHT: In both collapses, the model converged to a degenerate solution. The softmax output became nearly a one-hot vector pointing at a single class. This happens when gradients for minority classes become negligibly small before the model has developed class-discriminative representations. More epochs, or a weighted loss, would force the model to keep learning across all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Hypotheses
H1 (Insufficient Epochs) is the primary hypothesis and the most actionable. The literature on fine-tuning large pretrained video models consistently shows that 30–100 epochs are needed for stable convergence on domain-shifted tasks. If this experiment ran for, say, 10–15 epochs, it would be textbook underfitting.
H2 (Learning Rate) is a secondary contributing factor. The standard SlowFast fine-tuning recipe uses SGD with momentum and a cosine LR schedule, but this assumes a full training run. If the LR was set for a long schedule but training was cut short, the model may have spent all its epochs in the high-LR warm-up phase without reaching the refinement stage.
H3 (Fold Variance) explains the inconsistency between folds. If H1 were the only cause, we would expect all folds to collapse to the same class. The fact that Fold 2 collapsed to Mid and Fold 4 collapsed to Low suggests the data distribution in each fold created different gradient pathways during training.
IMPORTANT: These hypotheses are falsifiable. To confirm H1, simply re-run with 2× the epochs and compare. If performance improves substantially, H1 is confirmed. This is the most direct and cheapest experiment to run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Recommendations
LEFT COLUMN — Immediate Fixes (can be done in the next experimental run):
EPOCHS: This is the single highest-ROI intervention. Even doubling the epoch count from whatever was used to 2× should show measurable improvement. Target a QWK &gt; 0.4 as a signal that the model has begun to learn cross-class boundaries.
WEIGHTED LOSS: sklearn's compute_class_weight() with 'balanced' mode gives you correct weights from your fold's class counts. Feed these as the weight parameter to nn.CrossEntropyLoss(). This is a one-line code change with potentially large impact on collapse prevention.
LR SCHEDULE: torch.optim.lr_scheduler.OneCycleLR is well-suited for short fine-tuning runs. It ramps up LR quickly then decays, allowing the model to escape early degenerate minima.
RIGHT COLUMN — Longer-Term:
EMD LOSS: The Squared Earth Mover's Distance is specifically designed for ordinal classification. It penalises a Low→High misclassification much more than a Low→Mid misclassification, naturally discouraging the collapse behaviour we observed.
SLOWFAST TWO-PATHWAY: The full SlowFast model may outperform the SLOW-only variant on OUC-CGE if trained to convergence. The Fast pathway captures temporal motion patterns (e.g., pen-spinning vs. note-taking movements) that the SLOW pathway misses.
Conclude by reaffirming: the OUC-CGE dataset and SLOW architecture are not the bottleneck. Lu et al. demonstrated 97.8% accuracy with this exact model. The bottleneck is training duration and loss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3749040"/>
            <a:ext cx="9144000" cy="1394460"/>
          </a:xfrm>
          <a:prstGeom prst="rect">
            <a:avLst/>
          </a:prstGeom>
          <a:solidFill>
            <a:srgbClr val="2E4066"/>
          </a:solidFill>
          <a:ln w="12700">
            <a:solidFill>
              <a:srgbClr val="2E4066"/>
            </a:solidFill>
            <a:prstDash val="solid"/>
          </a:ln>
        </p:spPr>
      </p:sp>
      <p:sp>
        <p:nvSpPr>
          <p:cNvPr id="3" name="Text 1"/>
          <p:cNvSpPr/>
          <p:nvPr/>
        </p:nvSpPr>
        <p:spPr>
          <a:xfrm>
            <a:off x="502920" y="502920"/>
            <a:ext cx="8138160" cy="82296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Classroom Group Engagement Recognition</a:t>
            </a:r>
            <a:endParaRPr lang="en-US" sz="3600" dirty="0"/>
          </a:p>
        </p:txBody>
      </p:sp>
      <p:sp>
        <p:nvSpPr>
          <p:cNvPr id="4" name="Text 2"/>
          <p:cNvSpPr/>
          <p:nvPr/>
        </p:nvSpPr>
        <p:spPr>
          <a:xfrm>
            <a:off x="502920" y="1298448"/>
            <a:ext cx="8138160" cy="566928"/>
          </a:xfrm>
          <a:prstGeom prst="rect">
            <a:avLst/>
          </a:prstGeom>
          <a:noFill/>
          <a:ln/>
        </p:spPr>
        <p:txBody>
          <a:bodyPr wrap="square" lIns="0" tIns="0" rIns="0" bIns="0" rtlCol="0" anchor="ctr"/>
          <a:lstStyle/>
          <a:p>
            <a:pPr indent="0" marL="0">
              <a:buNone/>
            </a:pPr>
            <a:r>
              <a:rPr lang="en-US" sz="2800" dirty="0">
                <a:solidFill>
                  <a:srgbClr val="D4E4F7"/>
                </a:solidFill>
                <a:latin typeface="Calibri" pitchFamily="34" charset="0"/>
                <a:ea typeface="Calibri" pitchFamily="34" charset="-122"/>
                <a:cs typeface="Calibri" pitchFamily="34" charset="-120"/>
              </a:rPr>
              <a:t>on the OUC-CGE Dataset</a:t>
            </a:r>
            <a:endParaRPr lang="en-US" sz="2800" dirty="0"/>
          </a:p>
        </p:txBody>
      </p:sp>
      <p:sp>
        <p:nvSpPr>
          <p:cNvPr id="5" name="Text 3"/>
          <p:cNvSpPr/>
          <p:nvPr/>
        </p:nvSpPr>
        <p:spPr>
          <a:xfrm>
            <a:off x="502920" y="1993392"/>
            <a:ext cx="8138160" cy="438912"/>
          </a:xfrm>
          <a:prstGeom prst="rect">
            <a:avLst/>
          </a:prstGeom>
          <a:noFill/>
          <a:ln/>
        </p:spPr>
        <p:txBody>
          <a:bodyPr wrap="square" lIns="0" tIns="0" rIns="0" bIns="0" rtlCol="0" anchor="ctr"/>
          <a:lstStyle/>
          <a:p>
            <a:pPr indent="0" marL="0">
              <a:buNone/>
            </a:pPr>
            <a:r>
              <a:rPr lang="en-US" sz="1800" i="1" dirty="0">
                <a:solidFill>
                  <a:srgbClr val="29ABE2"/>
                </a:solidFill>
                <a:latin typeface="Calibri" pitchFamily="34" charset="0"/>
                <a:ea typeface="Calibri" pitchFamily="34" charset="-122"/>
                <a:cs typeface="Calibri" pitchFamily="34" charset="-120"/>
              </a:rPr>
              <a:t>5-Fold Cross-Validation Study | SLOW 8×8 R50 (ResNet-50 3D CNN)</a:t>
            </a:r>
            <a:endParaRPr lang="en-US" sz="1800" dirty="0"/>
          </a:p>
        </p:txBody>
      </p:sp>
      <p:sp>
        <p:nvSpPr>
          <p:cNvPr id="6" name="Text 4"/>
          <p:cNvSpPr/>
          <p:nvPr/>
        </p:nvSpPr>
        <p:spPr>
          <a:xfrm>
            <a:off x="320040" y="3822192"/>
            <a:ext cx="1554480" cy="256032"/>
          </a:xfrm>
          <a:prstGeom prst="rect">
            <a:avLst/>
          </a:prstGeom>
          <a:noFill/>
          <a:ln/>
        </p:spPr>
        <p:txBody>
          <a:bodyPr wrap="square" lIns="0" tIns="0" rIns="0" bIns="0" rtlCol="0" anchor="ctr"/>
          <a:lstStyle/>
          <a:p>
            <a:pPr indent="0" marL="0">
              <a:buNone/>
            </a:pPr>
            <a:r>
              <a:rPr lang="en-US" sz="900" spc="200" kern="0" dirty="0">
                <a:solidFill>
                  <a:srgbClr val="8FA3BF"/>
                </a:solidFill>
                <a:latin typeface="Calibri" pitchFamily="34" charset="0"/>
                <a:ea typeface="Calibri" pitchFamily="34" charset="-122"/>
                <a:cs typeface="Calibri" pitchFamily="34" charset="-120"/>
              </a:rPr>
              <a:t>MODEL</a:t>
            </a:r>
            <a:endParaRPr lang="en-US" sz="900" dirty="0"/>
          </a:p>
        </p:txBody>
      </p:sp>
      <p:sp>
        <p:nvSpPr>
          <p:cNvPr id="7" name="Text 5"/>
          <p:cNvSpPr/>
          <p:nvPr/>
        </p:nvSpPr>
        <p:spPr>
          <a:xfrm>
            <a:off x="320040" y="4078224"/>
            <a:ext cx="15544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SLOW 8×8 R50</a:t>
            </a:r>
            <a:endParaRPr lang="en-US" sz="1400" dirty="0"/>
          </a:p>
        </p:txBody>
      </p:sp>
      <p:sp>
        <p:nvSpPr>
          <p:cNvPr id="8" name="Text 6"/>
          <p:cNvSpPr/>
          <p:nvPr/>
        </p:nvSpPr>
        <p:spPr>
          <a:xfrm>
            <a:off x="2057400" y="3822192"/>
            <a:ext cx="1554480" cy="256032"/>
          </a:xfrm>
          <a:prstGeom prst="rect">
            <a:avLst/>
          </a:prstGeom>
          <a:noFill/>
          <a:ln/>
        </p:spPr>
        <p:txBody>
          <a:bodyPr wrap="square" lIns="0" tIns="0" rIns="0" bIns="0" rtlCol="0" anchor="ctr"/>
          <a:lstStyle/>
          <a:p>
            <a:pPr indent="0" marL="0">
              <a:buNone/>
            </a:pPr>
            <a:r>
              <a:rPr lang="en-US" sz="900" spc="200" kern="0" dirty="0">
                <a:solidFill>
                  <a:srgbClr val="8FA3BF"/>
                </a:solidFill>
                <a:latin typeface="Calibri" pitchFamily="34" charset="0"/>
                <a:ea typeface="Calibri" pitchFamily="34" charset="-122"/>
                <a:cs typeface="Calibri" pitchFamily="34" charset="-120"/>
              </a:rPr>
              <a:t>DATASET</a:t>
            </a:r>
            <a:endParaRPr lang="en-US" sz="900" dirty="0"/>
          </a:p>
        </p:txBody>
      </p:sp>
      <p:sp>
        <p:nvSpPr>
          <p:cNvPr id="9" name="Text 7"/>
          <p:cNvSpPr/>
          <p:nvPr/>
        </p:nvSpPr>
        <p:spPr>
          <a:xfrm>
            <a:off x="2057400" y="4078224"/>
            <a:ext cx="15544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OUC-CGE</a:t>
            </a:r>
            <a:endParaRPr lang="en-US" sz="1400" dirty="0"/>
          </a:p>
        </p:txBody>
      </p:sp>
      <p:sp>
        <p:nvSpPr>
          <p:cNvPr id="10" name="Text 8"/>
          <p:cNvSpPr/>
          <p:nvPr/>
        </p:nvSpPr>
        <p:spPr>
          <a:xfrm>
            <a:off x="3794760" y="3822192"/>
            <a:ext cx="1554480" cy="256032"/>
          </a:xfrm>
          <a:prstGeom prst="rect">
            <a:avLst/>
          </a:prstGeom>
          <a:noFill/>
          <a:ln/>
        </p:spPr>
        <p:txBody>
          <a:bodyPr wrap="square" lIns="0" tIns="0" rIns="0" bIns="0" rtlCol="0" anchor="ctr"/>
          <a:lstStyle/>
          <a:p>
            <a:pPr indent="0" marL="0">
              <a:buNone/>
            </a:pPr>
            <a:r>
              <a:rPr lang="en-US" sz="900" spc="200" kern="0" dirty="0">
                <a:solidFill>
                  <a:srgbClr val="8FA3BF"/>
                </a:solidFill>
                <a:latin typeface="Calibri" pitchFamily="34" charset="0"/>
                <a:ea typeface="Calibri" pitchFamily="34" charset="-122"/>
                <a:cs typeface="Calibri" pitchFamily="34" charset="-120"/>
              </a:rPr>
              <a:t>FOLDS</a:t>
            </a:r>
            <a:endParaRPr lang="en-US" sz="900" dirty="0"/>
          </a:p>
        </p:txBody>
      </p:sp>
      <p:sp>
        <p:nvSpPr>
          <p:cNvPr id="11" name="Text 9"/>
          <p:cNvSpPr/>
          <p:nvPr/>
        </p:nvSpPr>
        <p:spPr>
          <a:xfrm>
            <a:off x="3794760" y="4078224"/>
            <a:ext cx="15544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5-Fold CV</a:t>
            </a:r>
            <a:endParaRPr lang="en-US" sz="1400" dirty="0"/>
          </a:p>
        </p:txBody>
      </p:sp>
      <p:sp>
        <p:nvSpPr>
          <p:cNvPr id="12" name="Text 10"/>
          <p:cNvSpPr/>
          <p:nvPr/>
        </p:nvSpPr>
        <p:spPr>
          <a:xfrm>
            <a:off x="5532120" y="3822192"/>
            <a:ext cx="1554480" cy="256032"/>
          </a:xfrm>
          <a:prstGeom prst="rect">
            <a:avLst/>
          </a:prstGeom>
          <a:noFill/>
          <a:ln/>
        </p:spPr>
        <p:txBody>
          <a:bodyPr wrap="square" lIns="0" tIns="0" rIns="0" bIns="0" rtlCol="0" anchor="ctr"/>
          <a:lstStyle/>
          <a:p>
            <a:pPr indent="0" marL="0">
              <a:buNone/>
            </a:pPr>
            <a:r>
              <a:rPr lang="en-US" sz="900" spc="200" kern="0" dirty="0">
                <a:solidFill>
                  <a:srgbClr val="8FA3BF"/>
                </a:solidFill>
                <a:latin typeface="Calibri" pitchFamily="34" charset="0"/>
                <a:ea typeface="Calibri" pitchFamily="34" charset="-122"/>
                <a:cs typeface="Calibri" pitchFamily="34" charset="-120"/>
              </a:rPr>
              <a:t>CLASSES</a:t>
            </a:r>
            <a:endParaRPr lang="en-US" sz="900" dirty="0"/>
          </a:p>
        </p:txBody>
      </p:sp>
      <p:sp>
        <p:nvSpPr>
          <p:cNvPr id="13" name="Text 11"/>
          <p:cNvSpPr/>
          <p:nvPr/>
        </p:nvSpPr>
        <p:spPr>
          <a:xfrm>
            <a:off x="5532120" y="4078224"/>
            <a:ext cx="15544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Low · Mid · High</a:t>
            </a:r>
            <a:endParaRPr lang="en-US" sz="1400" dirty="0"/>
          </a:p>
        </p:txBody>
      </p:sp>
      <p:sp>
        <p:nvSpPr>
          <p:cNvPr id="14" name="Text 12"/>
          <p:cNvSpPr/>
          <p:nvPr/>
        </p:nvSpPr>
        <p:spPr>
          <a:xfrm>
            <a:off x="7269480" y="3822192"/>
            <a:ext cx="1554480" cy="256032"/>
          </a:xfrm>
          <a:prstGeom prst="rect">
            <a:avLst/>
          </a:prstGeom>
          <a:noFill/>
          <a:ln/>
        </p:spPr>
        <p:txBody>
          <a:bodyPr wrap="square" lIns="0" tIns="0" rIns="0" bIns="0" rtlCol="0" anchor="ctr"/>
          <a:lstStyle/>
          <a:p>
            <a:pPr indent="0" marL="0">
              <a:buNone/>
            </a:pPr>
            <a:r>
              <a:rPr lang="en-US" sz="900" spc="200" kern="0" dirty="0">
                <a:solidFill>
                  <a:srgbClr val="8FA3BF"/>
                </a:solidFill>
                <a:latin typeface="Calibri" pitchFamily="34" charset="0"/>
                <a:ea typeface="Calibri" pitchFamily="34" charset="-122"/>
                <a:cs typeface="Calibri" pitchFamily="34" charset="-120"/>
              </a:rPr>
              <a:t>DATE</a:t>
            </a:r>
            <a:endParaRPr lang="en-US" sz="900" dirty="0"/>
          </a:p>
        </p:txBody>
      </p:sp>
      <p:sp>
        <p:nvSpPr>
          <p:cNvPr id="15" name="Text 13"/>
          <p:cNvSpPr/>
          <p:nvPr/>
        </p:nvSpPr>
        <p:spPr>
          <a:xfrm>
            <a:off x="7269480" y="4078224"/>
            <a:ext cx="155448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2026-06-26</a:t>
            </a:r>
            <a:endParaRPr lang="en-US" sz="1400" dirty="0"/>
          </a:p>
        </p:txBody>
      </p:sp>
      <p:sp>
        <p:nvSpPr>
          <p:cNvPr id="16" name="Shape 14"/>
          <p:cNvSpPr/>
          <p:nvPr/>
        </p:nvSpPr>
        <p:spPr>
          <a:xfrm>
            <a:off x="320040" y="3246120"/>
            <a:ext cx="73152" cy="73152"/>
          </a:xfrm>
          <a:prstGeom prst="ellipse">
            <a:avLst/>
          </a:prstGeom>
          <a:solidFill>
            <a:srgbClr val="29ABE2">
              <a:alpha val="40000"/>
            </a:srgbClr>
          </a:solidFill>
          <a:ln w="12700">
            <a:solidFill>
              <a:srgbClr val="29ABE2">
                <a:alpha val="40000"/>
              </a:srgbClr>
            </a:solidFill>
            <a:prstDash val="solid"/>
          </a:ln>
        </p:spPr>
      </p:sp>
      <p:sp>
        <p:nvSpPr>
          <p:cNvPr id="17" name="Shape 15"/>
          <p:cNvSpPr/>
          <p:nvPr/>
        </p:nvSpPr>
        <p:spPr>
          <a:xfrm>
            <a:off x="1508760" y="3246120"/>
            <a:ext cx="73152" cy="73152"/>
          </a:xfrm>
          <a:prstGeom prst="ellipse">
            <a:avLst/>
          </a:prstGeom>
          <a:solidFill>
            <a:srgbClr val="29ABE2">
              <a:alpha val="40000"/>
            </a:srgbClr>
          </a:solidFill>
          <a:ln w="12700">
            <a:solidFill>
              <a:srgbClr val="29ABE2">
                <a:alpha val="40000"/>
              </a:srgbClr>
            </a:solidFill>
            <a:prstDash val="solid"/>
          </a:ln>
        </p:spPr>
      </p:sp>
      <p:sp>
        <p:nvSpPr>
          <p:cNvPr id="18" name="Shape 16"/>
          <p:cNvSpPr/>
          <p:nvPr/>
        </p:nvSpPr>
        <p:spPr>
          <a:xfrm>
            <a:off x="2697480" y="3246120"/>
            <a:ext cx="73152" cy="73152"/>
          </a:xfrm>
          <a:prstGeom prst="ellipse">
            <a:avLst/>
          </a:prstGeom>
          <a:solidFill>
            <a:srgbClr val="29ABE2">
              <a:alpha val="40000"/>
            </a:srgbClr>
          </a:solidFill>
          <a:ln w="12700">
            <a:solidFill>
              <a:srgbClr val="29ABE2">
                <a:alpha val="40000"/>
              </a:srgbClr>
            </a:solidFill>
            <a:prstDash val="solid"/>
          </a:ln>
        </p:spPr>
      </p:sp>
      <p:sp>
        <p:nvSpPr>
          <p:cNvPr id="19" name="Shape 17"/>
          <p:cNvSpPr/>
          <p:nvPr/>
        </p:nvSpPr>
        <p:spPr>
          <a:xfrm>
            <a:off x="3886200" y="3246120"/>
            <a:ext cx="73152" cy="73152"/>
          </a:xfrm>
          <a:prstGeom prst="ellipse">
            <a:avLst/>
          </a:prstGeom>
          <a:solidFill>
            <a:srgbClr val="29ABE2">
              <a:alpha val="40000"/>
            </a:srgbClr>
          </a:solidFill>
          <a:ln w="12700">
            <a:solidFill>
              <a:srgbClr val="29ABE2">
                <a:alpha val="40000"/>
              </a:srgbClr>
            </a:solidFill>
            <a:prstDash val="solid"/>
          </a:ln>
        </p:spPr>
      </p:sp>
      <p:sp>
        <p:nvSpPr>
          <p:cNvPr id="20" name="Shape 18"/>
          <p:cNvSpPr/>
          <p:nvPr/>
        </p:nvSpPr>
        <p:spPr>
          <a:xfrm>
            <a:off x="5074920" y="3246120"/>
            <a:ext cx="73152" cy="73152"/>
          </a:xfrm>
          <a:prstGeom prst="ellipse">
            <a:avLst/>
          </a:prstGeom>
          <a:solidFill>
            <a:srgbClr val="29ABE2">
              <a:alpha val="40000"/>
            </a:srgbClr>
          </a:solidFill>
          <a:ln w="12700">
            <a:solidFill>
              <a:srgbClr val="29ABE2">
                <a:alpha val="40000"/>
              </a:srgbClr>
            </a:solidFill>
            <a:prstDash val="solid"/>
          </a:ln>
        </p:spPr>
      </p:sp>
      <p:sp>
        <p:nvSpPr>
          <p:cNvPr id="21" name="Shape 19"/>
          <p:cNvSpPr/>
          <p:nvPr/>
        </p:nvSpPr>
        <p:spPr>
          <a:xfrm>
            <a:off x="6263640" y="3246120"/>
            <a:ext cx="73152" cy="73152"/>
          </a:xfrm>
          <a:prstGeom prst="ellipse">
            <a:avLst/>
          </a:prstGeom>
          <a:solidFill>
            <a:srgbClr val="29ABE2">
              <a:alpha val="40000"/>
            </a:srgbClr>
          </a:solidFill>
          <a:ln w="12700">
            <a:solidFill>
              <a:srgbClr val="29ABE2">
                <a:alpha val="40000"/>
              </a:srgbClr>
            </a:solidFill>
            <a:prstDash val="solid"/>
          </a:ln>
        </p:spPr>
      </p:sp>
      <p:sp>
        <p:nvSpPr>
          <p:cNvPr id="22" name="Shape 20"/>
          <p:cNvSpPr/>
          <p:nvPr/>
        </p:nvSpPr>
        <p:spPr>
          <a:xfrm>
            <a:off x="7452360" y="3246120"/>
            <a:ext cx="73152" cy="73152"/>
          </a:xfrm>
          <a:prstGeom prst="ellipse">
            <a:avLst/>
          </a:prstGeom>
          <a:solidFill>
            <a:srgbClr val="29ABE2">
              <a:alpha val="40000"/>
            </a:srgbClr>
          </a:solidFill>
          <a:ln w="12700">
            <a:solidFill>
              <a:srgbClr val="29ABE2">
                <a:alpha val="40000"/>
              </a:srgbClr>
            </a:solidFill>
            <a:prstDash val="solid"/>
          </a:ln>
        </p:spPr>
      </p:sp>
      <p:sp>
        <p:nvSpPr>
          <p:cNvPr id="23" name="Shape 21"/>
          <p:cNvSpPr/>
          <p:nvPr/>
        </p:nvSpPr>
        <p:spPr>
          <a:xfrm>
            <a:off x="8641080" y="3246120"/>
            <a:ext cx="73152" cy="73152"/>
          </a:xfrm>
          <a:prstGeom prst="ellipse">
            <a:avLst/>
          </a:prstGeom>
          <a:solidFill>
            <a:srgbClr val="29ABE2">
              <a:alpha val="40000"/>
            </a:srgbClr>
          </a:solidFill>
          <a:ln w="12700">
            <a:solidFill>
              <a:srgbClr val="29ABE2">
                <a:alpha val="4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Text 1"/>
          <p:cNvSpPr/>
          <p:nvPr/>
        </p:nvSpPr>
        <p:spPr>
          <a:xfrm>
            <a:off x="411480" y="137160"/>
            <a:ext cx="832104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Executive Summary</a:t>
            </a:r>
            <a:endParaRPr lang="en-US" sz="2800" dirty="0"/>
          </a:p>
        </p:txBody>
      </p:sp>
      <p:sp>
        <p:nvSpPr>
          <p:cNvPr id="4" name="Shape 2"/>
          <p:cNvSpPr/>
          <p:nvPr/>
        </p:nvSpPr>
        <p:spPr>
          <a:xfrm>
            <a:off x="384048" y="1051560"/>
            <a:ext cx="2542032" cy="1325880"/>
          </a:xfrm>
          <a:prstGeom prst="roundRect">
            <a:avLst>
              <a:gd name="adj" fmla="val 5517"/>
            </a:avLst>
          </a:prstGeom>
          <a:solidFill>
            <a:srgbClr val="FFFFFF"/>
          </a:solidFill>
          <a:ln w="12700">
            <a:solidFill>
              <a:srgbClr val="D4E4F7"/>
            </a:solidFill>
            <a:prstDash val="solid"/>
          </a:ln>
          <a:effectLst>
            <a:outerShdw sx="100000" sy="100000" kx="0" ky="0" algn="bl" rotWithShape="0" blurRad="101600" dist="38100" dir="2700000">
              <a:srgbClr val="000000">
                <a:alpha val="13000"/>
              </a:srgbClr>
            </a:outerShdw>
          </a:effectLst>
        </p:spPr>
      </p:sp>
      <p:sp>
        <p:nvSpPr>
          <p:cNvPr id="5" name="Text 3"/>
          <p:cNvSpPr/>
          <p:nvPr/>
        </p:nvSpPr>
        <p:spPr>
          <a:xfrm>
            <a:off x="384048" y="1115568"/>
            <a:ext cx="2542032" cy="658368"/>
          </a:xfrm>
          <a:prstGeom prst="rect">
            <a:avLst/>
          </a:prstGeom>
          <a:noFill/>
          <a:ln/>
        </p:spPr>
        <p:txBody>
          <a:bodyPr wrap="square" lIns="0" tIns="0" rIns="0" bIns="0" rtlCol="0" anchor="ctr"/>
          <a:lstStyle/>
          <a:p>
            <a:pPr algn="ctr" indent="0" marL="0">
              <a:buNone/>
            </a:pPr>
            <a:r>
              <a:rPr lang="en-US" sz="3800" b="1" dirty="0">
                <a:solidFill>
                  <a:srgbClr val="F5A623"/>
                </a:solidFill>
                <a:latin typeface="Calibri" pitchFamily="34" charset="0"/>
                <a:ea typeface="Calibri" pitchFamily="34" charset="-122"/>
                <a:cs typeface="Calibri" pitchFamily="34" charset="-120"/>
              </a:rPr>
              <a:t>51.56%</a:t>
            </a:r>
            <a:endParaRPr lang="en-US" sz="3800" dirty="0"/>
          </a:p>
        </p:txBody>
      </p:sp>
      <p:sp>
        <p:nvSpPr>
          <p:cNvPr id="6" name="Text 4"/>
          <p:cNvSpPr/>
          <p:nvPr/>
        </p:nvSpPr>
        <p:spPr>
          <a:xfrm>
            <a:off x="384048" y="1737360"/>
            <a:ext cx="2542032" cy="274320"/>
          </a:xfrm>
          <a:prstGeom prst="rect">
            <a:avLst/>
          </a:prstGeom>
          <a:noFill/>
          <a:ln/>
        </p:spPr>
        <p:txBody>
          <a:bodyPr wrap="square" lIns="0" tIns="0" rIns="0" bIns="0" rtlCol="0" anchor="ctr"/>
          <a:lstStyle/>
          <a:p>
            <a:pPr algn="ctr" indent="0" marL="0">
              <a:buNone/>
            </a:pPr>
            <a:r>
              <a:rPr lang="en-US" sz="1300" dirty="0">
                <a:solidFill>
                  <a:srgbClr val="1B2A4A"/>
                </a:solidFill>
                <a:latin typeface="Calibri" pitchFamily="34" charset="0"/>
                <a:ea typeface="Calibri" pitchFamily="34" charset="-122"/>
                <a:cs typeface="Calibri" pitchFamily="34" charset="-120"/>
              </a:rPr>
              <a:t>Avg. Accuracy</a:t>
            </a:r>
            <a:endParaRPr lang="en-US" sz="1300" dirty="0"/>
          </a:p>
        </p:txBody>
      </p:sp>
      <p:sp>
        <p:nvSpPr>
          <p:cNvPr id="7" name="Text 5"/>
          <p:cNvSpPr/>
          <p:nvPr/>
        </p:nvSpPr>
        <p:spPr>
          <a:xfrm>
            <a:off x="384048" y="2029968"/>
            <a:ext cx="2542032" cy="237744"/>
          </a:xfrm>
          <a:prstGeom prst="rect">
            <a:avLst/>
          </a:prstGeom>
          <a:noFill/>
          <a:ln/>
        </p:spPr>
        <p:txBody>
          <a:bodyPr wrap="square" lIns="0" tIns="0" rIns="0" bIns="0" rtlCol="0" anchor="ctr"/>
          <a:lstStyle/>
          <a:p>
            <a:pPr algn="ctr" indent="0" marL="0">
              <a:buNone/>
            </a:pPr>
            <a:r>
              <a:rPr lang="en-US" sz="1100" i="1" dirty="0">
                <a:solidFill>
                  <a:srgbClr val="8FA3BF"/>
                </a:solidFill>
                <a:latin typeface="Calibri" pitchFamily="34" charset="0"/>
                <a:ea typeface="Calibri" pitchFamily="34" charset="-122"/>
                <a:cs typeface="Calibri" pitchFamily="34" charset="-120"/>
              </a:rPr>
              <a:t>±9.10% std</a:t>
            </a:r>
            <a:endParaRPr lang="en-US" sz="1100" dirty="0"/>
          </a:p>
        </p:txBody>
      </p:sp>
      <p:sp>
        <p:nvSpPr>
          <p:cNvPr id="8" name="Shape 6"/>
          <p:cNvSpPr/>
          <p:nvPr/>
        </p:nvSpPr>
        <p:spPr>
          <a:xfrm>
            <a:off x="3218688" y="1051560"/>
            <a:ext cx="2542032" cy="1325880"/>
          </a:xfrm>
          <a:prstGeom prst="roundRect">
            <a:avLst>
              <a:gd name="adj" fmla="val 5517"/>
            </a:avLst>
          </a:prstGeom>
          <a:solidFill>
            <a:srgbClr val="FFFFFF"/>
          </a:solidFill>
          <a:ln w="12700">
            <a:solidFill>
              <a:srgbClr val="D4E4F7"/>
            </a:solidFill>
            <a:prstDash val="solid"/>
          </a:ln>
          <a:effectLst>
            <a:outerShdw sx="100000" sy="100000" kx="0" ky="0" algn="bl" rotWithShape="0" blurRad="101600" dist="38100" dir="2700000">
              <a:srgbClr val="000000">
                <a:alpha val="13000"/>
              </a:srgbClr>
            </a:outerShdw>
          </a:effectLst>
        </p:spPr>
      </p:sp>
      <p:sp>
        <p:nvSpPr>
          <p:cNvPr id="9" name="Text 7"/>
          <p:cNvSpPr/>
          <p:nvPr/>
        </p:nvSpPr>
        <p:spPr>
          <a:xfrm>
            <a:off x="3218688" y="1115568"/>
            <a:ext cx="2542032" cy="658368"/>
          </a:xfrm>
          <a:prstGeom prst="rect">
            <a:avLst/>
          </a:prstGeom>
          <a:noFill/>
          <a:ln/>
        </p:spPr>
        <p:txBody>
          <a:bodyPr wrap="square" lIns="0" tIns="0" rIns="0" bIns="0" rtlCol="0" anchor="ctr"/>
          <a:lstStyle/>
          <a:p>
            <a:pPr algn="ctr" indent="0" marL="0">
              <a:buNone/>
            </a:pPr>
            <a:r>
              <a:rPr lang="en-US" sz="3800" b="1" dirty="0">
                <a:solidFill>
                  <a:srgbClr val="D94F3D"/>
                </a:solidFill>
                <a:latin typeface="Calibri" pitchFamily="34" charset="0"/>
                <a:ea typeface="Calibri" pitchFamily="34" charset="-122"/>
                <a:cs typeface="Calibri" pitchFamily="34" charset="-120"/>
              </a:rPr>
              <a:t>31.75%</a:t>
            </a:r>
            <a:endParaRPr lang="en-US" sz="3800" dirty="0"/>
          </a:p>
        </p:txBody>
      </p:sp>
      <p:sp>
        <p:nvSpPr>
          <p:cNvPr id="10" name="Text 8"/>
          <p:cNvSpPr/>
          <p:nvPr/>
        </p:nvSpPr>
        <p:spPr>
          <a:xfrm>
            <a:off x="3218688" y="1737360"/>
            <a:ext cx="2542032" cy="274320"/>
          </a:xfrm>
          <a:prstGeom prst="rect">
            <a:avLst/>
          </a:prstGeom>
          <a:noFill/>
          <a:ln/>
        </p:spPr>
        <p:txBody>
          <a:bodyPr wrap="square" lIns="0" tIns="0" rIns="0" bIns="0" rtlCol="0" anchor="ctr"/>
          <a:lstStyle/>
          <a:p>
            <a:pPr algn="ctr" indent="0" marL="0">
              <a:buNone/>
            </a:pPr>
            <a:r>
              <a:rPr lang="en-US" sz="1300" dirty="0">
                <a:solidFill>
                  <a:srgbClr val="1B2A4A"/>
                </a:solidFill>
                <a:latin typeface="Calibri" pitchFamily="34" charset="0"/>
                <a:ea typeface="Calibri" pitchFamily="34" charset="-122"/>
                <a:cs typeface="Calibri" pitchFamily="34" charset="-120"/>
              </a:rPr>
              <a:t>Avg. Macro-F1</a:t>
            </a:r>
            <a:endParaRPr lang="en-US" sz="1300" dirty="0"/>
          </a:p>
        </p:txBody>
      </p:sp>
      <p:sp>
        <p:nvSpPr>
          <p:cNvPr id="11" name="Text 9"/>
          <p:cNvSpPr/>
          <p:nvPr/>
        </p:nvSpPr>
        <p:spPr>
          <a:xfrm>
            <a:off x="3218688" y="2029968"/>
            <a:ext cx="2542032" cy="237744"/>
          </a:xfrm>
          <a:prstGeom prst="rect">
            <a:avLst/>
          </a:prstGeom>
          <a:noFill/>
          <a:ln/>
        </p:spPr>
        <p:txBody>
          <a:bodyPr wrap="square" lIns="0" tIns="0" rIns="0" bIns="0" rtlCol="0" anchor="ctr"/>
          <a:lstStyle/>
          <a:p>
            <a:pPr algn="ctr" indent="0" marL="0">
              <a:buNone/>
            </a:pPr>
            <a:r>
              <a:rPr lang="en-US" sz="1100" i="1" dirty="0">
                <a:solidFill>
                  <a:srgbClr val="8FA3BF"/>
                </a:solidFill>
                <a:latin typeface="Calibri" pitchFamily="34" charset="0"/>
                <a:ea typeface="Calibri" pitchFamily="34" charset="-122"/>
                <a:cs typeface="Calibri" pitchFamily="34" charset="-120"/>
              </a:rPr>
              <a:t>±6.43% std</a:t>
            </a:r>
            <a:endParaRPr lang="en-US" sz="1100" dirty="0"/>
          </a:p>
        </p:txBody>
      </p:sp>
      <p:sp>
        <p:nvSpPr>
          <p:cNvPr id="12" name="Shape 10"/>
          <p:cNvSpPr/>
          <p:nvPr/>
        </p:nvSpPr>
        <p:spPr>
          <a:xfrm>
            <a:off x="6053328" y="1051560"/>
            <a:ext cx="2542032" cy="1325880"/>
          </a:xfrm>
          <a:prstGeom prst="roundRect">
            <a:avLst>
              <a:gd name="adj" fmla="val 5517"/>
            </a:avLst>
          </a:prstGeom>
          <a:solidFill>
            <a:srgbClr val="FFFFFF"/>
          </a:solidFill>
          <a:ln w="12700">
            <a:solidFill>
              <a:srgbClr val="D4E4F7"/>
            </a:solidFill>
            <a:prstDash val="solid"/>
          </a:ln>
          <a:effectLst>
            <a:outerShdw sx="100000" sy="100000" kx="0" ky="0" algn="bl" rotWithShape="0" blurRad="101600" dist="38100" dir="2700000">
              <a:srgbClr val="000000">
                <a:alpha val="13000"/>
              </a:srgbClr>
            </a:outerShdw>
          </a:effectLst>
        </p:spPr>
      </p:sp>
      <p:sp>
        <p:nvSpPr>
          <p:cNvPr id="13" name="Text 11"/>
          <p:cNvSpPr/>
          <p:nvPr/>
        </p:nvSpPr>
        <p:spPr>
          <a:xfrm>
            <a:off x="6053328" y="1115568"/>
            <a:ext cx="2542032" cy="658368"/>
          </a:xfrm>
          <a:prstGeom prst="rect">
            <a:avLst/>
          </a:prstGeom>
          <a:noFill/>
          <a:ln/>
        </p:spPr>
        <p:txBody>
          <a:bodyPr wrap="square" lIns="0" tIns="0" rIns="0" bIns="0" rtlCol="0" anchor="ctr"/>
          <a:lstStyle/>
          <a:p>
            <a:pPr algn="ctr" indent="0" marL="0">
              <a:buNone/>
            </a:pPr>
            <a:r>
              <a:rPr lang="en-US" sz="3800" b="1" dirty="0">
                <a:solidFill>
                  <a:srgbClr val="D94F3D"/>
                </a:solidFill>
                <a:latin typeface="Calibri" pitchFamily="34" charset="0"/>
                <a:ea typeface="Calibri" pitchFamily="34" charset="-122"/>
                <a:cs typeface="Calibri" pitchFamily="34" charset="-120"/>
              </a:rPr>
              <a:t>0.069</a:t>
            </a:r>
            <a:endParaRPr lang="en-US" sz="3800" dirty="0"/>
          </a:p>
        </p:txBody>
      </p:sp>
      <p:sp>
        <p:nvSpPr>
          <p:cNvPr id="14" name="Text 12"/>
          <p:cNvSpPr/>
          <p:nvPr/>
        </p:nvSpPr>
        <p:spPr>
          <a:xfrm>
            <a:off x="6053328" y="1737360"/>
            <a:ext cx="2542032" cy="274320"/>
          </a:xfrm>
          <a:prstGeom prst="rect">
            <a:avLst/>
          </a:prstGeom>
          <a:noFill/>
          <a:ln/>
        </p:spPr>
        <p:txBody>
          <a:bodyPr wrap="square" lIns="0" tIns="0" rIns="0" bIns="0" rtlCol="0" anchor="ctr"/>
          <a:lstStyle/>
          <a:p>
            <a:pPr algn="ctr" indent="0" marL="0">
              <a:buNone/>
            </a:pPr>
            <a:r>
              <a:rPr lang="en-US" sz="1300" dirty="0">
                <a:solidFill>
                  <a:srgbClr val="1B2A4A"/>
                </a:solidFill>
                <a:latin typeface="Calibri" pitchFamily="34" charset="0"/>
                <a:ea typeface="Calibri" pitchFamily="34" charset="-122"/>
                <a:cs typeface="Calibri" pitchFamily="34" charset="-120"/>
              </a:rPr>
              <a:t>Avg. QWK</a:t>
            </a:r>
            <a:endParaRPr lang="en-US" sz="1300" dirty="0"/>
          </a:p>
        </p:txBody>
      </p:sp>
      <p:sp>
        <p:nvSpPr>
          <p:cNvPr id="15" name="Text 13"/>
          <p:cNvSpPr/>
          <p:nvPr/>
        </p:nvSpPr>
        <p:spPr>
          <a:xfrm>
            <a:off x="6053328" y="2029968"/>
            <a:ext cx="2542032" cy="237744"/>
          </a:xfrm>
          <a:prstGeom prst="rect">
            <a:avLst/>
          </a:prstGeom>
          <a:noFill/>
          <a:ln/>
        </p:spPr>
        <p:txBody>
          <a:bodyPr wrap="square" lIns="0" tIns="0" rIns="0" bIns="0" rtlCol="0" anchor="ctr"/>
          <a:lstStyle/>
          <a:p>
            <a:pPr algn="ctr" indent="0" marL="0">
              <a:buNone/>
            </a:pPr>
            <a:r>
              <a:rPr lang="en-US" sz="1100" i="1" dirty="0">
                <a:solidFill>
                  <a:srgbClr val="8FA3BF"/>
                </a:solidFill>
                <a:latin typeface="Calibri" pitchFamily="34" charset="0"/>
                <a:ea typeface="Calibri" pitchFamily="34" charset="-122"/>
                <a:cs typeface="Calibri" pitchFamily="34" charset="-120"/>
              </a:rPr>
              <a:t>±0.058 std</a:t>
            </a:r>
            <a:endParaRPr lang="en-US" sz="1100" dirty="0"/>
          </a:p>
        </p:txBody>
      </p:sp>
      <p:sp>
        <p:nvSpPr>
          <p:cNvPr id="16" name="Text 14"/>
          <p:cNvSpPr/>
          <p:nvPr/>
        </p:nvSpPr>
        <p:spPr>
          <a:xfrm>
            <a:off x="411480" y="2487168"/>
            <a:ext cx="8321040" cy="2423160"/>
          </a:xfrm>
          <a:prstGeom prst="rect">
            <a:avLst/>
          </a:prstGeom>
          <a:noFill/>
          <a:ln/>
        </p:spPr>
        <p:txBody>
          <a:bodyPr wrap="square" rtlCol="0" anchor="t"/>
          <a:lstStyle/>
          <a:p>
            <a:pPr marL="342900" indent="-342900">
              <a:spcAft>
                <a:spcPts val="500"/>
              </a:spcAft>
              <a:buSzPct val="100000"/>
              <a:buChar char="•"/>
            </a:pPr>
            <a:r>
              <a:rPr lang="en-US" sz="1300" dirty="0">
                <a:solidFill>
                  <a:srgbClr val="1B2A4A"/>
                </a:solidFill>
                <a:latin typeface="Calibri" pitchFamily="34" charset="0"/>
                <a:ea typeface="Calibri" pitchFamily="34" charset="-122"/>
                <a:cs typeface="Calibri" pitchFamily="34" charset="-120"/>
              </a:rPr>
              <a:t>Model performance is substantially below the 97.8% benchmark reported by Lu et al. (2025) on OUC-CGE</a:t>
            </a:r>
            <a:endParaRPr lang="en-US" sz="1300" dirty="0"/>
          </a:p>
          <a:p>
            <a:pPr marL="342900" indent="-342900">
              <a:spcAft>
                <a:spcPts val="500"/>
              </a:spcAft>
              <a:buSzPct val="100000"/>
              <a:buChar char="•"/>
            </a:pPr>
            <a:r>
              <a:rPr lang="en-US" sz="1300" dirty="0">
                <a:solidFill>
                  <a:srgbClr val="1B2A4A"/>
                </a:solidFill>
                <a:latin typeface="Calibri" pitchFamily="34" charset="0"/>
                <a:ea typeface="Calibri" pitchFamily="34" charset="-122"/>
                <a:cs typeface="Calibri" pitchFamily="34" charset="-120"/>
              </a:rPr>
              <a:t>2 of 5 folds (Fold 2 &amp; Fold 4) experienced full model collapse — predicting a single class for the majority of samples</a:t>
            </a:r>
            <a:endParaRPr lang="en-US" sz="1300" dirty="0"/>
          </a:p>
          <a:p>
            <a:pPr marL="342900" indent="-342900">
              <a:spcAft>
                <a:spcPts val="500"/>
              </a:spcAft>
              <a:buSzPct val="100000"/>
              <a:buChar char="•"/>
            </a:pPr>
            <a:r>
              <a:rPr lang="en-US" sz="1300" dirty="0">
                <a:solidFill>
                  <a:srgbClr val="1B2A4A"/>
                </a:solidFill>
                <a:latin typeface="Calibri" pitchFamily="34" charset="0"/>
                <a:ea typeface="Calibri" pitchFamily="34" charset="-122"/>
                <a:cs typeface="Calibri" pitchFamily="34" charset="-120"/>
              </a:rPr>
              <a:t>Folds 0, 1, and 3 maintained multi-class prediction but show strong Low-class dominance (Low F1 &gt;&gt; Mid/High F1)</a:t>
            </a:r>
            <a:endParaRPr lang="en-US" sz="1300" dirty="0"/>
          </a:p>
          <a:p>
            <a:pPr marL="342900" indent="-342900">
              <a:spcAft>
                <a:spcPts val="500"/>
              </a:spcAft>
              <a:buSzPct val="100000"/>
              <a:buChar char="•"/>
            </a:pPr>
            <a:r>
              <a:rPr lang="en-US" sz="1300" dirty="0">
                <a:solidFill>
                  <a:srgbClr val="1B2A4A"/>
                </a:solidFill>
                <a:latin typeface="Calibri" pitchFamily="34" charset="0"/>
                <a:ea typeface="Calibri" pitchFamily="34" charset="-122"/>
                <a:cs typeface="Calibri" pitchFamily="34" charset="-120"/>
              </a:rPr>
              <a:t>Root cause hypothesis: insufficient training epochs caused the model to minimise loss by predicting the easiest majority class</a:t>
            </a:r>
            <a:endParaRPr lang="en-US" sz="1300" dirty="0"/>
          </a:p>
          <a:p>
            <a:pPr marL="342900" indent="-342900">
              <a:spcAft>
                <a:spcPts val="500"/>
              </a:spcAft>
              <a:buSzPct val="100000"/>
              <a:buChar char="•"/>
            </a:pPr>
            <a:r>
              <a:rPr lang="en-US" sz="1300" dirty="0">
                <a:solidFill>
                  <a:srgbClr val="1B2A4A"/>
                </a:solidFill>
                <a:latin typeface="Calibri" pitchFamily="34" charset="0"/>
                <a:ea typeface="Calibri" pitchFamily="34" charset="-122"/>
                <a:cs typeface="Calibri" pitchFamily="34" charset="-120"/>
              </a:rPr>
              <a:t>All metrics point to underfitting, not overfitting — the model never learned discriminative cross-class features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Text 1"/>
          <p:cNvSpPr/>
          <p:nvPr/>
        </p:nvSpPr>
        <p:spPr>
          <a:xfrm>
            <a:off x="411480" y="137160"/>
            <a:ext cx="832104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Dataset &amp; Preprocessing Pipeline</a:t>
            </a:r>
            <a:endParaRPr lang="en-US" sz="2800" dirty="0"/>
          </a:p>
        </p:txBody>
      </p:sp>
      <p:sp>
        <p:nvSpPr>
          <p:cNvPr id="4" name="Text 2"/>
          <p:cNvSpPr/>
          <p:nvPr/>
        </p:nvSpPr>
        <p:spPr>
          <a:xfrm>
            <a:off x="411480" y="1051560"/>
            <a:ext cx="3931920" cy="347472"/>
          </a:xfrm>
          <a:prstGeom prst="rect">
            <a:avLst/>
          </a:prstGeom>
          <a:noFill/>
          <a:ln/>
        </p:spPr>
        <p:txBody>
          <a:bodyPr wrap="square" lIns="0" tIns="0" rIns="0" bIns="0"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OUC-CGE Dataset</a:t>
            </a:r>
            <a:endParaRPr lang="en-US" sz="1500" dirty="0"/>
          </a:p>
        </p:txBody>
      </p:sp>
      <p:sp>
        <p:nvSpPr>
          <p:cNvPr id="5" name="Text 3"/>
          <p:cNvSpPr/>
          <p:nvPr/>
        </p:nvSpPr>
        <p:spPr>
          <a:xfrm>
            <a:off x="411480" y="1399032"/>
            <a:ext cx="3931920" cy="347472"/>
          </a:xfrm>
          <a:prstGeom prst="rect">
            <a:avLst/>
          </a:prstGeom>
          <a:noFill/>
          <a:ln/>
        </p:spPr>
        <p:txBody>
          <a:bodyPr wrap="square" rtlCol="0" anchor="t"/>
          <a:lstStyle/>
          <a:p>
            <a:pPr marL="342900" indent="-342900">
              <a:spcAft>
                <a:spcPts val="300"/>
              </a:spcAft>
              <a:buSzPct val="100000"/>
              <a:buChar char="•"/>
            </a:pPr>
            <a:r>
              <a:rPr lang="en-US" sz="1300" dirty="0">
                <a:solidFill>
                  <a:srgbClr val="1B2A4A"/>
                </a:solidFill>
                <a:latin typeface="Calibri" pitchFamily="34" charset="0"/>
                <a:ea typeface="Calibri" pitchFamily="34" charset="-122"/>
                <a:cs typeface="Calibri" pitchFamily="34" charset="-120"/>
              </a:rPr>
              <a:t>7,705 × 10-second video clips</a:t>
            </a:r>
            <a:endParaRPr lang="en-US" sz="1300" dirty="0"/>
          </a:p>
        </p:txBody>
      </p:sp>
      <p:sp>
        <p:nvSpPr>
          <p:cNvPr id="6" name="Text 4"/>
          <p:cNvSpPr/>
          <p:nvPr/>
        </p:nvSpPr>
        <p:spPr>
          <a:xfrm>
            <a:off x="411480" y="1737360"/>
            <a:ext cx="3931920" cy="347472"/>
          </a:xfrm>
          <a:prstGeom prst="rect">
            <a:avLst/>
          </a:prstGeom>
          <a:noFill/>
          <a:ln/>
        </p:spPr>
        <p:txBody>
          <a:bodyPr wrap="square" rtlCol="0" anchor="t"/>
          <a:lstStyle/>
          <a:p>
            <a:pPr marL="342900" indent="-342900">
              <a:spcAft>
                <a:spcPts val="300"/>
              </a:spcAft>
              <a:buSzPct val="100000"/>
              <a:buChar char="•"/>
            </a:pPr>
            <a:r>
              <a:rPr lang="en-US" sz="1300" dirty="0">
                <a:solidFill>
                  <a:srgbClr val="1B2A4A"/>
                </a:solidFill>
                <a:latin typeface="Calibri" pitchFamily="34" charset="0"/>
                <a:ea typeface="Calibri" pitchFamily="34" charset="-122"/>
                <a:cs typeface="Calibri" pitchFamily="34" charset="-120"/>
              </a:rPr>
              <a:t>Resolution: 1280×720 @ 30 fps</a:t>
            </a:r>
            <a:endParaRPr lang="en-US" sz="1300" dirty="0"/>
          </a:p>
        </p:txBody>
      </p:sp>
      <p:sp>
        <p:nvSpPr>
          <p:cNvPr id="7" name="Text 5"/>
          <p:cNvSpPr/>
          <p:nvPr/>
        </p:nvSpPr>
        <p:spPr>
          <a:xfrm>
            <a:off x="411480" y="2075688"/>
            <a:ext cx="3931920" cy="347472"/>
          </a:xfrm>
          <a:prstGeom prst="rect">
            <a:avLst/>
          </a:prstGeom>
          <a:noFill/>
          <a:ln/>
        </p:spPr>
        <p:txBody>
          <a:bodyPr wrap="square" rtlCol="0" anchor="t"/>
          <a:lstStyle/>
          <a:p>
            <a:pPr marL="342900" indent="-342900">
              <a:spcAft>
                <a:spcPts val="300"/>
              </a:spcAft>
              <a:buSzPct val="100000"/>
              <a:buChar char="•"/>
            </a:pPr>
            <a:r>
              <a:rPr lang="en-US" sz="1300" dirty="0">
                <a:solidFill>
                  <a:srgbClr val="1B2A4A"/>
                </a:solidFill>
                <a:latin typeface="Calibri" pitchFamily="34" charset="0"/>
                <a:ea typeface="Calibri" pitchFamily="34" charset="-122"/>
                <a:cs typeface="Calibri" pitchFamily="34" charset="-120"/>
              </a:rPr>
              <a:t>3 ordinal engagement levels: Low (0), Mid (1), High (2)</a:t>
            </a:r>
            <a:endParaRPr lang="en-US" sz="1300" dirty="0"/>
          </a:p>
        </p:txBody>
      </p:sp>
      <p:sp>
        <p:nvSpPr>
          <p:cNvPr id="8" name="Text 6"/>
          <p:cNvSpPr/>
          <p:nvPr/>
        </p:nvSpPr>
        <p:spPr>
          <a:xfrm>
            <a:off x="411480" y="2414016"/>
            <a:ext cx="3931920" cy="347472"/>
          </a:xfrm>
          <a:prstGeom prst="rect">
            <a:avLst/>
          </a:prstGeom>
          <a:noFill/>
          <a:ln/>
        </p:spPr>
        <p:txBody>
          <a:bodyPr wrap="square" rtlCol="0" anchor="t"/>
          <a:lstStyle/>
          <a:p>
            <a:pPr marL="342900" indent="-342900">
              <a:spcAft>
                <a:spcPts val="300"/>
              </a:spcAft>
              <a:buSzPct val="100000"/>
              <a:buChar char="•"/>
            </a:pPr>
            <a:r>
              <a:rPr lang="en-US" sz="1300" dirty="0">
                <a:solidFill>
                  <a:srgbClr val="1B2A4A"/>
                </a:solidFill>
                <a:latin typeface="Calibri" pitchFamily="34" charset="0"/>
                <a:ea typeface="Calibri" pitchFamily="34" charset="-122"/>
                <a:cs typeface="Calibri" pitchFamily="34" charset="-120"/>
              </a:rPr>
              <a:t>17 undergraduates, 21 classroom sessions, 3 webcam angles</a:t>
            </a:r>
            <a:endParaRPr lang="en-US" sz="1300" dirty="0"/>
          </a:p>
        </p:txBody>
      </p:sp>
      <p:sp>
        <p:nvSpPr>
          <p:cNvPr id="9" name="Text 7"/>
          <p:cNvSpPr/>
          <p:nvPr/>
        </p:nvSpPr>
        <p:spPr>
          <a:xfrm>
            <a:off x="411480" y="2916936"/>
            <a:ext cx="3931920" cy="347472"/>
          </a:xfrm>
          <a:prstGeom prst="rect">
            <a:avLst/>
          </a:prstGeom>
          <a:noFill/>
          <a:ln/>
        </p:spPr>
        <p:txBody>
          <a:bodyPr wrap="square" lIns="0" tIns="0" rIns="0" bIns="0" rtlCol="0" anchor="ctr"/>
          <a:lstStyle/>
          <a:p>
            <a:pPr indent="0" marL="0">
              <a:buNone/>
            </a:pPr>
            <a:r>
              <a:rPr lang="en-US" sz="1500" b="1" dirty="0">
                <a:solidFill>
                  <a:srgbClr val="29ABE2"/>
                </a:solidFill>
                <a:latin typeface="Calibri" pitchFamily="34" charset="0"/>
                <a:ea typeface="Calibri" pitchFamily="34" charset="-122"/>
                <a:cs typeface="Calibri" pitchFamily="34" charset="-120"/>
              </a:rPr>
              <a:t>Per-Fold Split Size</a:t>
            </a:r>
            <a:endParaRPr lang="en-US" sz="1500" dirty="0"/>
          </a:p>
        </p:txBody>
      </p:sp>
      <p:sp>
        <p:nvSpPr>
          <p:cNvPr id="10" name="Text 8"/>
          <p:cNvSpPr/>
          <p:nvPr/>
        </p:nvSpPr>
        <p:spPr>
          <a:xfrm>
            <a:off x="411480" y="3264408"/>
            <a:ext cx="3931920" cy="347472"/>
          </a:xfrm>
          <a:prstGeom prst="rect">
            <a:avLst/>
          </a:prstGeom>
          <a:noFill/>
          <a:ln/>
        </p:spPr>
        <p:txBody>
          <a:bodyPr wrap="square" rtlCol="0" anchor="t"/>
          <a:lstStyle/>
          <a:p>
            <a:pPr marL="342900" indent="-342900">
              <a:spcAft>
                <a:spcPts val="300"/>
              </a:spcAft>
              <a:buSzPct val="100000"/>
              <a:buChar char="•"/>
            </a:pPr>
            <a:r>
              <a:rPr lang="en-US" sz="1300" dirty="0">
                <a:solidFill>
                  <a:srgbClr val="1B2A4A"/>
                </a:solidFill>
                <a:latin typeface="Calibri" pitchFamily="34" charset="0"/>
                <a:ea typeface="Calibri" pitchFamily="34" charset="-122"/>
                <a:cs typeface="Calibri" pitchFamily="34" charset="-120"/>
              </a:rPr>
              <a:t>Folds 0–2: 1,233 validation samples each</a:t>
            </a:r>
            <a:endParaRPr lang="en-US" sz="1300" dirty="0"/>
          </a:p>
        </p:txBody>
      </p:sp>
      <p:sp>
        <p:nvSpPr>
          <p:cNvPr id="11" name="Text 9"/>
          <p:cNvSpPr/>
          <p:nvPr/>
        </p:nvSpPr>
        <p:spPr>
          <a:xfrm>
            <a:off x="411480" y="3602736"/>
            <a:ext cx="3931920" cy="347472"/>
          </a:xfrm>
          <a:prstGeom prst="rect">
            <a:avLst/>
          </a:prstGeom>
          <a:noFill/>
          <a:ln/>
        </p:spPr>
        <p:txBody>
          <a:bodyPr wrap="square" rtlCol="0" anchor="t"/>
          <a:lstStyle/>
          <a:p>
            <a:pPr marL="342900" indent="-342900">
              <a:spcAft>
                <a:spcPts val="300"/>
              </a:spcAft>
              <a:buSzPct val="100000"/>
              <a:buChar char="•"/>
            </a:pPr>
            <a:r>
              <a:rPr lang="en-US" sz="1300" dirty="0">
                <a:solidFill>
                  <a:srgbClr val="1B2A4A"/>
                </a:solidFill>
                <a:latin typeface="Calibri" pitchFamily="34" charset="0"/>
                <a:ea typeface="Calibri" pitchFamily="34" charset="-122"/>
                <a:cs typeface="Calibri" pitchFamily="34" charset="-120"/>
              </a:rPr>
              <a:t>Folds 3–4: 1,230 validation samples each</a:t>
            </a:r>
            <a:endParaRPr lang="en-US" sz="1300" dirty="0"/>
          </a:p>
        </p:txBody>
      </p:sp>
      <p:sp>
        <p:nvSpPr>
          <p:cNvPr id="12" name="Text 10"/>
          <p:cNvSpPr/>
          <p:nvPr/>
        </p:nvSpPr>
        <p:spPr>
          <a:xfrm>
            <a:off x="411480" y="3941064"/>
            <a:ext cx="3931920" cy="347472"/>
          </a:xfrm>
          <a:prstGeom prst="rect">
            <a:avLst/>
          </a:prstGeom>
          <a:noFill/>
          <a:ln/>
        </p:spPr>
        <p:txBody>
          <a:bodyPr wrap="square" rtlCol="0" anchor="t"/>
          <a:lstStyle/>
          <a:p>
            <a:pPr marL="342900" indent="-342900">
              <a:spcAft>
                <a:spcPts val="300"/>
              </a:spcAft>
              <a:buSzPct val="100000"/>
              <a:buChar char="•"/>
            </a:pPr>
            <a:r>
              <a:rPr lang="en-US" sz="1300" dirty="0">
                <a:solidFill>
                  <a:srgbClr val="1B2A4A"/>
                </a:solidFill>
                <a:latin typeface="Calibri" pitchFamily="34" charset="0"/>
                <a:ea typeface="Calibri" pitchFamily="34" charset="-122"/>
                <a:cs typeface="Calibri" pitchFamily="34" charset="-120"/>
              </a:rPr>
              <a:t>Stratified splits to preserve class balance across folds</a:t>
            </a:r>
            <a:endParaRPr lang="en-US" sz="1300" dirty="0"/>
          </a:p>
        </p:txBody>
      </p:sp>
      <p:sp>
        <p:nvSpPr>
          <p:cNvPr id="13" name="Shape 11"/>
          <p:cNvSpPr/>
          <p:nvPr/>
        </p:nvSpPr>
        <p:spPr>
          <a:xfrm>
            <a:off x="4709160" y="1051560"/>
            <a:ext cx="4114800" cy="896112"/>
          </a:xfrm>
          <a:prstGeom prst="roundRect">
            <a:avLst>
              <a:gd name="adj" fmla="val 7143"/>
            </a:avLst>
          </a:prstGeom>
          <a:solidFill>
            <a:srgbClr val="FFFFFF"/>
          </a:solidFill>
          <a:ln w="12700">
            <a:solidFill>
              <a:srgbClr val="D4E4F7"/>
            </a:solidFill>
            <a:prstDash val="solid"/>
          </a:ln>
          <a:effectLst>
            <a:outerShdw sx="100000" sy="100000" kx="0" ky="0" algn="bl" rotWithShape="0" blurRad="101600" dist="38100" dir="2700000">
              <a:srgbClr val="000000">
                <a:alpha val="13000"/>
              </a:srgbClr>
            </a:outerShdw>
          </a:effectLst>
        </p:spPr>
      </p:sp>
      <p:sp>
        <p:nvSpPr>
          <p:cNvPr id="14" name="Shape 12"/>
          <p:cNvSpPr/>
          <p:nvPr/>
        </p:nvSpPr>
        <p:spPr>
          <a:xfrm>
            <a:off x="4773168" y="1234440"/>
            <a:ext cx="420624" cy="420624"/>
          </a:xfrm>
          <a:prstGeom prst="ellipse">
            <a:avLst/>
          </a:prstGeom>
          <a:solidFill>
            <a:srgbClr val="1B2A4A"/>
          </a:solidFill>
          <a:ln w="12700">
            <a:solidFill>
              <a:srgbClr val="1B2A4A"/>
            </a:solidFill>
            <a:prstDash val="solid"/>
          </a:ln>
        </p:spPr>
      </p:sp>
      <p:sp>
        <p:nvSpPr>
          <p:cNvPr id="15" name="Text 13"/>
          <p:cNvSpPr/>
          <p:nvPr/>
        </p:nvSpPr>
        <p:spPr>
          <a:xfrm>
            <a:off x="4773168" y="12344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Text 14"/>
          <p:cNvSpPr/>
          <p:nvPr/>
        </p:nvSpPr>
        <p:spPr>
          <a:xfrm>
            <a:off x="5266944" y="1106424"/>
            <a:ext cx="3456432"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File Scan &amp; Corruption Check</a:t>
            </a:r>
            <a:endParaRPr lang="en-US" sz="1300" dirty="0"/>
          </a:p>
        </p:txBody>
      </p:sp>
      <p:sp>
        <p:nvSpPr>
          <p:cNvPr id="17" name="Text 15"/>
          <p:cNvSpPr/>
          <p:nvPr/>
        </p:nvSpPr>
        <p:spPr>
          <a:xfrm>
            <a:off x="5266944" y="1435608"/>
            <a:ext cx="3456432" cy="45720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OpenCV VideoCapture used to verify each clip is readable. Corrupted or zero-frame files excluded before indexing.</a:t>
            </a:r>
            <a:endParaRPr lang="en-US" sz="1100" dirty="0"/>
          </a:p>
        </p:txBody>
      </p:sp>
      <p:sp>
        <p:nvSpPr>
          <p:cNvPr id="18" name="Shape 16"/>
          <p:cNvSpPr/>
          <p:nvPr/>
        </p:nvSpPr>
        <p:spPr>
          <a:xfrm>
            <a:off x="4709160" y="2057400"/>
            <a:ext cx="4114800" cy="896112"/>
          </a:xfrm>
          <a:prstGeom prst="roundRect">
            <a:avLst>
              <a:gd name="adj" fmla="val 7143"/>
            </a:avLst>
          </a:prstGeom>
          <a:solidFill>
            <a:srgbClr val="FFFFFF"/>
          </a:solidFill>
          <a:ln w="12700">
            <a:solidFill>
              <a:srgbClr val="D4E4F7"/>
            </a:solidFill>
            <a:prstDash val="solid"/>
          </a:ln>
          <a:effectLst>
            <a:outerShdw sx="100000" sy="100000" kx="0" ky="0" algn="bl" rotWithShape="0" blurRad="101600" dist="38100" dir="2700000">
              <a:srgbClr val="000000">
                <a:alpha val="13000"/>
              </a:srgbClr>
            </a:outerShdw>
          </a:effectLst>
        </p:spPr>
      </p:sp>
      <p:sp>
        <p:nvSpPr>
          <p:cNvPr id="19" name="Shape 17"/>
          <p:cNvSpPr/>
          <p:nvPr/>
        </p:nvSpPr>
        <p:spPr>
          <a:xfrm>
            <a:off x="4773168" y="2240280"/>
            <a:ext cx="420624" cy="420624"/>
          </a:xfrm>
          <a:prstGeom prst="ellipse">
            <a:avLst/>
          </a:prstGeom>
          <a:solidFill>
            <a:srgbClr val="1B2A4A"/>
          </a:solidFill>
          <a:ln w="12700">
            <a:solidFill>
              <a:srgbClr val="1B2A4A"/>
            </a:solidFill>
            <a:prstDash val="solid"/>
          </a:ln>
        </p:spPr>
      </p:sp>
      <p:sp>
        <p:nvSpPr>
          <p:cNvPr id="20" name="Text 18"/>
          <p:cNvSpPr/>
          <p:nvPr/>
        </p:nvSpPr>
        <p:spPr>
          <a:xfrm>
            <a:off x="4773168" y="224028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1" name="Text 19"/>
          <p:cNvSpPr/>
          <p:nvPr/>
        </p:nvSpPr>
        <p:spPr>
          <a:xfrm>
            <a:off x="5266944" y="2112264"/>
            <a:ext cx="3456432"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Class Distribution Analysis</a:t>
            </a:r>
            <a:endParaRPr lang="en-US" sz="1300" dirty="0"/>
          </a:p>
        </p:txBody>
      </p:sp>
      <p:sp>
        <p:nvSpPr>
          <p:cNvPr id="22" name="Text 20"/>
          <p:cNvSpPr/>
          <p:nvPr/>
        </p:nvSpPr>
        <p:spPr>
          <a:xfrm>
            <a:off x="5266944" y="2441448"/>
            <a:ext cx="3456432" cy="45720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Class counts per fold assessed. Majority classes downsampled to create balanced per-fold training sets, preventing class-frequency bias.</a:t>
            </a:r>
            <a:endParaRPr lang="en-US" sz="1100" dirty="0"/>
          </a:p>
        </p:txBody>
      </p:sp>
      <p:sp>
        <p:nvSpPr>
          <p:cNvPr id="23" name="Shape 21"/>
          <p:cNvSpPr/>
          <p:nvPr/>
        </p:nvSpPr>
        <p:spPr>
          <a:xfrm>
            <a:off x="4709160" y="3063240"/>
            <a:ext cx="4114800" cy="896112"/>
          </a:xfrm>
          <a:prstGeom prst="roundRect">
            <a:avLst>
              <a:gd name="adj" fmla="val 7143"/>
            </a:avLst>
          </a:prstGeom>
          <a:solidFill>
            <a:srgbClr val="FFFFFF"/>
          </a:solidFill>
          <a:ln w="12700">
            <a:solidFill>
              <a:srgbClr val="D4E4F7"/>
            </a:solidFill>
            <a:prstDash val="solid"/>
          </a:ln>
          <a:effectLst>
            <a:outerShdw sx="100000" sy="100000" kx="0" ky="0" algn="bl" rotWithShape="0" blurRad="101600" dist="38100" dir="2700000">
              <a:srgbClr val="000000">
                <a:alpha val="13000"/>
              </a:srgbClr>
            </a:outerShdw>
          </a:effectLst>
        </p:spPr>
      </p:sp>
      <p:sp>
        <p:nvSpPr>
          <p:cNvPr id="24" name="Shape 22"/>
          <p:cNvSpPr/>
          <p:nvPr/>
        </p:nvSpPr>
        <p:spPr>
          <a:xfrm>
            <a:off x="4773168" y="3246120"/>
            <a:ext cx="420624" cy="420624"/>
          </a:xfrm>
          <a:prstGeom prst="ellipse">
            <a:avLst/>
          </a:prstGeom>
          <a:solidFill>
            <a:srgbClr val="1B2A4A"/>
          </a:solidFill>
          <a:ln w="12700">
            <a:solidFill>
              <a:srgbClr val="1B2A4A"/>
            </a:solidFill>
            <a:prstDash val="solid"/>
          </a:ln>
        </p:spPr>
      </p:sp>
      <p:sp>
        <p:nvSpPr>
          <p:cNvPr id="25" name="Text 23"/>
          <p:cNvSpPr/>
          <p:nvPr/>
        </p:nvSpPr>
        <p:spPr>
          <a:xfrm>
            <a:off x="4773168" y="324612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4"/>
          <p:cNvSpPr/>
          <p:nvPr/>
        </p:nvSpPr>
        <p:spPr>
          <a:xfrm>
            <a:off x="5266944" y="3118104"/>
            <a:ext cx="3456432"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Stratified 5-Fold Split</a:t>
            </a:r>
            <a:endParaRPr lang="en-US" sz="1300" dirty="0"/>
          </a:p>
        </p:txBody>
      </p:sp>
      <p:sp>
        <p:nvSpPr>
          <p:cNvPr id="27" name="Text 25"/>
          <p:cNvSpPr/>
          <p:nvPr/>
        </p:nvSpPr>
        <p:spPr>
          <a:xfrm>
            <a:off x="5266944" y="3447288"/>
            <a:ext cx="3456432" cy="45720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Scikit-learn StratifiedKFold ensures each fold's class ratio matches the overall dataset distribution.</a:t>
            </a:r>
            <a:endParaRPr lang="en-US" sz="1100" dirty="0"/>
          </a:p>
        </p:txBody>
      </p:sp>
      <p:sp>
        <p:nvSpPr>
          <p:cNvPr id="28" name="Shape 26"/>
          <p:cNvSpPr/>
          <p:nvPr/>
        </p:nvSpPr>
        <p:spPr>
          <a:xfrm>
            <a:off x="4709160" y="4069080"/>
            <a:ext cx="4114800" cy="896112"/>
          </a:xfrm>
          <a:prstGeom prst="roundRect">
            <a:avLst>
              <a:gd name="adj" fmla="val 7143"/>
            </a:avLst>
          </a:prstGeom>
          <a:solidFill>
            <a:srgbClr val="FFFFFF"/>
          </a:solidFill>
          <a:ln w="12700">
            <a:solidFill>
              <a:srgbClr val="D4E4F7"/>
            </a:solidFill>
            <a:prstDash val="solid"/>
          </a:ln>
          <a:effectLst>
            <a:outerShdw sx="100000" sy="100000" kx="0" ky="0" algn="bl" rotWithShape="0" blurRad="101600" dist="38100" dir="2700000">
              <a:srgbClr val="000000">
                <a:alpha val="13000"/>
              </a:srgbClr>
            </a:outerShdw>
          </a:effectLst>
        </p:spPr>
      </p:sp>
      <p:sp>
        <p:nvSpPr>
          <p:cNvPr id="29" name="Shape 27"/>
          <p:cNvSpPr/>
          <p:nvPr/>
        </p:nvSpPr>
        <p:spPr>
          <a:xfrm>
            <a:off x="4773168" y="4251960"/>
            <a:ext cx="420624" cy="420624"/>
          </a:xfrm>
          <a:prstGeom prst="ellipse">
            <a:avLst/>
          </a:prstGeom>
          <a:solidFill>
            <a:srgbClr val="1B2A4A"/>
          </a:solidFill>
          <a:ln w="12700">
            <a:solidFill>
              <a:srgbClr val="1B2A4A"/>
            </a:solidFill>
            <a:prstDash val="solid"/>
          </a:ln>
        </p:spPr>
      </p:sp>
      <p:sp>
        <p:nvSpPr>
          <p:cNvPr id="30" name="Text 28"/>
          <p:cNvSpPr/>
          <p:nvPr/>
        </p:nvSpPr>
        <p:spPr>
          <a:xfrm>
            <a:off x="4773168" y="425196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1" name="Text 29"/>
          <p:cNvSpPr/>
          <p:nvPr/>
        </p:nvSpPr>
        <p:spPr>
          <a:xfrm>
            <a:off x="5266944" y="4123944"/>
            <a:ext cx="3456432" cy="310896"/>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SlowFast DataLoader Integration</a:t>
            </a:r>
            <a:endParaRPr lang="en-US" sz="1300" dirty="0"/>
          </a:p>
        </p:txBody>
      </p:sp>
      <p:sp>
        <p:nvSpPr>
          <p:cNvPr id="32" name="Text 30"/>
          <p:cNvSpPr/>
          <p:nvPr/>
        </p:nvSpPr>
        <p:spPr>
          <a:xfrm>
            <a:off x="5266944" y="4453128"/>
            <a:ext cx="3456432" cy="457200"/>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Custom dataset class wraps OUC-CGE clips for compatibility with the pytorchvideo / SlowFast training pipeline.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11480" y="182880"/>
            <a:ext cx="8321040" cy="65836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Model Architecture &amp; Configuration</a:t>
            </a:r>
            <a:endParaRPr lang="en-US" sz="2800" dirty="0"/>
          </a:p>
        </p:txBody>
      </p:sp>
      <p:sp>
        <p:nvSpPr>
          <p:cNvPr id="3" name="Shape 1"/>
          <p:cNvSpPr/>
          <p:nvPr/>
        </p:nvSpPr>
        <p:spPr>
          <a:xfrm>
            <a:off x="274320" y="1051560"/>
            <a:ext cx="1508760" cy="1828800"/>
          </a:xfrm>
          <a:prstGeom prst="roundRect">
            <a:avLst>
              <a:gd name="adj" fmla="val 4848"/>
            </a:avLst>
          </a:prstGeom>
          <a:solidFill>
            <a:srgbClr val="2E4066"/>
          </a:solidFill>
          <a:ln w="12700">
            <a:solidFill>
              <a:srgbClr val="29ABE2"/>
            </a:solidFill>
            <a:prstDash val="solid"/>
          </a:ln>
        </p:spPr>
      </p:sp>
      <p:sp>
        <p:nvSpPr>
          <p:cNvPr id="4" name="Text 2"/>
          <p:cNvSpPr/>
          <p:nvPr/>
        </p:nvSpPr>
        <p:spPr>
          <a:xfrm>
            <a:off x="274320" y="1161288"/>
            <a:ext cx="1508760" cy="274320"/>
          </a:xfrm>
          <a:prstGeom prst="rect">
            <a:avLst/>
          </a:prstGeom>
          <a:noFill/>
          <a:ln/>
        </p:spPr>
        <p:txBody>
          <a:bodyPr wrap="square" lIns="0" tIns="0" rIns="0" bIns="0" rtlCol="0" anchor="ctr"/>
          <a:lstStyle/>
          <a:p>
            <a:pPr algn="ctr" indent="0" marL="0">
              <a:buNone/>
            </a:pPr>
            <a:r>
              <a:rPr lang="en-US" sz="1000" b="1" dirty="0">
                <a:solidFill>
                  <a:srgbClr val="29ABE2"/>
                </a:solidFill>
                <a:latin typeface="Calibri" pitchFamily="34" charset="0"/>
                <a:ea typeface="Calibri" pitchFamily="34" charset="-122"/>
                <a:cs typeface="Calibri" pitchFamily="34" charset="-120"/>
              </a:rPr>
              <a:t>INPUT</a:t>
            </a:r>
            <a:endParaRPr lang="en-US" sz="1000" dirty="0"/>
          </a:p>
        </p:txBody>
      </p:sp>
      <p:sp>
        <p:nvSpPr>
          <p:cNvPr id="5" name="Text 3"/>
          <p:cNvSpPr/>
          <p:nvPr/>
        </p:nvSpPr>
        <p:spPr>
          <a:xfrm>
            <a:off x="274320" y="1490472"/>
            <a:ext cx="1508760" cy="822960"/>
          </a:xfrm>
          <a:prstGeom prst="rect">
            <a:avLst/>
          </a:prstGeom>
          <a:noFill/>
          <a:ln/>
        </p:spPr>
        <p:txBody>
          <a:bodyPr wrap="square" lIns="0" tIns="0" rIns="0" bIns="0" rtlCol="0" anchor="ctr"/>
          <a:lstStyle/>
          <a:p>
            <a:pPr algn="ctr" indent="0" marL="0">
              <a:buNone/>
            </a:pPr>
            <a:r>
              <a:rPr lang="en-US" sz="1100" dirty="0">
                <a:solidFill>
                  <a:srgbClr val="D4E4F7"/>
                </a:solidFill>
                <a:latin typeface="Calibri" pitchFamily="34" charset="0"/>
                <a:ea typeface="Calibri" pitchFamily="34" charset="-122"/>
                <a:cs typeface="Calibri" pitchFamily="34" charset="-120"/>
              </a:rPr>
              <a:t>Video Clip</a:t>
            </a:r>
            <a:endParaRPr lang="en-US" sz="1100" dirty="0"/>
          </a:p>
          <a:p>
            <a:pPr algn="ctr" indent="0" marL="0">
              <a:buNone/>
            </a:pPr>
            <a:r>
              <a:rPr lang="en-US" sz="1100" dirty="0">
                <a:solidFill>
                  <a:srgbClr val="D4E4F7"/>
                </a:solidFill>
                <a:latin typeface="Calibri" pitchFamily="34" charset="0"/>
                <a:ea typeface="Calibri" pitchFamily="34" charset="-122"/>
                <a:cs typeface="Calibri" pitchFamily="34" charset="-120"/>
              </a:rPr>
              <a:t>10s @ 30fps</a:t>
            </a:r>
            <a:endParaRPr lang="en-US" sz="1100" dirty="0"/>
          </a:p>
          <a:p>
            <a:pPr algn="ctr" indent="0" marL="0">
              <a:buNone/>
            </a:pPr>
            <a:r>
              <a:rPr lang="en-US" sz="1100" dirty="0">
                <a:solidFill>
                  <a:srgbClr val="D4E4F7"/>
                </a:solidFill>
                <a:latin typeface="Calibri" pitchFamily="34" charset="0"/>
                <a:ea typeface="Calibri" pitchFamily="34" charset="-122"/>
                <a:cs typeface="Calibri" pitchFamily="34" charset="-120"/>
              </a:rPr>
              <a:t>1280×720</a:t>
            </a:r>
            <a:endParaRPr lang="en-US" sz="1100" dirty="0"/>
          </a:p>
        </p:txBody>
      </p:sp>
      <p:sp>
        <p:nvSpPr>
          <p:cNvPr id="6" name="Text 4"/>
          <p:cNvSpPr/>
          <p:nvPr/>
        </p:nvSpPr>
        <p:spPr>
          <a:xfrm>
            <a:off x="274320" y="2350008"/>
            <a:ext cx="1508760" cy="420624"/>
          </a:xfrm>
          <a:prstGeom prst="rect">
            <a:avLst/>
          </a:prstGeom>
          <a:noFill/>
          <a:ln/>
        </p:spPr>
        <p:txBody>
          <a:bodyPr wrap="square" lIns="0" tIns="0" rIns="0" bIns="0" rtlCol="0" anchor="ctr"/>
          <a:lstStyle/>
          <a:p>
            <a:pPr algn="ctr" indent="0" marL="0">
              <a:buNone/>
            </a:pPr>
            <a:r>
              <a:rPr lang="en-US" sz="1000" i="1" dirty="0">
                <a:solidFill>
                  <a:srgbClr val="8FA3BF"/>
                </a:solidFill>
                <a:latin typeface="Calibri" pitchFamily="34" charset="0"/>
                <a:ea typeface="Calibri" pitchFamily="34" charset="-122"/>
                <a:cs typeface="Calibri" pitchFamily="34" charset="-120"/>
              </a:rPr>
              <a:t>8 frames</a:t>
            </a:r>
            <a:endParaRPr lang="en-US" sz="1000" dirty="0"/>
          </a:p>
          <a:p>
            <a:pPr algn="ctr" indent="0" marL="0">
              <a:buNone/>
            </a:pPr>
            <a:r>
              <a:rPr lang="en-US" sz="1000" i="1" dirty="0">
                <a:solidFill>
                  <a:srgbClr val="8FA3BF"/>
                </a:solidFill>
                <a:latin typeface="Calibri" pitchFamily="34" charset="0"/>
                <a:ea typeface="Calibri" pitchFamily="34" charset="-122"/>
                <a:cs typeface="Calibri" pitchFamily="34" charset="-120"/>
              </a:rPr>
              <a:t>sampled</a:t>
            </a:r>
            <a:endParaRPr lang="en-US" sz="1000" dirty="0"/>
          </a:p>
        </p:txBody>
      </p:sp>
      <p:sp>
        <p:nvSpPr>
          <p:cNvPr id="7" name="Shape 5"/>
          <p:cNvSpPr/>
          <p:nvPr/>
        </p:nvSpPr>
        <p:spPr>
          <a:xfrm>
            <a:off x="1801368" y="1965960"/>
            <a:ext cx="411480" cy="0"/>
          </a:xfrm>
          <a:prstGeom prst="line">
            <a:avLst/>
          </a:prstGeom>
          <a:noFill/>
          <a:ln w="25400">
            <a:solidFill>
              <a:srgbClr val="29ABE2"/>
            </a:solidFill>
            <a:prstDash val="solid"/>
          </a:ln>
        </p:spPr>
      </p:sp>
      <p:sp>
        <p:nvSpPr>
          <p:cNvPr id="8" name="Shape 6"/>
          <p:cNvSpPr/>
          <p:nvPr/>
        </p:nvSpPr>
        <p:spPr>
          <a:xfrm>
            <a:off x="2231136" y="1051560"/>
            <a:ext cx="2560320" cy="1828800"/>
          </a:xfrm>
          <a:prstGeom prst="roundRect">
            <a:avLst>
              <a:gd name="adj" fmla="val 4000"/>
            </a:avLst>
          </a:prstGeom>
          <a:solidFill>
            <a:srgbClr val="2E4066"/>
          </a:solidFill>
          <a:ln w="12700">
            <a:solidFill>
              <a:srgbClr val="F5A623"/>
            </a:solidFill>
            <a:prstDash val="solid"/>
          </a:ln>
        </p:spPr>
      </p:sp>
      <p:sp>
        <p:nvSpPr>
          <p:cNvPr id="9" name="Text 7"/>
          <p:cNvSpPr/>
          <p:nvPr/>
        </p:nvSpPr>
        <p:spPr>
          <a:xfrm>
            <a:off x="2231136" y="1143000"/>
            <a:ext cx="2560320" cy="292608"/>
          </a:xfrm>
          <a:prstGeom prst="rect">
            <a:avLst/>
          </a:prstGeom>
          <a:noFill/>
          <a:ln/>
        </p:spPr>
        <p:txBody>
          <a:bodyPr wrap="square" lIns="0" tIns="0" rIns="0" bIns="0" rtlCol="0" anchor="ctr"/>
          <a:lstStyle/>
          <a:p>
            <a:pPr algn="ctr" indent="0" marL="0">
              <a:buNone/>
            </a:pPr>
            <a:r>
              <a:rPr lang="en-US" sz="1200" b="1" dirty="0">
                <a:solidFill>
                  <a:srgbClr val="F5A623"/>
                </a:solidFill>
                <a:latin typeface="Calibri" pitchFamily="34" charset="0"/>
                <a:ea typeface="Calibri" pitchFamily="34" charset="-122"/>
                <a:cs typeface="Calibri" pitchFamily="34" charset="-120"/>
              </a:rPr>
              <a:t>SLOW PATHWAY</a:t>
            </a:r>
            <a:endParaRPr lang="en-US" sz="1200" dirty="0"/>
          </a:p>
        </p:txBody>
      </p:sp>
      <p:sp>
        <p:nvSpPr>
          <p:cNvPr id="10" name="Text 8"/>
          <p:cNvSpPr/>
          <p:nvPr/>
        </p:nvSpPr>
        <p:spPr>
          <a:xfrm>
            <a:off x="2286000" y="1490472"/>
            <a:ext cx="2468880" cy="1261872"/>
          </a:xfrm>
          <a:prstGeom prst="rect">
            <a:avLst/>
          </a:prstGeom>
          <a:noFill/>
          <a:ln/>
        </p:spPr>
        <p:txBody>
          <a:bodyPr wrap="square" lIns="0" tIns="0" rIns="0" bIns="0" rtlCol="0" anchor="ctr"/>
          <a:lstStyle/>
          <a:p>
            <a:pPr algn="l" indent="0" marL="0">
              <a:buNone/>
            </a:pPr>
            <a:r>
              <a:rPr lang="en-US" sz="1100" dirty="0">
                <a:solidFill>
                  <a:srgbClr val="D4E4F7"/>
                </a:solidFill>
                <a:latin typeface="Calibri" pitchFamily="34" charset="0"/>
                <a:ea typeface="Calibri" pitchFamily="34" charset="-122"/>
                <a:cs typeface="Calibri" pitchFamily="34" charset="-120"/>
              </a:rPr>
              <a:t>ResNet-50 backbone</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3D convolutions</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8 frames (slow rate)</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Spatial resolution focus</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Stride: 8×8</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No Fast pathway</a:t>
            </a:r>
            <a:endParaRPr lang="en-US" sz="1100" dirty="0"/>
          </a:p>
        </p:txBody>
      </p:sp>
      <p:sp>
        <p:nvSpPr>
          <p:cNvPr id="11" name="Shape 9"/>
          <p:cNvSpPr/>
          <p:nvPr/>
        </p:nvSpPr>
        <p:spPr>
          <a:xfrm>
            <a:off x="4809744" y="1965960"/>
            <a:ext cx="411480" cy="0"/>
          </a:xfrm>
          <a:prstGeom prst="line">
            <a:avLst/>
          </a:prstGeom>
          <a:noFill/>
          <a:ln w="25400">
            <a:solidFill>
              <a:srgbClr val="F5A623"/>
            </a:solidFill>
            <a:prstDash val="solid"/>
          </a:ln>
        </p:spPr>
      </p:sp>
      <p:sp>
        <p:nvSpPr>
          <p:cNvPr id="12" name="Shape 10"/>
          <p:cNvSpPr/>
          <p:nvPr/>
        </p:nvSpPr>
        <p:spPr>
          <a:xfrm>
            <a:off x="5239512" y="1051560"/>
            <a:ext cx="1920240" cy="1828800"/>
          </a:xfrm>
          <a:prstGeom prst="roundRect">
            <a:avLst>
              <a:gd name="adj" fmla="val 4000"/>
            </a:avLst>
          </a:prstGeom>
          <a:solidFill>
            <a:srgbClr val="2E4066"/>
          </a:solidFill>
          <a:ln w="12700">
            <a:solidFill>
              <a:srgbClr val="27AE60"/>
            </a:solidFill>
            <a:prstDash val="solid"/>
          </a:ln>
        </p:spPr>
      </p:sp>
      <p:sp>
        <p:nvSpPr>
          <p:cNvPr id="13" name="Text 11"/>
          <p:cNvSpPr/>
          <p:nvPr/>
        </p:nvSpPr>
        <p:spPr>
          <a:xfrm>
            <a:off x="5239512" y="1143000"/>
            <a:ext cx="1920240" cy="292608"/>
          </a:xfrm>
          <a:prstGeom prst="rect">
            <a:avLst/>
          </a:prstGeom>
          <a:noFill/>
          <a:ln/>
        </p:spPr>
        <p:txBody>
          <a:bodyPr wrap="square" lIns="0" tIns="0" rIns="0" bIns="0" rtlCol="0" anchor="ctr"/>
          <a:lstStyle/>
          <a:p>
            <a:pPr algn="ctr" indent="0" marL="0">
              <a:buNone/>
            </a:pPr>
            <a:r>
              <a:rPr lang="en-US" sz="1200" b="1" dirty="0">
                <a:solidFill>
                  <a:srgbClr val="27AE60"/>
                </a:solidFill>
                <a:latin typeface="Calibri" pitchFamily="34" charset="0"/>
                <a:ea typeface="Calibri" pitchFamily="34" charset="-122"/>
                <a:cs typeface="Calibri" pitchFamily="34" charset="-120"/>
              </a:rPr>
              <a:t>HEAD</a:t>
            </a:r>
            <a:endParaRPr lang="en-US" sz="1200" dirty="0"/>
          </a:p>
        </p:txBody>
      </p:sp>
      <p:sp>
        <p:nvSpPr>
          <p:cNvPr id="14" name="Text 12"/>
          <p:cNvSpPr/>
          <p:nvPr/>
        </p:nvSpPr>
        <p:spPr>
          <a:xfrm>
            <a:off x="5294376" y="1508760"/>
            <a:ext cx="1828800" cy="1097280"/>
          </a:xfrm>
          <a:prstGeom prst="rect">
            <a:avLst/>
          </a:prstGeom>
          <a:noFill/>
          <a:ln/>
        </p:spPr>
        <p:txBody>
          <a:bodyPr wrap="square" lIns="0" tIns="0" rIns="0" bIns="0" rtlCol="0" anchor="ctr"/>
          <a:lstStyle/>
          <a:p>
            <a:pPr algn="l" indent="0" marL="0">
              <a:buNone/>
            </a:pPr>
            <a:r>
              <a:rPr lang="en-US" sz="1100" dirty="0">
                <a:solidFill>
                  <a:srgbClr val="D4E4F7"/>
                </a:solidFill>
                <a:latin typeface="Calibri" pitchFamily="34" charset="0"/>
                <a:ea typeface="Calibri" pitchFamily="34" charset="-122"/>
                <a:cs typeface="Calibri" pitchFamily="34" charset="-120"/>
              </a:rPr>
              <a:t>Global Avg Pool</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Dropout</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FC Layer</a:t>
            </a:r>
            <a:endParaRPr lang="en-US" sz="1100" dirty="0"/>
          </a:p>
          <a:p>
            <a:pPr algn="l" indent="0" marL="0">
              <a:buNone/>
            </a:pPr>
            <a:r>
              <a:rPr lang="en-US" sz="1100" dirty="0">
                <a:solidFill>
                  <a:srgbClr val="D4E4F7"/>
                </a:solidFill>
                <a:latin typeface="Calibri" pitchFamily="34" charset="0"/>
                <a:ea typeface="Calibri" pitchFamily="34" charset="-122"/>
                <a:cs typeface="Calibri" pitchFamily="34" charset="-120"/>
              </a:rPr>
              <a:t>Softmax (3 classes)</a:t>
            </a:r>
            <a:endParaRPr lang="en-US" sz="1100" dirty="0"/>
          </a:p>
        </p:txBody>
      </p:sp>
      <p:sp>
        <p:nvSpPr>
          <p:cNvPr id="15" name="Shape 13"/>
          <p:cNvSpPr/>
          <p:nvPr/>
        </p:nvSpPr>
        <p:spPr>
          <a:xfrm>
            <a:off x="7178040" y="1965960"/>
            <a:ext cx="411480" cy="0"/>
          </a:xfrm>
          <a:prstGeom prst="line">
            <a:avLst/>
          </a:prstGeom>
          <a:noFill/>
          <a:ln w="25400">
            <a:solidFill>
              <a:srgbClr val="27AE60"/>
            </a:solidFill>
            <a:prstDash val="solid"/>
          </a:ln>
        </p:spPr>
      </p:sp>
      <p:sp>
        <p:nvSpPr>
          <p:cNvPr id="16" name="Shape 14"/>
          <p:cNvSpPr/>
          <p:nvPr/>
        </p:nvSpPr>
        <p:spPr>
          <a:xfrm>
            <a:off x="7607808" y="1508760"/>
            <a:ext cx="1325880" cy="914400"/>
          </a:xfrm>
          <a:prstGeom prst="roundRect">
            <a:avLst>
              <a:gd name="adj" fmla="val 8000"/>
            </a:avLst>
          </a:prstGeom>
          <a:solidFill>
            <a:srgbClr val="1A4A2E"/>
          </a:solidFill>
          <a:ln w="12700">
            <a:solidFill>
              <a:srgbClr val="27AE60"/>
            </a:solidFill>
            <a:prstDash val="solid"/>
          </a:ln>
        </p:spPr>
      </p:sp>
      <p:sp>
        <p:nvSpPr>
          <p:cNvPr id="17" name="Text 15"/>
          <p:cNvSpPr/>
          <p:nvPr/>
        </p:nvSpPr>
        <p:spPr>
          <a:xfrm>
            <a:off x="7607808" y="1645920"/>
            <a:ext cx="1325880" cy="640080"/>
          </a:xfrm>
          <a:prstGeom prst="rect">
            <a:avLst/>
          </a:prstGeom>
          <a:noFill/>
          <a:ln/>
        </p:spPr>
        <p:txBody>
          <a:bodyPr wrap="square" lIns="0" tIns="0" rIns="0" bIns="0" rtlCol="0" anchor="ctr"/>
          <a:lstStyle/>
          <a:p>
            <a:pPr algn="ctr" indent="0" marL="0">
              <a:buNone/>
            </a:pPr>
            <a:r>
              <a:rPr lang="en-US" sz="1300" b="1" dirty="0">
                <a:solidFill>
                  <a:srgbClr val="27AE60"/>
                </a:solidFill>
                <a:latin typeface="Calibri" pitchFamily="34" charset="0"/>
                <a:ea typeface="Calibri" pitchFamily="34" charset="-122"/>
                <a:cs typeface="Calibri" pitchFamily="34" charset="-120"/>
              </a:rPr>
              <a:t>Low / Mid</a:t>
            </a:r>
            <a:endParaRPr lang="en-US" sz="1300" dirty="0"/>
          </a:p>
          <a:p>
            <a:pPr algn="ctr" indent="0" marL="0">
              <a:buNone/>
            </a:pPr>
            <a:r>
              <a:rPr lang="en-US" sz="1300" b="1" dirty="0">
                <a:solidFill>
                  <a:srgbClr val="27AE60"/>
                </a:solidFill>
                <a:latin typeface="Calibri" pitchFamily="34" charset="0"/>
                <a:ea typeface="Calibri" pitchFamily="34" charset="-122"/>
                <a:cs typeface="Calibri" pitchFamily="34" charset="-120"/>
              </a:rPr>
              <a:t>/ High</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3063240"/>
          <a:ext cx="8641080" cy="914400"/>
        </p:xfrm>
        <a:graphic>
          <a:graphicData uri="http://schemas.openxmlformats.org/drawingml/2006/table">
            <a:tbl>
              <a:tblPr/>
              <a:tblGrid>
                <a:gridCol w="1828800"/>
                <a:gridCol w="2148840"/>
                <a:gridCol w="2011680"/>
                <a:gridCol w="2651760"/>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Parameter</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1B2A4A"/>
                    </a:solidFill>
                  </a:tcPr>
                </a:tc>
              </a:tr>
              <a:tr h="347472">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Backbone</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ResNet-50 (R50)</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Batch size</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r>
              <a:tr h="347472">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Temporal stride</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Hardware</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Single Nvidia RTX (laptop)</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r>
              <a:tr h="347472">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Frames sampled</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8 per clip</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Framework</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Facebook SlowFast / pytorchvideo</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r>
              <a:tr h="347472">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Num. classes</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3 (Low, Mid, High)</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Pretrain</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c>
                  <a:txBody>
                    <a:bodyPr/>
                    <a:lstStyle/>
                    <a:p>
                      <a:pPr indent="0" marL="0">
                        <a:buNone/>
                      </a:pPr>
                      <a:r>
                        <a:rPr lang="en-US" sz="1200" dirty="0">
                          <a:solidFill>
                            <a:srgbClr val="D4E4F7"/>
                          </a:solidFill>
                          <a:latin typeface="Calibri" pitchFamily="34" charset="0"/>
                          <a:ea typeface="Calibri" pitchFamily="34" charset="-122"/>
                          <a:cs typeface="Calibri" pitchFamily="34" charset="-120"/>
                        </a:rPr>
                        <a:t>Kinetics-400</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Text 1"/>
          <p:cNvSpPr/>
          <p:nvPr/>
        </p:nvSpPr>
        <p:spPr>
          <a:xfrm>
            <a:off x="411480" y="137160"/>
            <a:ext cx="832104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Cross-Validation Performance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987552"/>
          <a:ext cx="5394960" cy="914400"/>
        </p:xfrm>
        <a:graphic>
          <a:graphicData uri="http://schemas.openxmlformats.org/drawingml/2006/table">
            <a:tbl>
              <a:tblPr/>
              <a:tblGrid>
                <a:gridCol w="749808"/>
                <a:gridCol w="658368"/>
                <a:gridCol w="1024128"/>
                <a:gridCol w="1024128"/>
                <a:gridCol w="932688"/>
                <a:gridCol w="1005840"/>
              </a:tblGrid>
              <a:tr h="42976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Fold</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n</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Accuracy</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Macro-F1</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QWK</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r>
              <a:tr h="429768">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Fold 0</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1,233</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56.45%</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41.63%</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0.1579</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200" b="1" dirty="0">
                          <a:solidFill>
                            <a:srgbClr val="27AE60"/>
                          </a:solidFill>
                          <a:latin typeface="Calibri" pitchFamily="34" charset="0"/>
                          <a:ea typeface="Calibri" pitchFamily="34" charset="-122"/>
                          <a:cs typeface="Calibri" pitchFamily="34" charset="-120"/>
                        </a:rPr>
                        <a:t>Stable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r>
              <a:tr h="429768">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Fold 1</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1,233</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54.74%</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34.92%</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0.0616</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7AE60"/>
                          </a:solidFill>
                          <a:latin typeface="Calibri" pitchFamily="34" charset="0"/>
                          <a:ea typeface="Calibri" pitchFamily="34" charset="-122"/>
                          <a:cs typeface="Calibri" pitchFamily="34" charset="-120"/>
                        </a:rPr>
                        <a:t>Stable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r>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Fold 2</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A1010"/>
                    </a:solidFill>
                  </a:tcPr>
                </a:tc>
                <a:tc>
                  <a:txBody>
                    <a:bodyPr/>
                    <a:lstStyle/>
                    <a:p>
                      <a:pPr algn="ctr" indent="0" marL="0">
                        <a:buNone/>
                      </a:pPr>
                      <a:r>
                        <a:rPr lang="en-US" sz="1300" dirty="0">
                          <a:solidFill>
                            <a:srgbClr val="FFFFFF"/>
                          </a:solidFill>
                          <a:latin typeface="Calibri" pitchFamily="34" charset="0"/>
                          <a:ea typeface="Calibri" pitchFamily="34" charset="-122"/>
                          <a:cs typeface="Calibri" pitchFamily="34" charset="-120"/>
                        </a:rPr>
                        <a:t>1,233</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A1010"/>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33.41%</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A1010"/>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24.01%</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A1010"/>
                    </a:solidFill>
                  </a:tcPr>
                </a:tc>
                <a:tc>
                  <a:txBody>
                    <a:bodyPr/>
                    <a:lstStyle/>
                    <a:p>
                      <a:pPr algn="ctr" indent="0" marL="0">
                        <a:buNone/>
                      </a:pPr>
                      <a:r>
                        <a:rPr lang="en-US" sz="1300" dirty="0">
                          <a:solidFill>
                            <a:srgbClr val="FFFFFF"/>
                          </a:solidFill>
                          <a:latin typeface="Calibri" pitchFamily="34" charset="0"/>
                          <a:ea typeface="Calibri" pitchFamily="34" charset="-122"/>
                          <a:cs typeface="Calibri" pitchFamily="34" charset="-120"/>
                        </a:rPr>
                        <a:t>0.1049</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A1010"/>
                    </a:solidFill>
                  </a:tcPr>
                </a:tc>
                <a:tc>
                  <a:txBody>
                    <a:bodyPr/>
                    <a:lstStyle/>
                    <a:p>
                      <a:pPr algn="ctr" indent="0" marL="0">
                        <a:buNone/>
                      </a:pPr>
                      <a:r>
                        <a:rPr lang="en-US" sz="1100" b="1" dirty="0">
                          <a:solidFill>
                            <a:srgbClr val="D94F3D"/>
                          </a:solidFill>
                          <a:latin typeface="Calibri" pitchFamily="34" charset="0"/>
                          <a:ea typeface="Calibri" pitchFamily="34" charset="-122"/>
                          <a:cs typeface="Calibri" pitchFamily="34" charset="-120"/>
                        </a:rPr>
                        <a:t>⚠ COLLAPSE (Mid)</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4A1010"/>
                    </a:solidFill>
                  </a:tcPr>
                </a:tc>
              </a:tr>
              <a:tr h="429768">
                <a:tc>
                  <a:txBody>
                    <a:bodyPr/>
                    <a:lstStyle/>
                    <a:p>
                      <a:pPr indent="0" marL="0">
                        <a:buNone/>
                      </a:pPr>
                      <a:r>
                        <a:rPr lang="en-US" sz="1300" b="1" dirty="0">
                          <a:solidFill>
                            <a:srgbClr val="1B2A4A"/>
                          </a:solidFill>
                          <a:latin typeface="Calibri" pitchFamily="34" charset="0"/>
                          <a:ea typeface="Calibri" pitchFamily="34" charset="-122"/>
                          <a:cs typeface="Calibri" pitchFamily="34" charset="-120"/>
                        </a:rPr>
                        <a:t>Fold 3</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1,230</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56.50%</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32.64%</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300" dirty="0">
                          <a:solidFill>
                            <a:srgbClr val="1B2A4A"/>
                          </a:solidFill>
                          <a:latin typeface="Calibri" pitchFamily="34" charset="0"/>
                          <a:ea typeface="Calibri" pitchFamily="34" charset="-122"/>
                          <a:cs typeface="Calibri" pitchFamily="34" charset="-120"/>
                        </a:rPr>
                        <a:t>0.0290</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c>
                  <a:txBody>
                    <a:bodyPr/>
                    <a:lstStyle/>
                    <a:p>
                      <a:pPr algn="ctr" indent="0" marL="0">
                        <a:buNone/>
                      </a:pPr>
                      <a:r>
                        <a:rPr lang="en-US" sz="1200" b="1" dirty="0">
                          <a:solidFill>
                            <a:srgbClr val="27AE60"/>
                          </a:solidFill>
                          <a:latin typeface="Calibri" pitchFamily="34" charset="0"/>
                          <a:ea typeface="Calibri" pitchFamily="34" charset="-122"/>
                          <a:cs typeface="Calibri" pitchFamily="34" charset="-120"/>
                        </a:rPr>
                        <a:t>Stable</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AF4FB"/>
                    </a:solidFill>
                  </a:tcPr>
                </a:tc>
              </a:tr>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Fold 4</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D1A10"/>
                    </a:solidFill>
                  </a:tcPr>
                </a:tc>
                <a:tc>
                  <a:txBody>
                    <a:bodyPr/>
                    <a:lstStyle/>
                    <a:p>
                      <a:pPr algn="ctr" indent="0" marL="0">
                        <a:buNone/>
                      </a:pPr>
                      <a:r>
                        <a:rPr lang="en-US" sz="1300" dirty="0">
                          <a:solidFill>
                            <a:srgbClr val="FFFFFF"/>
                          </a:solidFill>
                          <a:latin typeface="Calibri" pitchFamily="34" charset="0"/>
                          <a:ea typeface="Calibri" pitchFamily="34" charset="-122"/>
                          <a:cs typeface="Calibri" pitchFamily="34" charset="-120"/>
                        </a:rPr>
                        <a:t>1,230</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D1A10"/>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56.67%</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D1A10"/>
                    </a:solidFill>
                  </a:tcPr>
                </a:tc>
                <a:tc>
                  <a:txBody>
                    <a:bodyPr/>
                    <a:lstStyle/>
                    <a:p>
                      <a:pPr algn="ctr" indent="0" marL="0">
                        <a:buNone/>
                      </a:pPr>
                      <a:r>
                        <a:rPr lang="en-US" sz="1300" b="1" dirty="0">
                          <a:solidFill>
                            <a:srgbClr val="F5A623"/>
                          </a:solidFill>
                          <a:latin typeface="Calibri" pitchFamily="34" charset="0"/>
                          <a:ea typeface="Calibri" pitchFamily="34" charset="-122"/>
                          <a:cs typeface="Calibri" pitchFamily="34" charset="-120"/>
                        </a:rPr>
                        <a:t>25.54%</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D1A10"/>
                    </a:solidFill>
                  </a:tcPr>
                </a:tc>
                <a:tc>
                  <a:txBody>
                    <a:bodyPr/>
                    <a:lstStyle/>
                    <a:p>
                      <a:pPr algn="ctr" indent="0" marL="0">
                        <a:buNone/>
                      </a:pPr>
                      <a:r>
                        <a:rPr lang="en-US" sz="1300" b="1" dirty="0">
                          <a:solidFill>
                            <a:srgbClr val="D94F3D"/>
                          </a:solidFill>
                          <a:latin typeface="Calibri" pitchFamily="34" charset="0"/>
                          <a:ea typeface="Calibri" pitchFamily="34" charset="-122"/>
                          <a:cs typeface="Calibri" pitchFamily="34" charset="-120"/>
                        </a:rPr>
                        <a:t>-0.0068</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D1A10"/>
                    </a:solidFill>
                  </a:tcPr>
                </a:tc>
                <a:tc>
                  <a:txBody>
                    <a:bodyPr/>
                    <a:lstStyle/>
                    <a:p>
                      <a:pPr algn="ctr" indent="0" marL="0">
                        <a:buNone/>
                      </a:pPr>
                      <a:r>
                        <a:rPr lang="en-US" sz="1100" b="1" dirty="0">
                          <a:solidFill>
                            <a:srgbClr val="D94F3D"/>
                          </a:solidFill>
                          <a:latin typeface="Calibri" pitchFamily="34" charset="0"/>
                          <a:ea typeface="Calibri" pitchFamily="34" charset="-122"/>
                          <a:cs typeface="Calibri" pitchFamily="34" charset="-120"/>
                        </a:rPr>
                        <a:t>⚠ COLLAPSE (Low)</a:t>
                      </a:r>
                      <a:endParaRPr lang="en-US" sz="11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3D1A10"/>
                    </a:solidFill>
                  </a:tcPr>
                </a:tc>
              </a:tr>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E4066"/>
                    </a:solidFill>
                  </a:tcPr>
                </a:tc>
                <a:tc>
                  <a:txBody>
                    <a:bodyPr/>
                    <a:lstStyle/>
                    <a:p>
                      <a:pPr algn="ctr" indent="0" marL="0">
                        <a:buNone/>
                      </a:pPr>
                      <a:r>
                        <a:rPr lang="en-US" sz="1300" b="1" dirty="0">
                          <a:solidFill>
                            <a:srgbClr val="29ABE2"/>
                          </a:solidFill>
                          <a:latin typeface="Calibri" pitchFamily="34" charset="0"/>
                          <a:ea typeface="Calibri" pitchFamily="34" charset="-122"/>
                          <a:cs typeface="Calibri" pitchFamily="34" charset="-120"/>
                        </a:rPr>
                        <a:t>51.56%</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E4066"/>
                    </a:solidFill>
                  </a:tcPr>
                </a:tc>
                <a:tc>
                  <a:txBody>
                    <a:bodyPr/>
                    <a:lstStyle/>
                    <a:p>
                      <a:pPr algn="ctr" indent="0" marL="0">
                        <a:buNone/>
                      </a:pPr>
                      <a:r>
                        <a:rPr lang="en-US" sz="1300" b="1" dirty="0">
                          <a:solidFill>
                            <a:srgbClr val="29ABE2"/>
                          </a:solidFill>
                          <a:latin typeface="Calibri" pitchFamily="34" charset="0"/>
                          <a:ea typeface="Calibri" pitchFamily="34" charset="-122"/>
                          <a:cs typeface="Calibri" pitchFamily="34" charset="-120"/>
                        </a:rPr>
                        <a:t>31.75%</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E4066"/>
                    </a:solidFill>
                  </a:tcPr>
                </a:tc>
                <a:tc>
                  <a:txBody>
                    <a:bodyPr/>
                    <a:lstStyle/>
                    <a:p>
                      <a:pPr algn="ctr" indent="0" marL="0">
                        <a:buNone/>
                      </a:pPr>
                      <a:r>
                        <a:rPr lang="en-US" sz="1300" b="1" dirty="0">
                          <a:solidFill>
                            <a:srgbClr val="29ABE2"/>
                          </a:solidFill>
                          <a:latin typeface="Calibri" pitchFamily="34" charset="0"/>
                          <a:ea typeface="Calibri" pitchFamily="34" charset="-122"/>
                          <a:cs typeface="Calibri" pitchFamily="34" charset="-120"/>
                        </a:rPr>
                        <a:t>0.0693</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2E4066"/>
                    </a:solidFill>
                  </a:tcPr>
                </a:tc>
              </a:tr>
              <a:tr h="42976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Std Dev</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200" dirty="0">
                          <a:solidFill>
                            <a:srgbClr val="8FA3B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200" dirty="0">
                          <a:solidFill>
                            <a:srgbClr val="8FA3BF"/>
                          </a:solidFill>
                          <a:latin typeface="Calibri" pitchFamily="34" charset="0"/>
                          <a:ea typeface="Calibri" pitchFamily="34" charset="-122"/>
                          <a:cs typeface="Calibri" pitchFamily="34" charset="-120"/>
                        </a:rPr>
                        <a:t>±9.10%</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200" dirty="0">
                          <a:solidFill>
                            <a:srgbClr val="8FA3BF"/>
                          </a:solidFill>
                          <a:latin typeface="Calibri" pitchFamily="34" charset="0"/>
                          <a:ea typeface="Calibri" pitchFamily="34" charset="-122"/>
                          <a:cs typeface="Calibri" pitchFamily="34" charset="-120"/>
                        </a:rPr>
                        <a:t>±6.43%</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200" dirty="0">
                          <a:solidFill>
                            <a:srgbClr val="8FA3BF"/>
                          </a:solidFill>
                          <a:latin typeface="Calibri" pitchFamily="34" charset="0"/>
                          <a:ea typeface="Calibri" pitchFamily="34" charset="-122"/>
                          <a:cs typeface="Calibri" pitchFamily="34" charset="-120"/>
                        </a:rPr>
                        <a:t>±0.0576</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c>
                  <a:txBody>
                    <a:bodyPr/>
                    <a:lstStyle/>
                    <a:p>
                      <a:pPr algn="ctr" indent="0" marL="0">
                        <a:buNone/>
                      </a:pPr>
                      <a:r>
                        <a:rPr lang="en-US" sz="1200" dirty="0">
                          <a:solidFill>
                            <a:srgbClr val="8FA3B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B2A4A"/>
                    </a:solidFill>
                  </a:tcPr>
                </a:tc>
              </a:tr>
            </a:tbl>
          </a:graphicData>
        </a:graphic>
      </p:graphicFrame>
      <p:graphicFrame>
        <p:nvGraphicFramePr>
          <p:cNvPr id="5" name="Chart 0" descr=""/>
          <p:cNvGraphicFramePr/>
          <p:nvPr/>
        </p:nvGraphicFramePr>
        <p:xfrm>
          <a:off x="5806440" y="987552"/>
          <a:ext cx="306324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806440" y="3401568"/>
          <a:ext cx="3063240" cy="1554480"/>
        </p:xfrm>
        <a:graphic xmlns:a="http://schemas.openxmlformats.org/drawingml/2006/main">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11480" y="137160"/>
            <a:ext cx="8321040" cy="65836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Deep-Dive: Model Collapse Phenomenon</a:t>
            </a:r>
            <a:endParaRPr lang="en-US" sz="2800" dirty="0"/>
          </a:p>
        </p:txBody>
      </p:sp>
      <p:sp>
        <p:nvSpPr>
          <p:cNvPr id="3" name="Text 1"/>
          <p:cNvSpPr/>
          <p:nvPr/>
        </p:nvSpPr>
        <p:spPr>
          <a:xfrm>
            <a:off x="274320" y="896112"/>
            <a:ext cx="4023360" cy="347472"/>
          </a:xfrm>
          <a:prstGeom prst="rect">
            <a:avLst/>
          </a:prstGeom>
          <a:noFill/>
          <a:ln/>
        </p:spPr>
        <p:txBody>
          <a:bodyPr wrap="square" lIns="0" tIns="0" rIns="0" bIns="0" rtlCol="0" anchor="ctr"/>
          <a:lstStyle/>
          <a:p>
            <a:pPr indent="0" marL="0">
              <a:buNone/>
            </a:pPr>
            <a:r>
              <a:rPr lang="en-US" sz="1500" b="1" dirty="0">
                <a:solidFill>
                  <a:srgbClr val="D94F3D"/>
                </a:solidFill>
                <a:latin typeface="Calibri" pitchFamily="34" charset="0"/>
                <a:ea typeface="Calibri" pitchFamily="34" charset="-122"/>
                <a:cs typeface="Calibri" pitchFamily="34" charset="-120"/>
              </a:rPr>
              <a:t>Fold 2 — Collapsed to Mid  (Acc: 33.41%)</a:t>
            </a:r>
            <a:endParaRPr lang="en-US" sz="1500" dirty="0"/>
          </a:p>
        </p:txBody>
      </p:sp>
      <p:sp>
        <p:nvSpPr>
          <p:cNvPr id="4" name="Text 2"/>
          <p:cNvSpPr/>
          <p:nvPr/>
        </p:nvSpPr>
        <p:spPr>
          <a:xfrm>
            <a:off x="4846320" y="896112"/>
            <a:ext cx="4023360" cy="347472"/>
          </a:xfrm>
          <a:prstGeom prst="rect">
            <a:avLst/>
          </a:prstGeom>
          <a:noFill/>
          <a:ln/>
        </p:spPr>
        <p:txBody>
          <a:bodyPr wrap="square" lIns="0" tIns="0" rIns="0" bIns="0" rtlCol="0" anchor="ctr"/>
          <a:lstStyle/>
          <a:p>
            <a:pPr indent="0" marL="0">
              <a:buNone/>
            </a:pPr>
            <a:r>
              <a:rPr lang="en-US" sz="1500" b="1" dirty="0">
                <a:solidFill>
                  <a:srgbClr val="F5A623"/>
                </a:solidFill>
                <a:latin typeface="Calibri" pitchFamily="34" charset="0"/>
                <a:ea typeface="Calibri" pitchFamily="34" charset="-122"/>
                <a:cs typeface="Calibri" pitchFamily="34" charset="-120"/>
              </a:rPr>
              <a:t>Fold 4 — Collapsed to Low  (Acc: 56.67%,  QWK: −0.007)</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274320" y="1298448"/>
          <a:ext cx="4114800" cy="914400"/>
        </p:xfrm>
        <a:graphic>
          <a:graphicData uri="http://schemas.openxmlformats.org/drawingml/2006/table">
            <a:tbl>
              <a:tblPr/>
              <a:tblGrid>
                <a:gridCol w="1005840"/>
                <a:gridCol w="1005840"/>
                <a:gridCol w="1005840"/>
                <a:gridCol w="100584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Fold 2</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 Low</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 Mid</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 High</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r h="420624">
                <a:tc>
                  <a:txBody>
                    <a:bodyPr/>
                    <a:lstStyle/>
                    <a:p>
                      <a:pPr indent="0" marL="0">
                        <a:buNone/>
                      </a:pPr>
                      <a:r>
                        <a:rPr lang="en-US" sz="1200" b="1" dirty="0">
                          <a:solidFill>
                            <a:srgbClr val="D4E4F7"/>
                          </a:solidFill>
                          <a:latin typeface="Calibri" pitchFamily="34" charset="0"/>
                          <a:ea typeface="Calibri" pitchFamily="34" charset="-122"/>
                          <a:cs typeface="Calibri" pitchFamily="34" charset="-120"/>
                        </a:rPr>
                        <a:t>True Low</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D4E4F7"/>
                          </a:solidFill>
                          <a:latin typeface="Calibri" pitchFamily="34" charset="0"/>
                          <a:ea typeface="Calibri" pitchFamily="34" charset="-122"/>
                          <a:cs typeface="Calibri" pitchFamily="34" charset="-120"/>
                        </a:rPr>
                        <a:t>156</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500" b="1" dirty="0">
                          <a:solidFill>
                            <a:srgbClr val="D94F3D"/>
                          </a:solidFill>
                          <a:latin typeface="Calibri" pitchFamily="34" charset="0"/>
                          <a:ea typeface="Calibri" pitchFamily="34" charset="-122"/>
                          <a:cs typeface="Calibri" pitchFamily="34" charset="-120"/>
                        </a:rPr>
                        <a:t>575</a:t>
                      </a:r>
                      <a:endParaRPr lang="en-US" sz="15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5C1A1A"/>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r h="420624">
                <a:tc>
                  <a:txBody>
                    <a:bodyPr/>
                    <a:lstStyle/>
                    <a:p>
                      <a:pPr indent="0" marL="0">
                        <a:buNone/>
                      </a:pPr>
                      <a:r>
                        <a:rPr lang="en-US" sz="1200" b="1" dirty="0">
                          <a:solidFill>
                            <a:srgbClr val="D4E4F7"/>
                          </a:solidFill>
                          <a:latin typeface="Calibri" pitchFamily="34" charset="0"/>
                          <a:ea typeface="Calibri" pitchFamily="34" charset="-122"/>
                          <a:cs typeface="Calibri" pitchFamily="34" charset="-120"/>
                        </a:rPr>
                        <a:t>True Mid</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D4E4F7"/>
                          </a:solidFill>
                          <a:latin typeface="Calibri" pitchFamily="34" charset="0"/>
                          <a:ea typeface="Calibri" pitchFamily="34" charset="-122"/>
                          <a:cs typeface="Calibri" pitchFamily="34" charset="-120"/>
                        </a:rPr>
                        <a:t>38</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256</a:t>
                      </a:r>
                      <a:endParaRPr lang="en-US" sz="15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4A3010"/>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r h="420624">
                <a:tc>
                  <a:txBody>
                    <a:bodyPr/>
                    <a:lstStyle/>
                    <a:p>
                      <a:pPr indent="0" marL="0">
                        <a:buNone/>
                      </a:pPr>
                      <a:r>
                        <a:rPr lang="en-US" sz="1200" b="1" dirty="0">
                          <a:solidFill>
                            <a:srgbClr val="D4E4F7"/>
                          </a:solidFill>
                          <a:latin typeface="Calibri" pitchFamily="34" charset="0"/>
                          <a:ea typeface="Calibri" pitchFamily="34" charset="-122"/>
                          <a:cs typeface="Calibri" pitchFamily="34" charset="-120"/>
                        </a:rPr>
                        <a:t>True High</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D4E4F7"/>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500" b="1" dirty="0">
                          <a:solidFill>
                            <a:srgbClr val="D94F3D"/>
                          </a:solidFill>
                          <a:latin typeface="Calibri" pitchFamily="34" charset="0"/>
                          <a:ea typeface="Calibri" pitchFamily="34" charset="-122"/>
                          <a:cs typeface="Calibri" pitchFamily="34" charset="-120"/>
                        </a:rPr>
                        <a:t>192</a:t>
                      </a:r>
                      <a:endParaRPr lang="en-US" sz="15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5C1A1A"/>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bl>
          </a:graphicData>
        </a:graphic>
      </p:graphicFrame>
      <p:sp>
        <p:nvSpPr>
          <p:cNvPr id="6" name="Text 3"/>
          <p:cNvSpPr/>
          <p:nvPr/>
        </p:nvSpPr>
        <p:spPr>
          <a:xfrm>
            <a:off x="274320" y="3035808"/>
            <a:ext cx="4114800" cy="292608"/>
          </a:xfrm>
          <a:prstGeom prst="rect">
            <a:avLst/>
          </a:prstGeom>
          <a:noFill/>
          <a:ln/>
        </p:spPr>
        <p:txBody>
          <a:bodyPr wrap="square" lIns="0" tIns="0" rIns="0" bIns="0" rtlCol="0" anchor="ctr"/>
          <a:lstStyle/>
          <a:p>
            <a:pPr indent="0" marL="0">
              <a:buNone/>
            </a:pPr>
            <a:r>
              <a:rPr lang="en-US" sz="1150" i="1" dirty="0">
                <a:solidFill>
                  <a:srgbClr val="D94F3D"/>
                </a:solidFill>
                <a:latin typeface="Calibri" pitchFamily="34" charset="0"/>
                <a:ea typeface="Calibri" pitchFamily="34" charset="-122"/>
                <a:cs typeface="Calibri" pitchFamily="34" charset="-120"/>
              </a:rPr>
              <a:t>1,023 / 1,233 samples → Mid  (83% single-class)</a:t>
            </a:r>
            <a:endParaRPr lang="en-US" sz="1150" dirty="0"/>
          </a:p>
        </p:txBody>
      </p:sp>
      <p:sp>
        <p:nvSpPr>
          <p:cNvPr id="7" name="Text 4"/>
          <p:cNvSpPr/>
          <p:nvPr/>
        </p:nvSpPr>
        <p:spPr>
          <a:xfrm>
            <a:off x="274320" y="3337560"/>
            <a:ext cx="4114800" cy="347472"/>
          </a:xfrm>
          <a:prstGeom prst="rect">
            <a:avLst/>
          </a:prstGeom>
          <a:noFill/>
          <a:ln/>
        </p:spPr>
        <p:txBody>
          <a:bodyPr wrap="square" lIns="0" tIns="0" rIns="0" bIns="0" rtlCol="0" anchor="ctr"/>
          <a:lstStyle/>
          <a:p>
            <a:pPr indent="0" marL="0">
              <a:buNone/>
            </a:pPr>
            <a:r>
              <a:rPr lang="en-US" sz="1100" dirty="0">
                <a:solidFill>
                  <a:srgbClr val="8FA3BF"/>
                </a:solidFill>
                <a:latin typeface="Calibri" pitchFamily="34" charset="0"/>
                <a:ea typeface="Calibri" pitchFamily="34" charset="-122"/>
                <a:cs typeface="Calibri" pitchFamily="34" charset="-120"/>
              </a:rPr>
              <a:t>Zero High predictions — model never learned to distinguish the top class</a:t>
            </a:r>
            <a:endParaRPr lang="en-US" sz="11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800600" y="1298448"/>
          <a:ext cx="4114800" cy="914400"/>
        </p:xfrm>
        <a:graphic>
          <a:graphicData uri="http://schemas.openxmlformats.org/drawingml/2006/table">
            <a:tbl>
              <a:tblPr/>
              <a:tblGrid>
                <a:gridCol w="1005840"/>
                <a:gridCol w="1005840"/>
                <a:gridCol w="1005840"/>
                <a:gridCol w="1005840"/>
              </a:tblGrid>
              <a:tr h="420624">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Fold 4</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 Low</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 Mid</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Pred High</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r h="420624">
                <a:tc>
                  <a:txBody>
                    <a:bodyPr/>
                    <a:lstStyle/>
                    <a:p>
                      <a:pPr indent="0" marL="0">
                        <a:buNone/>
                      </a:pPr>
                      <a:r>
                        <a:rPr lang="en-US" sz="1200" b="1" dirty="0">
                          <a:solidFill>
                            <a:srgbClr val="D4E4F7"/>
                          </a:solidFill>
                          <a:latin typeface="Calibri" pitchFamily="34" charset="0"/>
                          <a:ea typeface="Calibri" pitchFamily="34" charset="-122"/>
                          <a:cs typeface="Calibri" pitchFamily="34" charset="-120"/>
                        </a:rPr>
                        <a:t>True Low</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500" b="1" dirty="0">
                          <a:solidFill>
                            <a:srgbClr val="F5A623"/>
                          </a:solidFill>
                          <a:latin typeface="Calibri" pitchFamily="34" charset="0"/>
                          <a:ea typeface="Calibri" pitchFamily="34" charset="-122"/>
                          <a:cs typeface="Calibri" pitchFamily="34" charset="-120"/>
                        </a:rPr>
                        <a:t>689</a:t>
                      </a:r>
                      <a:endParaRPr lang="en-US" sz="15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4A3010"/>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D4E4F7"/>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r h="420624">
                <a:tc>
                  <a:txBody>
                    <a:bodyPr/>
                    <a:lstStyle/>
                    <a:p>
                      <a:pPr indent="0" marL="0">
                        <a:buNone/>
                      </a:pPr>
                      <a:r>
                        <a:rPr lang="en-US" sz="1200" b="1" dirty="0">
                          <a:solidFill>
                            <a:srgbClr val="D4E4F7"/>
                          </a:solidFill>
                          <a:latin typeface="Calibri" pitchFamily="34" charset="0"/>
                          <a:ea typeface="Calibri" pitchFamily="34" charset="-122"/>
                          <a:cs typeface="Calibri" pitchFamily="34" charset="-120"/>
                        </a:rPr>
                        <a:t>True Mid</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500" b="1" dirty="0">
                          <a:solidFill>
                            <a:srgbClr val="D94F3D"/>
                          </a:solidFill>
                          <a:latin typeface="Calibri" pitchFamily="34" charset="0"/>
                          <a:ea typeface="Calibri" pitchFamily="34" charset="-122"/>
                          <a:cs typeface="Calibri" pitchFamily="34" charset="-120"/>
                        </a:rPr>
                        <a:t>339</a:t>
                      </a:r>
                      <a:endParaRPr lang="en-US" sz="15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5C1A1A"/>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r h="420624">
                <a:tc>
                  <a:txBody>
                    <a:bodyPr/>
                    <a:lstStyle/>
                    <a:p>
                      <a:pPr indent="0" marL="0">
                        <a:buNone/>
                      </a:pPr>
                      <a:r>
                        <a:rPr lang="en-US" sz="1200" b="1" dirty="0">
                          <a:solidFill>
                            <a:srgbClr val="D4E4F7"/>
                          </a:solidFill>
                          <a:latin typeface="Calibri" pitchFamily="34" charset="0"/>
                          <a:ea typeface="Calibri" pitchFamily="34" charset="-122"/>
                          <a:cs typeface="Calibri" pitchFamily="34" charset="-120"/>
                        </a:rPr>
                        <a:t>True High</a:t>
                      </a:r>
                      <a:endParaRPr lang="en-US" sz="12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500" b="1" dirty="0">
                          <a:solidFill>
                            <a:srgbClr val="D94F3D"/>
                          </a:solidFill>
                          <a:latin typeface="Calibri" pitchFamily="34" charset="0"/>
                          <a:ea typeface="Calibri" pitchFamily="34" charset="-122"/>
                          <a:cs typeface="Calibri" pitchFamily="34" charset="-120"/>
                        </a:rPr>
                        <a:t>188</a:t>
                      </a:r>
                      <a:endParaRPr lang="en-US" sz="15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5C1A1A"/>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c>
                  <a:txBody>
                    <a:bodyPr/>
                    <a:lstStyle/>
                    <a:p>
                      <a:pPr algn="ctr" indent="0" marL="0">
                        <a:buNone/>
                      </a:pPr>
                      <a:r>
                        <a:rPr lang="en-US" sz="1300" dirty="0">
                          <a:solidFill>
                            <a:srgbClr val="8FA3BF"/>
                          </a:solidFill>
                          <a:latin typeface="Calibri" pitchFamily="34" charset="0"/>
                          <a:ea typeface="Calibri" pitchFamily="34" charset="-122"/>
                          <a:cs typeface="Calibri" pitchFamily="34" charset="-120"/>
                        </a:rPr>
                        <a:t>0</a:t>
                      </a:r>
                      <a:endParaRPr lang="en-US" sz="1300" dirty="0">
                        <a:latin typeface="Calibri" charset="0"/>
                        <a:ea typeface="Calibri" charset="0"/>
                        <a:cs typeface="Calibri" charset="0"/>
                      </a:endParaRPr>
                    </a:p>
                  </a:txBody>
                  <a:tcPr marL="91440" marR="91440" marT="45720" marB="45720">
                    <a:lnL w="6350" cap="flat" cmpd="sng" algn="ctr">
                      <a:solidFill>
                        <a:srgbClr val="3A507A"/>
                      </a:solidFill>
                      <a:prstDash val="solid"/>
                      <a:round/>
                      <a:headEnd type="none" w="med" len="med"/>
                      <a:tailEnd type="none" w="med" len="med"/>
                    </a:lnL>
                    <a:lnR w="6350" cap="flat" cmpd="sng" algn="ctr">
                      <a:solidFill>
                        <a:srgbClr val="3A507A"/>
                      </a:solidFill>
                      <a:prstDash val="solid"/>
                      <a:round/>
                      <a:headEnd type="none" w="med" len="med"/>
                      <a:tailEnd type="none" w="med" len="med"/>
                    </a:lnR>
                    <a:lnT w="6350" cap="flat" cmpd="sng" algn="ctr">
                      <a:solidFill>
                        <a:srgbClr val="3A507A"/>
                      </a:solidFill>
                      <a:prstDash val="solid"/>
                      <a:round/>
                      <a:headEnd type="none" w="med" len="med"/>
                      <a:tailEnd type="none" w="med" len="med"/>
                    </a:lnT>
                    <a:lnB w="6350" cap="flat" cmpd="sng" algn="ctr">
                      <a:solidFill>
                        <a:srgbClr val="3A507A"/>
                      </a:solidFill>
                      <a:prstDash val="solid"/>
                      <a:round/>
                      <a:headEnd type="none" w="med" len="med"/>
                      <a:tailEnd type="none" w="med" len="med"/>
                    </a:lnB>
                    <a:solidFill>
                      <a:srgbClr val="2E4066"/>
                    </a:solidFill>
                  </a:tcPr>
                </a:tc>
              </a:tr>
            </a:tbl>
          </a:graphicData>
        </a:graphic>
      </p:graphicFrame>
      <p:sp>
        <p:nvSpPr>
          <p:cNvPr id="9" name="Text 5"/>
          <p:cNvSpPr/>
          <p:nvPr/>
        </p:nvSpPr>
        <p:spPr>
          <a:xfrm>
            <a:off x="4800600" y="3035808"/>
            <a:ext cx="4114800" cy="292608"/>
          </a:xfrm>
          <a:prstGeom prst="rect">
            <a:avLst/>
          </a:prstGeom>
          <a:noFill/>
          <a:ln/>
        </p:spPr>
        <p:txBody>
          <a:bodyPr wrap="square" lIns="0" tIns="0" rIns="0" bIns="0" rtlCol="0" anchor="ctr"/>
          <a:lstStyle/>
          <a:p>
            <a:pPr indent="0" marL="0">
              <a:buNone/>
            </a:pPr>
            <a:r>
              <a:rPr lang="en-US" sz="1150" i="1" dirty="0">
                <a:solidFill>
                  <a:srgbClr val="F5A623"/>
                </a:solidFill>
                <a:latin typeface="Calibri" pitchFamily="34" charset="0"/>
                <a:ea typeface="Calibri" pitchFamily="34" charset="-122"/>
                <a:cs typeface="Calibri" pitchFamily="34" charset="-120"/>
              </a:rPr>
              <a:t>1,216 / 1,230 samples → Low  (98.9% single-class)</a:t>
            </a:r>
            <a:endParaRPr lang="en-US" sz="1150" dirty="0"/>
          </a:p>
        </p:txBody>
      </p:sp>
      <p:sp>
        <p:nvSpPr>
          <p:cNvPr id="10" name="Text 6"/>
          <p:cNvSpPr/>
          <p:nvPr/>
        </p:nvSpPr>
        <p:spPr>
          <a:xfrm>
            <a:off x="4800600" y="3337560"/>
            <a:ext cx="4114800" cy="347472"/>
          </a:xfrm>
          <a:prstGeom prst="rect">
            <a:avLst/>
          </a:prstGeom>
          <a:noFill/>
          <a:ln/>
        </p:spPr>
        <p:txBody>
          <a:bodyPr wrap="square" lIns="0" tIns="0" rIns="0" bIns="0" rtlCol="0" anchor="ctr"/>
          <a:lstStyle/>
          <a:p>
            <a:pPr indent="0" marL="0">
              <a:buNone/>
            </a:pPr>
            <a:r>
              <a:rPr lang="en-US" sz="1100" dirty="0">
                <a:solidFill>
                  <a:srgbClr val="D94F3D"/>
                </a:solidFill>
                <a:latin typeface="Calibri" pitchFamily="34" charset="0"/>
                <a:ea typeface="Calibri" pitchFamily="34" charset="-122"/>
                <a:cs typeface="Calibri" pitchFamily="34" charset="-120"/>
              </a:rPr>
              <a:t>QWK = −0.0068: predictions actively worse than chance on ordinal scale</a:t>
            </a:r>
            <a:endParaRPr lang="en-US" sz="1100" dirty="0"/>
          </a:p>
        </p:txBody>
      </p:sp>
      <p:sp>
        <p:nvSpPr>
          <p:cNvPr id="11" name="Shape 7"/>
          <p:cNvSpPr/>
          <p:nvPr/>
        </p:nvSpPr>
        <p:spPr>
          <a:xfrm>
            <a:off x="0" y="3794760"/>
            <a:ext cx="9144000" cy="1051560"/>
          </a:xfrm>
          <a:prstGeom prst="rect">
            <a:avLst/>
          </a:prstGeom>
          <a:solidFill>
            <a:srgbClr val="2E4066"/>
          </a:solidFill>
          <a:ln w="12700">
            <a:solidFill>
              <a:srgbClr val="2E4066"/>
            </a:solidFill>
            <a:prstDash val="solid"/>
          </a:ln>
        </p:spPr>
      </p:sp>
      <p:sp>
        <p:nvSpPr>
          <p:cNvPr id="12" name="Text 8"/>
          <p:cNvSpPr/>
          <p:nvPr/>
        </p:nvSpPr>
        <p:spPr>
          <a:xfrm>
            <a:off x="320040" y="3858768"/>
            <a:ext cx="8503920" cy="868680"/>
          </a:xfrm>
          <a:prstGeom prst="rect">
            <a:avLst/>
          </a:prstGeom>
          <a:noFill/>
          <a:ln/>
        </p:spPr>
        <p:txBody>
          <a:bodyPr wrap="square" lIns="0" tIns="0" rIns="0" bIns="0" rtlCol="0" anchor="ctr"/>
          <a:lstStyle/>
          <a:p>
            <a:pPr indent="0" marL="0">
              <a:buNone/>
            </a:pPr>
            <a:r>
              <a:rPr lang="en-US" sz="1300" i="1" dirty="0">
                <a:solidFill>
                  <a:srgbClr val="D4E4F7"/>
                </a:solidFill>
                <a:latin typeface="Calibri" pitchFamily="34" charset="0"/>
                <a:ea typeface="Calibri" pitchFamily="34" charset="-122"/>
                <a:cs typeface="Calibri" pitchFamily="34" charset="-120"/>
              </a:rPr>
              <a:t>Why different collapse targets? Each fold presents a different loss landscape. The model converges to whichever single-class prediction minimises its training cross-entropy fastest — not necessarily the globally most-frequent class.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A"/>
        </a:solidFill>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1B2A4A"/>
          </a:solidFill>
          <a:ln w="12700">
            <a:solidFill>
              <a:srgbClr val="1B2A4A"/>
            </a:solidFill>
            <a:prstDash val="solid"/>
          </a:ln>
        </p:spPr>
      </p:sp>
      <p:sp>
        <p:nvSpPr>
          <p:cNvPr id="3" name="Text 1"/>
          <p:cNvSpPr/>
          <p:nvPr/>
        </p:nvSpPr>
        <p:spPr>
          <a:xfrm>
            <a:off x="411480" y="137160"/>
            <a:ext cx="8321040" cy="64008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Technical Hypotheses: Why Did Folds Collapse?</a:t>
            </a:r>
            <a:endParaRPr lang="en-US" sz="2600" dirty="0"/>
          </a:p>
        </p:txBody>
      </p:sp>
      <p:sp>
        <p:nvSpPr>
          <p:cNvPr id="4" name="Shape 2"/>
          <p:cNvSpPr/>
          <p:nvPr/>
        </p:nvSpPr>
        <p:spPr>
          <a:xfrm>
            <a:off x="274320" y="1005840"/>
            <a:ext cx="8641080" cy="1261872"/>
          </a:xfrm>
          <a:prstGeom prst="roundRect">
            <a:avLst>
              <a:gd name="adj" fmla="val 5072"/>
            </a:avLst>
          </a:prstGeom>
          <a:solidFill>
            <a:srgbClr val="FFFFFF"/>
          </a:solidFill>
          <a:ln w="12700">
            <a:solidFill>
              <a:srgbClr val="D94F3D"/>
            </a:solidFill>
            <a:prstDash val="solid"/>
          </a:ln>
          <a:effectLst>
            <a:outerShdw sx="100000" sy="100000" kx="0" ky="0" algn="bl" rotWithShape="0" blurRad="101600" dist="38100" dir="2700000">
              <a:srgbClr val="000000">
                <a:alpha val="13000"/>
              </a:srgbClr>
            </a:outerShdw>
          </a:effectLst>
        </p:spPr>
      </p:sp>
      <p:sp>
        <p:nvSpPr>
          <p:cNvPr id="5" name="Shape 3"/>
          <p:cNvSpPr/>
          <p:nvPr/>
        </p:nvSpPr>
        <p:spPr>
          <a:xfrm>
            <a:off x="274320" y="1005840"/>
            <a:ext cx="658368" cy="1261872"/>
          </a:xfrm>
          <a:prstGeom prst="roundRect">
            <a:avLst>
              <a:gd name="adj" fmla="val 9722"/>
            </a:avLst>
          </a:prstGeom>
          <a:solidFill>
            <a:srgbClr val="D94F3D"/>
          </a:solidFill>
          <a:ln w="12700">
            <a:solidFill>
              <a:srgbClr val="D94F3D"/>
            </a:solidFill>
            <a:prstDash val="solid"/>
          </a:ln>
        </p:spPr>
      </p:sp>
      <p:sp>
        <p:nvSpPr>
          <p:cNvPr id="6" name="Text 4"/>
          <p:cNvSpPr/>
          <p:nvPr/>
        </p:nvSpPr>
        <p:spPr>
          <a:xfrm>
            <a:off x="274320" y="1444752"/>
            <a:ext cx="6583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H1</a:t>
            </a:r>
            <a:endParaRPr lang="en-US" sz="1600" dirty="0"/>
          </a:p>
        </p:txBody>
      </p:sp>
      <p:sp>
        <p:nvSpPr>
          <p:cNvPr id="7" name="Text 5"/>
          <p:cNvSpPr/>
          <p:nvPr/>
        </p:nvSpPr>
        <p:spPr>
          <a:xfrm>
            <a:off x="1005840" y="1069848"/>
            <a:ext cx="777240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Insufficient Training Epochs (Primary Hypothesis)</a:t>
            </a:r>
            <a:endParaRPr lang="en-US" sz="1300" dirty="0"/>
          </a:p>
        </p:txBody>
      </p:sp>
      <p:sp>
        <p:nvSpPr>
          <p:cNvPr id="8" name="Text 6"/>
          <p:cNvSpPr/>
          <p:nvPr/>
        </p:nvSpPr>
        <p:spPr>
          <a:xfrm>
            <a:off x="1005840" y="1389888"/>
            <a:ext cx="7772400" cy="841248"/>
          </a:xfrm>
          <a:prstGeom prst="rect">
            <a:avLst/>
          </a:prstGeom>
          <a:noFill/>
          <a:ln/>
        </p:spPr>
        <p:txBody>
          <a:bodyPr wrap="square" rtlCol="0" anchor="t"/>
          <a:lstStyle/>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SLOW R50 (Kinetics-400 pretrained) needs substantial fine-tuning epochs to adapt to classroom engagement domain.</a:t>
            </a:r>
            <a:endParaRPr lang="en-US" sz="1050" dirty="0"/>
          </a:p>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Batch size of 8 with a large 3D CNN means each update step is noisy — more epochs are needed to average out gradient noise.</a:t>
            </a:r>
            <a:endParaRPr lang="en-US" sz="1050" dirty="0"/>
          </a:p>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Early stopping on a high-loss fold forces the model to converge to a degenerate majority-class predictor.</a:t>
            </a:r>
            <a:endParaRPr lang="en-US" sz="1050" dirty="0"/>
          </a:p>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Evidence: loss likely plateaued early with no per-class separability learned.</a:t>
            </a:r>
            <a:endParaRPr lang="en-US" sz="1050" dirty="0"/>
          </a:p>
        </p:txBody>
      </p:sp>
      <p:sp>
        <p:nvSpPr>
          <p:cNvPr id="9" name="Shape 7"/>
          <p:cNvSpPr/>
          <p:nvPr/>
        </p:nvSpPr>
        <p:spPr>
          <a:xfrm>
            <a:off x="274320" y="2377440"/>
            <a:ext cx="8641080" cy="1261872"/>
          </a:xfrm>
          <a:prstGeom prst="roundRect">
            <a:avLst>
              <a:gd name="adj" fmla="val 5072"/>
            </a:avLst>
          </a:prstGeom>
          <a:solidFill>
            <a:srgbClr val="FFFFFF"/>
          </a:solidFill>
          <a:ln w="12700">
            <a:solidFill>
              <a:srgbClr val="F5A623"/>
            </a:solidFill>
            <a:prstDash val="solid"/>
          </a:ln>
          <a:effectLst>
            <a:outerShdw sx="100000" sy="100000" kx="0" ky="0" algn="bl" rotWithShape="0" blurRad="101600" dist="38100" dir="2700000">
              <a:srgbClr val="000000">
                <a:alpha val="13000"/>
              </a:srgbClr>
            </a:outerShdw>
          </a:effectLst>
        </p:spPr>
      </p:sp>
      <p:sp>
        <p:nvSpPr>
          <p:cNvPr id="10" name="Shape 8"/>
          <p:cNvSpPr/>
          <p:nvPr/>
        </p:nvSpPr>
        <p:spPr>
          <a:xfrm>
            <a:off x="274320" y="2377440"/>
            <a:ext cx="658368" cy="1261872"/>
          </a:xfrm>
          <a:prstGeom prst="roundRect">
            <a:avLst>
              <a:gd name="adj" fmla="val 9722"/>
            </a:avLst>
          </a:prstGeom>
          <a:solidFill>
            <a:srgbClr val="F5A623"/>
          </a:solidFill>
          <a:ln w="12700">
            <a:solidFill>
              <a:srgbClr val="F5A623"/>
            </a:solidFill>
            <a:prstDash val="solid"/>
          </a:ln>
        </p:spPr>
      </p:sp>
      <p:sp>
        <p:nvSpPr>
          <p:cNvPr id="11" name="Text 9"/>
          <p:cNvSpPr/>
          <p:nvPr/>
        </p:nvSpPr>
        <p:spPr>
          <a:xfrm>
            <a:off x="274320" y="2816352"/>
            <a:ext cx="6583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H2</a:t>
            </a:r>
            <a:endParaRPr lang="en-US" sz="1600" dirty="0"/>
          </a:p>
        </p:txBody>
      </p:sp>
      <p:sp>
        <p:nvSpPr>
          <p:cNvPr id="12" name="Text 10"/>
          <p:cNvSpPr/>
          <p:nvPr/>
        </p:nvSpPr>
        <p:spPr>
          <a:xfrm>
            <a:off x="1005840" y="2441448"/>
            <a:ext cx="777240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Learning Rate &amp; Optimiser Sensitivity</a:t>
            </a:r>
            <a:endParaRPr lang="en-US" sz="1300" dirty="0"/>
          </a:p>
        </p:txBody>
      </p:sp>
      <p:sp>
        <p:nvSpPr>
          <p:cNvPr id="13" name="Text 11"/>
          <p:cNvSpPr/>
          <p:nvPr/>
        </p:nvSpPr>
        <p:spPr>
          <a:xfrm>
            <a:off x="1005840" y="2761488"/>
            <a:ext cx="7772400" cy="841248"/>
          </a:xfrm>
          <a:prstGeom prst="rect">
            <a:avLst/>
          </a:prstGeom>
          <a:noFill/>
          <a:ln/>
        </p:spPr>
        <p:txBody>
          <a:bodyPr wrap="square" rtlCol="0" anchor="t"/>
          <a:lstStyle/>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Too-high LR → overshoots good minima, falls into degenerate flat loss regions.</a:t>
            </a:r>
            <a:endParaRPr lang="en-US" sz="1050" dirty="0"/>
          </a:p>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Too-low LR → slows convergence; premature termination catches model in partially-trained state.</a:t>
            </a:r>
            <a:endParaRPr lang="en-US" sz="1050" dirty="0"/>
          </a:p>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SLOW backbone's pretrained weights have heterogeneous gradient magnitudes — layer-wise LR decay is needed.</a:t>
            </a:r>
            <a:endParaRPr lang="en-US" sz="1050" dirty="0"/>
          </a:p>
        </p:txBody>
      </p:sp>
      <p:sp>
        <p:nvSpPr>
          <p:cNvPr id="14" name="Shape 12"/>
          <p:cNvSpPr/>
          <p:nvPr/>
        </p:nvSpPr>
        <p:spPr>
          <a:xfrm>
            <a:off x="274320" y="3749040"/>
            <a:ext cx="8641080" cy="1261872"/>
          </a:xfrm>
          <a:prstGeom prst="roundRect">
            <a:avLst>
              <a:gd name="adj" fmla="val 5072"/>
            </a:avLst>
          </a:prstGeom>
          <a:solidFill>
            <a:srgbClr val="FFFFFF"/>
          </a:solidFill>
          <a:ln w="12700">
            <a:solidFill>
              <a:srgbClr val="29ABE2"/>
            </a:solidFill>
            <a:prstDash val="solid"/>
          </a:ln>
          <a:effectLst>
            <a:outerShdw sx="100000" sy="100000" kx="0" ky="0" algn="bl" rotWithShape="0" blurRad="101600" dist="38100" dir="2700000">
              <a:srgbClr val="000000">
                <a:alpha val="13000"/>
              </a:srgbClr>
            </a:outerShdw>
          </a:effectLst>
        </p:spPr>
      </p:sp>
      <p:sp>
        <p:nvSpPr>
          <p:cNvPr id="15" name="Shape 13"/>
          <p:cNvSpPr/>
          <p:nvPr/>
        </p:nvSpPr>
        <p:spPr>
          <a:xfrm>
            <a:off x="274320" y="3749040"/>
            <a:ext cx="658368" cy="1261872"/>
          </a:xfrm>
          <a:prstGeom prst="roundRect">
            <a:avLst>
              <a:gd name="adj" fmla="val 9722"/>
            </a:avLst>
          </a:prstGeom>
          <a:solidFill>
            <a:srgbClr val="29ABE2"/>
          </a:solidFill>
          <a:ln w="12700">
            <a:solidFill>
              <a:srgbClr val="29ABE2"/>
            </a:solidFill>
            <a:prstDash val="solid"/>
          </a:ln>
        </p:spPr>
      </p:sp>
      <p:sp>
        <p:nvSpPr>
          <p:cNvPr id="16" name="Text 14"/>
          <p:cNvSpPr/>
          <p:nvPr/>
        </p:nvSpPr>
        <p:spPr>
          <a:xfrm>
            <a:off x="274320" y="4187952"/>
            <a:ext cx="658368"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H3</a:t>
            </a:r>
            <a:endParaRPr lang="en-US" sz="1600" dirty="0"/>
          </a:p>
        </p:txBody>
      </p:sp>
      <p:sp>
        <p:nvSpPr>
          <p:cNvPr id="17" name="Text 15"/>
          <p:cNvSpPr/>
          <p:nvPr/>
        </p:nvSpPr>
        <p:spPr>
          <a:xfrm>
            <a:off x="1005840" y="3813048"/>
            <a:ext cx="7772400" cy="292608"/>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Fold-Level Loss Landscape Variance</a:t>
            </a:r>
            <a:endParaRPr lang="en-US" sz="1300" dirty="0"/>
          </a:p>
        </p:txBody>
      </p:sp>
      <p:sp>
        <p:nvSpPr>
          <p:cNvPr id="18" name="Text 16"/>
          <p:cNvSpPr/>
          <p:nvPr/>
        </p:nvSpPr>
        <p:spPr>
          <a:xfrm>
            <a:off x="1005840" y="4133088"/>
            <a:ext cx="7772400" cy="841248"/>
          </a:xfrm>
          <a:prstGeom prst="rect">
            <a:avLst/>
          </a:prstGeom>
          <a:noFill/>
          <a:ln/>
        </p:spPr>
        <p:txBody>
          <a:bodyPr wrap="square" rtlCol="0" anchor="t"/>
          <a:lstStyle/>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Each fold's subset composition creates a different loss surface. Folds with higher intra-class visual variance produce harder surfaces.</a:t>
            </a:r>
            <a:endParaRPr lang="en-US" sz="1050" dirty="0"/>
          </a:p>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On difficult folds, the easiest gradient descent path converges to single-class mode — model ignores hard-to-learn classes.</a:t>
            </a:r>
            <a:endParaRPr lang="en-US" sz="1050" dirty="0"/>
          </a:p>
          <a:p>
            <a:pPr marL="342900" indent="-342900">
              <a:spcAft>
                <a:spcPts val="100"/>
              </a:spcAft>
              <a:buSzPct val="100000"/>
              <a:buChar char="•"/>
            </a:pPr>
            <a:r>
              <a:rPr lang="en-US" sz="1050" dirty="0">
                <a:solidFill>
                  <a:srgbClr val="334155"/>
                </a:solidFill>
                <a:latin typeface="Calibri" pitchFamily="34" charset="0"/>
                <a:ea typeface="Calibri" pitchFamily="34" charset="-122"/>
                <a:cs typeface="Calibri" pitchFamily="34" charset="-120"/>
              </a:rPr>
              <a:t>Explains different collapse targets: Fold 2 → Mid (visually intermediate), Fold 4 → Low (most visually distinctive posture signals).</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11480" y="164592"/>
            <a:ext cx="832104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Recommendations &amp; Future Work</a:t>
            </a:r>
            <a:endParaRPr lang="en-US" sz="2800" dirty="0"/>
          </a:p>
        </p:txBody>
      </p:sp>
      <p:sp>
        <p:nvSpPr>
          <p:cNvPr id="3" name="Text 1"/>
          <p:cNvSpPr/>
          <p:nvPr/>
        </p:nvSpPr>
        <p:spPr>
          <a:xfrm>
            <a:off x="274320" y="914400"/>
            <a:ext cx="4114800" cy="347472"/>
          </a:xfrm>
          <a:prstGeom prst="rect">
            <a:avLst/>
          </a:prstGeom>
          <a:noFill/>
          <a:ln/>
        </p:spPr>
        <p:txBody>
          <a:bodyPr wrap="square" lIns="0" tIns="0" rIns="0" bIns="0" rtlCol="0" anchor="ctr"/>
          <a:lstStyle/>
          <a:p>
            <a:pPr indent="0" marL="0">
              <a:buNone/>
            </a:pPr>
            <a:r>
              <a:rPr lang="en-US" sz="1600" b="1" dirty="0">
                <a:solidFill>
                  <a:srgbClr val="29ABE2"/>
                </a:solidFill>
                <a:latin typeface="Calibri" pitchFamily="34" charset="0"/>
                <a:ea typeface="Calibri" pitchFamily="34" charset="-122"/>
                <a:cs typeface="Calibri" pitchFamily="34" charset="-120"/>
              </a:rPr>
              <a:t>Immediate Fixes (Next Run)</a:t>
            </a:r>
            <a:endParaRPr lang="en-US" sz="1600" dirty="0"/>
          </a:p>
        </p:txBody>
      </p:sp>
      <p:sp>
        <p:nvSpPr>
          <p:cNvPr id="4" name="Text 2"/>
          <p:cNvSpPr/>
          <p:nvPr/>
        </p:nvSpPr>
        <p:spPr>
          <a:xfrm>
            <a:off x="4754880" y="914400"/>
            <a:ext cx="4114800" cy="347472"/>
          </a:xfrm>
          <a:prstGeom prst="rect">
            <a:avLst/>
          </a:prstGeom>
          <a:noFill/>
          <a:ln/>
        </p:spPr>
        <p:txBody>
          <a:bodyPr wrap="square" lIns="0" tIns="0" rIns="0" bIns="0" rtlCol="0" anchor="ctr"/>
          <a:lstStyle/>
          <a:p>
            <a:pPr indent="0" marL="0">
              <a:buNone/>
            </a:pPr>
            <a:r>
              <a:rPr lang="en-US" sz="1600" b="1" dirty="0">
                <a:solidFill>
                  <a:srgbClr val="F5A623"/>
                </a:solidFill>
                <a:latin typeface="Calibri" pitchFamily="34" charset="0"/>
                <a:ea typeface="Calibri" pitchFamily="34" charset="-122"/>
                <a:cs typeface="Calibri" pitchFamily="34" charset="-120"/>
              </a:rPr>
              <a:t>Longer-Term Research Directions</a:t>
            </a:r>
            <a:endParaRPr lang="en-US" sz="1600" dirty="0"/>
          </a:p>
        </p:txBody>
      </p:sp>
      <p:sp>
        <p:nvSpPr>
          <p:cNvPr id="5" name="Shape 3"/>
          <p:cNvSpPr/>
          <p:nvPr/>
        </p:nvSpPr>
        <p:spPr>
          <a:xfrm>
            <a:off x="274320" y="1325880"/>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6" name="Text 4"/>
          <p:cNvSpPr/>
          <p:nvPr/>
        </p:nvSpPr>
        <p:spPr>
          <a:xfrm>
            <a:off x="411480" y="1380744"/>
            <a:ext cx="3840480" cy="274320"/>
          </a:xfrm>
          <a:prstGeom prst="rect">
            <a:avLst/>
          </a:prstGeom>
          <a:noFill/>
          <a:ln/>
        </p:spPr>
        <p:txBody>
          <a:bodyPr wrap="square" lIns="0" tIns="0" rIns="0" bIns="0" rtlCol="0" anchor="ctr"/>
          <a:lstStyle/>
          <a:p>
            <a:pPr indent="0" marL="0">
              <a:buNone/>
            </a:pPr>
            <a:r>
              <a:rPr lang="en-US" sz="1300" b="1" dirty="0">
                <a:solidFill>
                  <a:srgbClr val="29ABE2"/>
                </a:solidFill>
                <a:latin typeface="Calibri" pitchFamily="34" charset="0"/>
                <a:ea typeface="Calibri" pitchFamily="34" charset="-122"/>
                <a:cs typeface="Calibri" pitchFamily="34" charset="-120"/>
              </a:rPr>
              <a:t>Increase Training Epochs</a:t>
            </a:r>
            <a:endParaRPr lang="en-US" sz="1300" dirty="0"/>
          </a:p>
        </p:txBody>
      </p:sp>
      <p:sp>
        <p:nvSpPr>
          <p:cNvPr id="7" name="Text 5"/>
          <p:cNvSpPr/>
          <p:nvPr/>
        </p:nvSpPr>
        <p:spPr>
          <a:xfrm>
            <a:off x="411480" y="1655064"/>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Run for 30–60 epochs minimum. Monitor train/val loss curves per epoch to detect collapse early. Target: QWK &gt; 0.4 as convergence signal.</a:t>
            </a:r>
            <a:endParaRPr lang="en-US" sz="1050" dirty="0"/>
          </a:p>
        </p:txBody>
      </p:sp>
      <p:sp>
        <p:nvSpPr>
          <p:cNvPr id="8" name="Shape 6"/>
          <p:cNvSpPr/>
          <p:nvPr/>
        </p:nvSpPr>
        <p:spPr>
          <a:xfrm>
            <a:off x="274320" y="2249424"/>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9" name="Text 7"/>
          <p:cNvSpPr/>
          <p:nvPr/>
        </p:nvSpPr>
        <p:spPr>
          <a:xfrm>
            <a:off x="411480" y="2304288"/>
            <a:ext cx="3840480" cy="274320"/>
          </a:xfrm>
          <a:prstGeom prst="rect">
            <a:avLst/>
          </a:prstGeom>
          <a:noFill/>
          <a:ln/>
        </p:spPr>
        <p:txBody>
          <a:bodyPr wrap="square" lIns="0" tIns="0" rIns="0" bIns="0" rtlCol="0" anchor="ctr"/>
          <a:lstStyle/>
          <a:p>
            <a:pPr indent="0" marL="0">
              <a:buNone/>
            </a:pPr>
            <a:r>
              <a:rPr lang="en-US" sz="1300" b="1" dirty="0">
                <a:solidFill>
                  <a:srgbClr val="29ABE2"/>
                </a:solidFill>
                <a:latin typeface="Calibri" pitchFamily="34" charset="0"/>
                <a:ea typeface="Calibri" pitchFamily="34" charset="-122"/>
                <a:cs typeface="Calibri" pitchFamily="34" charset="-120"/>
              </a:rPr>
              <a:t>Weighted Cross-Entropy Loss</a:t>
            </a:r>
            <a:endParaRPr lang="en-US" sz="1300" dirty="0"/>
          </a:p>
        </p:txBody>
      </p:sp>
      <p:sp>
        <p:nvSpPr>
          <p:cNvPr id="10" name="Text 8"/>
          <p:cNvSpPr/>
          <p:nvPr/>
        </p:nvSpPr>
        <p:spPr>
          <a:xfrm>
            <a:off x="411480" y="2578608"/>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Apply class weights inversely proportional to class frequency in each fold. This forces the model to attend to Mid/High samples equally with Low samples.</a:t>
            </a:r>
            <a:endParaRPr lang="en-US" sz="1050" dirty="0"/>
          </a:p>
        </p:txBody>
      </p:sp>
      <p:sp>
        <p:nvSpPr>
          <p:cNvPr id="11" name="Shape 9"/>
          <p:cNvSpPr/>
          <p:nvPr/>
        </p:nvSpPr>
        <p:spPr>
          <a:xfrm>
            <a:off x="274320" y="3172968"/>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12" name="Text 10"/>
          <p:cNvSpPr/>
          <p:nvPr/>
        </p:nvSpPr>
        <p:spPr>
          <a:xfrm>
            <a:off x="411480" y="3227832"/>
            <a:ext cx="3840480" cy="274320"/>
          </a:xfrm>
          <a:prstGeom prst="rect">
            <a:avLst/>
          </a:prstGeom>
          <a:noFill/>
          <a:ln/>
        </p:spPr>
        <p:txBody>
          <a:bodyPr wrap="square" lIns="0" tIns="0" rIns="0" bIns="0" rtlCol="0" anchor="ctr"/>
          <a:lstStyle/>
          <a:p>
            <a:pPr indent="0" marL="0">
              <a:buNone/>
            </a:pPr>
            <a:r>
              <a:rPr lang="en-US" sz="1300" b="1" dirty="0">
                <a:solidFill>
                  <a:srgbClr val="29ABE2"/>
                </a:solidFill>
                <a:latin typeface="Calibri" pitchFamily="34" charset="0"/>
                <a:ea typeface="Calibri" pitchFamily="34" charset="-122"/>
                <a:cs typeface="Calibri" pitchFamily="34" charset="-120"/>
              </a:rPr>
              <a:t>Learning Rate Scheduling</a:t>
            </a:r>
            <a:endParaRPr lang="en-US" sz="1300" dirty="0"/>
          </a:p>
        </p:txBody>
      </p:sp>
      <p:sp>
        <p:nvSpPr>
          <p:cNvPr id="13" name="Text 11"/>
          <p:cNvSpPr/>
          <p:nvPr/>
        </p:nvSpPr>
        <p:spPr>
          <a:xfrm>
            <a:off x="411480" y="3502152"/>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Use cosine annealing or OneCycleLR. Add warm-up for the first 5% of steps. Consider layer-wise LR decay (lower LR for early backbone layers).</a:t>
            </a:r>
            <a:endParaRPr lang="en-US" sz="1050" dirty="0"/>
          </a:p>
        </p:txBody>
      </p:sp>
      <p:sp>
        <p:nvSpPr>
          <p:cNvPr id="14" name="Shape 12"/>
          <p:cNvSpPr/>
          <p:nvPr/>
        </p:nvSpPr>
        <p:spPr>
          <a:xfrm>
            <a:off x="274320" y="4096512"/>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15" name="Text 13"/>
          <p:cNvSpPr/>
          <p:nvPr/>
        </p:nvSpPr>
        <p:spPr>
          <a:xfrm>
            <a:off x="411480" y="4151376"/>
            <a:ext cx="3840480" cy="274320"/>
          </a:xfrm>
          <a:prstGeom prst="rect">
            <a:avLst/>
          </a:prstGeom>
          <a:noFill/>
          <a:ln/>
        </p:spPr>
        <p:txBody>
          <a:bodyPr wrap="square" lIns="0" tIns="0" rIns="0" bIns="0" rtlCol="0" anchor="ctr"/>
          <a:lstStyle/>
          <a:p>
            <a:pPr indent="0" marL="0">
              <a:buNone/>
            </a:pPr>
            <a:r>
              <a:rPr lang="en-US" sz="1300" b="1" dirty="0">
                <a:solidFill>
                  <a:srgbClr val="29ABE2"/>
                </a:solidFill>
                <a:latin typeface="Calibri" pitchFamily="34" charset="0"/>
                <a:ea typeface="Calibri" pitchFamily="34" charset="-122"/>
                <a:cs typeface="Calibri" pitchFamily="34" charset="-120"/>
              </a:rPr>
              <a:t>Gradient Monitoring</a:t>
            </a:r>
            <a:endParaRPr lang="en-US" sz="1300" dirty="0"/>
          </a:p>
        </p:txBody>
      </p:sp>
      <p:sp>
        <p:nvSpPr>
          <p:cNvPr id="16" name="Text 14"/>
          <p:cNvSpPr/>
          <p:nvPr/>
        </p:nvSpPr>
        <p:spPr>
          <a:xfrm>
            <a:off x="411480" y="4425696"/>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Log per-class softmax output histograms every N steps. Collapse is detectable early — class probability concentration above 0.95 indicates onset.</a:t>
            </a:r>
            <a:endParaRPr lang="en-US" sz="1050" dirty="0"/>
          </a:p>
        </p:txBody>
      </p:sp>
      <p:sp>
        <p:nvSpPr>
          <p:cNvPr id="17" name="Shape 15"/>
          <p:cNvSpPr/>
          <p:nvPr/>
        </p:nvSpPr>
        <p:spPr>
          <a:xfrm>
            <a:off x="4754880" y="1325880"/>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18" name="Text 16"/>
          <p:cNvSpPr/>
          <p:nvPr/>
        </p:nvSpPr>
        <p:spPr>
          <a:xfrm>
            <a:off x="4892040" y="1380744"/>
            <a:ext cx="384048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Ordinal Loss Functions</a:t>
            </a:r>
            <a:endParaRPr lang="en-US" sz="1300" dirty="0"/>
          </a:p>
        </p:txBody>
      </p:sp>
      <p:sp>
        <p:nvSpPr>
          <p:cNvPr id="19" name="Text 17"/>
          <p:cNvSpPr/>
          <p:nvPr/>
        </p:nvSpPr>
        <p:spPr>
          <a:xfrm>
            <a:off x="4892040" y="1655064"/>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Replace cross-entropy with Squared Earth Mover's Distance (EMD²) to penalise predictions proportionally to ordinal distance. CORE-Net (Tran 2026) demonstrated QWK=0.948 with this approach.</a:t>
            </a:r>
            <a:endParaRPr lang="en-US" sz="1050" dirty="0"/>
          </a:p>
        </p:txBody>
      </p:sp>
      <p:sp>
        <p:nvSpPr>
          <p:cNvPr id="20" name="Shape 18"/>
          <p:cNvSpPr/>
          <p:nvPr/>
        </p:nvSpPr>
        <p:spPr>
          <a:xfrm>
            <a:off x="4754880" y="2249424"/>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21" name="Text 19"/>
          <p:cNvSpPr/>
          <p:nvPr/>
        </p:nvSpPr>
        <p:spPr>
          <a:xfrm>
            <a:off x="4892040" y="2304288"/>
            <a:ext cx="384048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SlowFast Two-Pathway Model</a:t>
            </a:r>
            <a:endParaRPr lang="en-US" sz="1300" dirty="0"/>
          </a:p>
        </p:txBody>
      </p:sp>
      <p:sp>
        <p:nvSpPr>
          <p:cNvPr id="22" name="Text 20"/>
          <p:cNvSpPr/>
          <p:nvPr/>
        </p:nvSpPr>
        <p:spPr>
          <a:xfrm>
            <a:off x="4892040" y="2578608"/>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Re-evaluate the full SlowFast (Slow + Fast) model with sufficient epochs. The Fast pathway's motion features may provide orthogonal signal to the Slow spatial features.</a:t>
            </a:r>
            <a:endParaRPr lang="en-US" sz="1050" dirty="0"/>
          </a:p>
        </p:txBody>
      </p:sp>
      <p:sp>
        <p:nvSpPr>
          <p:cNvPr id="23" name="Shape 21"/>
          <p:cNvSpPr/>
          <p:nvPr/>
        </p:nvSpPr>
        <p:spPr>
          <a:xfrm>
            <a:off x="4754880" y="3172968"/>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24" name="Text 22"/>
          <p:cNvSpPr/>
          <p:nvPr/>
        </p:nvSpPr>
        <p:spPr>
          <a:xfrm>
            <a:off x="4892040" y="3227832"/>
            <a:ext cx="384048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Data Augmentation</a:t>
            </a:r>
            <a:endParaRPr lang="en-US" sz="1300" dirty="0"/>
          </a:p>
        </p:txBody>
      </p:sp>
      <p:sp>
        <p:nvSpPr>
          <p:cNvPr id="25" name="Text 23"/>
          <p:cNvSpPr/>
          <p:nvPr/>
        </p:nvSpPr>
        <p:spPr>
          <a:xfrm>
            <a:off x="4892040" y="3502152"/>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Apply temporal augmentation (clip jitter, speed perturbation) and spatial augmentation (random crop, horizontal flip) to increase effective training set diversity per fold.</a:t>
            </a:r>
            <a:endParaRPr lang="en-US" sz="1050" dirty="0"/>
          </a:p>
        </p:txBody>
      </p:sp>
      <p:sp>
        <p:nvSpPr>
          <p:cNvPr id="26" name="Shape 24"/>
          <p:cNvSpPr/>
          <p:nvPr/>
        </p:nvSpPr>
        <p:spPr>
          <a:xfrm>
            <a:off x="4754880" y="4096512"/>
            <a:ext cx="4114800" cy="822960"/>
          </a:xfrm>
          <a:prstGeom prst="roundRect">
            <a:avLst>
              <a:gd name="adj" fmla="val 6667"/>
            </a:avLst>
          </a:prstGeom>
          <a:solidFill>
            <a:srgbClr val="2E4066"/>
          </a:solidFill>
          <a:ln w="12700">
            <a:solidFill>
              <a:srgbClr val="1B2A4A"/>
            </a:solidFill>
            <a:prstDash val="solid"/>
          </a:ln>
          <a:effectLst>
            <a:outerShdw sx="100000" sy="100000" kx="0" ky="0" algn="bl" rotWithShape="0" blurRad="101600" dist="38100" dir="2700000">
              <a:srgbClr val="000000">
                <a:alpha val="13000"/>
              </a:srgbClr>
            </a:outerShdw>
          </a:effectLst>
        </p:spPr>
      </p:sp>
      <p:sp>
        <p:nvSpPr>
          <p:cNvPr id="27" name="Text 25"/>
          <p:cNvSpPr/>
          <p:nvPr/>
        </p:nvSpPr>
        <p:spPr>
          <a:xfrm>
            <a:off x="4892040" y="4151376"/>
            <a:ext cx="3840480" cy="274320"/>
          </a:xfrm>
          <a:prstGeom prst="rect">
            <a:avLst/>
          </a:prstGeom>
          <a:noFill/>
          <a:ln/>
        </p:spPr>
        <p:txBody>
          <a:bodyPr wrap="square" lIns="0" tIns="0" rIns="0" bIns="0" rtlCol="0" anchor="ctr"/>
          <a:lstStyle/>
          <a:p>
            <a:pPr indent="0" marL="0">
              <a:buNone/>
            </a:pPr>
            <a:r>
              <a:rPr lang="en-US" sz="1300" b="1" dirty="0">
                <a:solidFill>
                  <a:srgbClr val="F5A623"/>
                </a:solidFill>
                <a:latin typeface="Calibri" pitchFamily="34" charset="0"/>
                <a:ea typeface="Calibri" pitchFamily="34" charset="-122"/>
                <a:cs typeface="Calibri" pitchFamily="34" charset="-120"/>
              </a:rPr>
              <a:t>Multimodal Extension</a:t>
            </a:r>
            <a:endParaRPr lang="en-US" sz="1300" dirty="0"/>
          </a:p>
        </p:txBody>
      </p:sp>
      <p:sp>
        <p:nvSpPr>
          <p:cNvPr id="28" name="Text 26"/>
          <p:cNvSpPr/>
          <p:nvPr/>
        </p:nvSpPr>
        <p:spPr>
          <a:xfrm>
            <a:off x="4892040" y="4425696"/>
            <a:ext cx="3840480" cy="457200"/>
          </a:xfrm>
          <a:prstGeom prst="rect">
            <a:avLst/>
          </a:prstGeom>
          <a:noFill/>
          <a:ln/>
        </p:spPr>
        <p:txBody>
          <a:bodyPr wrap="square" lIns="0" tIns="0" rIns="0" bIns="0" rtlCol="0" anchor="ctr"/>
          <a:lstStyle/>
          <a:p>
            <a:pPr indent="0" marL="0">
              <a:buNone/>
            </a:pPr>
            <a:r>
              <a:rPr lang="en-US" sz="1050" dirty="0">
                <a:solidFill>
                  <a:srgbClr val="D4E4F7"/>
                </a:solidFill>
                <a:latin typeface="Calibri" pitchFamily="34" charset="0"/>
                <a:ea typeface="Calibri" pitchFamily="34" charset="-122"/>
                <a:cs typeface="Calibri" pitchFamily="34" charset="-120"/>
              </a:rPr>
              <a:t>Add audio features (Wav2Vec 2.0) to disambiguate visually ambiguous medium-engagement clips. This follows the GAViD/CAGNet architecture (Kumar et al. 2025).</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OUC-CGE 5-Fold Cross-Validation: SLOW 8x8 R50 Analysis</dc:title>
  <dc:subject>PptxGenJS Presentation</dc:subject>
  <dc:creator>PptxGenJS</dc:creator>
  <cp:lastModifiedBy>PptxGenJS</cp:lastModifiedBy>
  <cp:revision>1</cp:revision>
  <dcterms:created xsi:type="dcterms:W3CDTF">2026-06-26T06:18:57Z</dcterms:created>
  <dcterms:modified xsi:type="dcterms:W3CDTF">2026-06-26T06:18:57Z</dcterms:modified>
</cp:coreProperties>
</file>