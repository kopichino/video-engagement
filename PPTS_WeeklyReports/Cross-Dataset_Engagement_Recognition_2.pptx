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6" autoAdjust="0"/>
    <p:restoredTop sz="94610"/>
  </p:normalViewPr>
  <p:slideViewPr>
    <p:cSldViewPr snapToGrid="0" snapToObjects="1">
      <p:cViewPr>
        <p:scale>
          <a:sx n="89" d="100"/>
          <a:sy n="89" d="100"/>
        </p:scale>
        <p:origin x="4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1295C"/>
                </a:solidFill>
                <a:latin typeface="Arial"/>
              </a:defRPr>
            </a:pPr>
            <a:r>
              <a:rPr lang="en-US" sz="1300" b="0" i="0" u="none" strike="noStrike">
                <a:solidFill>
                  <a:srgbClr val="21295C"/>
                </a:solidFill>
                <a:latin typeface="Arial"/>
              </a:rPr>
              <a:t>OUC-CGE Class Distribution (n = 7,439)</a:t>
            </a:r>
          </a:p>
        </c:rich>
      </c:tx>
      <c:overlay val="0"/>
    </c:title>
    <c:autoTitleDeleted val="0"/>
    <c:plotArea>
      <c:layout/>
      <c:barChart>
        <c:barDir val="col"/>
        <c:grouping val="clustered"/>
        <c:varyColors val="0"/>
        <c:ser>
          <c:idx val="0"/>
          <c:order val="0"/>
          <c:tx>
            <c:strRef>
              <c:f>Sheet1!$B$1</c:f>
              <c:strCache>
                <c:ptCount val="1"/>
                <c:pt idx="0">
                  <c:v>Clips</c:v>
                </c:pt>
              </c:strCache>
            </c:strRef>
          </c:tx>
          <c:spPr>
            <a:solidFill>
              <a:srgbClr val="065A82"/>
            </a:solidFill>
            <a:effectLst/>
          </c:spPr>
          <c:invertIfNegative val="0"/>
          <c:dLbls>
            <c:numFmt formatCode="#,##0" sourceLinked="0"/>
            <c:spPr>
              <a:noFill/>
              <a:ln>
                <a:noFill/>
              </a:ln>
              <a:effectLst/>
            </c:spPr>
            <c:txPr>
              <a:bodyPr/>
              <a:lstStyle/>
              <a:p>
                <a:pPr>
                  <a:defRPr sz="1200" b="0" i="0" u="none" strike="noStrike">
                    <a:solidFill>
                      <a:srgbClr val="2633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c:v>
                </c:pt>
                <c:pt idx="1">
                  <c:v>Mid</c:v>
                </c:pt>
                <c:pt idx="2">
                  <c:v>Low</c:v>
                </c:pt>
              </c:strCache>
            </c:strRef>
          </c:cat>
          <c:val>
            <c:numRef>
              <c:f>Sheet1!$B$2:$B$4</c:f>
              <c:numCache>
                <c:formatCode>General</c:formatCode>
                <c:ptCount val="3"/>
                <c:pt idx="0">
                  <c:v>2345</c:v>
                </c:pt>
                <c:pt idx="1">
                  <c:v>2053</c:v>
                </c:pt>
                <c:pt idx="2">
                  <c:v>3041</c:v>
                </c:pt>
              </c:numCache>
            </c:numRef>
          </c:val>
          <c:extLst>
            <c:ext xmlns:c16="http://schemas.microsoft.com/office/drawing/2014/chart" uri="{C3380CC4-5D6E-409C-BE32-E72D297353CC}">
              <c16:uniqueId val="{00000000-BE39-4C1C-9970-3BCFDE0878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6333D"/>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1295C"/>
                </a:solidFill>
                <a:latin typeface="Arial"/>
              </a:defRPr>
            </a:pPr>
            <a:r>
              <a:rPr lang="en-IN" sz="1300" b="0" i="0" u="none" strike="noStrike">
                <a:solidFill>
                  <a:srgbClr val="21295C"/>
                </a:solidFill>
                <a:latin typeface="Arial"/>
              </a:rPr>
              <a:t>Accuracy &amp; Macro-F1 by Fold (%)</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65A82"/>
            </a:solidFill>
            <a:effectLst/>
          </c:spPr>
          <c:invertIfNegative val="0"/>
          <c:dLbls>
            <c:numFmt formatCode="0.0" sourceLinked="0"/>
            <c:spPr>
              <a:noFill/>
              <a:ln>
                <a:noFill/>
              </a:ln>
              <a:effectLst/>
            </c:spPr>
            <c:txPr>
              <a:bodyPr/>
              <a:lstStyle/>
              <a:p>
                <a:pPr>
                  <a:defRPr sz="950" b="0" i="0" u="none" strike="noStrike">
                    <a:solidFill>
                      <a:srgbClr val="2633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Fold 0</c:v>
                </c:pt>
                <c:pt idx="1">
                  <c:v>Fold 1</c:v>
                </c:pt>
                <c:pt idx="2">
                  <c:v>Fold 2</c:v>
                </c:pt>
                <c:pt idx="3">
                  <c:v>Fold 3</c:v>
                </c:pt>
                <c:pt idx="4">
                  <c:v>Fold 4</c:v>
                </c:pt>
              </c:strCache>
            </c:strRef>
          </c:cat>
          <c:val>
            <c:numRef>
              <c:f>Sheet1!$B$2:$B$6</c:f>
              <c:numCache>
                <c:formatCode>General</c:formatCode>
                <c:ptCount val="5"/>
                <c:pt idx="0">
                  <c:v>51.14</c:v>
                </c:pt>
                <c:pt idx="1">
                  <c:v>54</c:v>
                </c:pt>
                <c:pt idx="2">
                  <c:v>55.07</c:v>
                </c:pt>
                <c:pt idx="3">
                  <c:v>59.64</c:v>
                </c:pt>
                <c:pt idx="4">
                  <c:v>56.13</c:v>
                </c:pt>
              </c:numCache>
            </c:numRef>
          </c:val>
          <c:extLst>
            <c:ext xmlns:c16="http://schemas.microsoft.com/office/drawing/2014/chart" uri="{C3380CC4-5D6E-409C-BE32-E72D297353CC}">
              <c16:uniqueId val="{00000000-0A2B-48E3-8097-C0A32228EC82}"/>
            </c:ext>
          </c:extLst>
        </c:ser>
        <c:ser>
          <c:idx val="1"/>
          <c:order val="1"/>
          <c:tx>
            <c:strRef>
              <c:f>Sheet1!$C$1</c:f>
              <c:strCache>
                <c:ptCount val="1"/>
                <c:pt idx="0">
                  <c:v>Macro-F1</c:v>
                </c:pt>
              </c:strCache>
            </c:strRef>
          </c:tx>
          <c:spPr>
            <a:solidFill>
              <a:srgbClr val="1C7293"/>
            </a:solidFill>
            <a:effectLst/>
          </c:spPr>
          <c:invertIfNegative val="0"/>
          <c:dLbls>
            <c:numFmt formatCode="0.0" sourceLinked="0"/>
            <c:spPr>
              <a:noFill/>
              <a:ln>
                <a:noFill/>
              </a:ln>
              <a:effectLst/>
            </c:spPr>
            <c:txPr>
              <a:bodyPr/>
              <a:lstStyle/>
              <a:p>
                <a:pPr>
                  <a:defRPr sz="950" b="0" i="0" u="none" strike="noStrike">
                    <a:solidFill>
                      <a:srgbClr val="2633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Fold 0</c:v>
                </c:pt>
                <c:pt idx="1">
                  <c:v>Fold 1</c:v>
                </c:pt>
                <c:pt idx="2">
                  <c:v>Fold 2</c:v>
                </c:pt>
                <c:pt idx="3">
                  <c:v>Fold 3</c:v>
                </c:pt>
                <c:pt idx="4">
                  <c:v>Fold 4</c:v>
                </c:pt>
              </c:strCache>
            </c:strRef>
          </c:cat>
          <c:val>
            <c:numRef>
              <c:f>Sheet1!$C$2:$C$6</c:f>
              <c:numCache>
                <c:formatCode>General</c:formatCode>
                <c:ptCount val="5"/>
                <c:pt idx="0">
                  <c:v>50.33</c:v>
                </c:pt>
                <c:pt idx="1">
                  <c:v>53.32</c:v>
                </c:pt>
                <c:pt idx="2">
                  <c:v>53.32</c:v>
                </c:pt>
                <c:pt idx="3">
                  <c:v>59.06</c:v>
                </c:pt>
                <c:pt idx="4">
                  <c:v>54.97</c:v>
                </c:pt>
              </c:numCache>
            </c:numRef>
          </c:val>
          <c:extLst>
            <c:ext xmlns:c16="http://schemas.microsoft.com/office/drawing/2014/chart" uri="{C3380CC4-5D6E-409C-BE32-E72D297353CC}">
              <c16:uniqueId val="{00000001-0A2B-48E3-8097-C0A32228EC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33D"/>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12700" cap="flat">
              <a:solidFill>
                <a:srgbClr val="E3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6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I'll walk through my progress on cross-dataset classroom engagement recognition using the OUC-CGE and COLER datasets, and lay out the research plan for the next three weeks. This builds on the baseline training that's currently running.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motivation is that engagement recognition models are almost always trained and tested on one dataset from one country, so we don't actually know if the features they learn generalize. OUC-CGE and COLER give us a rare chance to test that directly, since they were independently collected in China and Vietnam with different labeling schemes. Our research question is simple to state but has not been answered before: does a model trained on Chinese classrooms recognize engagement in Vietnamese classrooms, and vice versa?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side-by-side view of the two datasets. OUC-CGE has 7,439 ten-second video clips labeled at the whole-classroom level into High, Mid, or Low engagement. COLER is larger, with 18,546 samples, but labeled per individual student across four classes, and includes not just RGB frames but skeleton pose data and facial emotion crops. The two datasets differ in country, granularity, and modality — which is exactly what makes the transfer study interesting, but also what makes it hard.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OUC-CGE's class distribution, Low-engagement clips are the largest group at just over 40%, with High and Mid fairly balanced against each other. This moderate imbalance is something we already account for during 5-fold split generation. Each clip is a full 10 seconds at 30fps, giving us 300 frames of temporal information — well suited to a 3D CNN like SlowFast.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COLER's structure is quite different — it's individual-level, multi-modal data: cropped RGB frames per student, skeleton keypoint sequences, and facial emotion crops, all at a finer 4-class granularity. With over 18,000 samples, it's also our larger dataset. The individual-level labeling is the key structural difference we'll need to handle carefully in the transfer experiments.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5 folds have now finished training. Averaged across folds, we get 55.2% accuracy, 54.2% macro-F1, and a QWK of 0.398, each with a moderate standard deviation of a few points. Fold 3 was our best run at nearly 60% accuracy, and Fold 0 our weakest at 51%. I want to be upfront that this is well below the original paper's reported 97.8%, but that number came from 50 epochs on a single simple split with no cross-validation, so it's not really an apples-to-apples comparison — this 55.2% is a more honest, harder-won estimate of true generalization, and this was only 20 epochs training from scratch, so there's real room to improve with more epochs or pretrained weights.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Digging into fold-by-fold consistency: Fold 3 is clearly our strongest split and Fold 0 our weakest, an 8.5-point spread in accuracy. The standard deviations — about 2.8% for accuracy and 0.07 for QWK — are moderate, not alarming, but they do mean we should always report averages across folds rather than cherry-picking one number. Encouragingly, QWK rises right alongside accuracy in every fold, which tells us the model isn't just getting lucky on easy examples — it's genuinely learning to rank engagement levels correctly. No fold collapses toward chance performance, so the training pipeline itself looks stable.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matrix, summed across all 5 validation folds, tells us exactly where the errors are coming from. The Mid class is by far the hardest to recognize, with only about 36% recall — it gets confused almost equally with both Low and High. Low and High are each recognized more reliably, above 60% recall. What surprised me is that Low-High confusion isn't negligible either — about 14% of all predictions cross that extreme boundary, so this isn't purely an adjacent-class blurring problem. The clearest next step is focusing on what's making the Mid class hard to separate, since that's the biggest drag on our overall accuracy.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compare the two datasets directly, we need a shared label space. Our primary approach collapses COLER's 4 classes to 3 by merging Very Engaged and Engaged into a single High category, since both reflect active positive participation, keeping Normal as Mid and Disengaged as Low. As a robustness check, we'll also report a binary Engaged / Not-Engaged version, which is simpler and more forgiving if the 3-class mapping proves noisy across datasets.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planned three concrete experiments. Experiment A is the fastest path: extract frames from OUC-CGE video and train a standard 2D ResNet-50 image classifier across both datasets. Experiment B is more rigorous — reconstructing short video clips from COLER's frames so we can test whether SlowFast's 3D motion features transfer. Experiment C is the most novel: a shared backbone with two dataset-specific classification heads, trained jointly, to see whether a single unified model can do well on both.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architecture behind Experiments A and C. Frames from both datasets flow into a shared, ImageNet-pretrained ResNet-50 backbone, which then branches into two lightweight classification heads — one three-class head for OUC-CGE, one four-class head for COLER. We chose ResNet-50 specifically because it's efficient enough to train repeatedly on an 8GB laptop GPU while still giving us strong transfer-learning performance as a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we see four concrete contributions: a more rigorous OUC-CGE baseline than the original paper, the first-ever cross-dataset evaluation between OUC-CGE and COLER, a unified model trained jointly on both, and a systematic analysis of what does and doesn't transfer across country, granularity, and classroom layout.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four-week plan. We're in week 1 now, finishing the OUC-CGE baseline. Week 2 is building the cross-dataset pipeline — label mapping, frame extraction, and a unified data loader. Week 3 runs the three experiments, and week 4 is dedicated to analysis and writing up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822960"/>
            <a:ext cx="3291840" cy="3291840"/>
          </a:xfrm>
          <a:prstGeom prst="ellipse">
            <a:avLst/>
          </a:prstGeom>
          <a:solidFill>
            <a:srgbClr val="065A82">
              <a:alpha val="75000"/>
            </a:srgbClr>
          </a:solidFill>
          <a:ln/>
        </p:spPr>
      </p:sp>
      <p:sp>
        <p:nvSpPr>
          <p:cNvPr id="3" name="Shape 1"/>
          <p:cNvSpPr/>
          <p:nvPr/>
        </p:nvSpPr>
        <p:spPr>
          <a:xfrm>
            <a:off x="10058400" y="1920240"/>
            <a:ext cx="2743200" cy="2743200"/>
          </a:xfrm>
          <a:prstGeom prst="ellipse">
            <a:avLst/>
          </a:prstGeom>
          <a:solidFill>
            <a:srgbClr val="1C7293">
              <a:alpha val="85000"/>
            </a:srgbClr>
          </a:solidFill>
          <a:ln/>
        </p:spPr>
      </p:sp>
      <p:sp>
        <p:nvSpPr>
          <p:cNvPr id="4" name="Text 2"/>
          <p:cNvSpPr/>
          <p:nvPr/>
        </p:nvSpPr>
        <p:spPr>
          <a:xfrm>
            <a:off x="640080" y="2331720"/>
            <a:ext cx="8778240" cy="1463040"/>
          </a:xfrm>
          <a:prstGeom prst="rect">
            <a:avLst/>
          </a:prstGeom>
          <a:noFill/>
          <a:ln/>
        </p:spPr>
        <p:txBody>
          <a:bodyPr wrap="square" lIns="0" tIns="0" rIns="0" bIns="0" rtlCol="0" anchor="ctr"/>
          <a:lstStyle/>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CROSS-DATASET VIDEO ENGAGEMENT RECOGNITION</a:t>
            </a:r>
            <a:endParaRPr lang="en-US" sz="3800" dirty="0"/>
          </a:p>
        </p:txBody>
      </p:sp>
      <p:sp>
        <p:nvSpPr>
          <p:cNvPr id="5" name="Text 3"/>
          <p:cNvSpPr/>
          <p:nvPr/>
        </p:nvSpPr>
        <p:spPr>
          <a:xfrm>
            <a:off x="640080" y="3703320"/>
            <a:ext cx="8595360" cy="548640"/>
          </a:xfrm>
          <a:prstGeom prst="rect">
            <a:avLst/>
          </a:prstGeom>
          <a:noFill/>
          <a:ln/>
        </p:spPr>
        <p:txBody>
          <a:bodyPr wrap="square" lIns="0" tIns="0" rIns="0" bIns="0" rtlCol="0" anchor="ctr"/>
          <a:lstStyle/>
          <a:p>
            <a:pPr marL="0" indent="0">
              <a:buNone/>
            </a:pPr>
            <a:r>
              <a:rPr lang="en-US" sz="1800" i="1" dirty="0">
                <a:solidFill>
                  <a:srgbClr val="CADCEA"/>
                </a:solidFill>
                <a:latin typeface="Calibri" pitchFamily="34" charset="0"/>
                <a:ea typeface="Calibri" pitchFamily="34" charset="-122"/>
                <a:cs typeface="Calibri" pitchFamily="34" charset="-120"/>
              </a:rPr>
              <a:t>Bridging Classroom Engagement Models Across China and Vietnam</a:t>
            </a:r>
            <a:endParaRPr lang="en-US" sz="1800" dirty="0"/>
          </a:p>
        </p:txBody>
      </p:sp>
      <p:sp>
        <p:nvSpPr>
          <p:cNvPr id="6" name="Shape 4"/>
          <p:cNvSpPr/>
          <p:nvPr/>
        </p:nvSpPr>
        <p:spPr>
          <a:xfrm>
            <a:off x="640080" y="4434840"/>
            <a:ext cx="2011680" cy="0"/>
          </a:xfrm>
          <a:prstGeom prst="line">
            <a:avLst/>
          </a:prstGeom>
          <a:noFill/>
          <a:ln w="25400">
            <a:solidFill>
              <a:srgbClr val="E8A33D"/>
            </a:solidFill>
            <a:prstDash val="solid"/>
          </a:ln>
        </p:spPr>
      </p:sp>
      <p:sp>
        <p:nvSpPr>
          <p:cNvPr id="7" name="Text 5"/>
          <p:cNvSpPr/>
          <p:nvPr/>
        </p:nvSpPr>
        <p:spPr>
          <a:xfrm>
            <a:off x="640080" y="4663440"/>
            <a:ext cx="5486400" cy="731520"/>
          </a:xfrm>
          <a:prstGeom prst="rect">
            <a:avLst/>
          </a:prstGeom>
          <a:noFill/>
          <a:ln/>
        </p:spPr>
        <p:txBody>
          <a:bodyPr wrap="square" lIns="0" tIns="0" rIns="0" bIns="0"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Koppesh 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Why Cross-Dataset Engagement Recognition?</a:t>
            </a:r>
            <a:endParaRPr lang="en-US" sz="3000" dirty="0"/>
          </a:p>
        </p:txBody>
      </p:sp>
      <p:sp>
        <p:nvSpPr>
          <p:cNvPr id="4" name="Text 2"/>
          <p:cNvSpPr/>
          <p:nvPr/>
        </p:nvSpPr>
        <p:spPr>
          <a:xfrm>
            <a:off x="548640" y="1508760"/>
            <a:ext cx="5943600" cy="402336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26333D"/>
                </a:solidFill>
                <a:latin typeface="Calibri" pitchFamily="34" charset="0"/>
                <a:ea typeface="Calibri" pitchFamily="34" charset="-122"/>
                <a:cs typeface="Calibri" pitchFamily="34" charset="-120"/>
              </a:rPr>
              <a:t>Automated engagement recognition gives teachers real-time feedback without manual observation</a:t>
            </a:r>
            <a:endParaRPr lang="en-US" sz="1550" dirty="0"/>
          </a:p>
          <a:p>
            <a:pPr marL="228600" indent="-228600">
              <a:spcAft>
                <a:spcPts val="1600"/>
              </a:spcAft>
              <a:buSzPct val="100000"/>
              <a:buChar char="•"/>
            </a:pPr>
            <a:r>
              <a:rPr lang="en-US" sz="1550" dirty="0">
                <a:solidFill>
                  <a:srgbClr val="26333D"/>
                </a:solidFill>
                <a:latin typeface="Calibri" pitchFamily="34" charset="0"/>
                <a:ea typeface="Calibri" pitchFamily="34" charset="-122"/>
                <a:cs typeface="Calibri" pitchFamily="34" charset="-120"/>
              </a:rPr>
              <a:t>Nearly all published models are trained AND evaluated on a single dataset, from a single country and camera setup</a:t>
            </a:r>
            <a:endParaRPr lang="en-US" sz="1550" dirty="0"/>
          </a:p>
          <a:p>
            <a:pPr marL="228600" indent="-228600">
              <a:spcAft>
                <a:spcPts val="1600"/>
              </a:spcAft>
              <a:buSzPct val="100000"/>
              <a:buChar char="•"/>
            </a:pPr>
            <a:r>
              <a:rPr lang="en-US" sz="1550" dirty="0">
                <a:solidFill>
                  <a:srgbClr val="26333D"/>
                </a:solidFill>
                <a:latin typeface="Calibri" pitchFamily="34" charset="0"/>
                <a:ea typeface="Calibri" pitchFamily="34" charset="-122"/>
                <a:cs typeface="Calibri" pitchFamily="34" charset="-120"/>
              </a:rPr>
              <a:t>It is unknown whether learned engagement cues (posture, gaze, motion) generalize across classrooms, cultures, and recording conditions</a:t>
            </a:r>
            <a:endParaRPr lang="en-US" sz="1550" dirty="0"/>
          </a:p>
          <a:p>
            <a:pPr marL="228600" indent="-228600">
              <a:spcAft>
                <a:spcPts val="1600"/>
              </a:spcAft>
              <a:buSzPct val="100000"/>
              <a:buChar char="•"/>
            </a:pPr>
            <a:r>
              <a:rPr lang="en-US" sz="1550" dirty="0">
                <a:solidFill>
                  <a:srgbClr val="26333D"/>
                </a:solidFill>
                <a:latin typeface="Calibri" pitchFamily="34" charset="0"/>
                <a:ea typeface="Calibri" pitchFamily="34" charset="-122"/>
                <a:cs typeface="Calibri" pitchFamily="34" charset="-120"/>
              </a:rPr>
              <a:t>OUC-CGE (China) and COLER (Vietnam) together offer a rare opportunity: two independently collected classroom datasets with different granularity and modality</a:t>
            </a:r>
            <a:endParaRPr lang="en-US" sz="1550" dirty="0"/>
          </a:p>
        </p:txBody>
      </p:sp>
      <p:sp>
        <p:nvSpPr>
          <p:cNvPr id="5" name="Shape 3"/>
          <p:cNvSpPr/>
          <p:nvPr/>
        </p:nvSpPr>
        <p:spPr>
          <a:xfrm>
            <a:off x="6858000" y="1600200"/>
            <a:ext cx="4754880" cy="3749040"/>
          </a:xfrm>
          <a:prstGeom prst="roundRect">
            <a:avLst>
              <a:gd name="adj" fmla="val 2927"/>
            </a:avLst>
          </a:prstGeom>
          <a:solidFill>
            <a:srgbClr val="21295C"/>
          </a:solidFill>
          <a:ln/>
        </p:spPr>
      </p:sp>
      <p:sp>
        <p:nvSpPr>
          <p:cNvPr id="6" name="Text 4"/>
          <p:cNvSpPr/>
          <p:nvPr/>
        </p:nvSpPr>
        <p:spPr>
          <a:xfrm>
            <a:off x="7178040" y="1874520"/>
            <a:ext cx="41148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RESEARCH QUESTION</a:t>
            </a:r>
            <a:endParaRPr lang="en-US" sz="1200" dirty="0"/>
          </a:p>
        </p:txBody>
      </p:sp>
      <p:sp>
        <p:nvSpPr>
          <p:cNvPr id="7" name="Text 5"/>
          <p:cNvSpPr/>
          <p:nvPr/>
        </p:nvSpPr>
        <p:spPr>
          <a:xfrm>
            <a:off x="7178040" y="2331720"/>
            <a:ext cx="4114800" cy="2377440"/>
          </a:xfrm>
          <a:prstGeom prst="rect">
            <a:avLst/>
          </a:prstGeom>
          <a:noFill/>
          <a:ln/>
        </p:spPr>
        <p:txBody>
          <a:bodyPr wrap="square" lIns="0" tIns="0" rIns="0" bIns="0" rtlCol="0" anchor="ctr"/>
          <a:lstStyle/>
          <a:p>
            <a:pPr marL="0" indent="0">
              <a:lnSpc>
                <a:spcPts val="2700"/>
              </a:lnSpc>
              <a:buNone/>
            </a:pPr>
            <a:r>
              <a:rPr lang="en-US" sz="2000" i="1" dirty="0">
                <a:solidFill>
                  <a:srgbClr val="FFFFFF"/>
                </a:solidFill>
                <a:latin typeface="Cambria" pitchFamily="34" charset="0"/>
                <a:ea typeface="Cambria" pitchFamily="34" charset="-122"/>
                <a:cs typeface="Cambria" pitchFamily="34" charset="-120"/>
              </a:rPr>
              <a:t>“Can a model trained on Chinese classrooms recognize student engagement in Vietnamese classrooms — and vice versa?”</a:t>
            </a:r>
            <a:endParaRPr lang="en-US" sz="2000" dirty="0"/>
          </a:p>
        </p:txBody>
      </p:sp>
      <p:sp>
        <p:nvSpPr>
          <p:cNvPr id="8" name="Shape 6"/>
          <p:cNvSpPr/>
          <p:nvPr/>
        </p:nvSpPr>
        <p:spPr>
          <a:xfrm>
            <a:off x="7178040" y="4892040"/>
            <a:ext cx="1188720" cy="0"/>
          </a:xfrm>
          <a:prstGeom prst="line">
            <a:avLst/>
          </a:prstGeom>
          <a:noFill/>
          <a:ln w="25400">
            <a:solidFill>
              <a:srgbClr val="E8A33D"/>
            </a:solidFill>
            <a:prstDash val="solid"/>
          </a:ln>
        </p:spPr>
      </p:sp>
      <p:sp>
        <p:nvSpPr>
          <p:cNvPr id="9" name="Text 7"/>
          <p:cNvSpPr/>
          <p:nvPr/>
        </p:nvSpPr>
        <p:spPr>
          <a:xfrm>
            <a:off x="7178040" y="4709160"/>
            <a:ext cx="4114800" cy="822960"/>
          </a:xfrm>
          <a:prstGeom prst="rect">
            <a:avLst/>
          </a:prstGeom>
          <a:noFill/>
          <a:ln/>
        </p:spPr>
        <p:txBody>
          <a:bodyPr wrap="square" lIns="0" tIns="0" rIns="0" bIns="0" rtlCol="0" anchor="ctr"/>
          <a:lstStyle/>
          <a:p>
            <a:pPr marL="0" indent="0">
              <a:buNone/>
            </a:pPr>
            <a:r>
              <a:rPr lang="en-US" sz="1250" dirty="0">
                <a:solidFill>
                  <a:srgbClr val="C7D6E3"/>
                </a:solidFill>
                <a:latin typeface="Calibri" pitchFamily="34" charset="0"/>
                <a:ea typeface="Calibri" pitchFamily="34" charset="-122"/>
                <a:cs typeface="Calibri" pitchFamily="34" charset="-120"/>
              </a:rPr>
              <a:t>No prior work has evaluated cross-dataset transfer between these two benchmarks.</a:t>
            </a:r>
            <a:endParaRPr lang="en-US" sz="1250" dirty="0"/>
          </a:p>
        </p:txBody>
      </p:sp>
      <p:sp>
        <p:nvSpPr>
          <p:cNvPr id="10" name="Text 8"/>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DATASETS</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Two Complementary Classroom Datasets</a:t>
            </a:r>
            <a:endParaRPr lang="en-US" sz="3000" dirty="0"/>
          </a:p>
        </p:txBody>
      </p:sp>
      <p:sp>
        <p:nvSpPr>
          <p:cNvPr id="4" name="Shape 2"/>
          <p:cNvSpPr/>
          <p:nvPr/>
        </p:nvSpPr>
        <p:spPr>
          <a:xfrm>
            <a:off x="548640" y="1554480"/>
            <a:ext cx="5257800" cy="4297680"/>
          </a:xfrm>
          <a:prstGeom prst="roundRect">
            <a:avLst>
              <a:gd name="adj" fmla="val 2128"/>
            </a:avLst>
          </a:prstGeom>
          <a:solidFill>
            <a:srgbClr val="F4F7F9"/>
          </a:solidFill>
          <a:ln w="19050">
            <a:solidFill>
              <a:srgbClr val="065A82"/>
            </a:solidFill>
            <a:prstDash val="solid"/>
          </a:ln>
        </p:spPr>
      </p:sp>
      <p:sp>
        <p:nvSpPr>
          <p:cNvPr id="5" name="Shape 3"/>
          <p:cNvSpPr/>
          <p:nvPr/>
        </p:nvSpPr>
        <p:spPr>
          <a:xfrm>
            <a:off x="548640" y="1554480"/>
            <a:ext cx="5257800" cy="777240"/>
          </a:xfrm>
          <a:prstGeom prst="roundRect">
            <a:avLst>
              <a:gd name="adj" fmla="val 11765"/>
            </a:avLst>
          </a:prstGeom>
          <a:solidFill>
            <a:srgbClr val="065A82"/>
          </a:solidFill>
          <a:ln/>
        </p:spPr>
      </p:sp>
      <p:sp>
        <p:nvSpPr>
          <p:cNvPr id="6" name="Shape 4"/>
          <p:cNvSpPr/>
          <p:nvPr/>
        </p:nvSpPr>
        <p:spPr>
          <a:xfrm>
            <a:off x="548640" y="1965960"/>
            <a:ext cx="5257800" cy="365760"/>
          </a:xfrm>
          <a:prstGeom prst="rect">
            <a:avLst/>
          </a:prstGeom>
          <a:solidFill>
            <a:srgbClr val="065A82"/>
          </a:solidFill>
          <a:ln/>
        </p:spPr>
      </p:sp>
      <p:sp>
        <p:nvSpPr>
          <p:cNvPr id="7" name="Text 5"/>
          <p:cNvSpPr/>
          <p:nvPr/>
        </p:nvSpPr>
        <p:spPr>
          <a:xfrm>
            <a:off x="822960" y="1627632"/>
            <a:ext cx="47091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OUC-CGE</a:t>
            </a:r>
            <a:endParaRPr lang="en-US" sz="2000" dirty="0"/>
          </a:p>
        </p:txBody>
      </p:sp>
      <p:sp>
        <p:nvSpPr>
          <p:cNvPr id="8" name="Text 6"/>
          <p:cNvSpPr/>
          <p:nvPr/>
        </p:nvSpPr>
        <p:spPr>
          <a:xfrm>
            <a:off x="822960" y="1993392"/>
            <a:ext cx="4709160" cy="274320"/>
          </a:xfrm>
          <a:prstGeom prst="rect">
            <a:avLst/>
          </a:prstGeom>
          <a:noFill/>
          <a:ln/>
        </p:spPr>
        <p:txBody>
          <a:bodyPr wrap="square" lIns="0" tIns="0" rIns="0" bIns="0" rtlCol="0" anchor="ctr"/>
          <a:lstStyle/>
          <a:p>
            <a:pPr marL="0" indent="0">
              <a:buNone/>
            </a:pPr>
            <a:r>
              <a:rPr lang="en-US" sz="1250" i="1" dirty="0">
                <a:solidFill>
                  <a:srgbClr val="E4EEF4"/>
                </a:solidFill>
                <a:latin typeface="Calibri" pitchFamily="34" charset="0"/>
                <a:ea typeface="Calibri" pitchFamily="34" charset="-122"/>
                <a:cs typeface="Calibri" pitchFamily="34" charset="-120"/>
              </a:rPr>
              <a:t>China — Group-Level Engagement</a:t>
            </a:r>
            <a:endParaRPr lang="en-US" sz="1250" dirty="0"/>
          </a:p>
        </p:txBody>
      </p:sp>
      <p:sp>
        <p:nvSpPr>
          <p:cNvPr id="9" name="Text 7"/>
          <p:cNvSpPr/>
          <p:nvPr/>
        </p:nvSpPr>
        <p:spPr>
          <a:xfrm>
            <a:off x="822960" y="2514600"/>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SAMPLES</a:t>
            </a:r>
            <a:endParaRPr lang="en-US" sz="1050" dirty="0"/>
          </a:p>
        </p:txBody>
      </p:sp>
      <p:sp>
        <p:nvSpPr>
          <p:cNvPr id="10" name="Text 8"/>
          <p:cNvSpPr/>
          <p:nvPr/>
        </p:nvSpPr>
        <p:spPr>
          <a:xfrm>
            <a:off x="822960" y="2734056"/>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7,439 MP4 video clips (10s, 30fps, ~1092×614)</a:t>
            </a:r>
            <a:endParaRPr lang="en-US" sz="1350" dirty="0"/>
          </a:p>
        </p:txBody>
      </p:sp>
      <p:sp>
        <p:nvSpPr>
          <p:cNvPr id="11" name="Text 9"/>
          <p:cNvSpPr/>
          <p:nvPr/>
        </p:nvSpPr>
        <p:spPr>
          <a:xfrm>
            <a:off x="822960" y="3227832"/>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CLASSES (3)</a:t>
            </a:r>
            <a:endParaRPr lang="en-US" sz="1050" dirty="0"/>
          </a:p>
        </p:txBody>
      </p:sp>
      <p:sp>
        <p:nvSpPr>
          <p:cNvPr id="12" name="Text 10"/>
          <p:cNvSpPr/>
          <p:nvPr/>
        </p:nvSpPr>
        <p:spPr>
          <a:xfrm>
            <a:off x="822960" y="3447288"/>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High (2,345) · Mid (2,053) · Low (3,041)</a:t>
            </a:r>
            <a:endParaRPr lang="en-US" sz="1350" dirty="0"/>
          </a:p>
        </p:txBody>
      </p:sp>
      <p:sp>
        <p:nvSpPr>
          <p:cNvPr id="13" name="Text 11"/>
          <p:cNvSpPr/>
          <p:nvPr/>
        </p:nvSpPr>
        <p:spPr>
          <a:xfrm>
            <a:off x="822960" y="3941064"/>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GRANULARITY</a:t>
            </a:r>
            <a:endParaRPr lang="en-US" sz="1050" dirty="0"/>
          </a:p>
        </p:txBody>
      </p:sp>
      <p:sp>
        <p:nvSpPr>
          <p:cNvPr id="14" name="Text 12"/>
          <p:cNvSpPr/>
          <p:nvPr/>
        </p:nvSpPr>
        <p:spPr>
          <a:xfrm>
            <a:off x="822960" y="4160520"/>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Whole classroom / group, per clip</a:t>
            </a:r>
            <a:endParaRPr lang="en-US" sz="1350" dirty="0"/>
          </a:p>
        </p:txBody>
      </p:sp>
      <p:sp>
        <p:nvSpPr>
          <p:cNvPr id="15" name="Text 13"/>
          <p:cNvSpPr/>
          <p:nvPr/>
        </p:nvSpPr>
        <p:spPr>
          <a:xfrm>
            <a:off x="822960" y="4654296"/>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MODALITY</a:t>
            </a:r>
            <a:endParaRPr lang="en-US" sz="1050" dirty="0"/>
          </a:p>
        </p:txBody>
      </p:sp>
      <p:sp>
        <p:nvSpPr>
          <p:cNvPr id="16" name="Text 14"/>
          <p:cNvSpPr/>
          <p:nvPr/>
        </p:nvSpPr>
        <p:spPr>
          <a:xfrm>
            <a:off x="822960" y="4873752"/>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Raw RGB video only</a:t>
            </a:r>
            <a:endParaRPr lang="en-US" sz="1350" dirty="0"/>
          </a:p>
        </p:txBody>
      </p:sp>
      <p:sp>
        <p:nvSpPr>
          <p:cNvPr id="17" name="Shape 15"/>
          <p:cNvSpPr/>
          <p:nvPr/>
        </p:nvSpPr>
        <p:spPr>
          <a:xfrm>
            <a:off x="6126480" y="1554480"/>
            <a:ext cx="5257800" cy="4297680"/>
          </a:xfrm>
          <a:prstGeom prst="roundRect">
            <a:avLst>
              <a:gd name="adj" fmla="val 2128"/>
            </a:avLst>
          </a:prstGeom>
          <a:solidFill>
            <a:srgbClr val="F4F7F9"/>
          </a:solidFill>
          <a:ln w="19050">
            <a:solidFill>
              <a:srgbClr val="1C7293"/>
            </a:solidFill>
            <a:prstDash val="solid"/>
          </a:ln>
        </p:spPr>
      </p:sp>
      <p:sp>
        <p:nvSpPr>
          <p:cNvPr id="18" name="Shape 16"/>
          <p:cNvSpPr/>
          <p:nvPr/>
        </p:nvSpPr>
        <p:spPr>
          <a:xfrm>
            <a:off x="6126480" y="1554480"/>
            <a:ext cx="5257800" cy="777240"/>
          </a:xfrm>
          <a:prstGeom prst="roundRect">
            <a:avLst>
              <a:gd name="adj" fmla="val 11765"/>
            </a:avLst>
          </a:prstGeom>
          <a:solidFill>
            <a:srgbClr val="1C7293"/>
          </a:solidFill>
          <a:ln/>
        </p:spPr>
      </p:sp>
      <p:sp>
        <p:nvSpPr>
          <p:cNvPr id="19" name="Shape 17"/>
          <p:cNvSpPr/>
          <p:nvPr/>
        </p:nvSpPr>
        <p:spPr>
          <a:xfrm>
            <a:off x="6126480" y="1965960"/>
            <a:ext cx="5257800" cy="365760"/>
          </a:xfrm>
          <a:prstGeom prst="rect">
            <a:avLst/>
          </a:prstGeom>
          <a:solidFill>
            <a:srgbClr val="1C7293"/>
          </a:solidFill>
          <a:ln/>
        </p:spPr>
      </p:sp>
      <p:sp>
        <p:nvSpPr>
          <p:cNvPr id="20" name="Text 18"/>
          <p:cNvSpPr/>
          <p:nvPr/>
        </p:nvSpPr>
        <p:spPr>
          <a:xfrm>
            <a:off x="6400800" y="1627632"/>
            <a:ext cx="47091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COLER</a:t>
            </a:r>
            <a:endParaRPr lang="en-US" sz="2000" dirty="0"/>
          </a:p>
        </p:txBody>
      </p:sp>
      <p:sp>
        <p:nvSpPr>
          <p:cNvPr id="21" name="Text 19"/>
          <p:cNvSpPr/>
          <p:nvPr/>
        </p:nvSpPr>
        <p:spPr>
          <a:xfrm>
            <a:off x="6400800" y="1993392"/>
            <a:ext cx="4709160" cy="274320"/>
          </a:xfrm>
          <a:prstGeom prst="rect">
            <a:avLst/>
          </a:prstGeom>
          <a:noFill/>
          <a:ln/>
        </p:spPr>
        <p:txBody>
          <a:bodyPr wrap="square" lIns="0" tIns="0" rIns="0" bIns="0" rtlCol="0" anchor="ctr"/>
          <a:lstStyle/>
          <a:p>
            <a:pPr marL="0" indent="0">
              <a:buNone/>
            </a:pPr>
            <a:r>
              <a:rPr lang="en-US" sz="1250" i="1" dirty="0">
                <a:solidFill>
                  <a:srgbClr val="E4EEF4"/>
                </a:solidFill>
                <a:latin typeface="Calibri" pitchFamily="34" charset="0"/>
                <a:ea typeface="Calibri" pitchFamily="34" charset="-122"/>
                <a:cs typeface="Calibri" pitchFamily="34" charset="-120"/>
              </a:rPr>
              <a:t>Vietnam — Individual-Level Engagement</a:t>
            </a:r>
            <a:endParaRPr lang="en-US" sz="1250" dirty="0"/>
          </a:p>
        </p:txBody>
      </p:sp>
      <p:sp>
        <p:nvSpPr>
          <p:cNvPr id="22" name="Text 20"/>
          <p:cNvSpPr/>
          <p:nvPr/>
        </p:nvSpPr>
        <p:spPr>
          <a:xfrm>
            <a:off x="6400800" y="2514600"/>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SAMPLES</a:t>
            </a:r>
            <a:endParaRPr lang="en-US" sz="1050" dirty="0"/>
          </a:p>
        </p:txBody>
      </p:sp>
      <p:sp>
        <p:nvSpPr>
          <p:cNvPr id="23" name="Text 21"/>
          <p:cNvSpPr/>
          <p:nvPr/>
        </p:nvSpPr>
        <p:spPr>
          <a:xfrm>
            <a:off x="6400800" y="2734056"/>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18,546 labeled samples</a:t>
            </a:r>
            <a:endParaRPr lang="en-US" sz="1350" dirty="0"/>
          </a:p>
        </p:txBody>
      </p:sp>
      <p:sp>
        <p:nvSpPr>
          <p:cNvPr id="24" name="Text 22"/>
          <p:cNvSpPr/>
          <p:nvPr/>
        </p:nvSpPr>
        <p:spPr>
          <a:xfrm>
            <a:off x="6400800" y="3227832"/>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CLASSES (4)</a:t>
            </a:r>
            <a:endParaRPr lang="en-US" sz="1050" dirty="0"/>
          </a:p>
        </p:txBody>
      </p:sp>
      <p:sp>
        <p:nvSpPr>
          <p:cNvPr id="25" name="Text 23"/>
          <p:cNvSpPr/>
          <p:nvPr/>
        </p:nvSpPr>
        <p:spPr>
          <a:xfrm>
            <a:off x="6400800" y="3447288"/>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Very Engaged · Engaged · Normal · Disengaged</a:t>
            </a:r>
            <a:endParaRPr lang="en-US" sz="1350" dirty="0"/>
          </a:p>
        </p:txBody>
      </p:sp>
      <p:sp>
        <p:nvSpPr>
          <p:cNvPr id="26" name="Text 24"/>
          <p:cNvSpPr/>
          <p:nvPr/>
        </p:nvSpPr>
        <p:spPr>
          <a:xfrm>
            <a:off x="6400800" y="3941064"/>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GRANULARITY</a:t>
            </a:r>
            <a:endParaRPr lang="en-US" sz="1050" dirty="0"/>
          </a:p>
        </p:txBody>
      </p:sp>
      <p:sp>
        <p:nvSpPr>
          <p:cNvPr id="27" name="Text 25"/>
          <p:cNvSpPr/>
          <p:nvPr/>
        </p:nvSpPr>
        <p:spPr>
          <a:xfrm>
            <a:off x="6400800" y="4160520"/>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Individual student, cropped per person</a:t>
            </a:r>
            <a:endParaRPr lang="en-US" sz="1350" dirty="0"/>
          </a:p>
        </p:txBody>
      </p:sp>
      <p:sp>
        <p:nvSpPr>
          <p:cNvPr id="28" name="Text 26"/>
          <p:cNvSpPr/>
          <p:nvPr/>
        </p:nvSpPr>
        <p:spPr>
          <a:xfrm>
            <a:off x="6400800" y="4654296"/>
            <a:ext cx="4709160" cy="228600"/>
          </a:xfrm>
          <a:prstGeom prst="rect">
            <a:avLst/>
          </a:prstGeom>
          <a:noFill/>
          <a:ln/>
        </p:spPr>
        <p:txBody>
          <a:bodyPr wrap="square" lIns="0" tIns="0" rIns="0" bIns="0" rtlCol="0" anchor="ctr"/>
          <a:lstStyle/>
          <a:p>
            <a:pPr marL="0" indent="0">
              <a:buNone/>
            </a:pPr>
            <a:r>
              <a:rPr lang="en-US" sz="1050" b="1" kern="0" spc="100" dirty="0">
                <a:solidFill>
                  <a:srgbClr val="5B6B76"/>
                </a:solidFill>
                <a:latin typeface="Calibri" pitchFamily="34" charset="0"/>
                <a:ea typeface="Calibri" pitchFamily="34" charset="-122"/>
                <a:cs typeface="Calibri" pitchFamily="34" charset="-120"/>
              </a:rPr>
              <a:t>MODALITY</a:t>
            </a:r>
            <a:endParaRPr lang="en-US" sz="1050" dirty="0"/>
          </a:p>
        </p:txBody>
      </p:sp>
      <p:sp>
        <p:nvSpPr>
          <p:cNvPr id="29" name="Text 27"/>
          <p:cNvSpPr/>
          <p:nvPr/>
        </p:nvSpPr>
        <p:spPr>
          <a:xfrm>
            <a:off x="6400800" y="4873752"/>
            <a:ext cx="4709160" cy="457200"/>
          </a:xfrm>
          <a:prstGeom prst="rect">
            <a:avLst/>
          </a:prstGeom>
          <a:noFill/>
          <a:ln/>
        </p:spPr>
        <p:txBody>
          <a:bodyPr wrap="square" lIns="0" tIns="0" rIns="0" bIns="0" rtlCol="0" anchor="ctr"/>
          <a:lstStyle/>
          <a:p>
            <a:pPr marL="0" indent="0">
              <a:buNone/>
            </a:pPr>
            <a:r>
              <a:rPr lang="en-US" sz="1350" dirty="0">
                <a:solidFill>
                  <a:srgbClr val="26333D"/>
                </a:solidFill>
                <a:latin typeface="Calibri" pitchFamily="34" charset="0"/>
                <a:ea typeface="Calibri" pitchFamily="34" charset="-122"/>
                <a:cs typeface="Calibri" pitchFamily="34" charset="-120"/>
              </a:rPr>
              <a:t>PNG frames + skeleton CSVs + emotion crops</a:t>
            </a:r>
            <a:endParaRPr lang="en-US" sz="1350" dirty="0"/>
          </a:p>
        </p:txBody>
      </p:sp>
      <p:sp>
        <p:nvSpPr>
          <p:cNvPr id="30" name="Text 28"/>
          <p:cNvSpPr/>
          <p:nvPr/>
        </p:nvSpPr>
        <p:spPr>
          <a:xfrm>
            <a:off x="548640" y="5989320"/>
            <a:ext cx="11064240" cy="457200"/>
          </a:xfrm>
          <a:prstGeom prst="rect">
            <a:avLst/>
          </a:prstGeom>
          <a:noFill/>
          <a:ln/>
        </p:spPr>
        <p:txBody>
          <a:bodyPr wrap="square" lIns="0" tIns="0" rIns="0" bIns="0" rtlCol="0" anchor="ctr"/>
          <a:lstStyle/>
          <a:p>
            <a:pPr marL="0" indent="0">
              <a:buNone/>
            </a:pPr>
            <a:r>
              <a:rPr lang="en-US" sz="1250" i="1" dirty="0">
                <a:solidFill>
                  <a:srgbClr val="5B6B76"/>
                </a:solidFill>
                <a:latin typeface="Calibri" pitchFamily="34" charset="0"/>
                <a:ea typeface="Calibri" pitchFamily="34" charset="-122"/>
                <a:cs typeface="Calibri" pitchFamily="34" charset="-120"/>
              </a:rPr>
              <a:t>Complementary by design: different countries, label granularity, and input modality — the ideal pairing for a domain-transfer study.</a:t>
            </a:r>
            <a:endParaRPr lang="en-US" sz="1250" dirty="0"/>
          </a:p>
        </p:txBody>
      </p:sp>
      <p:sp>
        <p:nvSpPr>
          <p:cNvPr id="31" name="Text 29"/>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EXPLORATORY DATA ANALYSIS · 1 OF 2</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OUC-CGE: Class Distribution &amp; Structure</a:t>
            </a:r>
            <a:endParaRPr lang="en-US" sz="3000" dirty="0"/>
          </a:p>
        </p:txBody>
      </p:sp>
      <p:graphicFrame>
        <p:nvGraphicFramePr>
          <p:cNvPr id="4" name="Chart 0"/>
          <p:cNvGraphicFramePr/>
          <p:nvPr/>
        </p:nvGraphicFramePr>
        <p:xfrm>
          <a:off x="548640" y="155448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858000" y="1600200"/>
            <a:ext cx="4846320" cy="411480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26333D"/>
                </a:solidFill>
                <a:latin typeface="Calibri" pitchFamily="34" charset="0"/>
                <a:ea typeface="Calibri" pitchFamily="34" charset="-122"/>
                <a:cs typeface="Calibri" pitchFamily="34" charset="-120"/>
              </a:rPr>
              <a:t>Low-engagement clips are the largest class (3,041 / 40.9%) — moderate class imbalance to correct for during training</a:t>
            </a:r>
            <a:endParaRPr lang="en-US" sz="1400" dirty="0"/>
          </a:p>
          <a:p>
            <a:pPr marL="228600" indent="-228600">
              <a:spcAft>
                <a:spcPts val="1400"/>
              </a:spcAft>
              <a:buSzPct val="100000"/>
              <a:buChar char="•"/>
            </a:pPr>
            <a:r>
              <a:rPr lang="en-US" sz="1400" dirty="0">
                <a:solidFill>
                  <a:srgbClr val="26333D"/>
                </a:solidFill>
                <a:latin typeface="Calibri" pitchFamily="34" charset="0"/>
                <a:ea typeface="Calibri" pitchFamily="34" charset="-122"/>
                <a:cs typeface="Calibri" pitchFamily="34" charset="-120"/>
              </a:rPr>
              <a:t>High (2,345) and Mid (2,053) are more balanced with each other (±6% of the mean)</a:t>
            </a:r>
            <a:endParaRPr lang="en-US" sz="1400" dirty="0"/>
          </a:p>
          <a:p>
            <a:pPr marL="228600" indent="-228600">
              <a:spcAft>
                <a:spcPts val="1400"/>
              </a:spcAft>
              <a:buSzPct val="100000"/>
              <a:buChar char="•"/>
            </a:pPr>
            <a:r>
              <a:rPr lang="en-US" sz="1400" dirty="0">
                <a:solidFill>
                  <a:srgbClr val="26333D"/>
                </a:solidFill>
                <a:latin typeface="Calibri" pitchFamily="34" charset="0"/>
                <a:ea typeface="Calibri" pitchFamily="34" charset="-122"/>
                <a:cs typeface="Calibri" pitchFamily="34" charset="-120"/>
              </a:rPr>
              <a:t>10-second clips at 30fps (300 frames) capture full temporal dynamics — ideal input for 3D CNNs like SlowFast</a:t>
            </a:r>
            <a:endParaRPr lang="en-US" sz="1400" dirty="0"/>
          </a:p>
          <a:p>
            <a:pPr marL="228600" indent="-228600">
              <a:spcAft>
                <a:spcPts val="1400"/>
              </a:spcAft>
              <a:buSzPct val="100000"/>
              <a:buChar char="•"/>
            </a:pPr>
            <a:r>
              <a:rPr lang="en-US" sz="1400" dirty="0">
                <a:solidFill>
                  <a:srgbClr val="26333D"/>
                </a:solidFill>
                <a:latin typeface="Calibri" pitchFamily="34" charset="0"/>
                <a:ea typeface="Calibri" pitchFamily="34" charset="-122"/>
                <a:cs typeface="Calibri" pitchFamily="34" charset="-120"/>
              </a:rPr>
              <a:t>Labels are assigned per whole-classroom clip, not per student</a:t>
            </a:r>
            <a:endParaRPr lang="en-US" sz="1400" dirty="0"/>
          </a:p>
        </p:txBody>
      </p:sp>
      <p:sp>
        <p:nvSpPr>
          <p:cNvPr id="6" name="Text 3"/>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EXPLORATORY DATA ANALYSIS · 2 OF 2</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COLER: Multi-Modal, Individual-Level Data</a:t>
            </a:r>
            <a:endParaRPr lang="en-US" sz="3000" dirty="0"/>
          </a:p>
        </p:txBody>
      </p:sp>
      <p:sp>
        <p:nvSpPr>
          <p:cNvPr id="4" name="Shape 2"/>
          <p:cNvSpPr/>
          <p:nvPr/>
        </p:nvSpPr>
        <p:spPr>
          <a:xfrm>
            <a:off x="548640" y="1600200"/>
            <a:ext cx="3520440" cy="1920240"/>
          </a:xfrm>
          <a:prstGeom prst="roundRect">
            <a:avLst>
              <a:gd name="adj" fmla="val 4762"/>
            </a:avLst>
          </a:prstGeom>
          <a:solidFill>
            <a:srgbClr val="EAF1F5"/>
          </a:solidFill>
          <a:ln/>
        </p:spPr>
      </p:sp>
      <p:sp>
        <p:nvSpPr>
          <p:cNvPr id="5" name="Shape 3"/>
          <p:cNvSpPr/>
          <p:nvPr/>
        </p:nvSpPr>
        <p:spPr>
          <a:xfrm>
            <a:off x="777240" y="1828800"/>
            <a:ext cx="457200" cy="457200"/>
          </a:xfrm>
          <a:prstGeom prst="ellipse">
            <a:avLst/>
          </a:prstGeom>
          <a:solidFill>
            <a:srgbClr val="1C7293"/>
          </a:solidFill>
          <a:ln/>
        </p:spPr>
      </p:sp>
      <p:sp>
        <p:nvSpPr>
          <p:cNvPr id="6" name="Text 4"/>
          <p:cNvSpPr/>
          <p:nvPr/>
        </p:nvSpPr>
        <p:spPr>
          <a:xfrm>
            <a:off x="7772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77240" y="2423160"/>
            <a:ext cx="306324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RGB Frames</a:t>
            </a:r>
            <a:endParaRPr lang="en-US" sz="1500" dirty="0"/>
          </a:p>
        </p:txBody>
      </p:sp>
      <p:sp>
        <p:nvSpPr>
          <p:cNvPr id="8" name="Text 6"/>
          <p:cNvSpPr/>
          <p:nvPr/>
        </p:nvSpPr>
        <p:spPr>
          <a:xfrm>
            <a:off x="777240" y="2743200"/>
            <a:ext cx="3063240" cy="73152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15 PNG frames sampled per 5-second clip, cropped to the individual student</a:t>
            </a:r>
            <a:endParaRPr lang="en-US" sz="1150" dirty="0"/>
          </a:p>
        </p:txBody>
      </p:sp>
      <p:sp>
        <p:nvSpPr>
          <p:cNvPr id="9" name="Shape 7"/>
          <p:cNvSpPr/>
          <p:nvPr/>
        </p:nvSpPr>
        <p:spPr>
          <a:xfrm>
            <a:off x="4343400" y="1600200"/>
            <a:ext cx="3520440" cy="1920240"/>
          </a:xfrm>
          <a:prstGeom prst="roundRect">
            <a:avLst>
              <a:gd name="adj" fmla="val 4762"/>
            </a:avLst>
          </a:prstGeom>
          <a:solidFill>
            <a:srgbClr val="EAF1F5"/>
          </a:solidFill>
          <a:ln/>
        </p:spPr>
      </p:sp>
      <p:sp>
        <p:nvSpPr>
          <p:cNvPr id="10" name="Shape 8"/>
          <p:cNvSpPr/>
          <p:nvPr/>
        </p:nvSpPr>
        <p:spPr>
          <a:xfrm>
            <a:off x="4572000" y="1828800"/>
            <a:ext cx="457200" cy="457200"/>
          </a:xfrm>
          <a:prstGeom prst="ellipse">
            <a:avLst/>
          </a:prstGeom>
          <a:solidFill>
            <a:srgbClr val="1C7293"/>
          </a:solidFill>
          <a:ln/>
        </p:spPr>
      </p:sp>
      <p:sp>
        <p:nvSpPr>
          <p:cNvPr id="11" name="Text 9"/>
          <p:cNvSpPr/>
          <p:nvPr/>
        </p:nvSpPr>
        <p:spPr>
          <a:xfrm>
            <a:off x="457200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572000" y="2423160"/>
            <a:ext cx="306324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Skeleton CSVs</a:t>
            </a:r>
            <a:endParaRPr lang="en-US" sz="1500" dirty="0"/>
          </a:p>
        </p:txBody>
      </p:sp>
      <p:sp>
        <p:nvSpPr>
          <p:cNvPr id="13" name="Text 11"/>
          <p:cNvSpPr/>
          <p:nvPr/>
        </p:nvSpPr>
        <p:spPr>
          <a:xfrm>
            <a:off x="4572000" y="2743200"/>
            <a:ext cx="3063240" cy="73152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Pose keypoint sequences — captures posture and motion without needing raw video</a:t>
            </a:r>
            <a:endParaRPr lang="en-US" sz="1150" dirty="0"/>
          </a:p>
        </p:txBody>
      </p:sp>
      <p:sp>
        <p:nvSpPr>
          <p:cNvPr id="14" name="Shape 12"/>
          <p:cNvSpPr/>
          <p:nvPr/>
        </p:nvSpPr>
        <p:spPr>
          <a:xfrm>
            <a:off x="8138160" y="1600200"/>
            <a:ext cx="3520440" cy="1920240"/>
          </a:xfrm>
          <a:prstGeom prst="roundRect">
            <a:avLst>
              <a:gd name="adj" fmla="val 4762"/>
            </a:avLst>
          </a:prstGeom>
          <a:solidFill>
            <a:srgbClr val="EAF1F5"/>
          </a:solidFill>
          <a:ln/>
        </p:spPr>
      </p:sp>
      <p:sp>
        <p:nvSpPr>
          <p:cNvPr id="15" name="Shape 13"/>
          <p:cNvSpPr/>
          <p:nvPr/>
        </p:nvSpPr>
        <p:spPr>
          <a:xfrm>
            <a:off x="8366760" y="1828800"/>
            <a:ext cx="457200" cy="457200"/>
          </a:xfrm>
          <a:prstGeom prst="ellipse">
            <a:avLst/>
          </a:prstGeom>
          <a:solidFill>
            <a:srgbClr val="1C7293"/>
          </a:solidFill>
          <a:ln/>
        </p:spPr>
      </p:sp>
      <p:sp>
        <p:nvSpPr>
          <p:cNvPr id="16" name="Text 14"/>
          <p:cNvSpPr/>
          <p:nvPr/>
        </p:nvSpPr>
        <p:spPr>
          <a:xfrm>
            <a:off x="836676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366760" y="2423160"/>
            <a:ext cx="3063240" cy="32004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Emotion Crops</a:t>
            </a:r>
            <a:endParaRPr lang="en-US" sz="1500" dirty="0"/>
          </a:p>
        </p:txBody>
      </p:sp>
      <p:sp>
        <p:nvSpPr>
          <p:cNvPr id="18" name="Text 16"/>
          <p:cNvSpPr/>
          <p:nvPr/>
        </p:nvSpPr>
        <p:spPr>
          <a:xfrm>
            <a:off x="8366760" y="2743200"/>
            <a:ext cx="3063240" cy="731520"/>
          </a:xfrm>
          <a:prstGeom prst="rect">
            <a:avLst/>
          </a:prstGeom>
          <a:noFill/>
          <a:ln/>
        </p:spPr>
        <p:txBody>
          <a:bodyPr wrap="square" lIns="0" tIns="0" rIns="0" bIns="0" rtlCol="0" anchor="ctr"/>
          <a:lstStyle/>
          <a:p>
            <a:pPr marL="0" indent="0">
              <a:lnSpc>
                <a:spcPts val="1500"/>
              </a:lnSpc>
              <a:buNone/>
            </a:pPr>
            <a:r>
              <a:rPr lang="en-US" sz="1150" dirty="0">
                <a:solidFill>
                  <a:srgbClr val="26333D"/>
                </a:solidFill>
                <a:latin typeface="Calibri" pitchFamily="34" charset="0"/>
                <a:ea typeface="Calibri" pitchFamily="34" charset="-122"/>
                <a:cs typeface="Calibri" pitchFamily="34" charset="-120"/>
              </a:rPr>
              <a:t>Facial-region crops enabling an auxiliary affective signal alongside body pose</a:t>
            </a:r>
            <a:endParaRPr lang="en-US" sz="1150" dirty="0"/>
          </a:p>
        </p:txBody>
      </p:sp>
      <p:sp>
        <p:nvSpPr>
          <p:cNvPr id="19" name="Text 17"/>
          <p:cNvSpPr/>
          <p:nvPr/>
        </p:nvSpPr>
        <p:spPr>
          <a:xfrm>
            <a:off x="548640" y="3794760"/>
            <a:ext cx="11064240" cy="237744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26333D"/>
                </a:solidFill>
                <a:latin typeface="Calibri" pitchFamily="34" charset="0"/>
                <a:ea typeface="Calibri" pitchFamily="34" charset="-122"/>
                <a:cs typeface="Calibri" pitchFamily="34" charset="-120"/>
              </a:rPr>
              <a:t>18,546 total labeled samples — over 2.5× the sample count of OUC-CGE</a:t>
            </a:r>
            <a:endParaRPr lang="en-US" sz="1350" dirty="0"/>
          </a:p>
          <a:p>
            <a:pPr marL="228600" indent="-228600">
              <a:spcAft>
                <a:spcPts val="1000"/>
              </a:spcAft>
              <a:buSzPct val="100000"/>
              <a:buChar char="•"/>
            </a:pPr>
            <a:r>
              <a:rPr lang="en-US" sz="1350" dirty="0">
                <a:solidFill>
                  <a:srgbClr val="26333D"/>
                </a:solidFill>
                <a:latin typeface="Calibri" pitchFamily="34" charset="0"/>
                <a:ea typeface="Calibri" pitchFamily="34" charset="-122"/>
                <a:cs typeface="Calibri" pitchFamily="34" charset="-120"/>
              </a:rPr>
              <a:t>4-class ordinal taxonomy (Very Engaged → Engaged → Normal → Disengaged) is finer-grained than OUC-CGE's 3 classes</a:t>
            </a:r>
            <a:endParaRPr lang="en-US" sz="1350" dirty="0"/>
          </a:p>
          <a:p>
            <a:pPr marL="228600" indent="-228600">
              <a:spcAft>
                <a:spcPts val="1000"/>
              </a:spcAft>
              <a:buSzPct val="100000"/>
              <a:buChar char="•"/>
            </a:pPr>
            <a:r>
              <a:rPr lang="en-US" sz="1350" dirty="0">
                <a:solidFill>
                  <a:srgbClr val="26333D"/>
                </a:solidFill>
                <a:latin typeface="Calibri" pitchFamily="34" charset="0"/>
                <a:ea typeface="Calibri" pitchFamily="34" charset="-122"/>
                <a:cs typeface="Calibri" pitchFamily="34" charset="-120"/>
              </a:rPr>
              <a:t>Individual-student labeling means multiple labels can exist per classroom frame — a fundamentally different unit of analysis than OUC-CGE's group-level label</a:t>
            </a:r>
            <a:endParaRPr lang="en-US" sz="1350" dirty="0"/>
          </a:p>
          <a:p>
            <a:pPr marL="228600" indent="-228600">
              <a:spcAft>
                <a:spcPts val="1000"/>
              </a:spcAft>
              <a:buSzPct val="100000"/>
              <a:buChar char="•"/>
            </a:pPr>
            <a:r>
              <a:rPr lang="en-US" sz="1350" dirty="0">
                <a:solidFill>
                  <a:srgbClr val="26333D"/>
                </a:solidFill>
                <a:latin typeface="Calibri" pitchFamily="34" charset="0"/>
                <a:ea typeface="Calibri" pitchFamily="34" charset="-122"/>
                <a:cs typeface="Calibri" pitchFamily="34" charset="-120"/>
              </a:rPr>
              <a:t>Multi-modal structure opens a path to richer fusion models beyond RGB-only, as future work</a:t>
            </a:r>
            <a:endParaRPr lang="en-US" sz="1350" dirty="0"/>
          </a:p>
        </p:txBody>
      </p:sp>
      <p:sp>
        <p:nvSpPr>
          <p:cNvPr id="20" name="Text 18"/>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CURRENT PROGRESS</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OUC-CGE Baseline: 5-Fold Results Are In</a:t>
            </a:r>
            <a:endParaRPr lang="en-US" sz="3000" dirty="0"/>
          </a:p>
        </p:txBody>
      </p:sp>
      <p:graphicFrame>
        <p:nvGraphicFramePr>
          <p:cNvPr id="4" name="Chart 0"/>
          <p:cNvGraphicFramePr/>
          <p:nvPr/>
        </p:nvGraphicFramePr>
        <p:xfrm>
          <a:off x="548640" y="1600200"/>
          <a:ext cx="61264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4983480"/>
            <a:ext cx="6126480" cy="685800"/>
          </a:xfrm>
          <a:prstGeom prst="rect">
            <a:avLst/>
          </a:prstGeom>
          <a:noFill/>
          <a:ln/>
        </p:spPr>
        <p:txBody>
          <a:bodyPr wrap="square" lIns="0" tIns="0" rIns="0" bIns="0" rtlCol="0" anchor="ctr"/>
          <a:lstStyle/>
          <a:p>
            <a:pPr marL="0" indent="0">
              <a:lnSpc>
                <a:spcPts val="1500"/>
              </a:lnSpc>
              <a:buNone/>
            </a:pPr>
            <a:r>
              <a:rPr lang="en-US" sz="1150" b="1" dirty="0">
                <a:solidFill>
                  <a:srgbClr val="5B6B76"/>
                </a:solidFill>
                <a:latin typeface="Calibri" pitchFamily="34" charset="0"/>
                <a:ea typeface="Calibri" pitchFamily="34" charset="-122"/>
                <a:cs typeface="Calibri" pitchFamily="34" charset="-120"/>
              </a:rPr>
              <a:t>SLOW 8×8 R50 · 3D ResNet-50</a:t>
            </a:r>
            <a:endParaRPr lang="en-US" sz="1150" dirty="0"/>
          </a:p>
          <a:p>
            <a:pPr marL="0" indent="0">
              <a:lnSpc>
                <a:spcPts val="1500"/>
              </a:lnSpc>
              <a:buNone/>
            </a:pPr>
            <a:r>
              <a:rPr lang="en-US" sz="1150" dirty="0">
                <a:solidFill>
                  <a:srgbClr val="5B6B76"/>
                </a:solidFill>
                <a:latin typeface="Calibri" pitchFamily="34" charset="0"/>
                <a:ea typeface="Calibri" pitchFamily="34" charset="-122"/>
                <a:cs typeface="Calibri" pitchFamily="34" charset="-120"/>
              </a:rPr>
              <a:t>5-fold CV · 20 epochs/fold · SGD + cosine LR · FP16, trained from scratch (no pretrained weights) · n = 1,224 per fold</a:t>
            </a:r>
            <a:endParaRPr lang="en-US" sz="1150" dirty="0"/>
          </a:p>
        </p:txBody>
      </p:sp>
      <p:sp>
        <p:nvSpPr>
          <p:cNvPr id="6" name="Shape 3"/>
          <p:cNvSpPr/>
          <p:nvPr/>
        </p:nvSpPr>
        <p:spPr>
          <a:xfrm>
            <a:off x="6949440" y="1600200"/>
            <a:ext cx="4572000" cy="960120"/>
          </a:xfrm>
          <a:prstGeom prst="roundRect">
            <a:avLst>
              <a:gd name="adj" fmla="val 9524"/>
            </a:avLst>
          </a:prstGeom>
          <a:solidFill>
            <a:srgbClr val="EAF1F5"/>
          </a:solidFill>
          <a:ln/>
        </p:spPr>
      </p:sp>
      <p:sp>
        <p:nvSpPr>
          <p:cNvPr id="7" name="Text 4"/>
          <p:cNvSpPr/>
          <p:nvPr/>
        </p:nvSpPr>
        <p:spPr>
          <a:xfrm>
            <a:off x="7178040" y="1691640"/>
            <a:ext cx="4114800" cy="237744"/>
          </a:xfrm>
          <a:prstGeom prst="rect">
            <a:avLst/>
          </a:prstGeom>
          <a:noFill/>
          <a:ln/>
        </p:spPr>
        <p:txBody>
          <a:bodyPr wrap="square" lIns="0" tIns="0" rIns="0" bIns="0"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AVG ACCURACY (± STD)</a:t>
            </a:r>
            <a:endParaRPr lang="en-US" sz="1050" dirty="0"/>
          </a:p>
        </p:txBody>
      </p:sp>
      <p:sp>
        <p:nvSpPr>
          <p:cNvPr id="8" name="Text 5"/>
          <p:cNvSpPr/>
          <p:nvPr/>
        </p:nvSpPr>
        <p:spPr>
          <a:xfrm>
            <a:off x="7178040" y="1911096"/>
            <a:ext cx="2103120" cy="566928"/>
          </a:xfrm>
          <a:prstGeom prst="rect">
            <a:avLst/>
          </a:prstGeom>
          <a:noFill/>
          <a:ln/>
        </p:spPr>
        <p:txBody>
          <a:bodyPr wrap="square" lIns="0" tIns="0" rIns="0" bIns="0"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55.20%</a:t>
            </a:r>
            <a:endParaRPr lang="en-US" sz="2600" dirty="0"/>
          </a:p>
        </p:txBody>
      </p:sp>
      <p:sp>
        <p:nvSpPr>
          <p:cNvPr id="9" name="Text 6"/>
          <p:cNvSpPr/>
          <p:nvPr/>
        </p:nvSpPr>
        <p:spPr>
          <a:xfrm>
            <a:off x="9098280" y="1911096"/>
            <a:ext cx="2194560" cy="566928"/>
          </a:xfrm>
          <a:prstGeom prst="rect">
            <a:avLst/>
          </a:prstGeom>
          <a:noFill/>
          <a:ln/>
        </p:spPr>
        <p:txBody>
          <a:bodyPr wrap="square" lIns="0" tIns="0" rIns="0" bIns="0" rtlCol="0" anchor="ctr"/>
          <a:lstStyle/>
          <a:p>
            <a:pPr marL="0" indent="0">
              <a:lnSpc>
                <a:spcPts val="1250"/>
              </a:lnSpc>
              <a:buNone/>
            </a:pPr>
            <a:r>
              <a:rPr lang="en-US" sz="1000" i="1" dirty="0">
                <a:solidFill>
                  <a:srgbClr val="5B6B76"/>
                </a:solidFill>
                <a:latin typeface="Calibri" pitchFamily="34" charset="0"/>
                <a:ea typeface="Calibri" pitchFamily="34" charset="-122"/>
                <a:cs typeface="Calibri" pitchFamily="34" charset="-120"/>
              </a:rPr>
              <a:t>± 2.77% across 5 folds</a:t>
            </a:r>
            <a:endParaRPr lang="en-US" sz="1000" dirty="0"/>
          </a:p>
        </p:txBody>
      </p:sp>
      <p:sp>
        <p:nvSpPr>
          <p:cNvPr id="10" name="Shape 7"/>
          <p:cNvSpPr/>
          <p:nvPr/>
        </p:nvSpPr>
        <p:spPr>
          <a:xfrm>
            <a:off x="6949440" y="2697480"/>
            <a:ext cx="4572000" cy="960120"/>
          </a:xfrm>
          <a:prstGeom prst="roundRect">
            <a:avLst>
              <a:gd name="adj" fmla="val 9524"/>
            </a:avLst>
          </a:prstGeom>
          <a:solidFill>
            <a:srgbClr val="EAF1F5"/>
          </a:solidFill>
          <a:ln/>
        </p:spPr>
      </p:sp>
      <p:sp>
        <p:nvSpPr>
          <p:cNvPr id="11" name="Text 8"/>
          <p:cNvSpPr/>
          <p:nvPr/>
        </p:nvSpPr>
        <p:spPr>
          <a:xfrm>
            <a:off x="7178040" y="2788920"/>
            <a:ext cx="4114800" cy="237744"/>
          </a:xfrm>
          <a:prstGeom prst="rect">
            <a:avLst/>
          </a:prstGeom>
          <a:noFill/>
          <a:ln/>
        </p:spPr>
        <p:txBody>
          <a:bodyPr wrap="square" lIns="0" tIns="0" rIns="0" bIns="0"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AVG MACRO-F1 (± STD)</a:t>
            </a:r>
            <a:endParaRPr lang="en-US" sz="1050" dirty="0"/>
          </a:p>
        </p:txBody>
      </p:sp>
      <p:sp>
        <p:nvSpPr>
          <p:cNvPr id="12" name="Text 9"/>
          <p:cNvSpPr/>
          <p:nvPr/>
        </p:nvSpPr>
        <p:spPr>
          <a:xfrm>
            <a:off x="7178040" y="3008376"/>
            <a:ext cx="2103120" cy="566928"/>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54.20%</a:t>
            </a:r>
            <a:endParaRPr lang="en-US" sz="2600" dirty="0"/>
          </a:p>
        </p:txBody>
      </p:sp>
      <p:sp>
        <p:nvSpPr>
          <p:cNvPr id="13" name="Text 10"/>
          <p:cNvSpPr/>
          <p:nvPr/>
        </p:nvSpPr>
        <p:spPr>
          <a:xfrm>
            <a:off x="9098280" y="3008376"/>
            <a:ext cx="2194560" cy="566928"/>
          </a:xfrm>
          <a:prstGeom prst="rect">
            <a:avLst/>
          </a:prstGeom>
          <a:noFill/>
          <a:ln/>
        </p:spPr>
        <p:txBody>
          <a:bodyPr wrap="square" lIns="0" tIns="0" rIns="0" bIns="0" rtlCol="0" anchor="ctr"/>
          <a:lstStyle/>
          <a:p>
            <a:pPr marL="0" indent="0">
              <a:lnSpc>
                <a:spcPts val="1250"/>
              </a:lnSpc>
              <a:buNone/>
            </a:pPr>
            <a:r>
              <a:rPr lang="en-US" sz="1000" i="1" dirty="0">
                <a:solidFill>
                  <a:srgbClr val="5B6B76"/>
                </a:solidFill>
                <a:latin typeface="Calibri" pitchFamily="34" charset="0"/>
                <a:ea typeface="Calibri" pitchFamily="34" charset="-122"/>
                <a:cs typeface="Calibri" pitchFamily="34" charset="-120"/>
              </a:rPr>
              <a:t>± 2.85% across 5 folds</a:t>
            </a:r>
            <a:endParaRPr lang="en-US" sz="1000" dirty="0"/>
          </a:p>
        </p:txBody>
      </p:sp>
      <p:sp>
        <p:nvSpPr>
          <p:cNvPr id="14" name="Shape 11"/>
          <p:cNvSpPr/>
          <p:nvPr/>
        </p:nvSpPr>
        <p:spPr>
          <a:xfrm>
            <a:off x="6949440" y="3794760"/>
            <a:ext cx="4572000" cy="960120"/>
          </a:xfrm>
          <a:prstGeom prst="roundRect">
            <a:avLst>
              <a:gd name="adj" fmla="val 9524"/>
            </a:avLst>
          </a:prstGeom>
          <a:solidFill>
            <a:srgbClr val="EAF1F5"/>
          </a:solidFill>
          <a:ln/>
        </p:spPr>
      </p:sp>
      <p:sp>
        <p:nvSpPr>
          <p:cNvPr id="15" name="Text 12"/>
          <p:cNvSpPr/>
          <p:nvPr/>
        </p:nvSpPr>
        <p:spPr>
          <a:xfrm>
            <a:off x="7178040" y="3886200"/>
            <a:ext cx="4114800" cy="237744"/>
          </a:xfrm>
          <a:prstGeom prst="rect">
            <a:avLst/>
          </a:prstGeom>
          <a:noFill/>
          <a:ln/>
        </p:spPr>
        <p:txBody>
          <a:bodyPr wrap="square" lIns="0" tIns="0" rIns="0" bIns="0"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AVG QWK (± STD)</a:t>
            </a:r>
            <a:endParaRPr lang="en-US" sz="1050" dirty="0"/>
          </a:p>
        </p:txBody>
      </p:sp>
      <p:sp>
        <p:nvSpPr>
          <p:cNvPr id="16" name="Text 13"/>
          <p:cNvSpPr/>
          <p:nvPr/>
        </p:nvSpPr>
        <p:spPr>
          <a:xfrm>
            <a:off x="7178040" y="4105656"/>
            <a:ext cx="2103120" cy="566928"/>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0.398</a:t>
            </a:r>
            <a:endParaRPr lang="en-US" sz="2600" dirty="0"/>
          </a:p>
        </p:txBody>
      </p:sp>
      <p:sp>
        <p:nvSpPr>
          <p:cNvPr id="17" name="Text 14"/>
          <p:cNvSpPr/>
          <p:nvPr/>
        </p:nvSpPr>
        <p:spPr>
          <a:xfrm>
            <a:off x="9098280" y="4105656"/>
            <a:ext cx="2194560" cy="566928"/>
          </a:xfrm>
          <a:prstGeom prst="rect">
            <a:avLst/>
          </a:prstGeom>
          <a:noFill/>
          <a:ln/>
        </p:spPr>
        <p:txBody>
          <a:bodyPr wrap="square" lIns="0" tIns="0" rIns="0" bIns="0" rtlCol="0" anchor="ctr"/>
          <a:lstStyle/>
          <a:p>
            <a:pPr marL="0" indent="0">
              <a:lnSpc>
                <a:spcPts val="1250"/>
              </a:lnSpc>
              <a:buNone/>
            </a:pPr>
            <a:r>
              <a:rPr lang="en-US" sz="1000" i="1" dirty="0">
                <a:solidFill>
                  <a:srgbClr val="5B6B76"/>
                </a:solidFill>
                <a:latin typeface="Calibri" pitchFamily="34" charset="0"/>
                <a:ea typeface="Calibri" pitchFamily="34" charset="-122"/>
                <a:cs typeface="Calibri" pitchFamily="34" charset="-120"/>
              </a:rPr>
              <a:t>± 0.072 — moderate ordinal agreement</a:t>
            </a:r>
            <a:endParaRPr lang="en-US" sz="1000" dirty="0"/>
          </a:p>
        </p:txBody>
      </p:sp>
      <p:sp>
        <p:nvSpPr>
          <p:cNvPr id="18" name="Shape 15"/>
          <p:cNvSpPr/>
          <p:nvPr/>
        </p:nvSpPr>
        <p:spPr>
          <a:xfrm>
            <a:off x="6949440" y="4892040"/>
            <a:ext cx="4572000" cy="1051560"/>
          </a:xfrm>
          <a:prstGeom prst="roundRect">
            <a:avLst>
              <a:gd name="adj" fmla="val 8696"/>
            </a:avLst>
          </a:prstGeom>
          <a:solidFill>
            <a:srgbClr val="21295C"/>
          </a:solidFill>
          <a:ln/>
        </p:spPr>
      </p:sp>
      <p:sp>
        <p:nvSpPr>
          <p:cNvPr id="19" name="Text 16"/>
          <p:cNvSpPr/>
          <p:nvPr/>
        </p:nvSpPr>
        <p:spPr>
          <a:xfrm>
            <a:off x="7178040" y="5001768"/>
            <a:ext cx="4114800" cy="841248"/>
          </a:xfrm>
          <a:prstGeom prst="rect">
            <a:avLst/>
          </a:prstGeom>
          <a:noFill/>
          <a:ln/>
        </p:spPr>
        <p:txBody>
          <a:bodyPr wrap="square" lIns="0" tIns="0" rIns="0" bIns="0" rtlCol="0" anchor="ctr"/>
          <a:lstStyle/>
          <a:p>
            <a:pPr marL="0" indent="0">
              <a:lnSpc>
                <a:spcPts val="1300"/>
              </a:lnSpc>
              <a:buNone/>
            </a:pPr>
            <a:r>
              <a:rPr lang="en-US" sz="1900" b="1" dirty="0">
                <a:solidFill>
                  <a:srgbClr val="E8A33D"/>
                </a:solidFill>
                <a:latin typeface="Calibri" pitchFamily="34" charset="0"/>
                <a:ea typeface="Calibri" pitchFamily="34" charset="-122"/>
                <a:cs typeface="Calibri" pitchFamily="34" charset="-120"/>
              </a:rPr>
              <a:t>97.8%  </a:t>
            </a:r>
            <a:endParaRPr lang="en-US" sz="1900" dirty="0"/>
          </a:p>
          <a:p>
            <a:pPr marL="0" indent="0">
              <a:lnSpc>
                <a:spcPts val="1300"/>
              </a:lnSpc>
              <a:buNone/>
            </a:pPr>
            <a:r>
              <a:rPr lang="en-US" sz="1000" dirty="0">
                <a:solidFill>
                  <a:srgbClr val="C7D6E3"/>
                </a:solidFill>
                <a:latin typeface="Calibri" pitchFamily="34" charset="0"/>
                <a:ea typeface="Calibri" pitchFamily="34" charset="-122"/>
                <a:cs typeface="Calibri" pitchFamily="34" charset="-120"/>
              </a:rPr>
              <a:t>Original paper: 50 epochs, single simple split.  Ours: 55.2% via rigorous 5-fold CV, 20 epochs, from scratch.</a:t>
            </a:r>
            <a:endParaRPr lang="en-US" sz="1900" dirty="0"/>
          </a:p>
        </p:txBody>
      </p:sp>
      <p:sp>
        <p:nvSpPr>
          <p:cNvPr id="20" name="Text 17"/>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CURRENT PROGRESS</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Per-Fold Stability: Is the Model Consistent?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292608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114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Fold</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QWK</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11480">
                <a:tc>
                  <a:txBody>
                    <a:bodyPr/>
                    <a:lstStyle/>
                    <a:p>
                      <a:pPr marL="0" indent="0" algn="l">
                        <a:buNone/>
                      </a:pPr>
                      <a:r>
                        <a:rPr lang="en-US" sz="1300" b="1" dirty="0">
                          <a:solidFill>
                            <a:srgbClr val="2633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51.14%</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50.33%</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0.298</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2633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54.00%</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53.32%</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0.342</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300" b="1" dirty="0">
                          <a:solidFill>
                            <a:srgbClr val="2633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55.07%</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53.32%</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0.414</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b="1" dirty="0">
                          <a:solidFill>
                            <a:srgbClr val="2633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59.64%</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59.06%</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0.507</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lgn="l">
                        <a:buNone/>
                      </a:pPr>
                      <a:r>
                        <a:rPr lang="en-US" sz="1300" b="1" dirty="0">
                          <a:solidFill>
                            <a:srgbClr val="2633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56.13%</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54.97%</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0.428</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Avg ± Std</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1F5"/>
                    </a:solidFill>
                  </a:tcPr>
                </a:tc>
                <a:tc>
                  <a:txBody>
                    <a:bodyPr/>
                    <a:lstStyle/>
                    <a:p>
                      <a:pPr marL="0" indent="0" algn="ctr">
                        <a:buNone/>
                      </a:pPr>
                      <a:r>
                        <a:rPr lang="en-US" sz="1300" b="1" dirty="0">
                          <a:solidFill>
                            <a:srgbClr val="21295C"/>
                          </a:solidFill>
                          <a:latin typeface="Calibri" pitchFamily="34" charset="0"/>
                          <a:ea typeface="Calibri" pitchFamily="34" charset="-122"/>
                          <a:cs typeface="Calibri" pitchFamily="34" charset="-120"/>
                        </a:rPr>
                        <a:t>55.20% ± 2.77%</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1F5"/>
                    </a:solidFill>
                  </a:tcPr>
                </a:tc>
                <a:tc>
                  <a:txBody>
                    <a:bodyPr/>
                    <a:lstStyle/>
                    <a:p>
                      <a:pPr marL="0" indent="0" algn="ctr">
                        <a:buNone/>
                      </a:pPr>
                      <a:r>
                        <a:rPr lang="en-US" sz="1300" b="1" dirty="0">
                          <a:solidFill>
                            <a:srgbClr val="21295C"/>
                          </a:solidFill>
                          <a:latin typeface="Calibri" pitchFamily="34" charset="0"/>
                          <a:ea typeface="Calibri" pitchFamily="34" charset="-122"/>
                          <a:cs typeface="Calibri" pitchFamily="34" charset="-120"/>
                        </a:rPr>
                        <a:t>54.20% ± 2.85%</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1F5"/>
                    </a:solidFill>
                  </a:tcPr>
                </a:tc>
                <a:tc>
                  <a:txBody>
                    <a:bodyPr/>
                    <a:lstStyle/>
                    <a:p>
                      <a:pPr marL="0" indent="0" algn="ctr">
                        <a:buNone/>
                      </a:pPr>
                      <a:r>
                        <a:rPr lang="en-US" sz="1300" b="1" dirty="0">
                          <a:solidFill>
                            <a:srgbClr val="21295C"/>
                          </a:solidFill>
                          <a:latin typeface="Calibri" pitchFamily="34" charset="0"/>
                          <a:ea typeface="Calibri" pitchFamily="34" charset="-122"/>
                          <a:cs typeface="Calibri" pitchFamily="34" charset="-120"/>
                        </a:rPr>
                        <a:t>0.398 ± 0.072</a:t>
                      </a:r>
                      <a:endParaRPr lang="en-US" sz="13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EAF1F5"/>
                    </a:solidFill>
                  </a:tcPr>
                </a:tc>
                <a:extLst>
                  <a:ext uri="{0D108BD9-81ED-4DB2-BD59-A6C34878D82A}">
                    <a16:rowId xmlns:a16="http://schemas.microsoft.com/office/drawing/2014/main" val="10006"/>
                  </a:ext>
                </a:extLst>
              </a:tr>
            </a:tbl>
          </a:graphicData>
        </a:graphic>
      </p:graphicFrame>
      <p:sp>
        <p:nvSpPr>
          <p:cNvPr id="5" name="Text 2"/>
          <p:cNvSpPr/>
          <p:nvPr/>
        </p:nvSpPr>
        <p:spPr>
          <a:xfrm>
            <a:off x="7178040" y="1645920"/>
            <a:ext cx="4480560" cy="4572000"/>
          </a:xfrm>
          <a:prstGeom prst="rect">
            <a:avLst/>
          </a:prstGeom>
          <a:noFill/>
          <a:ln/>
        </p:spPr>
        <p:txBody>
          <a:bodyPr wrap="square" lIns="0" tIns="0" rIns="0" bIns="0" rtlCol="0" anchor="t"/>
          <a:lstStyle/>
          <a:p>
            <a:pPr marL="228600" indent="-228600">
              <a:spcAft>
                <a:spcPts val="1400"/>
              </a:spcAft>
              <a:buSzPct val="100000"/>
              <a:buChar char="•"/>
            </a:pPr>
            <a:r>
              <a:rPr lang="en-US" sz="1250" dirty="0">
                <a:solidFill>
                  <a:srgbClr val="26333D"/>
                </a:solidFill>
                <a:latin typeface="Calibri" pitchFamily="34" charset="0"/>
                <a:ea typeface="Calibri" pitchFamily="34" charset="-122"/>
                <a:cs typeface="Calibri" pitchFamily="34" charset="-120"/>
              </a:rPr>
              <a:t>Fold 3 is the clear high point (59.6% acc, QWK 0.51) — Fold 0 the weak point (51.1%, QWK 0.30); a 8.5-point accuracy spread across folds</a:t>
            </a:r>
            <a:endParaRPr lang="en-US" sz="1250" dirty="0"/>
          </a:p>
          <a:p>
            <a:pPr marL="228600" indent="-228600">
              <a:spcAft>
                <a:spcPts val="1400"/>
              </a:spcAft>
              <a:buSzPct val="100000"/>
              <a:buChar char="•"/>
            </a:pPr>
            <a:r>
              <a:rPr lang="en-US" sz="1250" dirty="0">
                <a:solidFill>
                  <a:srgbClr val="26333D"/>
                </a:solidFill>
                <a:latin typeface="Calibri" pitchFamily="34" charset="0"/>
                <a:ea typeface="Calibri" pitchFamily="34" charset="-122"/>
                <a:cs typeface="Calibri" pitchFamily="34" charset="-120"/>
              </a:rPr>
              <a:t>Standard deviation is moderate (±2.8% accuracy, ±0.07 QWK) — not alarming, but confirms results should be reported as fold averages, not a single number</a:t>
            </a:r>
            <a:endParaRPr lang="en-US" sz="1250" dirty="0"/>
          </a:p>
          <a:p>
            <a:pPr marL="228600" indent="-228600">
              <a:spcAft>
                <a:spcPts val="1400"/>
              </a:spcAft>
              <a:buSzPct val="100000"/>
              <a:buChar char="•"/>
            </a:pPr>
            <a:r>
              <a:rPr lang="en-US" sz="1250" dirty="0">
                <a:solidFill>
                  <a:srgbClr val="26333D"/>
                </a:solidFill>
                <a:latin typeface="Calibri" pitchFamily="34" charset="0"/>
                <a:ea typeface="Calibri" pitchFamily="34" charset="-122"/>
                <a:cs typeface="Calibri" pitchFamily="34" charset="-120"/>
              </a:rPr>
              <a:t>QWK rises together with accuracy each fold, suggesting the model is not just getting lucky on easy samples — it's genuinely improving ordinal ranking</a:t>
            </a:r>
            <a:endParaRPr lang="en-US" sz="1250" dirty="0"/>
          </a:p>
          <a:p>
            <a:pPr marL="228600" indent="-228600">
              <a:spcAft>
                <a:spcPts val="1400"/>
              </a:spcAft>
              <a:buSzPct val="100000"/>
              <a:buChar char="•"/>
            </a:pPr>
            <a:r>
              <a:rPr lang="en-US" sz="1250" dirty="0">
                <a:solidFill>
                  <a:srgbClr val="26333D"/>
                </a:solidFill>
                <a:latin typeface="Calibri" pitchFamily="34" charset="0"/>
                <a:ea typeface="Calibri" pitchFamily="34" charset="-122"/>
                <a:cs typeface="Calibri" pitchFamily="34" charset="-120"/>
              </a:rPr>
              <a:t>No fold collapses toward chance (33%) or shows a QWK near 0, so training is stable across all 5 splits</a:t>
            </a:r>
            <a:endParaRPr lang="en-US" sz="1250" dirty="0"/>
          </a:p>
        </p:txBody>
      </p:sp>
      <p:sp>
        <p:nvSpPr>
          <p:cNvPr id="6" name="Text 3"/>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CURRENT PROGRESS</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Where Is the Model Going Wrong?</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126480" cy="2377440"/>
        </p:xfrm>
        <a:graphic>
          <a:graphicData uri="http://schemas.openxmlformats.org/drawingml/2006/table">
            <a:tbl>
              <a:tblPr/>
              <a:tblGrid>
                <a:gridCol w="1737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marL="0" indent="0" algn="l">
                        <a:buNone/>
                      </a:pP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 Low</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 Mid</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 High</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6400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Actual: Low</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1,382</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273</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DD3DE"/>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385</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AC7D5"/>
                    </a:solidFill>
                  </a:tcPr>
                </a:tc>
                <a:extLst>
                  <a:ext uri="{0D108BD9-81ED-4DB2-BD59-A6C34878D82A}">
                    <a16:rowId xmlns:a16="http://schemas.microsoft.com/office/drawing/2014/main" val="10001"/>
                  </a:ext>
                </a:extLst>
              </a:tr>
              <a:tr h="6400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Actual: Mid</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300" dirty="0">
                          <a:solidFill>
                            <a:srgbClr val="FFFFFF"/>
                          </a:solidFill>
                          <a:latin typeface="Calibri" pitchFamily="34" charset="0"/>
                          <a:ea typeface="Calibri" pitchFamily="34" charset="-122"/>
                          <a:cs typeface="Calibri" pitchFamily="34" charset="-120"/>
                        </a:rPr>
                        <a:t>804</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6599B2"/>
                    </a:solidFill>
                  </a:tcPr>
                </a:tc>
                <a:tc>
                  <a:txBody>
                    <a:bodyPr/>
                    <a:lstStyle/>
                    <a:p>
                      <a:pPr marL="0" indent="0" algn="ctr">
                        <a:buNone/>
                      </a:pPr>
                      <a:r>
                        <a:rPr lang="en-US" sz="1300" b="1" dirty="0">
                          <a:solidFill>
                            <a:srgbClr val="26333D"/>
                          </a:solidFill>
                          <a:latin typeface="Calibri" pitchFamily="34" charset="0"/>
                          <a:ea typeface="Calibri" pitchFamily="34" charset="-122"/>
                          <a:cs typeface="Calibri" pitchFamily="34" charset="-120"/>
                        </a:rPr>
                        <a:t>728</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2A1B8"/>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508</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6B9CB"/>
                    </a:solidFill>
                  </a:tcPr>
                </a:tc>
                <a:extLst>
                  <a:ext uri="{0D108BD9-81ED-4DB2-BD59-A6C34878D82A}">
                    <a16:rowId xmlns:a16="http://schemas.microsoft.com/office/drawing/2014/main" val="10002"/>
                  </a:ext>
                </a:extLst>
              </a:tr>
              <a:tr h="6400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Actual: High</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494</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9BBCC"/>
                    </a:solidFill>
                  </a:tcPr>
                </a:tc>
                <a:tc>
                  <a:txBody>
                    <a:bodyPr/>
                    <a:lstStyle/>
                    <a:p>
                      <a:pPr marL="0" indent="0" algn="ctr">
                        <a:buNone/>
                      </a:pPr>
                      <a:r>
                        <a:rPr lang="en-US" sz="1300" dirty="0">
                          <a:solidFill>
                            <a:srgbClr val="26333D"/>
                          </a:solidFill>
                          <a:latin typeface="Calibri" pitchFamily="34" charset="0"/>
                          <a:ea typeface="Calibri" pitchFamily="34" charset="-122"/>
                          <a:cs typeface="Calibri" pitchFamily="34" charset="-120"/>
                        </a:rPr>
                        <a:t>278</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CD3D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1,268</a:t>
                      </a:r>
                      <a:endParaRPr lang="en-US" sz="1300" dirty="0">
                        <a:latin typeface="Calibri" charset="0"/>
                        <a:ea typeface="Calibri" charset="0"/>
                        <a:cs typeface="Calibri" charset="0"/>
                      </a:endParaRPr>
                    </a:p>
                  </a:txBody>
                  <a:tcPr marL="101600" marR="1016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9668B"/>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4251960"/>
            <a:ext cx="6126480" cy="365760"/>
          </a:xfrm>
          <a:prstGeom prst="rect">
            <a:avLst/>
          </a:prstGeom>
          <a:noFill/>
          <a:ln/>
        </p:spPr>
        <p:txBody>
          <a:bodyPr wrap="square" lIns="0" tIns="0" rIns="0" bIns="0" rtlCol="0" anchor="ctr"/>
          <a:lstStyle/>
          <a:p>
            <a:pPr marL="0" indent="0">
              <a:buNone/>
            </a:pPr>
            <a:r>
              <a:rPr lang="en-US" sz="1050" i="1" dirty="0">
                <a:solidFill>
                  <a:srgbClr val="5B6B76"/>
                </a:solidFill>
                <a:latin typeface="Calibri" pitchFamily="34" charset="0"/>
                <a:ea typeface="Calibri" pitchFamily="34" charset="-122"/>
                <a:cs typeface="Calibri" pitchFamily="34" charset="-120"/>
              </a:rPr>
              <a:t>Summed across all 5 validation folds · n = 6,120 predictions · 2,040 actual samples per class</a:t>
            </a:r>
            <a:endParaRPr lang="en-US" sz="1050" dirty="0"/>
          </a:p>
        </p:txBody>
      </p:sp>
      <p:sp>
        <p:nvSpPr>
          <p:cNvPr id="6" name="Text 3"/>
          <p:cNvSpPr/>
          <p:nvPr/>
        </p:nvSpPr>
        <p:spPr>
          <a:xfrm>
            <a:off x="6949440" y="1691640"/>
            <a:ext cx="4709160" cy="4480560"/>
          </a:xfrm>
          <a:prstGeom prst="rect">
            <a:avLst/>
          </a:prstGeom>
          <a:noFill/>
          <a:ln/>
        </p:spPr>
        <p:txBody>
          <a:bodyPr wrap="square" lIns="0" tIns="0" rIns="0" bIns="0" rtlCol="0" anchor="t"/>
          <a:lstStyle/>
          <a:p>
            <a:pPr marL="228600" indent="-228600">
              <a:spcAft>
                <a:spcPts val="1300"/>
              </a:spcAft>
              <a:buSzPct val="100000"/>
              <a:buChar char="•"/>
            </a:pPr>
            <a:r>
              <a:rPr lang="en-US" sz="1250" dirty="0">
                <a:solidFill>
                  <a:srgbClr val="26333D"/>
                </a:solidFill>
                <a:latin typeface="Calibri" pitchFamily="34" charset="0"/>
                <a:ea typeface="Calibri" pitchFamily="34" charset="-122"/>
                <a:cs typeface="Calibri" pitchFamily="34" charset="-120"/>
              </a:rPr>
              <a:t>Mid is the hardest class to recognize — only 35.7% recall (728 / 2,040), confused almost equally with Low (804) and High (508)</a:t>
            </a:r>
            <a:endParaRPr lang="en-US" sz="1250" dirty="0"/>
          </a:p>
          <a:p>
            <a:pPr marL="228600" indent="-228600">
              <a:spcAft>
                <a:spcPts val="1300"/>
              </a:spcAft>
              <a:buSzPct val="100000"/>
              <a:buChar char="•"/>
            </a:pPr>
            <a:r>
              <a:rPr lang="en-US" sz="1250" dirty="0">
                <a:solidFill>
                  <a:srgbClr val="26333D"/>
                </a:solidFill>
                <a:latin typeface="Calibri" pitchFamily="34" charset="0"/>
                <a:ea typeface="Calibri" pitchFamily="34" charset="-122"/>
                <a:cs typeface="Calibri" pitchFamily="34" charset="-120"/>
              </a:rPr>
              <a:t>Low and High are recognized far more reliably — 67.7% and 62.2% recall respectively</a:t>
            </a:r>
            <a:endParaRPr lang="en-US" sz="1250" dirty="0"/>
          </a:p>
          <a:p>
            <a:pPr marL="228600" indent="-228600">
              <a:spcAft>
                <a:spcPts val="1300"/>
              </a:spcAft>
              <a:buSzPct val="100000"/>
              <a:buChar char="•"/>
            </a:pPr>
            <a:r>
              <a:rPr lang="en-US" sz="1250" dirty="0">
                <a:solidFill>
                  <a:srgbClr val="26333D"/>
                </a:solidFill>
                <a:latin typeface="Calibri" pitchFamily="34" charset="0"/>
                <a:ea typeface="Calibri" pitchFamily="34" charset="-122"/>
                <a:cs typeface="Calibri" pitchFamily="34" charset="-120"/>
              </a:rPr>
              <a:t>Extreme-class confusion (Low↔High) is non-trivial: 385 Low clips predicted High, 494 High clips predicted Low — 14.4% of all predictions, not just adjacent-class noise</a:t>
            </a:r>
            <a:endParaRPr lang="en-US" sz="1250" dirty="0"/>
          </a:p>
          <a:p>
            <a:pPr marL="228600" indent="-228600">
              <a:spcAft>
                <a:spcPts val="1300"/>
              </a:spcAft>
              <a:buSzPct val="100000"/>
              <a:buChar char="•"/>
            </a:pPr>
            <a:r>
              <a:rPr lang="en-US" sz="1250" dirty="0">
                <a:solidFill>
                  <a:srgbClr val="26333D"/>
                </a:solidFill>
                <a:latin typeface="Calibri" pitchFamily="34" charset="0"/>
                <a:ea typeface="Calibri" pitchFamily="34" charset="-122"/>
                <a:cs typeface="Calibri" pitchFamily="34" charset="-120"/>
              </a:rPr>
              <a:t>Overall accuracy (55.2%) is being pulled down mainly by the Mid class — improving Mid-class features is the clearest next lever</a:t>
            </a:r>
            <a:endParaRPr lang="en-US" sz="1250" dirty="0"/>
          </a:p>
        </p:txBody>
      </p:sp>
      <p:sp>
        <p:nvSpPr>
          <p:cNvPr id="7" name="Text 4"/>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Label Normalization: Aligning 3 vs. 4 Classes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315200" cy="1737360"/>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Unified Label</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OUC-CGE Maps From</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COLER Maps From</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29768">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Very Engaged + Engaged</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Mid</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Mid</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Normal</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Low</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tc>
                  <a:txBody>
                    <a:bodyPr/>
                    <a:lstStyle/>
                    <a:p>
                      <a:pPr marL="0" indent="0">
                        <a:buNone/>
                      </a:pPr>
                      <a:r>
                        <a:rPr lang="en-US" sz="1350" dirty="0">
                          <a:solidFill>
                            <a:srgbClr val="26333D"/>
                          </a:solidFill>
                          <a:latin typeface="Calibri" pitchFamily="34" charset="0"/>
                          <a:ea typeface="Calibri" pitchFamily="34" charset="-122"/>
                          <a:cs typeface="Calibri" pitchFamily="34" charset="-120"/>
                        </a:rPr>
                        <a:t>Disengaged</a:t>
                      </a:r>
                      <a:endParaRPr lang="en-US" sz="1350" dirty="0">
                        <a:latin typeface="Calibri" charset="0"/>
                        <a:ea typeface="Calibri" charset="0"/>
                        <a:cs typeface="Calibri" charset="0"/>
                      </a:endParaRPr>
                    </a:p>
                  </a:txBody>
                  <a:tcPr marL="76200" marR="76200" marT="76200" marB="762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48640" y="3520440"/>
            <a:ext cx="7315200" cy="777240"/>
          </a:xfrm>
          <a:prstGeom prst="rect">
            <a:avLst/>
          </a:prstGeom>
          <a:noFill/>
          <a:ln/>
        </p:spPr>
        <p:txBody>
          <a:bodyPr wrap="square" lIns="0" tIns="0" rIns="0" bIns="0" rtlCol="0" anchor="ctr"/>
          <a:lstStyle/>
          <a:p>
            <a:pPr marL="0" indent="0">
              <a:lnSpc>
                <a:spcPts val="1600"/>
              </a:lnSpc>
              <a:buNone/>
            </a:pPr>
            <a:r>
              <a:rPr lang="en-US" sz="1250" i="1" dirty="0">
                <a:solidFill>
                  <a:srgbClr val="5B6B76"/>
                </a:solidFill>
                <a:latin typeface="Calibri" pitchFamily="34" charset="0"/>
                <a:ea typeface="Calibri" pitchFamily="34" charset="-122"/>
                <a:cs typeface="Calibri" pitchFamily="34" charset="-120"/>
              </a:rPr>
              <a:t>Why 3 classes, not 4? Merging “Very Engaged” + “Engaged” preserves an ordinal High/Mid/Low scale standard in the engagement-recognition literature, and both sub-classes reflect active, positive participation.</a:t>
            </a:r>
            <a:endParaRPr lang="en-US" sz="1250" dirty="0"/>
          </a:p>
        </p:txBody>
      </p:sp>
      <p:sp>
        <p:nvSpPr>
          <p:cNvPr id="6" name="Shape 3"/>
          <p:cNvSpPr/>
          <p:nvPr/>
        </p:nvSpPr>
        <p:spPr>
          <a:xfrm>
            <a:off x="8183880" y="1554480"/>
            <a:ext cx="3429000" cy="2743200"/>
          </a:xfrm>
          <a:prstGeom prst="roundRect">
            <a:avLst>
              <a:gd name="adj" fmla="val 3333"/>
            </a:avLst>
          </a:prstGeom>
          <a:solidFill>
            <a:srgbClr val="EAF1F5"/>
          </a:solidFill>
          <a:ln/>
        </p:spPr>
      </p:sp>
      <p:sp>
        <p:nvSpPr>
          <p:cNvPr id="7" name="Text 4"/>
          <p:cNvSpPr/>
          <p:nvPr/>
        </p:nvSpPr>
        <p:spPr>
          <a:xfrm>
            <a:off x="8412480" y="1691640"/>
            <a:ext cx="3017520" cy="274320"/>
          </a:xfrm>
          <a:prstGeom prst="rect">
            <a:avLst/>
          </a:prstGeom>
          <a:noFill/>
          <a:ln/>
        </p:spPr>
        <p:txBody>
          <a:bodyPr wrap="square" lIns="0" tIns="0" rIns="0" bIns="0"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ALTERNATIVE: BINARY</a:t>
            </a:r>
            <a:endParaRPr lang="en-US" sz="1100" dirty="0"/>
          </a:p>
        </p:txBody>
      </p:sp>
      <p:sp>
        <p:nvSpPr>
          <p:cNvPr id="8" name="Text 5"/>
          <p:cNvSpPr/>
          <p:nvPr/>
        </p:nvSpPr>
        <p:spPr>
          <a:xfrm>
            <a:off x="8412480" y="2057400"/>
            <a:ext cx="3017520" cy="1463040"/>
          </a:xfrm>
          <a:prstGeom prst="rect">
            <a:avLst/>
          </a:prstGeom>
          <a:noFill/>
          <a:ln/>
        </p:spPr>
        <p:txBody>
          <a:bodyPr wrap="square" lIns="0" tIns="0" rIns="0" bIns="0" rtlCol="0" anchor="ctr"/>
          <a:lstStyle/>
          <a:p>
            <a:pPr marL="0" indent="0">
              <a:lnSpc>
                <a:spcPts val="1600"/>
              </a:lnSpc>
              <a:buNone/>
            </a:pPr>
            <a:r>
              <a:rPr lang="en-US" sz="1300" b="1" dirty="0">
                <a:solidFill>
                  <a:srgbClr val="065A82"/>
                </a:solidFill>
                <a:latin typeface="Calibri" pitchFamily="34" charset="0"/>
                <a:ea typeface="Calibri" pitchFamily="34" charset="-122"/>
                <a:cs typeface="Calibri" pitchFamily="34" charset="-120"/>
              </a:rPr>
              <a:t>Engaged</a:t>
            </a:r>
            <a:endParaRPr lang="en-US" sz="1300" dirty="0"/>
          </a:p>
          <a:p>
            <a:pPr marL="0" indent="0">
              <a:lnSpc>
                <a:spcPts val="1600"/>
              </a:lnSpc>
              <a:buNone/>
            </a:pPr>
            <a:r>
              <a:rPr lang="en-US" sz="1150" dirty="0">
                <a:solidFill>
                  <a:srgbClr val="26333D"/>
                </a:solidFill>
                <a:latin typeface="Calibri" pitchFamily="34" charset="0"/>
                <a:ea typeface="Calibri" pitchFamily="34" charset="-122"/>
                <a:cs typeface="Calibri" pitchFamily="34" charset="-120"/>
              </a:rPr>
              <a:t>← High  |  Very Engaged + Engaged</a:t>
            </a:r>
            <a:endParaRPr lang="en-US" sz="1300" dirty="0"/>
          </a:p>
          <a:p>
            <a:pPr marL="0" indent="0">
              <a:lnSpc>
                <a:spcPts val="1600"/>
              </a:lnSpc>
              <a:buNone/>
            </a:pPr>
            <a:r>
              <a:rPr lang="en-US" sz="600" dirty="0">
                <a:solidFill>
                  <a:srgbClr val="26333D"/>
                </a:solidFill>
                <a:latin typeface="Calibri" pitchFamily="34" charset="0"/>
                <a:ea typeface="Calibri" pitchFamily="34" charset="-122"/>
                <a:cs typeface="Calibri" pitchFamily="34" charset="-120"/>
              </a:rPr>
              <a:t> </a:t>
            </a:r>
            <a:endParaRPr lang="en-US" sz="1300" dirty="0"/>
          </a:p>
          <a:p>
            <a:pPr marL="0" indent="0">
              <a:lnSpc>
                <a:spcPts val="1600"/>
              </a:lnSpc>
              <a:buNone/>
            </a:pPr>
            <a:r>
              <a:rPr lang="en-US" sz="1300" b="1" dirty="0">
                <a:solidFill>
                  <a:srgbClr val="065A82"/>
                </a:solidFill>
                <a:latin typeface="Calibri" pitchFamily="34" charset="0"/>
                <a:ea typeface="Calibri" pitchFamily="34" charset="-122"/>
                <a:cs typeface="Calibri" pitchFamily="34" charset="-120"/>
              </a:rPr>
              <a:t>Not Engaged</a:t>
            </a:r>
            <a:endParaRPr lang="en-US" sz="1300" dirty="0"/>
          </a:p>
          <a:p>
            <a:pPr marL="0" indent="0">
              <a:lnSpc>
                <a:spcPts val="1600"/>
              </a:lnSpc>
              <a:buNone/>
            </a:pPr>
            <a:r>
              <a:rPr lang="en-US" sz="1150" dirty="0">
                <a:solidFill>
                  <a:srgbClr val="26333D"/>
                </a:solidFill>
                <a:latin typeface="Calibri" pitchFamily="34" charset="0"/>
                <a:ea typeface="Calibri" pitchFamily="34" charset="-122"/>
                <a:cs typeface="Calibri" pitchFamily="34" charset="-120"/>
              </a:rPr>
              <a:t>← Mid + Low  |  Normal + Disengaged</a:t>
            </a:r>
            <a:endParaRPr lang="en-US" sz="1300" dirty="0"/>
          </a:p>
        </p:txBody>
      </p:sp>
      <p:sp>
        <p:nvSpPr>
          <p:cNvPr id="9" name="Text 6"/>
          <p:cNvSpPr/>
          <p:nvPr/>
        </p:nvSpPr>
        <p:spPr>
          <a:xfrm>
            <a:off x="8412480" y="3657600"/>
            <a:ext cx="3017520" cy="548640"/>
          </a:xfrm>
          <a:prstGeom prst="rect">
            <a:avLst/>
          </a:prstGeom>
          <a:noFill/>
          <a:ln/>
        </p:spPr>
        <p:txBody>
          <a:bodyPr wrap="square" lIns="0" tIns="0" rIns="0" bIns="0" rtlCol="0" anchor="ctr"/>
          <a:lstStyle/>
          <a:p>
            <a:pPr marL="0" indent="0">
              <a:buNone/>
            </a:pPr>
            <a:r>
              <a:rPr lang="en-US" sz="1050" i="1" dirty="0">
                <a:solidFill>
                  <a:srgbClr val="5B6B76"/>
                </a:solidFill>
                <a:latin typeface="Calibri" pitchFamily="34" charset="0"/>
                <a:ea typeface="Calibri" pitchFamily="34" charset="-122"/>
                <a:cs typeface="Calibri" pitchFamily="34" charset="-120"/>
              </a:rPr>
              <a:t>Simpler, more robust baseline if 3-class transfer proves noisy.</a:t>
            </a:r>
            <a:endParaRPr lang="en-US" sz="1050" dirty="0"/>
          </a:p>
        </p:txBody>
      </p:sp>
      <p:sp>
        <p:nvSpPr>
          <p:cNvPr id="4" name="Text 7"/>
          <p:cNvSpPr/>
          <p:nvPr/>
        </p:nvSpPr>
        <p:spPr>
          <a:xfrm>
            <a:off x="548640" y="4572000"/>
            <a:ext cx="11064240" cy="45720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Both mappings will be reported: 3-class as the primary result, binary as a robustness check.</a:t>
            </a:r>
            <a:endParaRPr lang="en-US" sz="1300" dirty="0"/>
          </a:p>
        </p:txBody>
      </p:sp>
      <p:sp>
        <p:nvSpPr>
          <p:cNvPr id="11" name="Text 8"/>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 DESIGN</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Three Cross-Dataset Experiments</a:t>
            </a:r>
            <a:endParaRPr lang="en-US" sz="3000" dirty="0"/>
          </a:p>
        </p:txBody>
      </p:sp>
      <p:sp>
        <p:nvSpPr>
          <p:cNvPr id="4" name="Shape 2"/>
          <p:cNvSpPr/>
          <p:nvPr/>
        </p:nvSpPr>
        <p:spPr>
          <a:xfrm>
            <a:off x="548640" y="1600200"/>
            <a:ext cx="3611880" cy="4206240"/>
          </a:xfrm>
          <a:prstGeom prst="roundRect">
            <a:avLst>
              <a:gd name="adj" fmla="val 2532"/>
            </a:avLst>
          </a:prstGeom>
          <a:solidFill>
            <a:srgbClr val="F4F7F9"/>
          </a:solidFill>
          <a:ln w="15875">
            <a:solidFill>
              <a:srgbClr val="065A82"/>
            </a:solidFill>
            <a:prstDash val="solid"/>
          </a:ln>
        </p:spPr>
      </p:sp>
      <p:sp>
        <p:nvSpPr>
          <p:cNvPr id="5" name="Shape 3"/>
          <p:cNvSpPr/>
          <p:nvPr/>
        </p:nvSpPr>
        <p:spPr>
          <a:xfrm>
            <a:off x="822960" y="1874520"/>
            <a:ext cx="502920" cy="502920"/>
          </a:xfrm>
          <a:prstGeom prst="ellipse">
            <a:avLst/>
          </a:prstGeom>
          <a:solidFill>
            <a:srgbClr val="065A82"/>
          </a:solidFill>
          <a:ln/>
        </p:spPr>
      </p:sp>
      <p:sp>
        <p:nvSpPr>
          <p:cNvPr id="6" name="Text 4"/>
          <p:cNvSpPr/>
          <p:nvPr/>
        </p:nvSpPr>
        <p:spPr>
          <a:xfrm>
            <a:off x="822960"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7" name="Text 5"/>
          <p:cNvSpPr/>
          <p:nvPr/>
        </p:nvSpPr>
        <p:spPr>
          <a:xfrm>
            <a:off x="822960" y="2514600"/>
            <a:ext cx="3063240" cy="256032"/>
          </a:xfrm>
          <a:prstGeom prst="rect">
            <a:avLst/>
          </a:prstGeom>
          <a:noFill/>
          <a:ln/>
        </p:spPr>
        <p:txBody>
          <a:bodyPr wrap="square" lIns="0" tIns="0" rIns="0" bIns="0" rtlCol="0" anchor="ctr"/>
          <a:lstStyle/>
          <a:p>
            <a:pPr marL="0" indent="0">
              <a:buNone/>
            </a:pPr>
            <a:r>
              <a:rPr lang="en-US" sz="1050" b="1" kern="0" spc="150" dirty="0">
                <a:solidFill>
                  <a:srgbClr val="065A82"/>
                </a:solidFill>
                <a:latin typeface="Calibri" pitchFamily="34" charset="0"/>
                <a:ea typeface="Calibri" pitchFamily="34" charset="-122"/>
                <a:cs typeface="Calibri" pitchFamily="34" charset="-120"/>
              </a:rPr>
              <a:t>EXPERIMENT A</a:t>
            </a:r>
            <a:endParaRPr lang="en-US" sz="1050" dirty="0"/>
          </a:p>
        </p:txBody>
      </p:sp>
      <p:sp>
        <p:nvSpPr>
          <p:cNvPr id="8" name="Text 6"/>
          <p:cNvSpPr/>
          <p:nvPr/>
        </p:nvSpPr>
        <p:spPr>
          <a:xfrm>
            <a:off x="822960" y="2770632"/>
            <a:ext cx="3063240" cy="457200"/>
          </a:xfrm>
          <a:prstGeom prst="rect">
            <a:avLst/>
          </a:prstGeom>
          <a:noFill/>
          <a:ln/>
        </p:spPr>
        <p:txBody>
          <a:bodyPr wrap="square" lIns="0" tIns="0" rIns="0" bIns="0" rtlCol="0" anchor="ctr"/>
          <a:lstStyle/>
          <a:p>
            <a:pPr marL="0" indent="0">
              <a:buNone/>
            </a:pPr>
            <a:r>
              <a:rPr lang="en-US" sz="1650" b="1" dirty="0">
                <a:solidFill>
                  <a:srgbClr val="21295C"/>
                </a:solidFill>
                <a:latin typeface="Cambria" pitchFamily="34" charset="0"/>
                <a:ea typeface="Cambria" pitchFamily="34" charset="-122"/>
                <a:cs typeface="Cambria" pitchFamily="34" charset="-120"/>
              </a:rPr>
              <a:t>Frame-Level Transfer</a:t>
            </a:r>
            <a:endParaRPr lang="en-US" sz="1650" dirty="0"/>
          </a:p>
        </p:txBody>
      </p:sp>
      <p:sp>
        <p:nvSpPr>
          <p:cNvPr id="9" name="Text 7"/>
          <p:cNvSpPr/>
          <p:nvPr/>
        </p:nvSpPr>
        <p:spPr>
          <a:xfrm>
            <a:off x="822960" y="3291840"/>
            <a:ext cx="3063240" cy="1737360"/>
          </a:xfrm>
          <a:prstGeom prst="rect">
            <a:avLst/>
          </a:prstGeom>
          <a:noFill/>
          <a:ln/>
        </p:spPr>
        <p:txBody>
          <a:bodyPr wrap="square" lIns="0" tIns="0" rIns="0" bIns="0" rtlCol="0" anchor="ctr"/>
          <a:lstStyle/>
          <a:p>
            <a:pPr marL="0" indent="0">
              <a:lnSpc>
                <a:spcPts val="1600"/>
              </a:lnSpc>
              <a:buNone/>
            </a:pPr>
            <a:r>
              <a:rPr lang="en-US" sz="1200" dirty="0">
                <a:solidFill>
                  <a:srgbClr val="26333D"/>
                </a:solidFill>
                <a:latin typeface="Calibri" pitchFamily="34" charset="0"/>
                <a:ea typeface="Calibri" pitchFamily="34" charset="-122"/>
                <a:cs typeface="Calibri" pitchFamily="34" charset="-120"/>
              </a:rPr>
              <a:t>Extract frames from OUC-CGE clips; use COLER frames directly. Train a 2D ResNet-50 image classifier on one dataset, test on the other.</a:t>
            </a:r>
            <a:endParaRPr lang="en-US" sz="1200" dirty="0"/>
          </a:p>
        </p:txBody>
      </p:sp>
      <p:sp>
        <p:nvSpPr>
          <p:cNvPr id="10" name="Shape 8"/>
          <p:cNvSpPr/>
          <p:nvPr/>
        </p:nvSpPr>
        <p:spPr>
          <a:xfrm>
            <a:off x="822960" y="5120640"/>
            <a:ext cx="3063240" cy="0"/>
          </a:xfrm>
          <a:prstGeom prst="line">
            <a:avLst/>
          </a:prstGeom>
          <a:noFill/>
          <a:ln w="12700">
            <a:solidFill>
              <a:srgbClr val="D5DEE3"/>
            </a:solidFill>
            <a:prstDash val="solid"/>
          </a:ln>
        </p:spPr>
      </p:sp>
      <p:sp>
        <p:nvSpPr>
          <p:cNvPr id="11" name="Text 9"/>
          <p:cNvSpPr/>
          <p:nvPr/>
        </p:nvSpPr>
        <p:spPr>
          <a:xfrm>
            <a:off x="822960" y="5239512"/>
            <a:ext cx="3063240" cy="502920"/>
          </a:xfrm>
          <a:prstGeom prst="rect">
            <a:avLst/>
          </a:prstGeom>
          <a:noFill/>
          <a:ln/>
        </p:spPr>
        <p:txBody>
          <a:bodyPr wrap="square" lIns="0" tIns="0" rIns="0" bIns="0" rtlCol="0" anchor="ctr"/>
          <a:lstStyle/>
          <a:p>
            <a:pPr marL="0" indent="0">
              <a:buNone/>
            </a:pPr>
            <a:r>
              <a:rPr lang="en-US" sz="1100" i="1" dirty="0">
                <a:solidFill>
                  <a:srgbClr val="5B6B76"/>
                </a:solidFill>
                <a:latin typeface="Calibri" pitchFamily="34" charset="0"/>
                <a:ea typeface="Calibri" pitchFamily="34" charset="-122"/>
                <a:cs typeface="Calibri" pitchFamily="34" charset="-120"/>
              </a:rPr>
              <a:t>Fastest to implement — recommended first</a:t>
            </a:r>
            <a:endParaRPr lang="en-US" sz="1100" dirty="0"/>
          </a:p>
        </p:txBody>
      </p:sp>
      <p:sp>
        <p:nvSpPr>
          <p:cNvPr id="12" name="Shape 10"/>
          <p:cNvSpPr/>
          <p:nvPr/>
        </p:nvSpPr>
        <p:spPr>
          <a:xfrm>
            <a:off x="4361688" y="1600200"/>
            <a:ext cx="3611880" cy="4206240"/>
          </a:xfrm>
          <a:prstGeom prst="roundRect">
            <a:avLst>
              <a:gd name="adj" fmla="val 2532"/>
            </a:avLst>
          </a:prstGeom>
          <a:solidFill>
            <a:srgbClr val="F4F7F9"/>
          </a:solidFill>
          <a:ln w="15875">
            <a:solidFill>
              <a:srgbClr val="1C7293"/>
            </a:solidFill>
            <a:prstDash val="solid"/>
          </a:ln>
        </p:spPr>
      </p:sp>
      <p:sp>
        <p:nvSpPr>
          <p:cNvPr id="13" name="Shape 11"/>
          <p:cNvSpPr/>
          <p:nvPr/>
        </p:nvSpPr>
        <p:spPr>
          <a:xfrm>
            <a:off x="4636008" y="1874520"/>
            <a:ext cx="502920" cy="502920"/>
          </a:xfrm>
          <a:prstGeom prst="ellipse">
            <a:avLst/>
          </a:prstGeom>
          <a:solidFill>
            <a:srgbClr val="1C7293"/>
          </a:solidFill>
          <a:ln/>
        </p:spPr>
      </p:sp>
      <p:sp>
        <p:nvSpPr>
          <p:cNvPr id="14" name="Text 12"/>
          <p:cNvSpPr/>
          <p:nvPr/>
        </p:nvSpPr>
        <p:spPr>
          <a:xfrm>
            <a:off x="4636008"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15" name="Text 13"/>
          <p:cNvSpPr/>
          <p:nvPr/>
        </p:nvSpPr>
        <p:spPr>
          <a:xfrm>
            <a:off x="4636008" y="2514600"/>
            <a:ext cx="3063240" cy="256032"/>
          </a:xfrm>
          <a:prstGeom prst="rect">
            <a:avLst/>
          </a:prstGeom>
          <a:noFill/>
          <a:ln/>
        </p:spPr>
        <p:txBody>
          <a:bodyPr wrap="square" lIns="0" tIns="0" rIns="0" bIns="0" rtlCol="0" anchor="ctr"/>
          <a:lstStyle/>
          <a:p>
            <a:pPr marL="0" indent="0">
              <a:buNone/>
            </a:pPr>
            <a:r>
              <a:rPr lang="en-US" sz="1050" b="1" kern="0" spc="150" dirty="0">
                <a:solidFill>
                  <a:srgbClr val="1C7293"/>
                </a:solidFill>
                <a:latin typeface="Calibri" pitchFamily="34" charset="0"/>
                <a:ea typeface="Calibri" pitchFamily="34" charset="-122"/>
                <a:cs typeface="Calibri" pitchFamily="34" charset="-120"/>
              </a:rPr>
              <a:t>EXPERIMENT B</a:t>
            </a:r>
            <a:endParaRPr lang="en-US" sz="1050" dirty="0"/>
          </a:p>
        </p:txBody>
      </p:sp>
      <p:sp>
        <p:nvSpPr>
          <p:cNvPr id="16" name="Text 14"/>
          <p:cNvSpPr/>
          <p:nvPr/>
        </p:nvSpPr>
        <p:spPr>
          <a:xfrm>
            <a:off x="4636008" y="2770632"/>
            <a:ext cx="3063240" cy="457200"/>
          </a:xfrm>
          <a:prstGeom prst="rect">
            <a:avLst/>
          </a:prstGeom>
          <a:noFill/>
          <a:ln/>
        </p:spPr>
        <p:txBody>
          <a:bodyPr wrap="square" lIns="0" tIns="0" rIns="0" bIns="0" rtlCol="0" anchor="ctr"/>
          <a:lstStyle/>
          <a:p>
            <a:pPr marL="0" indent="0">
              <a:buNone/>
            </a:pPr>
            <a:r>
              <a:rPr lang="en-US" sz="1650" b="1" dirty="0">
                <a:solidFill>
                  <a:srgbClr val="21295C"/>
                </a:solidFill>
                <a:latin typeface="Cambria" pitchFamily="34" charset="0"/>
                <a:ea typeface="Cambria" pitchFamily="34" charset="-122"/>
                <a:cs typeface="Cambria" pitchFamily="34" charset="-120"/>
              </a:rPr>
              <a:t>Video-Level Transfer</a:t>
            </a:r>
            <a:endParaRPr lang="en-US" sz="1650" dirty="0"/>
          </a:p>
        </p:txBody>
      </p:sp>
      <p:sp>
        <p:nvSpPr>
          <p:cNvPr id="17" name="Text 15"/>
          <p:cNvSpPr/>
          <p:nvPr/>
        </p:nvSpPr>
        <p:spPr>
          <a:xfrm>
            <a:off x="4636008" y="3291840"/>
            <a:ext cx="3063240" cy="1737360"/>
          </a:xfrm>
          <a:prstGeom prst="rect">
            <a:avLst/>
          </a:prstGeom>
          <a:noFill/>
          <a:ln/>
        </p:spPr>
        <p:txBody>
          <a:bodyPr wrap="square" lIns="0" tIns="0" rIns="0" bIns="0" rtlCol="0" anchor="ctr"/>
          <a:lstStyle/>
          <a:p>
            <a:pPr marL="0" indent="0">
              <a:lnSpc>
                <a:spcPts val="1600"/>
              </a:lnSpc>
              <a:buNone/>
            </a:pPr>
            <a:r>
              <a:rPr lang="en-US" sz="1200" dirty="0">
                <a:solidFill>
                  <a:srgbClr val="26333D"/>
                </a:solidFill>
                <a:latin typeface="Calibri" pitchFamily="34" charset="0"/>
                <a:ea typeface="Calibri" pitchFamily="34" charset="-122"/>
                <a:cs typeface="Calibri" pitchFamily="34" charset="-120"/>
              </a:rPr>
              <a:t>Reconstruct short video clips from COLER's PNG frames. Train the existing SlowFast model on one dataset, evaluate on the reconstructed clips of the other.</a:t>
            </a:r>
            <a:endParaRPr lang="en-US" sz="1200" dirty="0"/>
          </a:p>
        </p:txBody>
      </p:sp>
      <p:sp>
        <p:nvSpPr>
          <p:cNvPr id="18" name="Shape 16"/>
          <p:cNvSpPr/>
          <p:nvPr/>
        </p:nvSpPr>
        <p:spPr>
          <a:xfrm>
            <a:off x="4636008" y="5120640"/>
            <a:ext cx="3063240" cy="0"/>
          </a:xfrm>
          <a:prstGeom prst="line">
            <a:avLst/>
          </a:prstGeom>
          <a:noFill/>
          <a:ln w="12700">
            <a:solidFill>
              <a:srgbClr val="D5DEE3"/>
            </a:solidFill>
            <a:prstDash val="solid"/>
          </a:ln>
        </p:spPr>
      </p:sp>
      <p:sp>
        <p:nvSpPr>
          <p:cNvPr id="19" name="Text 17"/>
          <p:cNvSpPr/>
          <p:nvPr/>
        </p:nvSpPr>
        <p:spPr>
          <a:xfrm>
            <a:off x="4636008" y="5239512"/>
            <a:ext cx="3063240" cy="502920"/>
          </a:xfrm>
          <a:prstGeom prst="rect">
            <a:avLst/>
          </a:prstGeom>
          <a:noFill/>
          <a:ln/>
        </p:spPr>
        <p:txBody>
          <a:bodyPr wrap="square" lIns="0" tIns="0" rIns="0" bIns="0" rtlCol="0" anchor="ctr"/>
          <a:lstStyle/>
          <a:p>
            <a:pPr marL="0" indent="0">
              <a:buNone/>
            </a:pPr>
            <a:r>
              <a:rPr lang="en-US" sz="1100" i="1" dirty="0">
                <a:solidFill>
                  <a:srgbClr val="5B6B76"/>
                </a:solidFill>
                <a:latin typeface="Calibri" pitchFamily="34" charset="0"/>
                <a:ea typeface="Calibri" pitchFamily="34" charset="-122"/>
                <a:cs typeface="Calibri" pitchFamily="34" charset="-120"/>
              </a:rPr>
              <a:t>Tests whether learned 3D motion features transfer</a:t>
            </a:r>
            <a:endParaRPr lang="en-US" sz="1100" dirty="0"/>
          </a:p>
        </p:txBody>
      </p:sp>
      <p:sp>
        <p:nvSpPr>
          <p:cNvPr id="20" name="Shape 18"/>
          <p:cNvSpPr/>
          <p:nvPr/>
        </p:nvSpPr>
        <p:spPr>
          <a:xfrm>
            <a:off x="8174736" y="1600200"/>
            <a:ext cx="3611880" cy="4206240"/>
          </a:xfrm>
          <a:prstGeom prst="roundRect">
            <a:avLst>
              <a:gd name="adj" fmla="val 2532"/>
            </a:avLst>
          </a:prstGeom>
          <a:solidFill>
            <a:srgbClr val="F4F7F9"/>
          </a:solidFill>
          <a:ln w="15875">
            <a:solidFill>
              <a:srgbClr val="21295C"/>
            </a:solidFill>
            <a:prstDash val="solid"/>
          </a:ln>
        </p:spPr>
      </p:sp>
      <p:sp>
        <p:nvSpPr>
          <p:cNvPr id="21" name="Shape 19"/>
          <p:cNvSpPr/>
          <p:nvPr/>
        </p:nvSpPr>
        <p:spPr>
          <a:xfrm>
            <a:off x="8449056" y="1874520"/>
            <a:ext cx="502920" cy="502920"/>
          </a:xfrm>
          <a:prstGeom prst="ellipse">
            <a:avLst/>
          </a:prstGeom>
          <a:solidFill>
            <a:srgbClr val="21295C"/>
          </a:solidFill>
          <a:ln/>
        </p:spPr>
      </p:sp>
      <p:sp>
        <p:nvSpPr>
          <p:cNvPr id="22" name="Text 20"/>
          <p:cNvSpPr/>
          <p:nvPr/>
        </p:nvSpPr>
        <p:spPr>
          <a:xfrm>
            <a:off x="8449056"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23" name="Text 21"/>
          <p:cNvSpPr/>
          <p:nvPr/>
        </p:nvSpPr>
        <p:spPr>
          <a:xfrm>
            <a:off x="8449056" y="2514600"/>
            <a:ext cx="3063240" cy="256032"/>
          </a:xfrm>
          <a:prstGeom prst="rect">
            <a:avLst/>
          </a:prstGeom>
          <a:noFill/>
          <a:ln/>
        </p:spPr>
        <p:txBody>
          <a:bodyPr wrap="square" lIns="0" tIns="0" rIns="0" bIns="0" rtlCol="0" anchor="ctr"/>
          <a:lstStyle/>
          <a:p>
            <a:pPr marL="0" indent="0">
              <a:buNone/>
            </a:pPr>
            <a:r>
              <a:rPr lang="en-US" sz="1050" b="1" kern="0" spc="150" dirty="0">
                <a:solidFill>
                  <a:srgbClr val="21295C"/>
                </a:solidFill>
                <a:latin typeface="Calibri" pitchFamily="34" charset="0"/>
                <a:ea typeface="Calibri" pitchFamily="34" charset="-122"/>
                <a:cs typeface="Calibri" pitchFamily="34" charset="-120"/>
              </a:rPr>
              <a:t>EXPERIMENT C</a:t>
            </a:r>
            <a:endParaRPr lang="en-US" sz="1050" dirty="0"/>
          </a:p>
        </p:txBody>
      </p:sp>
      <p:sp>
        <p:nvSpPr>
          <p:cNvPr id="24" name="Text 22"/>
          <p:cNvSpPr/>
          <p:nvPr/>
        </p:nvSpPr>
        <p:spPr>
          <a:xfrm>
            <a:off x="8449056" y="2770632"/>
            <a:ext cx="3063240" cy="457200"/>
          </a:xfrm>
          <a:prstGeom prst="rect">
            <a:avLst/>
          </a:prstGeom>
          <a:noFill/>
          <a:ln/>
        </p:spPr>
        <p:txBody>
          <a:bodyPr wrap="square" lIns="0" tIns="0" rIns="0" bIns="0" rtlCol="0" anchor="ctr"/>
          <a:lstStyle/>
          <a:p>
            <a:pPr marL="0" indent="0">
              <a:buNone/>
            </a:pPr>
            <a:r>
              <a:rPr lang="en-US" sz="1650" b="1" dirty="0">
                <a:solidFill>
                  <a:srgbClr val="21295C"/>
                </a:solidFill>
                <a:latin typeface="Cambria" pitchFamily="34" charset="0"/>
                <a:ea typeface="Cambria" pitchFamily="34" charset="-122"/>
                <a:cs typeface="Cambria" pitchFamily="34" charset="-120"/>
              </a:rPr>
              <a:t>Joint Training</a:t>
            </a:r>
            <a:endParaRPr lang="en-US" sz="1650" dirty="0"/>
          </a:p>
        </p:txBody>
      </p:sp>
      <p:sp>
        <p:nvSpPr>
          <p:cNvPr id="25" name="Text 23"/>
          <p:cNvSpPr/>
          <p:nvPr/>
        </p:nvSpPr>
        <p:spPr>
          <a:xfrm>
            <a:off x="8449056" y="3291840"/>
            <a:ext cx="3063240" cy="1737360"/>
          </a:xfrm>
          <a:prstGeom prst="rect">
            <a:avLst/>
          </a:prstGeom>
          <a:noFill/>
          <a:ln/>
        </p:spPr>
        <p:txBody>
          <a:bodyPr wrap="square" lIns="0" tIns="0" rIns="0" bIns="0" rtlCol="0" anchor="ctr"/>
          <a:lstStyle/>
          <a:p>
            <a:pPr marL="0" indent="0">
              <a:lnSpc>
                <a:spcPts val="1600"/>
              </a:lnSpc>
              <a:buNone/>
            </a:pPr>
            <a:r>
              <a:rPr lang="en-US" sz="1200" dirty="0">
                <a:solidFill>
                  <a:srgbClr val="26333D"/>
                </a:solidFill>
                <a:latin typeface="Calibri" pitchFamily="34" charset="0"/>
                <a:ea typeface="Calibri" pitchFamily="34" charset="-122"/>
                <a:cs typeface="Calibri" pitchFamily="34" charset="-120"/>
              </a:rPr>
              <a:t>Shared ResNet-50 backbone with two dataset-specific classification heads, trained on both datasets simultaneously in alternating batches.</a:t>
            </a:r>
            <a:endParaRPr lang="en-US" sz="1200" dirty="0"/>
          </a:p>
        </p:txBody>
      </p:sp>
      <p:sp>
        <p:nvSpPr>
          <p:cNvPr id="26" name="Shape 24"/>
          <p:cNvSpPr/>
          <p:nvPr/>
        </p:nvSpPr>
        <p:spPr>
          <a:xfrm>
            <a:off x="8449056" y="5120640"/>
            <a:ext cx="3063240" cy="0"/>
          </a:xfrm>
          <a:prstGeom prst="line">
            <a:avLst/>
          </a:prstGeom>
          <a:noFill/>
          <a:ln w="12700">
            <a:solidFill>
              <a:srgbClr val="D5DEE3"/>
            </a:solidFill>
            <a:prstDash val="solid"/>
          </a:ln>
        </p:spPr>
      </p:sp>
      <p:sp>
        <p:nvSpPr>
          <p:cNvPr id="27" name="Text 25"/>
          <p:cNvSpPr/>
          <p:nvPr/>
        </p:nvSpPr>
        <p:spPr>
          <a:xfrm>
            <a:off x="8449056" y="5239512"/>
            <a:ext cx="3063240" cy="502920"/>
          </a:xfrm>
          <a:prstGeom prst="rect">
            <a:avLst/>
          </a:prstGeom>
          <a:noFill/>
          <a:ln/>
        </p:spPr>
        <p:txBody>
          <a:bodyPr wrap="square" lIns="0" tIns="0" rIns="0" bIns="0" rtlCol="0" anchor="ctr"/>
          <a:lstStyle/>
          <a:p>
            <a:pPr marL="0" indent="0">
              <a:buNone/>
            </a:pPr>
            <a:r>
              <a:rPr lang="en-US" sz="1100" i="1" dirty="0">
                <a:solidFill>
                  <a:srgbClr val="5B6B76"/>
                </a:solidFill>
                <a:latin typeface="Calibri" pitchFamily="34" charset="0"/>
                <a:ea typeface="Calibri" pitchFamily="34" charset="-122"/>
                <a:cs typeface="Calibri" pitchFamily="34" charset="-120"/>
              </a:rPr>
              <a:t>Most novel — tests a single unified model</a:t>
            </a:r>
            <a:endParaRPr lang="en-US" sz="1100" dirty="0"/>
          </a:p>
        </p:txBody>
      </p:sp>
      <p:sp>
        <p:nvSpPr>
          <p:cNvPr id="28" name="Shape 26"/>
          <p:cNvSpPr/>
          <p:nvPr/>
        </p:nvSpPr>
        <p:spPr>
          <a:xfrm>
            <a:off x="4160520" y="3630168"/>
            <a:ext cx="201168" cy="146304"/>
          </a:xfrm>
          <a:prstGeom prst="rightArrow">
            <a:avLst/>
          </a:prstGeom>
          <a:solidFill>
            <a:srgbClr val="B9C6CD"/>
          </a:solidFill>
          <a:ln/>
        </p:spPr>
      </p:sp>
      <p:sp>
        <p:nvSpPr>
          <p:cNvPr id="29" name="Shape 27"/>
          <p:cNvSpPr/>
          <p:nvPr/>
        </p:nvSpPr>
        <p:spPr>
          <a:xfrm>
            <a:off x="7973568" y="3630168"/>
            <a:ext cx="201168" cy="146304"/>
          </a:xfrm>
          <a:prstGeom prst="rightArrow">
            <a:avLst/>
          </a:prstGeom>
          <a:solidFill>
            <a:srgbClr val="B9C6CD"/>
          </a:solidFill>
          <a:ln/>
        </p:spPr>
      </p:sp>
      <p:sp>
        <p:nvSpPr>
          <p:cNvPr id="30" name="Text 28"/>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Shared Backbone, Dataset-Specific Heads</a:t>
            </a:r>
            <a:endParaRPr lang="en-US" sz="3000" dirty="0"/>
          </a:p>
        </p:txBody>
      </p:sp>
      <p:sp>
        <p:nvSpPr>
          <p:cNvPr id="4" name="Shape 2"/>
          <p:cNvSpPr/>
          <p:nvPr/>
        </p:nvSpPr>
        <p:spPr>
          <a:xfrm>
            <a:off x="548640" y="1828800"/>
            <a:ext cx="2286000" cy="914400"/>
          </a:xfrm>
          <a:prstGeom prst="roundRect">
            <a:avLst>
              <a:gd name="adj" fmla="val 8000"/>
            </a:avLst>
          </a:prstGeom>
          <a:solidFill>
            <a:srgbClr val="065A82"/>
          </a:solidFill>
          <a:ln/>
        </p:spPr>
      </p:sp>
      <p:sp>
        <p:nvSpPr>
          <p:cNvPr id="5" name="Text 3"/>
          <p:cNvSpPr/>
          <p:nvPr/>
        </p:nvSpPr>
        <p:spPr>
          <a:xfrm>
            <a:off x="548640" y="1828800"/>
            <a:ext cx="2286000" cy="457200"/>
          </a:xfrm>
          <a:prstGeom prst="rect">
            <a:avLst/>
          </a:prstGeom>
          <a:noFill/>
          <a:ln/>
        </p:spPr>
        <p:txBody>
          <a:bodyPr wrap="square" lIns="0" tIns="0" rIns="0" bIns="0"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OUC-CGE Frames</a:t>
            </a:r>
            <a:endParaRPr lang="en-US" sz="1300" dirty="0"/>
          </a:p>
        </p:txBody>
      </p:sp>
      <p:sp>
        <p:nvSpPr>
          <p:cNvPr id="6" name="Text 4"/>
          <p:cNvSpPr/>
          <p:nvPr/>
        </p:nvSpPr>
        <p:spPr>
          <a:xfrm>
            <a:off x="548640" y="2286000"/>
            <a:ext cx="2286000" cy="365760"/>
          </a:xfrm>
          <a:prstGeom prst="rect">
            <a:avLst/>
          </a:prstGeom>
          <a:noFill/>
          <a:ln/>
        </p:spPr>
        <p:txBody>
          <a:bodyPr wrap="square" lIns="0" tIns="0" rIns="0" bIns="0" rtlCol="0" anchor="t"/>
          <a:lstStyle/>
          <a:p>
            <a:pPr marL="0" indent="0" algn="ctr">
              <a:buNone/>
            </a:pPr>
            <a:r>
              <a:rPr lang="en-US" sz="1050" dirty="0">
                <a:solidFill>
                  <a:srgbClr val="D7E6F0"/>
                </a:solidFill>
                <a:latin typeface="Calibri" pitchFamily="34" charset="0"/>
                <a:ea typeface="Calibri" pitchFamily="34" charset="-122"/>
                <a:cs typeface="Calibri" pitchFamily="34" charset="-120"/>
              </a:rPr>
              <a:t>3-class labels</a:t>
            </a:r>
            <a:endParaRPr lang="en-US" sz="1050" dirty="0"/>
          </a:p>
        </p:txBody>
      </p:sp>
      <p:sp>
        <p:nvSpPr>
          <p:cNvPr id="7" name="Shape 5"/>
          <p:cNvSpPr/>
          <p:nvPr/>
        </p:nvSpPr>
        <p:spPr>
          <a:xfrm>
            <a:off x="548640" y="4114800"/>
            <a:ext cx="2286000" cy="914400"/>
          </a:xfrm>
          <a:prstGeom prst="roundRect">
            <a:avLst>
              <a:gd name="adj" fmla="val 8000"/>
            </a:avLst>
          </a:prstGeom>
          <a:solidFill>
            <a:srgbClr val="1C7293"/>
          </a:solidFill>
          <a:ln/>
        </p:spPr>
      </p:sp>
      <p:sp>
        <p:nvSpPr>
          <p:cNvPr id="8" name="Text 6"/>
          <p:cNvSpPr/>
          <p:nvPr/>
        </p:nvSpPr>
        <p:spPr>
          <a:xfrm>
            <a:off x="548640" y="4114800"/>
            <a:ext cx="2286000" cy="457200"/>
          </a:xfrm>
          <a:prstGeom prst="rect">
            <a:avLst/>
          </a:prstGeom>
          <a:noFill/>
          <a:ln/>
        </p:spPr>
        <p:txBody>
          <a:bodyPr wrap="square" lIns="0" tIns="0" rIns="0" bIns="0"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COLER Frames</a:t>
            </a:r>
            <a:endParaRPr lang="en-US" sz="1300" dirty="0"/>
          </a:p>
        </p:txBody>
      </p:sp>
      <p:sp>
        <p:nvSpPr>
          <p:cNvPr id="9" name="Text 7"/>
          <p:cNvSpPr/>
          <p:nvPr/>
        </p:nvSpPr>
        <p:spPr>
          <a:xfrm>
            <a:off x="548640" y="4572000"/>
            <a:ext cx="2286000" cy="365760"/>
          </a:xfrm>
          <a:prstGeom prst="rect">
            <a:avLst/>
          </a:prstGeom>
          <a:noFill/>
          <a:ln/>
        </p:spPr>
        <p:txBody>
          <a:bodyPr wrap="square" lIns="0" tIns="0" rIns="0" bIns="0" rtlCol="0" anchor="t"/>
          <a:lstStyle/>
          <a:p>
            <a:pPr marL="0" indent="0" algn="ctr">
              <a:buNone/>
            </a:pPr>
            <a:r>
              <a:rPr lang="en-US" sz="1050" dirty="0">
                <a:solidFill>
                  <a:srgbClr val="E4F0EC"/>
                </a:solidFill>
                <a:latin typeface="Calibri" pitchFamily="34" charset="0"/>
                <a:ea typeface="Calibri" pitchFamily="34" charset="-122"/>
                <a:cs typeface="Calibri" pitchFamily="34" charset="-120"/>
              </a:rPr>
              <a:t>4-class labels</a:t>
            </a:r>
            <a:endParaRPr lang="en-US" sz="1050" dirty="0"/>
          </a:p>
        </p:txBody>
      </p:sp>
      <p:sp>
        <p:nvSpPr>
          <p:cNvPr id="10" name="Shape 8"/>
          <p:cNvSpPr/>
          <p:nvPr/>
        </p:nvSpPr>
        <p:spPr>
          <a:xfrm>
            <a:off x="2834640" y="2286000"/>
            <a:ext cx="1143000" cy="1188709"/>
          </a:xfrm>
          <a:prstGeom prst="line">
            <a:avLst/>
          </a:prstGeom>
          <a:noFill/>
          <a:ln w="19050">
            <a:solidFill>
              <a:srgbClr val="5B6B76"/>
            </a:solidFill>
            <a:prstDash val="solid"/>
            <a:tailEnd type="triangle"/>
          </a:ln>
        </p:spPr>
      </p:sp>
      <p:sp>
        <p:nvSpPr>
          <p:cNvPr id="11" name="Shape 9"/>
          <p:cNvSpPr/>
          <p:nvPr/>
        </p:nvSpPr>
        <p:spPr>
          <a:xfrm flipV="1">
            <a:off x="2834640" y="3474709"/>
            <a:ext cx="1143000" cy="1097291"/>
          </a:xfrm>
          <a:prstGeom prst="line">
            <a:avLst/>
          </a:prstGeom>
          <a:noFill/>
          <a:ln w="19050">
            <a:solidFill>
              <a:srgbClr val="5B6B76"/>
            </a:solidFill>
            <a:prstDash val="solid"/>
            <a:tailEnd type="triangle"/>
          </a:ln>
        </p:spPr>
      </p:sp>
      <p:sp>
        <p:nvSpPr>
          <p:cNvPr id="12" name="Shape 10"/>
          <p:cNvSpPr/>
          <p:nvPr/>
        </p:nvSpPr>
        <p:spPr>
          <a:xfrm>
            <a:off x="3977640" y="2651760"/>
            <a:ext cx="2834640" cy="1828800"/>
          </a:xfrm>
          <a:prstGeom prst="roundRect">
            <a:avLst>
              <a:gd name="adj" fmla="val 5000"/>
            </a:avLst>
          </a:prstGeom>
          <a:solidFill>
            <a:srgbClr val="21295C"/>
          </a:solidFill>
          <a:ln/>
        </p:spPr>
      </p:sp>
      <p:sp>
        <p:nvSpPr>
          <p:cNvPr id="13" name="Text 11"/>
          <p:cNvSpPr/>
          <p:nvPr/>
        </p:nvSpPr>
        <p:spPr>
          <a:xfrm>
            <a:off x="4160520" y="2880360"/>
            <a:ext cx="2468880" cy="731520"/>
          </a:xfrm>
          <a:prstGeom prst="rect">
            <a:avLst/>
          </a:prstGeom>
          <a:noFill/>
          <a:ln/>
        </p:spPr>
        <p:txBody>
          <a:bodyPr wrap="square" lIns="0" tIns="0" rIns="0" bIns="0" rtlCol="0" anchor="ctr"/>
          <a:lstStyle/>
          <a:p>
            <a:pPr marL="0" indent="0" algn="ctr">
              <a:lnSpc>
                <a:spcPts val="1900"/>
              </a:lnSpc>
              <a:buNone/>
            </a:pPr>
            <a:r>
              <a:rPr lang="en-US" sz="1500" b="1" dirty="0">
                <a:solidFill>
                  <a:srgbClr val="FFFFFF"/>
                </a:solidFill>
                <a:latin typeface="Cambria" pitchFamily="34" charset="0"/>
                <a:ea typeface="Cambria" pitchFamily="34" charset="-122"/>
                <a:cs typeface="Cambria" pitchFamily="34" charset="-120"/>
              </a:rPr>
              <a:t>Shared ResNet-50</a:t>
            </a:r>
            <a:endParaRPr lang="en-US" sz="1500" dirty="0"/>
          </a:p>
          <a:p>
            <a:pPr marL="0" indent="0" algn="ctr">
              <a:lnSpc>
                <a:spcPts val="1900"/>
              </a:lnSpc>
              <a:buNone/>
            </a:pPr>
            <a:r>
              <a:rPr lang="en-US" sz="1500" b="1" dirty="0">
                <a:solidFill>
                  <a:srgbClr val="FFFFFF"/>
                </a:solidFill>
                <a:latin typeface="Cambria" pitchFamily="34" charset="0"/>
                <a:ea typeface="Cambria" pitchFamily="34" charset="-122"/>
                <a:cs typeface="Cambria" pitchFamily="34" charset="-120"/>
              </a:rPr>
              <a:t>Backbone</a:t>
            </a:r>
            <a:endParaRPr lang="en-US" sz="1500" dirty="0"/>
          </a:p>
        </p:txBody>
      </p:sp>
      <p:sp>
        <p:nvSpPr>
          <p:cNvPr id="14" name="Text 12"/>
          <p:cNvSpPr/>
          <p:nvPr/>
        </p:nvSpPr>
        <p:spPr>
          <a:xfrm>
            <a:off x="4160520" y="3611880"/>
            <a:ext cx="2468880" cy="777240"/>
          </a:xfrm>
          <a:prstGeom prst="rect">
            <a:avLst/>
          </a:prstGeom>
          <a:noFill/>
          <a:ln/>
        </p:spPr>
        <p:txBody>
          <a:bodyPr wrap="square" lIns="0" tIns="0" rIns="0" bIns="0" rtlCol="0" anchor="ctr"/>
          <a:lstStyle/>
          <a:p>
            <a:pPr marL="0" indent="0" algn="ctr">
              <a:lnSpc>
                <a:spcPts val="1300"/>
              </a:lnSpc>
              <a:buNone/>
            </a:pPr>
            <a:r>
              <a:rPr lang="en-US" sz="1050" dirty="0">
                <a:solidFill>
                  <a:srgbClr val="C7D6E3"/>
                </a:solidFill>
                <a:latin typeface="Calibri" pitchFamily="34" charset="0"/>
                <a:ea typeface="Calibri" pitchFamily="34" charset="-122"/>
                <a:cs typeface="Calibri" pitchFamily="34" charset="-120"/>
              </a:rPr>
              <a:t>ImageNet-pretrained → fine-tuned on pooled engagement data</a:t>
            </a:r>
            <a:endParaRPr lang="en-US" sz="1050" dirty="0"/>
          </a:p>
        </p:txBody>
      </p:sp>
      <p:sp>
        <p:nvSpPr>
          <p:cNvPr id="16" name="Shape 14"/>
          <p:cNvSpPr/>
          <p:nvPr/>
        </p:nvSpPr>
        <p:spPr>
          <a:xfrm>
            <a:off x="7772400" y="1828800"/>
            <a:ext cx="3840480" cy="914400"/>
          </a:xfrm>
          <a:prstGeom prst="roundRect">
            <a:avLst>
              <a:gd name="adj" fmla="val 8000"/>
            </a:avLst>
          </a:prstGeom>
          <a:solidFill>
            <a:srgbClr val="EAF1F5"/>
          </a:solidFill>
          <a:ln w="15875">
            <a:solidFill>
              <a:srgbClr val="065A82"/>
            </a:solidFill>
            <a:prstDash val="solid"/>
          </a:ln>
        </p:spPr>
      </p:sp>
      <p:sp>
        <p:nvSpPr>
          <p:cNvPr id="17" name="Text 15"/>
          <p:cNvSpPr/>
          <p:nvPr/>
        </p:nvSpPr>
        <p:spPr>
          <a:xfrm>
            <a:off x="7955280" y="1828800"/>
            <a:ext cx="3474720" cy="914400"/>
          </a:xfrm>
          <a:prstGeom prst="rect">
            <a:avLst/>
          </a:prstGeom>
          <a:noFill/>
          <a:ln/>
        </p:spPr>
        <p:txBody>
          <a:bodyPr wrap="square" lIns="0" tIns="0" rIns="0" bIns="0"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Head A — OUC-CGE (3-class softmax)</a:t>
            </a:r>
            <a:endParaRPr lang="en-US" sz="1300" dirty="0"/>
          </a:p>
        </p:txBody>
      </p:sp>
      <p:sp>
        <p:nvSpPr>
          <p:cNvPr id="18" name="Shape 16"/>
          <p:cNvSpPr/>
          <p:nvPr/>
        </p:nvSpPr>
        <p:spPr>
          <a:xfrm>
            <a:off x="7772400" y="4114800"/>
            <a:ext cx="3840480" cy="914400"/>
          </a:xfrm>
          <a:prstGeom prst="roundRect">
            <a:avLst>
              <a:gd name="adj" fmla="val 8000"/>
            </a:avLst>
          </a:prstGeom>
          <a:solidFill>
            <a:srgbClr val="EAF1F5"/>
          </a:solidFill>
          <a:ln w="15875">
            <a:solidFill>
              <a:srgbClr val="1C7293"/>
            </a:solidFill>
            <a:prstDash val="solid"/>
          </a:ln>
        </p:spPr>
      </p:sp>
      <p:sp>
        <p:nvSpPr>
          <p:cNvPr id="19" name="Text 17"/>
          <p:cNvSpPr/>
          <p:nvPr/>
        </p:nvSpPr>
        <p:spPr>
          <a:xfrm>
            <a:off x="7955280" y="4114800"/>
            <a:ext cx="3474720" cy="914400"/>
          </a:xfrm>
          <a:prstGeom prst="rect">
            <a:avLst/>
          </a:prstGeom>
          <a:noFill/>
          <a:ln/>
        </p:spPr>
        <p:txBody>
          <a:bodyPr wrap="square" lIns="0" tIns="0" rIns="0" bIns="0" rtlCol="0" anchor="ctr"/>
          <a:lstStyle/>
          <a:p>
            <a:pPr marL="0" indent="0" algn="l">
              <a:buNone/>
            </a:pPr>
            <a:r>
              <a:rPr lang="en-US" sz="1300" b="1" dirty="0">
                <a:solidFill>
                  <a:srgbClr val="1C7293"/>
                </a:solidFill>
                <a:latin typeface="Calibri" pitchFamily="34" charset="0"/>
                <a:ea typeface="Calibri" pitchFamily="34" charset="-122"/>
                <a:cs typeface="Calibri" pitchFamily="34" charset="-120"/>
              </a:rPr>
              <a:t>Head B — COLER (4-class softmax)</a:t>
            </a:r>
            <a:endParaRPr lang="en-US" sz="1300" dirty="0"/>
          </a:p>
        </p:txBody>
      </p:sp>
      <p:sp>
        <p:nvSpPr>
          <p:cNvPr id="20" name="Shape 18"/>
          <p:cNvSpPr/>
          <p:nvPr/>
        </p:nvSpPr>
        <p:spPr>
          <a:xfrm flipV="1">
            <a:off x="6812280" y="2743200"/>
            <a:ext cx="960120" cy="822960"/>
          </a:xfrm>
          <a:prstGeom prst="line">
            <a:avLst/>
          </a:prstGeom>
          <a:noFill/>
          <a:ln w="19050">
            <a:solidFill>
              <a:srgbClr val="5B6B76"/>
            </a:solidFill>
            <a:prstDash val="solid"/>
            <a:tailEnd type="triangle"/>
          </a:ln>
        </p:spPr>
      </p:sp>
      <p:sp>
        <p:nvSpPr>
          <p:cNvPr id="21" name="Shape 19"/>
          <p:cNvSpPr/>
          <p:nvPr/>
        </p:nvSpPr>
        <p:spPr>
          <a:xfrm>
            <a:off x="6812280" y="3566160"/>
            <a:ext cx="960120" cy="548640"/>
          </a:xfrm>
          <a:prstGeom prst="line">
            <a:avLst/>
          </a:prstGeom>
          <a:noFill/>
          <a:ln w="19050">
            <a:solidFill>
              <a:srgbClr val="5B6B76"/>
            </a:solidFill>
            <a:prstDash val="solid"/>
            <a:tailEnd type="triangle"/>
          </a:ln>
        </p:spPr>
      </p:sp>
      <p:sp>
        <p:nvSpPr>
          <p:cNvPr id="22" name="Text 20"/>
          <p:cNvSpPr/>
          <p:nvPr/>
        </p:nvSpPr>
        <p:spPr>
          <a:xfrm>
            <a:off x="548640" y="5532120"/>
            <a:ext cx="11064240" cy="640080"/>
          </a:xfrm>
          <a:prstGeom prst="rect">
            <a:avLst/>
          </a:prstGeom>
          <a:noFill/>
          <a:ln/>
        </p:spPr>
        <p:txBody>
          <a:bodyPr wrap="square" lIns="0" tIns="0" rIns="0" bIns="0" rtlCol="0" anchor="ctr"/>
          <a:lstStyle/>
          <a:p>
            <a:pPr marL="0" indent="0">
              <a:lnSpc>
                <a:spcPts val="1600"/>
              </a:lnSpc>
              <a:buNone/>
            </a:pPr>
            <a:r>
              <a:rPr lang="en-US" sz="1250" i="1" dirty="0">
                <a:solidFill>
                  <a:srgbClr val="5B6B76"/>
                </a:solidFill>
                <a:latin typeface="Calibri" pitchFamily="34" charset="0"/>
                <a:ea typeface="Calibri" pitchFamily="34" charset="-122"/>
                <a:cs typeface="Calibri" pitchFamily="34" charset="-120"/>
              </a:rPr>
              <a:t>Why ResNet-50: proven ImageNet transfer learning, efficient on an 8GB laptop GPU, and usable both as a 2D image backbone (frame-level) and within 3D extensions (video-level).</a:t>
            </a:r>
            <a:endParaRPr lang="en-US" sz="1250" dirty="0"/>
          </a:p>
        </p:txBody>
      </p:sp>
      <p:sp>
        <p:nvSpPr>
          <p:cNvPr id="23" name="Text 21"/>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EXPECTED CONTRIBUTIONS</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Four Contributions to the Field</a:t>
            </a:r>
            <a:endParaRPr lang="en-US" sz="3000" dirty="0"/>
          </a:p>
        </p:txBody>
      </p:sp>
      <p:sp>
        <p:nvSpPr>
          <p:cNvPr id="4" name="Shape 2"/>
          <p:cNvSpPr/>
          <p:nvPr/>
        </p:nvSpPr>
        <p:spPr>
          <a:xfrm>
            <a:off x="548640" y="1600200"/>
            <a:ext cx="5349240" cy="1783080"/>
          </a:xfrm>
          <a:prstGeom prst="roundRect">
            <a:avLst>
              <a:gd name="adj" fmla="val 5128"/>
            </a:avLst>
          </a:prstGeom>
          <a:solidFill>
            <a:srgbClr val="F4F7F9"/>
          </a:solidFill>
          <a:ln/>
        </p:spPr>
      </p:sp>
      <p:sp>
        <p:nvSpPr>
          <p:cNvPr id="5" name="Shape 3"/>
          <p:cNvSpPr/>
          <p:nvPr/>
        </p:nvSpPr>
        <p:spPr>
          <a:xfrm>
            <a:off x="822960" y="1874520"/>
            <a:ext cx="548640" cy="548640"/>
          </a:xfrm>
          <a:prstGeom prst="ellipse">
            <a:avLst/>
          </a:prstGeom>
          <a:solidFill>
            <a:srgbClr val="065A82"/>
          </a:solidFill>
          <a:ln/>
        </p:spPr>
      </p:sp>
      <p:sp>
        <p:nvSpPr>
          <p:cNvPr id="6" name="Text 4"/>
          <p:cNvSpPr/>
          <p:nvPr/>
        </p:nvSpPr>
        <p:spPr>
          <a:xfrm>
            <a:off x="822960" y="18745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54480" y="1801368"/>
            <a:ext cx="406908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Rigorous OUC-CGE Baseline</a:t>
            </a:r>
            <a:endParaRPr lang="en-US" sz="1550" dirty="0"/>
          </a:p>
        </p:txBody>
      </p:sp>
      <p:sp>
        <p:nvSpPr>
          <p:cNvPr id="8" name="Text 6"/>
          <p:cNvSpPr/>
          <p:nvPr/>
        </p:nvSpPr>
        <p:spPr>
          <a:xfrm>
            <a:off x="1554480" y="2194560"/>
            <a:ext cx="4069080" cy="1051560"/>
          </a:xfrm>
          <a:prstGeom prst="rect">
            <a:avLst/>
          </a:prstGeom>
          <a:noFill/>
          <a:ln/>
        </p:spPr>
        <p:txBody>
          <a:bodyPr wrap="square" lIns="0" tIns="0" rIns="0" bIns="0" rtlCol="0" anchor="ctr"/>
          <a:lstStyle/>
          <a:p>
            <a:pPr marL="0" indent="0">
              <a:lnSpc>
                <a:spcPts val="1550"/>
              </a:lnSpc>
              <a:buNone/>
            </a:pPr>
            <a:r>
              <a:rPr lang="en-US" sz="1200" dirty="0">
                <a:solidFill>
                  <a:srgbClr val="26333D"/>
                </a:solidFill>
                <a:latin typeface="Calibri" pitchFamily="34" charset="0"/>
                <a:ea typeface="Calibri" pitchFamily="34" charset="-122"/>
                <a:cs typeface="Calibri" pitchFamily="34" charset="-120"/>
              </a:rPr>
              <a:t>5-fold cross-validation replaces the original paper's single train/test split — a more robust, less optimistic performance estimate.</a:t>
            </a:r>
            <a:endParaRPr lang="en-US" sz="1200" dirty="0"/>
          </a:p>
        </p:txBody>
      </p:sp>
      <p:sp>
        <p:nvSpPr>
          <p:cNvPr id="9" name="Shape 7"/>
          <p:cNvSpPr/>
          <p:nvPr/>
        </p:nvSpPr>
        <p:spPr>
          <a:xfrm>
            <a:off x="6263640" y="1600200"/>
            <a:ext cx="5349240" cy="1783080"/>
          </a:xfrm>
          <a:prstGeom prst="roundRect">
            <a:avLst>
              <a:gd name="adj" fmla="val 5128"/>
            </a:avLst>
          </a:prstGeom>
          <a:solidFill>
            <a:srgbClr val="F4F7F9"/>
          </a:solidFill>
          <a:ln/>
        </p:spPr>
      </p:sp>
      <p:sp>
        <p:nvSpPr>
          <p:cNvPr id="10" name="Shape 8"/>
          <p:cNvSpPr/>
          <p:nvPr/>
        </p:nvSpPr>
        <p:spPr>
          <a:xfrm>
            <a:off x="6537960" y="1874520"/>
            <a:ext cx="548640" cy="548640"/>
          </a:xfrm>
          <a:prstGeom prst="ellipse">
            <a:avLst/>
          </a:prstGeom>
          <a:solidFill>
            <a:srgbClr val="1C7293"/>
          </a:solidFill>
          <a:ln/>
        </p:spPr>
      </p:sp>
      <p:sp>
        <p:nvSpPr>
          <p:cNvPr id="11" name="Text 9"/>
          <p:cNvSpPr/>
          <p:nvPr/>
        </p:nvSpPr>
        <p:spPr>
          <a:xfrm>
            <a:off x="6537960" y="18745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7269480" y="1801368"/>
            <a:ext cx="406908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First OUC-CGE ↔ COLER Transfer Study</a:t>
            </a:r>
            <a:endParaRPr lang="en-US" sz="1550" dirty="0"/>
          </a:p>
        </p:txBody>
      </p:sp>
      <p:sp>
        <p:nvSpPr>
          <p:cNvPr id="13" name="Text 11"/>
          <p:cNvSpPr/>
          <p:nvPr/>
        </p:nvSpPr>
        <p:spPr>
          <a:xfrm>
            <a:off x="7269480" y="2194560"/>
            <a:ext cx="4069080" cy="1051560"/>
          </a:xfrm>
          <a:prstGeom prst="rect">
            <a:avLst/>
          </a:prstGeom>
          <a:noFill/>
          <a:ln/>
        </p:spPr>
        <p:txBody>
          <a:bodyPr wrap="square" lIns="0" tIns="0" rIns="0" bIns="0" rtlCol="0" anchor="ctr"/>
          <a:lstStyle/>
          <a:p>
            <a:pPr marL="0" indent="0">
              <a:lnSpc>
                <a:spcPts val="1550"/>
              </a:lnSpc>
              <a:buNone/>
            </a:pPr>
            <a:r>
              <a:rPr lang="en-US" sz="1200" dirty="0">
                <a:solidFill>
                  <a:srgbClr val="26333D"/>
                </a:solidFill>
                <a:latin typeface="Calibri" pitchFamily="34" charset="0"/>
                <a:ea typeface="Calibri" pitchFamily="34" charset="-122"/>
                <a:cs typeface="Calibri" pitchFamily="34" charset="-120"/>
              </a:rPr>
              <a:t>Novel cross-country, cross-granularity evaluation — no prior work has tested transfer between these two benchmarks.</a:t>
            </a:r>
            <a:endParaRPr lang="en-US" sz="1200" dirty="0"/>
          </a:p>
        </p:txBody>
      </p:sp>
      <p:sp>
        <p:nvSpPr>
          <p:cNvPr id="14" name="Shape 12"/>
          <p:cNvSpPr/>
          <p:nvPr/>
        </p:nvSpPr>
        <p:spPr>
          <a:xfrm>
            <a:off x="548640" y="3703320"/>
            <a:ext cx="5349240" cy="1783080"/>
          </a:xfrm>
          <a:prstGeom prst="roundRect">
            <a:avLst>
              <a:gd name="adj" fmla="val 5128"/>
            </a:avLst>
          </a:prstGeom>
          <a:solidFill>
            <a:srgbClr val="F4F7F9"/>
          </a:solidFill>
          <a:ln/>
        </p:spPr>
      </p:sp>
      <p:sp>
        <p:nvSpPr>
          <p:cNvPr id="15" name="Shape 13"/>
          <p:cNvSpPr/>
          <p:nvPr/>
        </p:nvSpPr>
        <p:spPr>
          <a:xfrm>
            <a:off x="822960" y="3977640"/>
            <a:ext cx="548640" cy="548640"/>
          </a:xfrm>
          <a:prstGeom prst="ellipse">
            <a:avLst/>
          </a:prstGeom>
          <a:solidFill>
            <a:srgbClr val="E8A33D"/>
          </a:solidFill>
          <a:ln/>
        </p:spPr>
      </p:sp>
      <p:sp>
        <p:nvSpPr>
          <p:cNvPr id="16" name="Text 14"/>
          <p:cNvSpPr/>
          <p:nvPr/>
        </p:nvSpPr>
        <p:spPr>
          <a:xfrm>
            <a:off x="82296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554480" y="3904488"/>
            <a:ext cx="406908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Unified Multi-Dataset Model</a:t>
            </a:r>
            <a:endParaRPr lang="en-US" sz="1550" dirty="0"/>
          </a:p>
        </p:txBody>
      </p:sp>
      <p:sp>
        <p:nvSpPr>
          <p:cNvPr id="18" name="Text 16"/>
          <p:cNvSpPr/>
          <p:nvPr/>
        </p:nvSpPr>
        <p:spPr>
          <a:xfrm>
            <a:off x="1554480" y="4297680"/>
            <a:ext cx="4069080" cy="1051560"/>
          </a:xfrm>
          <a:prstGeom prst="rect">
            <a:avLst/>
          </a:prstGeom>
          <a:noFill/>
          <a:ln/>
        </p:spPr>
        <p:txBody>
          <a:bodyPr wrap="square" lIns="0" tIns="0" rIns="0" bIns="0" rtlCol="0" anchor="ctr"/>
          <a:lstStyle/>
          <a:p>
            <a:pPr marL="0" indent="0">
              <a:lnSpc>
                <a:spcPts val="1550"/>
              </a:lnSpc>
              <a:buNone/>
            </a:pPr>
            <a:r>
              <a:rPr lang="en-US" sz="1200" dirty="0">
                <a:solidFill>
                  <a:srgbClr val="26333D"/>
                </a:solidFill>
                <a:latin typeface="Calibri" pitchFamily="34" charset="0"/>
                <a:ea typeface="Calibri" pitchFamily="34" charset="-122"/>
                <a:cs typeface="Calibri" pitchFamily="34" charset="-120"/>
              </a:rPr>
              <a:t>A single backbone trained jointly on both datasets via dataset-specific heads, evaluated against single-dataset baselines.</a:t>
            </a:r>
            <a:endParaRPr lang="en-US" sz="1200" dirty="0"/>
          </a:p>
        </p:txBody>
      </p:sp>
      <p:sp>
        <p:nvSpPr>
          <p:cNvPr id="19" name="Shape 17"/>
          <p:cNvSpPr/>
          <p:nvPr/>
        </p:nvSpPr>
        <p:spPr>
          <a:xfrm>
            <a:off x="6263640" y="3703320"/>
            <a:ext cx="5349240" cy="1783080"/>
          </a:xfrm>
          <a:prstGeom prst="roundRect">
            <a:avLst>
              <a:gd name="adj" fmla="val 5128"/>
            </a:avLst>
          </a:prstGeom>
          <a:solidFill>
            <a:srgbClr val="F4F7F9"/>
          </a:solidFill>
          <a:ln/>
        </p:spPr>
      </p:sp>
      <p:sp>
        <p:nvSpPr>
          <p:cNvPr id="20" name="Shape 18"/>
          <p:cNvSpPr/>
          <p:nvPr/>
        </p:nvSpPr>
        <p:spPr>
          <a:xfrm>
            <a:off x="6537960" y="3977640"/>
            <a:ext cx="548640" cy="548640"/>
          </a:xfrm>
          <a:prstGeom prst="ellipse">
            <a:avLst/>
          </a:prstGeom>
          <a:solidFill>
            <a:srgbClr val="3E8E5B"/>
          </a:solidFill>
          <a:ln/>
        </p:spPr>
      </p:sp>
      <p:sp>
        <p:nvSpPr>
          <p:cNvPr id="21" name="Text 19"/>
          <p:cNvSpPr/>
          <p:nvPr/>
        </p:nvSpPr>
        <p:spPr>
          <a:xfrm>
            <a:off x="653796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269480" y="3904488"/>
            <a:ext cx="406908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Transferability Analysis</a:t>
            </a:r>
            <a:endParaRPr lang="en-US" sz="1550" dirty="0"/>
          </a:p>
        </p:txBody>
      </p:sp>
      <p:sp>
        <p:nvSpPr>
          <p:cNvPr id="23" name="Text 21"/>
          <p:cNvSpPr/>
          <p:nvPr/>
        </p:nvSpPr>
        <p:spPr>
          <a:xfrm>
            <a:off x="7269480" y="4297680"/>
            <a:ext cx="4069080" cy="1051560"/>
          </a:xfrm>
          <a:prstGeom prst="rect">
            <a:avLst/>
          </a:prstGeom>
          <a:noFill/>
          <a:ln/>
        </p:spPr>
        <p:txBody>
          <a:bodyPr wrap="square" lIns="0" tIns="0" rIns="0" bIns="0" rtlCol="0" anchor="ctr"/>
          <a:lstStyle/>
          <a:p>
            <a:pPr marL="0" indent="0">
              <a:lnSpc>
                <a:spcPts val="1550"/>
              </a:lnSpc>
              <a:buNone/>
            </a:pPr>
            <a:r>
              <a:rPr lang="en-US" sz="1200" dirty="0">
                <a:solidFill>
                  <a:srgbClr val="26333D"/>
                </a:solidFill>
                <a:latin typeface="Calibri" pitchFamily="34" charset="0"/>
                <a:ea typeface="Calibri" pitchFamily="34" charset="-122"/>
                <a:cs typeface="Calibri" pitchFamily="34" charset="-120"/>
              </a:rPr>
              <a:t>Systematic characterization of how engagement features transfer across countries, label granularity, and classroom layouts.</a:t>
            </a:r>
            <a:endParaRPr lang="en-US" sz="1200" dirty="0"/>
          </a:p>
        </p:txBody>
      </p:sp>
      <p:sp>
        <p:nvSpPr>
          <p:cNvPr id="24" name="Text 22"/>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37160"/>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TIMELINE</a:t>
            </a:r>
            <a:endParaRPr lang="en-US" sz="1200" dirty="0"/>
          </a:p>
        </p:txBody>
      </p:sp>
      <p:sp>
        <p:nvSpPr>
          <p:cNvPr id="3" name="Text 1"/>
          <p:cNvSpPr/>
          <p:nvPr/>
        </p:nvSpPr>
        <p:spPr>
          <a:xfrm>
            <a:off x="548640" y="365760"/>
            <a:ext cx="11094415" cy="822960"/>
          </a:xfrm>
          <a:prstGeom prst="rect">
            <a:avLst/>
          </a:prstGeom>
          <a:noFill/>
          <a:ln/>
        </p:spPr>
        <p:txBody>
          <a:bodyPr wrap="square" lIns="0" tIns="0" rIns="0" bIns="0" rtlCol="0" anchor="ctr"/>
          <a:lstStyle/>
          <a:p>
            <a:pPr marL="0" indent="0" algn="l">
              <a:buNone/>
            </a:pPr>
            <a:r>
              <a:rPr lang="en-US" sz="3000" b="1" dirty="0">
                <a:solidFill>
                  <a:srgbClr val="21295C"/>
                </a:solidFill>
                <a:latin typeface="Cambria" pitchFamily="34" charset="0"/>
                <a:ea typeface="Cambria" pitchFamily="34" charset="-122"/>
                <a:cs typeface="Cambria" pitchFamily="34" charset="-120"/>
              </a:rPr>
              <a:t>Seven-Week Execution Plan</a:t>
            </a:r>
            <a:endParaRPr lang="en-US" sz="3000" dirty="0"/>
          </a:p>
        </p:txBody>
      </p:sp>
      <p:sp>
        <p:nvSpPr>
          <p:cNvPr id="4" name="Shape 2"/>
          <p:cNvSpPr/>
          <p:nvPr/>
        </p:nvSpPr>
        <p:spPr>
          <a:xfrm>
            <a:off x="2103120" y="1691640"/>
            <a:ext cx="0" cy="3566160"/>
          </a:xfrm>
          <a:prstGeom prst="line">
            <a:avLst/>
          </a:prstGeom>
          <a:noFill/>
          <a:ln w="12700">
            <a:solidFill>
              <a:srgbClr val="E7ECEF"/>
            </a:solidFill>
            <a:prstDash val="solid"/>
          </a:ln>
        </p:spPr>
      </p:sp>
      <p:sp>
        <p:nvSpPr>
          <p:cNvPr id="5" name="Shape 3"/>
          <p:cNvSpPr/>
          <p:nvPr/>
        </p:nvSpPr>
        <p:spPr>
          <a:xfrm>
            <a:off x="4251960" y="1691640"/>
            <a:ext cx="0" cy="3566160"/>
          </a:xfrm>
          <a:prstGeom prst="line">
            <a:avLst/>
          </a:prstGeom>
          <a:noFill/>
          <a:ln w="12700">
            <a:solidFill>
              <a:srgbClr val="E7ECEF"/>
            </a:solidFill>
            <a:prstDash val="solid"/>
          </a:ln>
        </p:spPr>
      </p:sp>
      <p:sp>
        <p:nvSpPr>
          <p:cNvPr id="6" name="Shape 4"/>
          <p:cNvSpPr/>
          <p:nvPr/>
        </p:nvSpPr>
        <p:spPr>
          <a:xfrm>
            <a:off x="6400800" y="1691640"/>
            <a:ext cx="0" cy="3566160"/>
          </a:xfrm>
          <a:prstGeom prst="line">
            <a:avLst/>
          </a:prstGeom>
          <a:noFill/>
          <a:ln w="12700">
            <a:solidFill>
              <a:srgbClr val="E7ECEF"/>
            </a:solidFill>
            <a:prstDash val="solid"/>
          </a:ln>
        </p:spPr>
      </p:sp>
      <p:sp>
        <p:nvSpPr>
          <p:cNvPr id="7" name="Shape 5"/>
          <p:cNvSpPr/>
          <p:nvPr/>
        </p:nvSpPr>
        <p:spPr>
          <a:xfrm>
            <a:off x="8549640" y="1691640"/>
            <a:ext cx="0" cy="3566160"/>
          </a:xfrm>
          <a:prstGeom prst="line">
            <a:avLst/>
          </a:prstGeom>
          <a:noFill/>
          <a:ln w="12700">
            <a:solidFill>
              <a:srgbClr val="E7ECEF"/>
            </a:solidFill>
            <a:prstDash val="solid"/>
          </a:ln>
        </p:spPr>
      </p:sp>
      <p:sp>
        <p:nvSpPr>
          <p:cNvPr id="8" name="Shape 6"/>
          <p:cNvSpPr/>
          <p:nvPr/>
        </p:nvSpPr>
        <p:spPr>
          <a:xfrm>
            <a:off x="10698480" y="1691640"/>
            <a:ext cx="0" cy="3566160"/>
          </a:xfrm>
          <a:prstGeom prst="line">
            <a:avLst/>
          </a:prstGeom>
          <a:noFill/>
          <a:ln w="12700">
            <a:solidFill>
              <a:srgbClr val="E7ECEF"/>
            </a:solidFill>
            <a:prstDash val="solid"/>
          </a:ln>
        </p:spPr>
      </p:sp>
      <p:sp>
        <p:nvSpPr>
          <p:cNvPr id="9" name="Text 7"/>
          <p:cNvSpPr/>
          <p:nvPr/>
        </p:nvSpPr>
        <p:spPr>
          <a:xfrm>
            <a:off x="2103120" y="1325880"/>
            <a:ext cx="2148840" cy="320040"/>
          </a:xfrm>
          <a:prstGeom prst="rect">
            <a:avLst/>
          </a:prstGeom>
          <a:noFill/>
          <a:ln/>
        </p:spPr>
        <p:txBody>
          <a:bodyPr wrap="square" lIns="0" tIns="0" rIns="0" bIns="0" rtlCol="0" anchor="ctr"/>
          <a:lstStyle/>
          <a:p>
            <a:pPr marL="0" indent="0" algn="l">
              <a:buNone/>
            </a:pPr>
            <a:r>
              <a:rPr lang="en-US" sz="1100" b="1" dirty="0">
                <a:solidFill>
                  <a:srgbClr val="5B6B76"/>
                </a:solidFill>
                <a:latin typeface="Calibri" pitchFamily="34" charset="0"/>
                <a:ea typeface="Calibri" pitchFamily="34" charset="-122"/>
                <a:cs typeface="Calibri" pitchFamily="34" charset="-120"/>
              </a:rPr>
              <a:t>Week 1-2</a:t>
            </a:r>
            <a:endParaRPr lang="en-US" sz="1100" dirty="0"/>
          </a:p>
        </p:txBody>
      </p:sp>
      <p:sp>
        <p:nvSpPr>
          <p:cNvPr id="10" name="Text 8"/>
          <p:cNvSpPr/>
          <p:nvPr/>
        </p:nvSpPr>
        <p:spPr>
          <a:xfrm>
            <a:off x="4251960" y="1325880"/>
            <a:ext cx="2148840" cy="320040"/>
          </a:xfrm>
          <a:prstGeom prst="rect">
            <a:avLst/>
          </a:prstGeom>
          <a:noFill/>
          <a:ln/>
        </p:spPr>
        <p:txBody>
          <a:bodyPr wrap="square" lIns="0" tIns="0" rIns="0" bIns="0" rtlCol="0" anchor="ctr"/>
          <a:lstStyle/>
          <a:p>
            <a:pPr marL="0" indent="0" algn="l">
              <a:buNone/>
            </a:pPr>
            <a:r>
              <a:rPr lang="en-US" sz="1100" b="1" dirty="0">
                <a:solidFill>
                  <a:srgbClr val="5B6B76"/>
                </a:solidFill>
                <a:latin typeface="Calibri" pitchFamily="34" charset="0"/>
                <a:ea typeface="Calibri" pitchFamily="34" charset="-122"/>
                <a:cs typeface="Calibri" pitchFamily="34" charset="-120"/>
              </a:rPr>
              <a:t>Week 3-4</a:t>
            </a:r>
            <a:endParaRPr lang="en-US" sz="1100" dirty="0"/>
          </a:p>
        </p:txBody>
      </p:sp>
      <p:sp>
        <p:nvSpPr>
          <p:cNvPr id="11" name="Text 9"/>
          <p:cNvSpPr/>
          <p:nvPr/>
        </p:nvSpPr>
        <p:spPr>
          <a:xfrm>
            <a:off x="6400800" y="1325880"/>
            <a:ext cx="2148840" cy="320040"/>
          </a:xfrm>
          <a:prstGeom prst="rect">
            <a:avLst/>
          </a:prstGeom>
          <a:noFill/>
          <a:ln/>
        </p:spPr>
        <p:txBody>
          <a:bodyPr wrap="square" lIns="0" tIns="0" rIns="0" bIns="0" rtlCol="0" anchor="ctr"/>
          <a:lstStyle/>
          <a:p>
            <a:pPr marL="0" indent="0" algn="l">
              <a:buNone/>
            </a:pPr>
            <a:r>
              <a:rPr lang="en-US" sz="1100" b="1" dirty="0">
                <a:solidFill>
                  <a:srgbClr val="5B6B76"/>
                </a:solidFill>
                <a:latin typeface="Calibri" pitchFamily="34" charset="0"/>
                <a:ea typeface="Calibri" pitchFamily="34" charset="-122"/>
                <a:cs typeface="Calibri" pitchFamily="34" charset="-120"/>
              </a:rPr>
              <a:t>Week 4-6</a:t>
            </a:r>
            <a:endParaRPr lang="en-US" sz="1100" dirty="0"/>
          </a:p>
        </p:txBody>
      </p:sp>
      <p:sp>
        <p:nvSpPr>
          <p:cNvPr id="12" name="Text 10"/>
          <p:cNvSpPr/>
          <p:nvPr/>
        </p:nvSpPr>
        <p:spPr>
          <a:xfrm>
            <a:off x="8549640" y="1325880"/>
            <a:ext cx="2148840" cy="320040"/>
          </a:xfrm>
          <a:prstGeom prst="rect">
            <a:avLst/>
          </a:prstGeom>
          <a:noFill/>
          <a:ln/>
        </p:spPr>
        <p:txBody>
          <a:bodyPr wrap="square" lIns="0" tIns="0" rIns="0" bIns="0" rtlCol="0" anchor="ctr"/>
          <a:lstStyle/>
          <a:p>
            <a:pPr marL="0" indent="0" algn="l">
              <a:buNone/>
            </a:pPr>
            <a:r>
              <a:rPr lang="en-US" sz="1100" b="1" dirty="0">
                <a:solidFill>
                  <a:srgbClr val="5B6B76"/>
                </a:solidFill>
                <a:latin typeface="Calibri" pitchFamily="34" charset="0"/>
                <a:ea typeface="Calibri" pitchFamily="34" charset="-122"/>
                <a:cs typeface="Calibri" pitchFamily="34" charset="-120"/>
              </a:rPr>
              <a:t>Week 7</a:t>
            </a:r>
            <a:endParaRPr lang="en-US" sz="1100" dirty="0"/>
          </a:p>
        </p:txBody>
      </p:sp>
      <p:sp>
        <p:nvSpPr>
          <p:cNvPr id="13" name="Text 11"/>
          <p:cNvSpPr/>
          <p:nvPr/>
        </p:nvSpPr>
        <p:spPr>
          <a:xfrm>
            <a:off x="548640" y="1810512"/>
            <a:ext cx="1463040" cy="685800"/>
          </a:xfrm>
          <a:prstGeom prst="rect">
            <a:avLst/>
          </a:prstGeom>
          <a:noFill/>
          <a:ln/>
        </p:spPr>
        <p:txBody>
          <a:bodyPr wrap="square" lIns="0" tIns="0" rIns="0" bIns="0" rtlCol="0" anchor="ctr"/>
          <a:lstStyle/>
          <a:p>
            <a:pPr marL="0" indent="0">
              <a:lnSpc>
                <a:spcPts val="1300"/>
              </a:lnSpc>
              <a:buNone/>
            </a:pPr>
            <a:r>
              <a:rPr lang="en-US" sz="1150" b="1" dirty="0">
                <a:solidFill>
                  <a:srgbClr val="21295C"/>
                </a:solidFill>
                <a:latin typeface="Calibri" pitchFamily="34" charset="0"/>
                <a:ea typeface="Calibri" pitchFamily="34" charset="-122"/>
                <a:cs typeface="Calibri" pitchFamily="34" charset="-120"/>
              </a:rPr>
              <a:t>OUC-CGE 5-Fold Baseline</a:t>
            </a:r>
            <a:endParaRPr lang="en-US" sz="1150" dirty="0"/>
          </a:p>
        </p:txBody>
      </p:sp>
      <p:sp>
        <p:nvSpPr>
          <p:cNvPr id="14" name="Shape 12"/>
          <p:cNvSpPr/>
          <p:nvPr/>
        </p:nvSpPr>
        <p:spPr>
          <a:xfrm>
            <a:off x="2148840" y="1828800"/>
            <a:ext cx="2057400" cy="502920"/>
          </a:xfrm>
          <a:prstGeom prst="roundRect">
            <a:avLst>
              <a:gd name="adj" fmla="val 10909"/>
            </a:avLst>
          </a:prstGeom>
          <a:solidFill>
            <a:srgbClr val="EAF1F5"/>
          </a:solidFill>
          <a:ln/>
        </p:spPr>
      </p:sp>
      <p:sp>
        <p:nvSpPr>
          <p:cNvPr id="15" name="Shape 13"/>
          <p:cNvSpPr/>
          <p:nvPr/>
        </p:nvSpPr>
        <p:spPr>
          <a:xfrm>
            <a:off x="2148840" y="1828800"/>
            <a:ext cx="2057400" cy="502920"/>
          </a:xfrm>
          <a:prstGeom prst="roundRect">
            <a:avLst>
              <a:gd name="adj" fmla="val 10909"/>
            </a:avLst>
          </a:prstGeom>
          <a:solidFill>
            <a:srgbClr val="065A82"/>
          </a:solidFill>
          <a:ln/>
        </p:spPr>
      </p:sp>
      <p:sp>
        <p:nvSpPr>
          <p:cNvPr id="17" name="Text 15"/>
          <p:cNvSpPr/>
          <p:nvPr/>
        </p:nvSpPr>
        <p:spPr>
          <a:xfrm>
            <a:off x="548640" y="2679192"/>
            <a:ext cx="1463040" cy="685800"/>
          </a:xfrm>
          <a:prstGeom prst="rect">
            <a:avLst/>
          </a:prstGeom>
          <a:noFill/>
          <a:ln/>
        </p:spPr>
        <p:txBody>
          <a:bodyPr wrap="square" lIns="0" tIns="0" rIns="0" bIns="0" rtlCol="0" anchor="ctr"/>
          <a:lstStyle/>
          <a:p>
            <a:pPr marL="0" indent="0">
              <a:lnSpc>
                <a:spcPts val="1300"/>
              </a:lnSpc>
              <a:buNone/>
            </a:pPr>
            <a:r>
              <a:rPr lang="en-US" sz="1150" b="1" dirty="0">
                <a:solidFill>
                  <a:srgbClr val="21295C"/>
                </a:solidFill>
                <a:latin typeface="Calibri" pitchFamily="34" charset="0"/>
                <a:ea typeface="Calibri" pitchFamily="34" charset="-122"/>
                <a:cs typeface="Calibri" pitchFamily="34" charset="-120"/>
              </a:rPr>
              <a:t>Cross-Dataset Data Pipeline</a:t>
            </a:r>
            <a:endParaRPr lang="en-US" sz="1150" dirty="0"/>
          </a:p>
        </p:txBody>
      </p:sp>
      <p:sp>
        <p:nvSpPr>
          <p:cNvPr id="18" name="Shape 16"/>
          <p:cNvSpPr/>
          <p:nvPr/>
        </p:nvSpPr>
        <p:spPr>
          <a:xfrm>
            <a:off x="4297680" y="2697480"/>
            <a:ext cx="2057400" cy="502920"/>
          </a:xfrm>
          <a:prstGeom prst="roundRect">
            <a:avLst>
              <a:gd name="adj" fmla="val 10909"/>
            </a:avLst>
          </a:prstGeom>
          <a:solidFill>
            <a:srgbClr val="EAF1F5"/>
          </a:solidFill>
          <a:ln/>
        </p:spPr>
      </p:sp>
      <p:sp>
        <p:nvSpPr>
          <p:cNvPr id="19" name="Shape 17"/>
          <p:cNvSpPr/>
          <p:nvPr/>
        </p:nvSpPr>
        <p:spPr>
          <a:xfrm>
            <a:off x="4297680" y="2697480"/>
            <a:ext cx="102870" cy="502920"/>
          </a:xfrm>
          <a:prstGeom prst="roundRect">
            <a:avLst>
              <a:gd name="adj" fmla="val 53333"/>
            </a:avLst>
          </a:prstGeom>
          <a:solidFill>
            <a:srgbClr val="1C7293"/>
          </a:solidFill>
          <a:ln/>
        </p:spPr>
      </p:sp>
      <p:sp>
        <p:nvSpPr>
          <p:cNvPr id="20" name="Text 18"/>
          <p:cNvSpPr/>
          <p:nvPr/>
        </p:nvSpPr>
        <p:spPr>
          <a:xfrm>
            <a:off x="4297680" y="3227832"/>
            <a:ext cx="2057400" cy="320040"/>
          </a:xfrm>
          <a:prstGeom prst="rect">
            <a:avLst/>
          </a:prstGeom>
          <a:noFill/>
          <a:ln/>
        </p:spPr>
        <p:txBody>
          <a:bodyPr wrap="square" lIns="0" tIns="0" rIns="0" bIns="0" rtlCol="0" anchor="ctr"/>
          <a:lstStyle/>
          <a:p>
            <a:pPr marL="0" indent="0">
              <a:buNone/>
            </a:pPr>
            <a:r>
              <a:rPr lang="en-US" sz="900" i="1" dirty="0">
                <a:solidFill>
                  <a:srgbClr val="5B6B76"/>
                </a:solidFill>
                <a:latin typeface="Calibri" pitchFamily="34" charset="0"/>
                <a:ea typeface="Calibri" pitchFamily="34" charset="-122"/>
                <a:cs typeface="Calibri" pitchFamily="34" charset="-120"/>
              </a:rPr>
              <a:t>Label mapping · frame extraction · unified loader</a:t>
            </a:r>
            <a:endParaRPr lang="en-US" sz="900" dirty="0"/>
          </a:p>
        </p:txBody>
      </p:sp>
      <p:sp>
        <p:nvSpPr>
          <p:cNvPr id="21" name="Text 19"/>
          <p:cNvSpPr/>
          <p:nvPr/>
        </p:nvSpPr>
        <p:spPr>
          <a:xfrm>
            <a:off x="548640" y="3547872"/>
            <a:ext cx="1463040" cy="685800"/>
          </a:xfrm>
          <a:prstGeom prst="rect">
            <a:avLst/>
          </a:prstGeom>
          <a:noFill/>
          <a:ln/>
        </p:spPr>
        <p:txBody>
          <a:bodyPr wrap="square" lIns="0" tIns="0" rIns="0" bIns="0" rtlCol="0" anchor="ctr"/>
          <a:lstStyle/>
          <a:p>
            <a:pPr marL="0" indent="0">
              <a:lnSpc>
                <a:spcPts val="1300"/>
              </a:lnSpc>
              <a:buNone/>
            </a:pPr>
            <a:r>
              <a:rPr lang="en-US" sz="1150" b="1" dirty="0">
                <a:solidFill>
                  <a:srgbClr val="21295C"/>
                </a:solidFill>
                <a:latin typeface="Calibri" pitchFamily="34" charset="0"/>
                <a:ea typeface="Calibri" pitchFamily="34" charset="-122"/>
                <a:cs typeface="Calibri" pitchFamily="34" charset="-120"/>
              </a:rPr>
              <a:t>Cross-Dataset Experiments</a:t>
            </a:r>
            <a:endParaRPr lang="en-US" sz="1150" dirty="0"/>
          </a:p>
        </p:txBody>
      </p:sp>
      <p:sp>
        <p:nvSpPr>
          <p:cNvPr id="22" name="Shape 20"/>
          <p:cNvSpPr/>
          <p:nvPr/>
        </p:nvSpPr>
        <p:spPr>
          <a:xfrm>
            <a:off x="6446520" y="3566160"/>
            <a:ext cx="2057400" cy="502920"/>
          </a:xfrm>
          <a:prstGeom prst="roundRect">
            <a:avLst>
              <a:gd name="adj" fmla="val 10909"/>
            </a:avLst>
          </a:prstGeom>
          <a:solidFill>
            <a:srgbClr val="EAF1F5"/>
          </a:solidFill>
          <a:ln/>
        </p:spPr>
      </p:sp>
      <p:sp>
        <p:nvSpPr>
          <p:cNvPr id="23" name="Text 21"/>
          <p:cNvSpPr/>
          <p:nvPr/>
        </p:nvSpPr>
        <p:spPr>
          <a:xfrm>
            <a:off x="6446520" y="4096512"/>
            <a:ext cx="2057400" cy="320040"/>
          </a:xfrm>
          <a:prstGeom prst="rect">
            <a:avLst/>
          </a:prstGeom>
          <a:noFill/>
          <a:ln/>
        </p:spPr>
        <p:txBody>
          <a:bodyPr wrap="square" lIns="0" tIns="0" rIns="0" bIns="0" rtlCol="0" anchor="ctr"/>
          <a:lstStyle/>
          <a:p>
            <a:pPr marL="0" indent="0">
              <a:buNone/>
            </a:pPr>
            <a:r>
              <a:rPr lang="en-US" sz="900" i="1" dirty="0">
                <a:solidFill>
                  <a:srgbClr val="5B6B76"/>
                </a:solidFill>
                <a:latin typeface="Calibri" pitchFamily="34" charset="0"/>
                <a:ea typeface="Calibri" pitchFamily="34" charset="-122"/>
                <a:cs typeface="Calibri" pitchFamily="34" charset="-120"/>
              </a:rPr>
              <a:t>Experiments A, B, and C executed</a:t>
            </a:r>
            <a:endParaRPr lang="en-US" sz="900" dirty="0"/>
          </a:p>
        </p:txBody>
      </p:sp>
      <p:sp>
        <p:nvSpPr>
          <p:cNvPr id="24" name="Text 22"/>
          <p:cNvSpPr/>
          <p:nvPr/>
        </p:nvSpPr>
        <p:spPr>
          <a:xfrm>
            <a:off x="548640" y="4416552"/>
            <a:ext cx="1463040" cy="685800"/>
          </a:xfrm>
          <a:prstGeom prst="rect">
            <a:avLst/>
          </a:prstGeom>
          <a:noFill/>
          <a:ln/>
        </p:spPr>
        <p:txBody>
          <a:bodyPr wrap="square" lIns="0" tIns="0" rIns="0" bIns="0" rtlCol="0" anchor="ctr"/>
          <a:lstStyle/>
          <a:p>
            <a:pPr marL="0" indent="0">
              <a:lnSpc>
                <a:spcPts val="1300"/>
              </a:lnSpc>
              <a:buNone/>
            </a:pPr>
            <a:r>
              <a:rPr lang="en-US" sz="1150" b="1" dirty="0">
                <a:solidFill>
                  <a:srgbClr val="21295C"/>
                </a:solidFill>
                <a:latin typeface="Calibri" pitchFamily="34" charset="0"/>
                <a:ea typeface="Calibri" pitchFamily="34" charset="-122"/>
                <a:cs typeface="Calibri" pitchFamily="34" charset="-120"/>
              </a:rPr>
              <a:t>Analysis &amp; Paper Writing</a:t>
            </a:r>
            <a:endParaRPr lang="en-US" sz="1150" dirty="0"/>
          </a:p>
        </p:txBody>
      </p:sp>
      <p:sp>
        <p:nvSpPr>
          <p:cNvPr id="25" name="Shape 23"/>
          <p:cNvSpPr/>
          <p:nvPr/>
        </p:nvSpPr>
        <p:spPr>
          <a:xfrm>
            <a:off x="8595360" y="4434840"/>
            <a:ext cx="2057400" cy="502920"/>
          </a:xfrm>
          <a:prstGeom prst="roundRect">
            <a:avLst>
              <a:gd name="adj" fmla="val 10909"/>
            </a:avLst>
          </a:prstGeom>
          <a:solidFill>
            <a:srgbClr val="EAF1F5"/>
          </a:solidFill>
          <a:ln/>
        </p:spPr>
      </p:sp>
      <p:sp>
        <p:nvSpPr>
          <p:cNvPr id="26" name="Text 24"/>
          <p:cNvSpPr/>
          <p:nvPr/>
        </p:nvSpPr>
        <p:spPr>
          <a:xfrm>
            <a:off x="8595360" y="4965192"/>
            <a:ext cx="2057400" cy="320040"/>
          </a:xfrm>
          <a:prstGeom prst="rect">
            <a:avLst/>
          </a:prstGeom>
          <a:noFill/>
          <a:ln/>
        </p:spPr>
        <p:txBody>
          <a:bodyPr wrap="square" lIns="0" tIns="0" rIns="0" bIns="0" rtlCol="0" anchor="ctr"/>
          <a:lstStyle/>
          <a:p>
            <a:pPr marL="0" indent="0">
              <a:buNone/>
            </a:pPr>
            <a:r>
              <a:rPr lang="en-US" sz="900" i="1" dirty="0">
                <a:solidFill>
                  <a:srgbClr val="5B6B76"/>
                </a:solidFill>
                <a:latin typeface="Calibri" pitchFamily="34" charset="0"/>
                <a:ea typeface="Calibri" pitchFamily="34" charset="-122"/>
                <a:cs typeface="Calibri" pitchFamily="34" charset="-120"/>
              </a:rPr>
              <a:t>Consolidate results, write up findings</a:t>
            </a:r>
            <a:endParaRPr lang="en-US" sz="900" dirty="0"/>
          </a:p>
        </p:txBody>
      </p:sp>
      <p:sp>
        <p:nvSpPr>
          <p:cNvPr id="27" name="Shape 25"/>
          <p:cNvSpPr/>
          <p:nvPr/>
        </p:nvSpPr>
        <p:spPr>
          <a:xfrm>
            <a:off x="4251960" y="1325880"/>
            <a:ext cx="0" cy="3611880"/>
          </a:xfrm>
          <a:prstGeom prst="line">
            <a:avLst/>
          </a:prstGeom>
          <a:noFill/>
          <a:ln w="19050">
            <a:solidFill>
              <a:srgbClr val="B5473A"/>
            </a:solidFill>
            <a:prstDash val="dash"/>
          </a:ln>
        </p:spPr>
      </p:sp>
      <p:sp>
        <p:nvSpPr>
          <p:cNvPr id="28" name="Text 26"/>
          <p:cNvSpPr/>
          <p:nvPr/>
        </p:nvSpPr>
        <p:spPr>
          <a:xfrm>
            <a:off x="3794760" y="1041984"/>
            <a:ext cx="914400" cy="274320"/>
          </a:xfrm>
          <a:prstGeom prst="rect">
            <a:avLst/>
          </a:prstGeom>
          <a:noFill/>
          <a:ln/>
        </p:spPr>
        <p:txBody>
          <a:bodyPr wrap="square" lIns="0" tIns="0" rIns="0" bIns="0" rtlCol="0" anchor="ctr"/>
          <a:lstStyle/>
          <a:p>
            <a:pPr marL="0" indent="0" algn="ctr">
              <a:buNone/>
            </a:pPr>
            <a:r>
              <a:rPr lang="en-US" sz="1000" b="1" dirty="0">
                <a:solidFill>
                  <a:srgbClr val="B5473A"/>
                </a:solidFill>
                <a:latin typeface="Calibri" pitchFamily="34" charset="0"/>
                <a:ea typeface="Calibri" pitchFamily="34" charset="-122"/>
                <a:cs typeface="Calibri" pitchFamily="34" charset="-120"/>
              </a:rPr>
              <a:t>TODAY</a:t>
            </a:r>
            <a:endParaRPr lang="en-US" sz="1000" dirty="0"/>
          </a:p>
        </p:txBody>
      </p:sp>
      <p:sp>
        <p:nvSpPr>
          <p:cNvPr id="29" name="Text 27"/>
          <p:cNvSpPr/>
          <p:nvPr/>
        </p:nvSpPr>
        <p:spPr>
          <a:xfrm>
            <a:off x="11368735" y="6355080"/>
            <a:ext cx="457200" cy="320040"/>
          </a:xfrm>
          <a:prstGeom prst="rect">
            <a:avLst/>
          </a:prstGeom>
          <a:noFill/>
          <a:ln/>
        </p:spPr>
        <p:txBody>
          <a:bodyPr wrap="square" lIns="0" tIns="0" rIns="0" bIns="0" rtlCol="0" anchor="ctr"/>
          <a:lstStyle/>
          <a:p>
            <a:pPr marL="0" indent="0" algn="r">
              <a:buNone/>
            </a:pPr>
            <a:r>
              <a:rPr lang="en-US" sz="1100" dirty="0">
                <a:solidFill>
                  <a:srgbClr val="5B6B76"/>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2453</Words>
  <Application>Microsoft Office PowerPoint</Application>
  <PresentationFormat>Widescreen</PresentationFormat>
  <Paragraphs>247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Koppesh P</cp:lastModifiedBy>
  <cp:revision>2</cp:revision>
  <dcterms:created xsi:type="dcterms:W3CDTF">2026-07-25T15:30:53Z</dcterms:created>
  <dcterms:modified xsi:type="dcterms:W3CDTF">2026-07-25T15:48:12Z</dcterms:modified>
</cp:coreProperties>
</file>