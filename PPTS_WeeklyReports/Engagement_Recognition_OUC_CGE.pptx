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4" r:id="rId16"/>
    <p:sldId id="272" r:id="rId17"/>
    <p:sldId id="275" r:id="rId18"/>
    <p:sldId id="276" r:id="rId19"/>
    <p:sldId id="277" r:id="rId20"/>
    <p:sldId id="278" r:id="rId21"/>
    <p:sldId id="279" r:id="rId22"/>
    <p:sldId id="280" r:id="rId23"/>
    <p:sldId id="270"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96723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the topic: automated assessment of classroom group engagement using deep learning. Note that this review covers 10 peer-reviewed papers from 2022–2026 spanning 3D CNNs, Vision Transformers, self-supervised learning, and multimodal fusion. Anchor the session around the OUC-CGE dataset as the central novel contribution.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Engagement is a multidimensional construct covering behavioural, emotional, and cognitive dimensions. Current methods are subjective and lack scalability. Highlight that learning is socially embedded — groups of students modulate each other's engagement. This motivates a shift from individual webcam analysis to classroom-level group analysis.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interrelated challenges define the research gap. Stress that the OUC-CGE dataset directly addresses challenges 1 and 2 — it is the first authentically captured group engagement dataset. The remaining challenges (3–6) frame the open research agenda that motivates this proposal.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era, highlighting the key architectural advancement and its limitation. Emphasise the transition from 3D CNNs to Transformers is not merely incremental — it represents a shift from local convolution receptive fields to global attention mechanisms. Note that the OUC-CGE dataset was benchmarked with 3D CNN baselines (I3D: 94.3%) and that the current SOTA using Vision Transformers reaches 98.5%.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condenses all 10 papers. Highlight the two OUC-CGE papers (rows 1 &amp; 2) as central to the proposal. Note the progression from CNN-only approaches toward Transformer-based and multimodal methods. Observe that the best performing system (Nie &amp; Wang, 2026) uses a Vision Transformer directly on OUC-CGE.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to contrast OUC-CGE with existing benchmarks. Stress three critical advantages of OUC-CGE: (1) it captures group rather than individual dynamics, (2) it is authentically recorded in-the-wild, and (3) it is publicly available. DAiSEE, while dominant in the literature, is fundamentally a virtual e-learning dataset and therefore ecologically invalid for physical classroom deployment.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block represents an architectural generation. Emphasise the progression: CNNs provide spatial power, LSTMs add temporal memory but suffer gradients, 3D CNNs unify both but are computationally expensive, and Transformers overcome these by using attention without recurrence. The trend line points clearly toward transformer-based spatiotemporal models as the future standard.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papers form the citation backbone of any proposal in this area. P1 and P2 are directly on OUC-CGE. P3 covers the 3D CNN architectural argument. P4 addresses data efficiency via self-supervised learning. P5 provides the multimodal audio-visual argument. Together they span the full narrative arc: dataset → architecture → explainability → efficiency → multimodality.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marks the pivot of the presentation to the OUC-CGE dataset specifically. Emphasise: the dataset was published in Nature's Scientific Data — a high-credibility venue. Its key innovation is capturing multiple students simultaneously in an authentic, unscripted environment. This ecological validity is what makes it fundamentally different from and superior to all prior individual-student datasets for real-world classroom AI applications.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technical specifics of OUC-CGE. The 10-second clip granularity is a deliberate design choice — it is long enough to observe a sustained behavioral pattern while short enough to capture transitions. The HD 1280x720 resolution at 30fps enables both fine-grained facial analysis and broader group posture analysis. The baseline jump from I3D (94.3%) to the EED transformer (98.5%) illustrates the immediate performance headroom available for new architectures.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Caution the supervisor that direct comparisons are inappropriate — different papers use different datasets and metrics. The chart is illustrative of relative magnitudes. Key observation: all recent methods exceed 90% on their respective datasets, suggesting the field has largely saturated single-dataset performance. The meaningful open challenge is generalisation across datasets and deployment under real classroom constraints, not accuracy maximisation on any single benchmark.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research gaps are identified, rated by severity. G1 and G3 are critical — they directly block trustworthy real-world deployment. G4 is a practical engineering barrier. G5 and G6 represent longer-term research opportunities. This slide sets the stage for the proposed future directions on the next slide. Stress that each gap maps to a concrete research opportunity.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future direction explicitly maps to the gaps identified on the previous slide. FD1 and FD2 address the core architectural and explainability challenges. FD3 targets the deployment gap. FD4 extends OUC-CGE's scope to multimodality. FD5 attacks the annotation bottleneck. FD6 closes the loop for real-world educator-facing deployment. This structured mapping demonstrates scientific rigor in the research proposal.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workflow slide ties the literature review into a concrete research proposal. Walk through each stage: data ingestion from OUC-CGE, preprocessing with student detection, feature extraction (spatial + temporal), model architecture (emphasising the XAI layer as a novel contribution), output (3-class labels + explanation maps), and evaluation against published baselines. Stress the iterative loop — the pipeline is designed to be ablated systematically.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02642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0968667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05731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86776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70788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147176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27959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96361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summary. Reinforce the three key take-aways: (1) OUC-CGE is a unique, high-value resource; (2) the field is mature enough to have clear SOTA baselines but open enough to have meaningful research gaps; (3) the proposed pipeline (Slide 14) is a well-grounded, literature-justified research direction. End by inviting questions from the supervisor.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B6CA8">
              <a:alpha val="45000"/>
            </a:srgbClr>
          </a:solidFill>
          <a:ln w="12700">
            <a:solidFill>
              <a:srgbClr val="1B6CA8">
                <a:alpha val="45000"/>
              </a:srgbClr>
            </a:solidFill>
            <a:prstDash val="solid"/>
          </a:ln>
        </p:spPr>
      </p:sp>
      <p:sp>
        <p:nvSpPr>
          <p:cNvPr id="3" name="Shape 1"/>
          <p:cNvSpPr/>
          <p:nvPr/>
        </p:nvSpPr>
        <p:spPr>
          <a:xfrm>
            <a:off x="0" y="0"/>
            <a:ext cx="201168" cy="6858000"/>
          </a:xfrm>
          <a:prstGeom prst="rect">
            <a:avLst/>
          </a:prstGeom>
          <a:solidFill>
            <a:srgbClr val="F4A811"/>
          </a:solidFill>
          <a:ln w="12700">
            <a:solidFill>
              <a:srgbClr val="F4A811"/>
            </a:solidFill>
            <a:prstDash val="solid"/>
          </a:ln>
        </p:spPr>
      </p:sp>
      <p:sp>
        <p:nvSpPr>
          <p:cNvPr id="4" name="Text 2"/>
          <p:cNvSpPr/>
          <p:nvPr/>
        </p:nvSpPr>
        <p:spPr>
          <a:xfrm>
            <a:off x="4206240" y="822960"/>
            <a:ext cx="7680960" cy="1463040"/>
          </a:xfrm>
          <a:prstGeom prst="rect">
            <a:avLst/>
          </a:prstGeom>
          <a:noFill/>
          <a:ln/>
        </p:spPr>
        <p:txBody>
          <a:bodyPr wrap="square"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VIDEO-BASED ENGAGEMENT</a:t>
            </a:r>
            <a:endParaRPr lang="en-US" sz="3400" dirty="0"/>
          </a:p>
          <a:p>
            <a:pPr marL="0" indent="0" algn="l">
              <a:buNone/>
            </a:pPr>
            <a:r>
              <a:rPr lang="en-US" sz="3400" b="1" dirty="0">
                <a:solidFill>
                  <a:srgbClr val="FFFFFF"/>
                </a:solidFill>
                <a:latin typeface="Cambria" pitchFamily="34" charset="0"/>
                <a:ea typeface="Cambria" pitchFamily="34" charset="-122"/>
                <a:cs typeface="Cambria" pitchFamily="34" charset="-120"/>
              </a:rPr>
              <a:t>RECOGNITION</a:t>
            </a:r>
            <a:endParaRPr lang="en-US" sz="3400" dirty="0"/>
          </a:p>
        </p:txBody>
      </p:sp>
      <p:sp>
        <p:nvSpPr>
          <p:cNvPr id="5" name="Shape 3"/>
          <p:cNvSpPr/>
          <p:nvPr/>
        </p:nvSpPr>
        <p:spPr>
          <a:xfrm>
            <a:off x="4206240" y="2423160"/>
            <a:ext cx="6858000" cy="0"/>
          </a:xfrm>
          <a:prstGeom prst="line">
            <a:avLst/>
          </a:prstGeom>
          <a:noFill/>
          <a:ln w="25400">
            <a:solidFill>
              <a:srgbClr val="F4A811"/>
            </a:solidFill>
            <a:prstDash val="solid"/>
          </a:ln>
        </p:spPr>
      </p:sp>
      <p:sp>
        <p:nvSpPr>
          <p:cNvPr id="6" name="Text 4"/>
          <p:cNvSpPr/>
          <p:nvPr/>
        </p:nvSpPr>
        <p:spPr>
          <a:xfrm>
            <a:off x="4206240" y="2560320"/>
            <a:ext cx="7680960" cy="914400"/>
          </a:xfrm>
          <a:prstGeom prst="rect">
            <a:avLst/>
          </a:prstGeom>
          <a:noFill/>
          <a:ln/>
        </p:spPr>
        <p:txBody>
          <a:bodyPr wrap="square" rtlCol="0" anchor="ctr"/>
          <a:lstStyle/>
          <a:p>
            <a:pPr marL="0" indent="0" algn="l">
              <a:buNone/>
            </a:pPr>
            <a:r>
              <a:rPr lang="en-US" sz="1800" dirty="0">
                <a:solidFill>
                  <a:srgbClr val="2B9FD9"/>
                </a:solidFill>
                <a:latin typeface="Cambria" pitchFamily="34" charset="0"/>
                <a:ea typeface="Cambria" pitchFamily="34" charset="-122"/>
                <a:cs typeface="Cambria" pitchFamily="34" charset="-120"/>
              </a:rPr>
              <a:t>OUC-CGE Dataset Analysis and</a:t>
            </a:r>
            <a:endParaRPr lang="en-US" sz="1800" dirty="0"/>
          </a:p>
          <a:p>
            <a:pPr marL="0" indent="0" algn="l">
              <a:buNone/>
            </a:pPr>
            <a:r>
              <a:rPr lang="en-US" sz="1800" dirty="0">
                <a:solidFill>
                  <a:srgbClr val="2B9FD9"/>
                </a:solidFill>
                <a:latin typeface="Cambria" pitchFamily="34" charset="0"/>
                <a:ea typeface="Cambria" pitchFamily="34" charset="-122"/>
                <a:cs typeface="Cambria" pitchFamily="34" charset="-120"/>
              </a:rPr>
              <a:t>Deep Learning Approaches</a:t>
            </a:r>
            <a:endParaRPr lang="en-US" sz="1800" dirty="0"/>
          </a:p>
        </p:txBody>
      </p:sp>
      <p:sp>
        <p:nvSpPr>
          <p:cNvPr id="7" name="Text 5"/>
          <p:cNvSpPr/>
          <p:nvPr/>
        </p:nvSpPr>
        <p:spPr>
          <a:xfrm>
            <a:off x="4206240" y="3657600"/>
            <a:ext cx="7680960" cy="365760"/>
          </a:xfrm>
          <a:prstGeom prst="rect">
            <a:avLst/>
          </a:prstGeom>
          <a:noFill/>
          <a:ln/>
        </p:spPr>
        <p:txBody>
          <a:bodyPr wrap="square" rtlCol="0" anchor="ctr"/>
          <a:lstStyle/>
          <a:p>
            <a:pPr marL="0" indent="0">
              <a:buNone/>
            </a:pPr>
            <a:r>
              <a:rPr lang="en-US" sz="1300" i="1" dirty="0">
                <a:solidFill>
                  <a:srgbClr val="7A8FA6"/>
                </a:solidFill>
                <a:latin typeface="Calibri" pitchFamily="34" charset="0"/>
                <a:ea typeface="Calibri" pitchFamily="34" charset="-122"/>
                <a:cs typeface="Calibri" pitchFamily="34" charset="-120"/>
              </a:rPr>
              <a:t>Literature Review </a:t>
            </a:r>
            <a:endParaRPr lang="en-US" sz="1300" dirty="0"/>
          </a:p>
        </p:txBody>
      </p:sp>
      <p:sp>
        <p:nvSpPr>
          <p:cNvPr id="9" name="Text 7"/>
          <p:cNvSpPr/>
          <p:nvPr/>
        </p:nvSpPr>
        <p:spPr>
          <a:xfrm>
            <a:off x="365760" y="1097280"/>
            <a:ext cx="3200400" cy="274320"/>
          </a:xfrm>
          <a:prstGeom prst="rect">
            <a:avLst/>
          </a:prstGeom>
          <a:noFill/>
          <a:ln/>
        </p:spPr>
        <p:txBody>
          <a:bodyPr wrap="square" rtlCol="0" anchor="ctr"/>
          <a:lstStyle/>
          <a:p>
            <a:pPr marL="0" indent="0">
              <a:buNone/>
            </a:pPr>
            <a:r>
              <a:rPr lang="en-US" sz="900" b="1" kern="0" spc="200" dirty="0">
                <a:solidFill>
                  <a:srgbClr val="F4A811"/>
                </a:solidFill>
                <a:latin typeface="Calibri" pitchFamily="34" charset="0"/>
                <a:ea typeface="Calibri" pitchFamily="34" charset="-122"/>
                <a:cs typeface="Calibri" pitchFamily="34" charset="-120"/>
              </a:rPr>
              <a:t>TOPICS COVERED</a:t>
            </a:r>
            <a:endParaRPr lang="en-US" sz="900" dirty="0"/>
          </a:p>
        </p:txBody>
      </p:sp>
      <p:sp>
        <p:nvSpPr>
          <p:cNvPr id="10" name="Text 8"/>
          <p:cNvSpPr/>
          <p:nvPr/>
        </p:nvSpPr>
        <p:spPr>
          <a:xfrm>
            <a:off x="365760" y="1508760"/>
            <a:ext cx="3291840" cy="34747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Dataset: OUC-CGE</a:t>
            </a:r>
            <a:endParaRPr lang="en-US" sz="1200" dirty="0"/>
          </a:p>
        </p:txBody>
      </p:sp>
      <p:sp>
        <p:nvSpPr>
          <p:cNvPr id="11" name="Text 9"/>
          <p:cNvSpPr/>
          <p:nvPr/>
        </p:nvSpPr>
        <p:spPr>
          <a:xfrm>
            <a:off x="365760" y="1947672"/>
            <a:ext cx="3291840" cy="34747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3D CNN / Transformers</a:t>
            </a:r>
            <a:endParaRPr lang="en-US" sz="1200" dirty="0"/>
          </a:p>
        </p:txBody>
      </p:sp>
      <p:sp>
        <p:nvSpPr>
          <p:cNvPr id="12" name="Text 10"/>
          <p:cNvSpPr/>
          <p:nvPr/>
        </p:nvSpPr>
        <p:spPr>
          <a:xfrm>
            <a:off x="365760" y="2386584"/>
            <a:ext cx="3291840" cy="34747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Self-Supervised Learning</a:t>
            </a:r>
            <a:endParaRPr lang="en-US" sz="1200" dirty="0"/>
          </a:p>
        </p:txBody>
      </p:sp>
      <p:sp>
        <p:nvSpPr>
          <p:cNvPr id="13" name="Text 11"/>
          <p:cNvSpPr/>
          <p:nvPr/>
        </p:nvSpPr>
        <p:spPr>
          <a:xfrm>
            <a:off x="365760" y="2825496"/>
            <a:ext cx="3291840" cy="34747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Multimodal Fusion</a:t>
            </a:r>
            <a:endParaRPr lang="en-US" sz="1200" dirty="0"/>
          </a:p>
        </p:txBody>
      </p:sp>
      <p:sp>
        <p:nvSpPr>
          <p:cNvPr id="14" name="Text 12"/>
          <p:cNvSpPr/>
          <p:nvPr/>
        </p:nvSpPr>
        <p:spPr>
          <a:xfrm>
            <a:off x="365760" y="3264408"/>
            <a:ext cx="3291840" cy="34747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Explainable AI</a:t>
            </a:r>
            <a:endParaRPr lang="en-US" sz="1200" dirty="0"/>
          </a:p>
        </p:txBody>
      </p:sp>
      <p:sp>
        <p:nvSpPr>
          <p:cNvPr id="15" name="Text 13"/>
          <p:cNvSpPr/>
          <p:nvPr/>
        </p:nvSpPr>
        <p:spPr>
          <a:xfrm>
            <a:off x="365760" y="3703320"/>
            <a:ext cx="3291840" cy="34747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Research Gaps &amp; Directions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EDF2"/>
        </a:solidFill>
        <a:effectLst/>
      </p:bgPr>
    </p:bg>
    <p:spTree>
      <p:nvGrpSpPr>
        <p:cNvPr id="1" name=""/>
        <p:cNvGrpSpPr/>
        <p:nvPr/>
      </p:nvGrpSpPr>
      <p:grpSpPr>
        <a:xfrm>
          <a:off x="0" y="0"/>
          <a:ext cx="0" cy="0"/>
          <a:chOff x="0" y="0"/>
          <a:chExt cx="0" cy="0"/>
        </a:xfrm>
      </p:grpSpPr>
      <p:sp>
        <p:nvSpPr>
          <p:cNvPr id="2" name="Shape 0"/>
          <p:cNvSpPr/>
          <p:nvPr/>
        </p:nvSpPr>
        <p:spPr>
          <a:xfrm>
            <a:off x="320040" y="201168"/>
            <a:ext cx="1828800" cy="256032"/>
          </a:xfrm>
          <a:prstGeom prst="rect">
            <a:avLst/>
          </a:prstGeom>
          <a:solidFill>
            <a:srgbClr val="2B9FD9"/>
          </a:solidFill>
          <a:ln w="12700">
            <a:solidFill>
              <a:srgbClr val="2B9FD9"/>
            </a:solidFill>
            <a:prstDash val="solid"/>
          </a:ln>
        </p:spPr>
      </p:sp>
      <p:sp>
        <p:nvSpPr>
          <p:cNvPr id="3" name="Text 1"/>
          <p:cNvSpPr/>
          <p:nvPr/>
        </p:nvSpPr>
        <p:spPr>
          <a:xfrm>
            <a:off x="320040" y="201168"/>
            <a:ext cx="1828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MOTIVATION</a:t>
            </a:r>
            <a:endParaRPr lang="en-US" sz="800" dirty="0"/>
          </a:p>
        </p:txBody>
      </p:sp>
      <p:sp>
        <p:nvSpPr>
          <p:cNvPr id="4" name="Text 2"/>
          <p:cNvSpPr/>
          <p:nvPr/>
        </p:nvSpPr>
        <p:spPr>
          <a:xfrm>
            <a:off x="320040" y="548640"/>
            <a:ext cx="11521440" cy="502920"/>
          </a:xfrm>
          <a:prstGeom prst="rect">
            <a:avLst/>
          </a:prstGeom>
          <a:noFill/>
          <a:ln/>
        </p:spPr>
        <p:txBody>
          <a:bodyPr wrap="square" rtlCol="0" anchor="ctr"/>
          <a:lstStyle/>
          <a:p>
            <a:pPr marL="0" indent="0" algn="l">
              <a:buNone/>
            </a:pPr>
            <a:r>
              <a:rPr lang="en-US" sz="2600" b="1" dirty="0">
                <a:solidFill>
                  <a:srgbClr val="1A2B3C"/>
                </a:solidFill>
                <a:latin typeface="Cambria" pitchFamily="34" charset="0"/>
                <a:ea typeface="Cambria" pitchFamily="34" charset="-122"/>
                <a:cs typeface="Cambria" pitchFamily="34" charset="-120"/>
              </a:rPr>
              <a:t>Why Automated Engagement Recognition Matters</a:t>
            </a:r>
            <a:endParaRPr lang="en-US" sz="2600" dirty="0"/>
          </a:p>
        </p:txBody>
      </p:sp>
      <p:sp>
        <p:nvSpPr>
          <p:cNvPr id="5" name="Shape 3"/>
          <p:cNvSpPr/>
          <p:nvPr/>
        </p:nvSpPr>
        <p:spPr>
          <a:xfrm>
            <a:off x="320040" y="1115568"/>
            <a:ext cx="11521440" cy="0"/>
          </a:xfrm>
          <a:prstGeom prst="line">
            <a:avLst/>
          </a:prstGeom>
          <a:noFill/>
          <a:ln w="19050">
            <a:solidFill>
              <a:srgbClr val="2B9FD9"/>
            </a:solidFill>
            <a:prstDash val="solid"/>
          </a:ln>
        </p:spPr>
      </p:sp>
      <p:sp>
        <p:nvSpPr>
          <p:cNvPr id="6" name="Text 4"/>
          <p:cNvSpPr/>
          <p:nvPr/>
        </p:nvSpPr>
        <p:spPr>
          <a:xfrm>
            <a:off x="320040" y="1298448"/>
            <a:ext cx="5303520" cy="347472"/>
          </a:xfrm>
          <a:prstGeom prst="rect">
            <a:avLst/>
          </a:prstGeom>
          <a:noFill/>
          <a:ln/>
        </p:spPr>
        <p:txBody>
          <a:bodyPr wrap="square" rtlCol="0" anchor="ctr"/>
          <a:lstStyle/>
          <a:p>
            <a:pPr marL="0" indent="0">
              <a:buNone/>
            </a:pPr>
            <a:r>
              <a:rPr lang="en-US" sz="1400" b="1" dirty="0">
                <a:solidFill>
                  <a:srgbClr val="1B6CA8"/>
                </a:solidFill>
                <a:latin typeface="Cambria" pitchFamily="34" charset="0"/>
                <a:ea typeface="Cambria" pitchFamily="34" charset="-122"/>
                <a:cs typeface="Cambria" pitchFamily="34" charset="-120"/>
              </a:rPr>
              <a:t>Current Practice: Manual &amp; Retrospective</a:t>
            </a:r>
            <a:endParaRPr lang="en-US" sz="1400" dirty="0"/>
          </a:p>
        </p:txBody>
      </p:sp>
      <p:sp>
        <p:nvSpPr>
          <p:cNvPr id="7" name="Text 5"/>
          <p:cNvSpPr/>
          <p:nvPr/>
        </p:nvSpPr>
        <p:spPr>
          <a:xfrm>
            <a:off x="320040" y="1691640"/>
            <a:ext cx="5303520" cy="2103120"/>
          </a:xfrm>
          <a:prstGeom prst="rect">
            <a:avLst/>
          </a:prstGeom>
          <a:noFill/>
          <a:ln/>
        </p:spPr>
        <p:txBody>
          <a:bodyPr wrap="square" rtlCol="0" anchor="t"/>
          <a:lstStyle/>
          <a:p>
            <a:pPr marL="342900" indent="-342900">
              <a:buSzPct val="100000"/>
              <a:buChar char="•"/>
            </a:pPr>
            <a:r>
              <a:rPr lang="en-US" sz="1400" dirty="0">
                <a:solidFill>
                  <a:srgbClr val="1A2B3C"/>
                </a:solidFill>
                <a:latin typeface="Calibri" pitchFamily="34" charset="0"/>
                <a:ea typeface="Calibri" pitchFamily="34" charset="-122"/>
                <a:cs typeface="Calibri" pitchFamily="34" charset="-120"/>
              </a:rPr>
              <a:t>Self-report questionnaires: subjective, low temporal resolution</a:t>
            </a:r>
            <a:endParaRPr lang="en-US" sz="1400" dirty="0"/>
          </a:p>
          <a:p>
            <a:pPr marL="342900" indent="-342900">
              <a:buSzPct val="100000"/>
              <a:buChar char="•"/>
            </a:pPr>
            <a:r>
              <a:rPr lang="en-US" sz="1400" dirty="0">
                <a:solidFill>
                  <a:srgbClr val="1A2B3C"/>
                </a:solidFill>
                <a:latin typeface="Calibri" pitchFamily="34" charset="0"/>
                <a:ea typeface="Calibri" pitchFamily="34" charset="-122"/>
                <a:cs typeface="Calibri" pitchFamily="34" charset="-120"/>
              </a:rPr>
              <a:t>Manual observational coding by educators: unscalable</a:t>
            </a:r>
            <a:endParaRPr lang="en-US" sz="1400" dirty="0"/>
          </a:p>
          <a:p>
            <a:pPr marL="342900" indent="-342900">
              <a:buSzPct val="100000"/>
              <a:buChar char="•"/>
            </a:pPr>
            <a:r>
              <a:rPr lang="en-US" sz="1400" dirty="0">
                <a:solidFill>
                  <a:srgbClr val="1A2B3C"/>
                </a:solidFill>
                <a:latin typeface="Calibri" pitchFamily="34" charset="0"/>
                <a:ea typeface="Calibri" pitchFamily="34" charset="-122"/>
                <a:cs typeface="Calibri" pitchFamily="34" charset="-120"/>
              </a:rPr>
              <a:t>Retrospective methods miss in-the-moment disengagement</a:t>
            </a:r>
            <a:endParaRPr lang="en-US" sz="1400" dirty="0"/>
          </a:p>
          <a:p>
            <a:pPr marL="342900" indent="-342900">
              <a:buSzPct val="100000"/>
              <a:buChar char="•"/>
            </a:pPr>
            <a:r>
              <a:rPr lang="en-US" sz="1400" dirty="0">
                <a:solidFill>
                  <a:srgbClr val="1A2B3C"/>
                </a:solidFill>
                <a:latin typeface="Calibri" pitchFamily="34" charset="0"/>
                <a:ea typeface="Calibri" pitchFamily="34" charset="-122"/>
                <a:cs typeface="Calibri" pitchFamily="34" charset="-120"/>
              </a:rPr>
              <a:t>Bias inherent in human observation</a:t>
            </a:r>
            <a:endParaRPr lang="en-US" sz="1400" dirty="0"/>
          </a:p>
        </p:txBody>
      </p:sp>
      <p:sp>
        <p:nvSpPr>
          <p:cNvPr id="8" name="Text 6"/>
          <p:cNvSpPr/>
          <p:nvPr/>
        </p:nvSpPr>
        <p:spPr>
          <a:xfrm>
            <a:off x="6217920" y="1298448"/>
            <a:ext cx="5577840" cy="347472"/>
          </a:xfrm>
          <a:prstGeom prst="rect">
            <a:avLst/>
          </a:prstGeom>
          <a:noFill/>
          <a:ln/>
        </p:spPr>
        <p:txBody>
          <a:bodyPr wrap="square" rtlCol="0" anchor="ctr"/>
          <a:lstStyle/>
          <a:p>
            <a:pPr marL="0" indent="0">
              <a:buNone/>
            </a:pPr>
            <a:r>
              <a:rPr lang="en-US" sz="1400" b="1" dirty="0">
                <a:solidFill>
                  <a:srgbClr val="1B6CA8"/>
                </a:solidFill>
                <a:latin typeface="Cambria" pitchFamily="34" charset="0"/>
                <a:ea typeface="Cambria" pitchFamily="34" charset="-122"/>
                <a:cs typeface="Cambria" pitchFamily="34" charset="-120"/>
              </a:rPr>
              <a:t>What AI-Powered Recognition Enables</a:t>
            </a:r>
            <a:endParaRPr lang="en-US" sz="1400" dirty="0"/>
          </a:p>
        </p:txBody>
      </p:sp>
      <p:sp>
        <p:nvSpPr>
          <p:cNvPr id="9" name="Text 7"/>
          <p:cNvSpPr/>
          <p:nvPr/>
        </p:nvSpPr>
        <p:spPr>
          <a:xfrm>
            <a:off x="6217920" y="1691640"/>
            <a:ext cx="5577840" cy="2103120"/>
          </a:xfrm>
          <a:prstGeom prst="rect">
            <a:avLst/>
          </a:prstGeom>
          <a:noFill/>
          <a:ln/>
        </p:spPr>
        <p:txBody>
          <a:bodyPr wrap="square" rtlCol="0" anchor="t"/>
          <a:lstStyle/>
          <a:p>
            <a:pPr marL="342900" indent="-342900">
              <a:buSzPct val="100000"/>
              <a:buChar char="•"/>
            </a:pPr>
            <a:r>
              <a:rPr lang="en-US" sz="1400" dirty="0">
                <a:solidFill>
                  <a:srgbClr val="1A2B3C"/>
                </a:solidFill>
                <a:latin typeface="Calibri" pitchFamily="34" charset="0"/>
                <a:ea typeface="Calibri" pitchFamily="34" charset="-122"/>
                <a:cs typeface="Calibri" pitchFamily="34" charset="-120"/>
              </a:rPr>
              <a:t>Continuous, unobtrusive, real-time assessment</a:t>
            </a:r>
            <a:endParaRPr lang="en-US" sz="1400" dirty="0"/>
          </a:p>
          <a:p>
            <a:pPr marL="342900" indent="-342900">
              <a:buSzPct val="100000"/>
              <a:buChar char="•"/>
            </a:pPr>
            <a:r>
              <a:rPr lang="en-US" sz="1400" dirty="0">
                <a:solidFill>
                  <a:srgbClr val="1A2B3C"/>
                </a:solidFill>
                <a:latin typeface="Calibri" pitchFamily="34" charset="0"/>
                <a:ea typeface="Calibri" pitchFamily="34" charset="-122"/>
                <a:cs typeface="Calibri" pitchFamily="34" charset="-120"/>
              </a:rPr>
              <a:t>Granular analysis: behavioral, emotional, cognitive dimensions</a:t>
            </a:r>
            <a:endParaRPr lang="en-US" sz="1400" dirty="0"/>
          </a:p>
          <a:p>
            <a:pPr marL="342900" indent="-342900">
              <a:buSzPct val="100000"/>
              <a:buChar char="•"/>
            </a:pPr>
            <a:r>
              <a:rPr lang="en-US" sz="1400" dirty="0">
                <a:solidFill>
                  <a:srgbClr val="1A2B3C"/>
                </a:solidFill>
                <a:latin typeface="Calibri" pitchFamily="34" charset="0"/>
                <a:ea typeface="Calibri" pitchFamily="34" charset="-122"/>
                <a:cs typeface="Calibri" pitchFamily="34" charset="-120"/>
              </a:rPr>
              <a:t>Scalable across large institutions</a:t>
            </a:r>
            <a:endParaRPr lang="en-US" sz="1400" dirty="0"/>
          </a:p>
          <a:p>
            <a:pPr marL="342900" indent="-342900">
              <a:buSzPct val="100000"/>
              <a:buChar char="•"/>
            </a:pPr>
            <a:r>
              <a:rPr lang="en-US" sz="1400" dirty="0">
                <a:solidFill>
                  <a:srgbClr val="1A2B3C"/>
                </a:solidFill>
                <a:latin typeface="Calibri" pitchFamily="34" charset="0"/>
                <a:ea typeface="Calibri" pitchFamily="34" charset="-122"/>
                <a:cs typeface="Calibri" pitchFamily="34" charset="-120"/>
              </a:rPr>
              <a:t>Non-invasive visual and acoustic cue analysis</a:t>
            </a:r>
            <a:endParaRPr lang="en-US" sz="1400" dirty="0"/>
          </a:p>
        </p:txBody>
      </p:sp>
      <p:sp>
        <p:nvSpPr>
          <p:cNvPr id="10" name="Shape 8"/>
          <p:cNvSpPr/>
          <p:nvPr/>
        </p:nvSpPr>
        <p:spPr>
          <a:xfrm>
            <a:off x="320040" y="3886200"/>
            <a:ext cx="11521440" cy="0"/>
          </a:xfrm>
          <a:prstGeom prst="line">
            <a:avLst/>
          </a:prstGeom>
          <a:noFill/>
          <a:ln w="19050">
            <a:solidFill>
              <a:srgbClr val="7A8FA6"/>
            </a:solidFill>
            <a:prstDash val="solid"/>
          </a:ln>
        </p:spPr>
      </p:sp>
      <p:sp>
        <p:nvSpPr>
          <p:cNvPr id="11" name="Text 9"/>
          <p:cNvSpPr/>
          <p:nvPr/>
        </p:nvSpPr>
        <p:spPr>
          <a:xfrm>
            <a:off x="320040" y="4023360"/>
            <a:ext cx="5029200" cy="320040"/>
          </a:xfrm>
          <a:prstGeom prst="rect">
            <a:avLst/>
          </a:prstGeom>
          <a:noFill/>
          <a:ln/>
        </p:spPr>
        <p:txBody>
          <a:bodyPr wrap="square" rtlCol="0" anchor="ctr"/>
          <a:lstStyle/>
          <a:p>
            <a:pPr marL="0" indent="0">
              <a:buNone/>
            </a:pPr>
            <a:r>
              <a:rPr lang="en-US" sz="1300" b="1" dirty="0">
                <a:solidFill>
                  <a:srgbClr val="1A2B3C"/>
                </a:solidFill>
                <a:latin typeface="Calibri" pitchFamily="34" charset="0"/>
                <a:ea typeface="Calibri" pitchFamily="34" charset="-122"/>
                <a:cs typeface="Calibri" pitchFamily="34" charset="-120"/>
              </a:rPr>
              <a:t>Engagement is a 3-dimensional construct:</a:t>
            </a:r>
            <a:endParaRPr lang="en-US" sz="1300" dirty="0"/>
          </a:p>
        </p:txBody>
      </p:sp>
      <p:sp>
        <p:nvSpPr>
          <p:cNvPr id="12" name="Shape 10"/>
          <p:cNvSpPr/>
          <p:nvPr/>
        </p:nvSpPr>
        <p:spPr>
          <a:xfrm>
            <a:off x="320040" y="4434840"/>
            <a:ext cx="3566160" cy="1417320"/>
          </a:xfrm>
          <a:prstGeom prst="rect">
            <a:avLst/>
          </a:prstGeom>
          <a:solidFill>
            <a:srgbClr val="1B6CA8">
              <a:alpha val="18000"/>
            </a:srgbClr>
          </a:solidFill>
          <a:ln w="12700">
            <a:solidFill>
              <a:srgbClr val="1B6CA8"/>
            </a:solidFill>
            <a:prstDash val="solid"/>
          </a:ln>
        </p:spPr>
      </p:sp>
      <p:sp>
        <p:nvSpPr>
          <p:cNvPr id="13" name="Shape 11"/>
          <p:cNvSpPr/>
          <p:nvPr/>
        </p:nvSpPr>
        <p:spPr>
          <a:xfrm>
            <a:off x="320040" y="4434840"/>
            <a:ext cx="3566160" cy="292608"/>
          </a:xfrm>
          <a:prstGeom prst="rect">
            <a:avLst/>
          </a:prstGeom>
          <a:solidFill>
            <a:srgbClr val="1B6CA8">
              <a:alpha val="70000"/>
            </a:srgbClr>
          </a:solidFill>
          <a:ln w="12700">
            <a:solidFill>
              <a:srgbClr val="1B6CA8"/>
            </a:solidFill>
            <a:prstDash val="solid"/>
          </a:ln>
        </p:spPr>
      </p:sp>
      <p:sp>
        <p:nvSpPr>
          <p:cNvPr id="14" name="Text 12"/>
          <p:cNvSpPr/>
          <p:nvPr/>
        </p:nvSpPr>
        <p:spPr>
          <a:xfrm>
            <a:off x="320040" y="4434840"/>
            <a:ext cx="35661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BEHAVIORAL</a:t>
            </a:r>
            <a:endParaRPr lang="en-US" sz="1000" dirty="0"/>
          </a:p>
        </p:txBody>
      </p:sp>
      <p:sp>
        <p:nvSpPr>
          <p:cNvPr id="15" name="Text 13"/>
          <p:cNvSpPr/>
          <p:nvPr/>
        </p:nvSpPr>
        <p:spPr>
          <a:xfrm>
            <a:off x="411480" y="4773168"/>
            <a:ext cx="3383280" cy="960120"/>
          </a:xfrm>
          <a:prstGeom prst="rect">
            <a:avLst/>
          </a:prstGeom>
          <a:noFill/>
          <a:ln/>
        </p:spPr>
        <p:txBody>
          <a:bodyPr wrap="square" rtlCol="0" anchor="ctr"/>
          <a:lstStyle/>
          <a:p>
            <a:pPr marL="0" indent="0" algn="ctr">
              <a:buNone/>
            </a:pPr>
            <a:r>
              <a:rPr lang="en-US" sz="1200" dirty="0">
                <a:solidFill>
                  <a:srgbClr val="1A2B3C"/>
                </a:solidFill>
                <a:latin typeface="Calibri" pitchFamily="34" charset="0"/>
                <a:ea typeface="Calibri" pitchFamily="34" charset="-122"/>
                <a:cs typeface="Calibri" pitchFamily="34" charset="-120"/>
              </a:rPr>
              <a:t>Physical actions</a:t>
            </a:r>
            <a:endParaRPr lang="en-US" sz="1200" dirty="0"/>
          </a:p>
          <a:p>
            <a:pPr marL="0" indent="0" algn="ctr">
              <a:buNone/>
            </a:pPr>
            <a:r>
              <a:rPr lang="en-US" sz="1200" dirty="0">
                <a:solidFill>
                  <a:srgbClr val="1A2B3C"/>
                </a:solidFill>
                <a:latin typeface="Calibri" pitchFamily="34" charset="0"/>
                <a:ea typeface="Calibri" pitchFamily="34" charset="-122"/>
                <a:cs typeface="Calibri" pitchFamily="34" charset="-120"/>
              </a:rPr>
              <a:t>(note-taking, hand-raising)</a:t>
            </a:r>
            <a:endParaRPr lang="en-US" sz="1200" dirty="0"/>
          </a:p>
        </p:txBody>
      </p:sp>
      <p:sp>
        <p:nvSpPr>
          <p:cNvPr id="16" name="Shape 14"/>
          <p:cNvSpPr/>
          <p:nvPr/>
        </p:nvSpPr>
        <p:spPr>
          <a:xfrm>
            <a:off x="4251960" y="4434840"/>
            <a:ext cx="3566160" cy="1417320"/>
          </a:xfrm>
          <a:prstGeom prst="rect">
            <a:avLst/>
          </a:prstGeom>
          <a:solidFill>
            <a:srgbClr val="F4A811">
              <a:alpha val="18000"/>
            </a:srgbClr>
          </a:solidFill>
          <a:ln w="12700">
            <a:solidFill>
              <a:srgbClr val="F4A811"/>
            </a:solidFill>
            <a:prstDash val="solid"/>
          </a:ln>
        </p:spPr>
      </p:sp>
      <p:sp>
        <p:nvSpPr>
          <p:cNvPr id="17" name="Shape 15"/>
          <p:cNvSpPr/>
          <p:nvPr/>
        </p:nvSpPr>
        <p:spPr>
          <a:xfrm>
            <a:off x="4251960" y="4434840"/>
            <a:ext cx="3566160" cy="292608"/>
          </a:xfrm>
          <a:prstGeom prst="rect">
            <a:avLst/>
          </a:prstGeom>
          <a:solidFill>
            <a:srgbClr val="F4A811">
              <a:alpha val="70000"/>
            </a:srgbClr>
          </a:solidFill>
          <a:ln w="12700">
            <a:solidFill>
              <a:srgbClr val="F4A811"/>
            </a:solidFill>
            <a:prstDash val="solid"/>
          </a:ln>
        </p:spPr>
      </p:sp>
      <p:sp>
        <p:nvSpPr>
          <p:cNvPr id="18" name="Text 16"/>
          <p:cNvSpPr/>
          <p:nvPr/>
        </p:nvSpPr>
        <p:spPr>
          <a:xfrm>
            <a:off x="4251960" y="4434840"/>
            <a:ext cx="35661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EMOTIONAL</a:t>
            </a:r>
            <a:endParaRPr lang="en-US" sz="1000" dirty="0"/>
          </a:p>
        </p:txBody>
      </p:sp>
      <p:sp>
        <p:nvSpPr>
          <p:cNvPr id="19" name="Text 17"/>
          <p:cNvSpPr/>
          <p:nvPr/>
        </p:nvSpPr>
        <p:spPr>
          <a:xfrm>
            <a:off x="4343400" y="4773168"/>
            <a:ext cx="3383280" cy="960120"/>
          </a:xfrm>
          <a:prstGeom prst="rect">
            <a:avLst/>
          </a:prstGeom>
          <a:noFill/>
          <a:ln/>
        </p:spPr>
        <p:txBody>
          <a:bodyPr wrap="square" rtlCol="0" anchor="ctr"/>
          <a:lstStyle/>
          <a:p>
            <a:pPr marL="0" indent="0" algn="ctr">
              <a:buNone/>
            </a:pPr>
            <a:r>
              <a:rPr lang="en-US" sz="1200" dirty="0">
                <a:solidFill>
                  <a:srgbClr val="1A2B3C"/>
                </a:solidFill>
                <a:latin typeface="Calibri" pitchFamily="34" charset="0"/>
                <a:ea typeface="Calibri" pitchFamily="34" charset="-122"/>
                <a:cs typeface="Calibri" pitchFamily="34" charset="-120"/>
              </a:rPr>
              <a:t>Affective states</a:t>
            </a:r>
            <a:endParaRPr lang="en-US" sz="1200" dirty="0"/>
          </a:p>
          <a:p>
            <a:pPr marL="0" indent="0" algn="ctr">
              <a:buNone/>
            </a:pPr>
            <a:r>
              <a:rPr lang="en-US" sz="1200" dirty="0">
                <a:solidFill>
                  <a:srgbClr val="1A2B3C"/>
                </a:solidFill>
                <a:latin typeface="Calibri" pitchFamily="34" charset="0"/>
                <a:ea typeface="Calibri" pitchFamily="34" charset="-122"/>
                <a:cs typeface="Calibri" pitchFamily="34" charset="-120"/>
              </a:rPr>
              <a:t>(frustration, joy)</a:t>
            </a:r>
            <a:endParaRPr lang="en-US" sz="1200" dirty="0"/>
          </a:p>
        </p:txBody>
      </p:sp>
      <p:sp>
        <p:nvSpPr>
          <p:cNvPr id="20" name="Shape 18"/>
          <p:cNvSpPr/>
          <p:nvPr/>
        </p:nvSpPr>
        <p:spPr>
          <a:xfrm>
            <a:off x="8183880" y="4434840"/>
            <a:ext cx="3566160" cy="1417320"/>
          </a:xfrm>
          <a:prstGeom prst="rect">
            <a:avLst/>
          </a:prstGeom>
          <a:solidFill>
            <a:srgbClr val="2B9FD9">
              <a:alpha val="18000"/>
            </a:srgbClr>
          </a:solidFill>
          <a:ln w="12700">
            <a:solidFill>
              <a:srgbClr val="2B9FD9"/>
            </a:solidFill>
            <a:prstDash val="solid"/>
          </a:ln>
        </p:spPr>
      </p:sp>
      <p:sp>
        <p:nvSpPr>
          <p:cNvPr id="21" name="Shape 19"/>
          <p:cNvSpPr/>
          <p:nvPr/>
        </p:nvSpPr>
        <p:spPr>
          <a:xfrm>
            <a:off x="8183880" y="4434840"/>
            <a:ext cx="3566160" cy="292608"/>
          </a:xfrm>
          <a:prstGeom prst="rect">
            <a:avLst/>
          </a:prstGeom>
          <a:solidFill>
            <a:srgbClr val="2B9FD9">
              <a:alpha val="70000"/>
            </a:srgbClr>
          </a:solidFill>
          <a:ln w="12700">
            <a:solidFill>
              <a:srgbClr val="2B9FD9"/>
            </a:solidFill>
            <a:prstDash val="solid"/>
          </a:ln>
        </p:spPr>
      </p:sp>
      <p:sp>
        <p:nvSpPr>
          <p:cNvPr id="22" name="Text 20"/>
          <p:cNvSpPr/>
          <p:nvPr/>
        </p:nvSpPr>
        <p:spPr>
          <a:xfrm>
            <a:off x="8183880" y="4434840"/>
            <a:ext cx="35661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COGNITIVE</a:t>
            </a:r>
            <a:endParaRPr lang="en-US" sz="1000" dirty="0"/>
          </a:p>
        </p:txBody>
      </p:sp>
      <p:sp>
        <p:nvSpPr>
          <p:cNvPr id="23" name="Text 21"/>
          <p:cNvSpPr/>
          <p:nvPr/>
        </p:nvSpPr>
        <p:spPr>
          <a:xfrm>
            <a:off x="8275320" y="4773168"/>
            <a:ext cx="3383280" cy="960120"/>
          </a:xfrm>
          <a:prstGeom prst="rect">
            <a:avLst/>
          </a:prstGeom>
          <a:noFill/>
          <a:ln/>
        </p:spPr>
        <p:txBody>
          <a:bodyPr wrap="square" rtlCol="0" anchor="ctr"/>
          <a:lstStyle/>
          <a:p>
            <a:pPr marL="0" indent="0" algn="ctr">
              <a:buNone/>
            </a:pPr>
            <a:r>
              <a:rPr lang="en-US" sz="1200" dirty="0">
                <a:solidFill>
                  <a:srgbClr val="1A2B3C"/>
                </a:solidFill>
                <a:latin typeface="Calibri" pitchFamily="34" charset="0"/>
                <a:ea typeface="Calibri" pitchFamily="34" charset="-122"/>
                <a:cs typeface="Calibri" pitchFamily="34" charset="-120"/>
              </a:rPr>
              <a:t>Deep learning</a:t>
            </a:r>
            <a:endParaRPr lang="en-US" sz="1200" dirty="0"/>
          </a:p>
          <a:p>
            <a:pPr marL="0" indent="0" algn="ctr">
              <a:buNone/>
            </a:pPr>
            <a:r>
              <a:rPr lang="en-US" sz="1200" dirty="0">
                <a:solidFill>
                  <a:srgbClr val="1A2B3C"/>
                </a:solidFill>
                <a:latin typeface="Calibri" pitchFamily="34" charset="0"/>
                <a:ea typeface="Calibri" pitchFamily="34" charset="-122"/>
                <a:cs typeface="Calibri" pitchFamily="34" charset="-120"/>
              </a:rPr>
              <a:t>(self-regulation)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201168"/>
            <a:ext cx="1828800" cy="256032"/>
          </a:xfrm>
          <a:prstGeom prst="rect">
            <a:avLst/>
          </a:prstGeom>
          <a:solidFill>
            <a:srgbClr val="2B9FD9"/>
          </a:solidFill>
          <a:ln w="12700">
            <a:solidFill>
              <a:srgbClr val="2B9FD9"/>
            </a:solidFill>
            <a:prstDash val="solid"/>
          </a:ln>
        </p:spPr>
      </p:sp>
      <p:sp>
        <p:nvSpPr>
          <p:cNvPr id="3" name="Text 1"/>
          <p:cNvSpPr/>
          <p:nvPr/>
        </p:nvSpPr>
        <p:spPr>
          <a:xfrm>
            <a:off x="320040" y="201168"/>
            <a:ext cx="1828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PROBLEM STATEMENT</a:t>
            </a:r>
            <a:endParaRPr lang="en-US" sz="800" dirty="0"/>
          </a:p>
        </p:txBody>
      </p:sp>
      <p:sp>
        <p:nvSpPr>
          <p:cNvPr id="4" name="Text 2"/>
          <p:cNvSpPr/>
          <p:nvPr/>
        </p:nvSpPr>
        <p:spPr>
          <a:xfrm>
            <a:off x="320040" y="548640"/>
            <a:ext cx="11521440" cy="502920"/>
          </a:xfrm>
          <a:prstGeom prst="rect">
            <a:avLst/>
          </a:prstGeom>
          <a:noFill/>
          <a:ln/>
        </p:spPr>
        <p:txBody>
          <a:bodyPr wrap="square" rtlCol="0" anchor="ctr"/>
          <a:lstStyle/>
          <a:p>
            <a:pPr marL="0" indent="0" algn="l">
              <a:buNone/>
            </a:pPr>
            <a:r>
              <a:rPr lang="en-US" sz="2600" b="1" dirty="0">
                <a:solidFill>
                  <a:srgbClr val="1A2B3C"/>
                </a:solidFill>
                <a:latin typeface="Cambria" pitchFamily="34" charset="0"/>
                <a:ea typeface="Cambria" pitchFamily="34" charset="-122"/>
                <a:cs typeface="Cambria" pitchFamily="34" charset="-120"/>
              </a:rPr>
              <a:t>Current Challenges in Classroom Engagement Recognition</a:t>
            </a:r>
            <a:endParaRPr lang="en-US" sz="2600" dirty="0"/>
          </a:p>
        </p:txBody>
      </p:sp>
      <p:sp>
        <p:nvSpPr>
          <p:cNvPr id="5" name="Shape 3"/>
          <p:cNvSpPr/>
          <p:nvPr/>
        </p:nvSpPr>
        <p:spPr>
          <a:xfrm>
            <a:off x="320040" y="1115568"/>
            <a:ext cx="11521440" cy="0"/>
          </a:xfrm>
          <a:prstGeom prst="line">
            <a:avLst/>
          </a:prstGeom>
          <a:noFill/>
          <a:ln w="19050">
            <a:solidFill>
              <a:srgbClr val="2B9FD9"/>
            </a:solidFill>
            <a:prstDash val="solid"/>
          </a:ln>
        </p:spPr>
      </p:sp>
      <p:sp>
        <p:nvSpPr>
          <p:cNvPr id="6" name="Shape 4"/>
          <p:cNvSpPr/>
          <p:nvPr/>
        </p:nvSpPr>
        <p:spPr>
          <a:xfrm>
            <a:off x="320040" y="1298448"/>
            <a:ext cx="5486400" cy="1389888"/>
          </a:xfrm>
          <a:prstGeom prst="rect">
            <a:avLst/>
          </a:prstGeom>
          <a:solidFill>
            <a:srgbClr val="E8EDF2"/>
          </a:solidFill>
          <a:ln w="8890">
            <a:solidFill>
              <a:srgbClr val="1B6CA8"/>
            </a:solidFill>
            <a:prstDash val="solid"/>
          </a:ln>
        </p:spPr>
      </p:sp>
      <p:sp>
        <p:nvSpPr>
          <p:cNvPr id="7" name="Shape 5"/>
          <p:cNvSpPr/>
          <p:nvPr/>
        </p:nvSpPr>
        <p:spPr>
          <a:xfrm>
            <a:off x="320040" y="1298448"/>
            <a:ext cx="502920" cy="1389888"/>
          </a:xfrm>
          <a:prstGeom prst="rect">
            <a:avLst/>
          </a:prstGeom>
          <a:solidFill>
            <a:srgbClr val="1B6CA8"/>
          </a:solidFill>
          <a:ln w="12700">
            <a:solidFill>
              <a:srgbClr val="1B6CA8"/>
            </a:solidFill>
            <a:prstDash val="solid"/>
          </a:ln>
        </p:spPr>
      </p:sp>
      <p:sp>
        <p:nvSpPr>
          <p:cNvPr id="8" name="Text 6"/>
          <p:cNvSpPr/>
          <p:nvPr/>
        </p:nvSpPr>
        <p:spPr>
          <a:xfrm>
            <a:off x="320040" y="1298448"/>
            <a:ext cx="502920" cy="138988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01</a:t>
            </a:r>
            <a:endParaRPr lang="en-US" sz="1400" dirty="0"/>
          </a:p>
        </p:txBody>
      </p:sp>
      <p:sp>
        <p:nvSpPr>
          <p:cNvPr id="9" name="Text 7"/>
          <p:cNvSpPr/>
          <p:nvPr/>
        </p:nvSpPr>
        <p:spPr>
          <a:xfrm>
            <a:off x="914400" y="1362456"/>
            <a:ext cx="4800600" cy="274320"/>
          </a:xfrm>
          <a:prstGeom prst="rect">
            <a:avLst/>
          </a:prstGeom>
          <a:noFill/>
          <a:ln/>
        </p:spPr>
        <p:txBody>
          <a:bodyPr wrap="square" rtlCol="0" anchor="ctr"/>
          <a:lstStyle/>
          <a:p>
            <a:pPr marL="0" indent="0">
              <a:buNone/>
            </a:pPr>
            <a:r>
              <a:rPr lang="en-US" sz="1150" b="1" dirty="0">
                <a:solidFill>
                  <a:srgbClr val="1A2B3C"/>
                </a:solidFill>
                <a:latin typeface="Cambria" pitchFamily="34" charset="0"/>
                <a:ea typeface="Cambria" pitchFamily="34" charset="-122"/>
                <a:cs typeface="Cambria" pitchFamily="34" charset="-120"/>
              </a:rPr>
              <a:t>The Individualistic Fallacy</a:t>
            </a:r>
            <a:endParaRPr lang="en-US" sz="1150" dirty="0"/>
          </a:p>
        </p:txBody>
      </p:sp>
      <p:sp>
        <p:nvSpPr>
          <p:cNvPr id="10" name="Text 8"/>
          <p:cNvSpPr/>
          <p:nvPr/>
        </p:nvSpPr>
        <p:spPr>
          <a:xfrm>
            <a:off x="914400" y="1645920"/>
            <a:ext cx="4800600" cy="978408"/>
          </a:xfrm>
          <a:prstGeom prst="rect">
            <a:avLst/>
          </a:prstGeom>
          <a:noFill/>
          <a:ln/>
        </p:spPr>
        <p:txBody>
          <a:bodyPr wrap="square" rtlCol="0" anchor="ctr"/>
          <a:lstStyle/>
          <a:p>
            <a:pPr marL="0" indent="0">
              <a:buNone/>
            </a:pPr>
            <a:r>
              <a:rPr lang="en-US" sz="1050" dirty="0">
                <a:solidFill>
                  <a:srgbClr val="1A2B3C"/>
                </a:solidFill>
                <a:latin typeface="Calibri" pitchFamily="34" charset="0"/>
                <a:ea typeface="Calibri" pitchFamily="34" charset="-122"/>
                <a:cs typeface="Calibri" pitchFamily="34" charset="-120"/>
              </a:rPr>
              <a:t>Dominant datasets (DAiSEE, EngageNet) capture isolated students. Real learning is socially embedded — group dynamics, co-attention, and peer modulation are entirely absent.</a:t>
            </a:r>
            <a:endParaRPr lang="en-US" sz="1050" dirty="0"/>
          </a:p>
        </p:txBody>
      </p:sp>
      <p:sp>
        <p:nvSpPr>
          <p:cNvPr id="11" name="Shape 9"/>
          <p:cNvSpPr/>
          <p:nvPr/>
        </p:nvSpPr>
        <p:spPr>
          <a:xfrm>
            <a:off x="6263640" y="1298448"/>
            <a:ext cx="5486400" cy="1389888"/>
          </a:xfrm>
          <a:prstGeom prst="rect">
            <a:avLst/>
          </a:prstGeom>
          <a:solidFill>
            <a:srgbClr val="E8EDF2"/>
          </a:solidFill>
          <a:ln w="8890">
            <a:solidFill>
              <a:srgbClr val="1B6CA8"/>
            </a:solidFill>
            <a:prstDash val="solid"/>
          </a:ln>
        </p:spPr>
      </p:sp>
      <p:sp>
        <p:nvSpPr>
          <p:cNvPr id="12" name="Shape 10"/>
          <p:cNvSpPr/>
          <p:nvPr/>
        </p:nvSpPr>
        <p:spPr>
          <a:xfrm>
            <a:off x="6263640" y="1298448"/>
            <a:ext cx="502920" cy="1389888"/>
          </a:xfrm>
          <a:prstGeom prst="rect">
            <a:avLst/>
          </a:prstGeom>
          <a:solidFill>
            <a:srgbClr val="1B6CA8"/>
          </a:solidFill>
          <a:ln w="12700">
            <a:solidFill>
              <a:srgbClr val="1B6CA8"/>
            </a:solidFill>
            <a:prstDash val="solid"/>
          </a:ln>
        </p:spPr>
      </p:sp>
      <p:sp>
        <p:nvSpPr>
          <p:cNvPr id="13" name="Text 11"/>
          <p:cNvSpPr/>
          <p:nvPr/>
        </p:nvSpPr>
        <p:spPr>
          <a:xfrm>
            <a:off x="6263640" y="1298448"/>
            <a:ext cx="502920" cy="138988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02</a:t>
            </a:r>
            <a:endParaRPr lang="en-US" sz="1400" dirty="0"/>
          </a:p>
        </p:txBody>
      </p:sp>
      <p:sp>
        <p:nvSpPr>
          <p:cNvPr id="14" name="Text 12"/>
          <p:cNvSpPr/>
          <p:nvPr/>
        </p:nvSpPr>
        <p:spPr>
          <a:xfrm>
            <a:off x="6858000" y="1362456"/>
            <a:ext cx="4800600" cy="274320"/>
          </a:xfrm>
          <a:prstGeom prst="rect">
            <a:avLst/>
          </a:prstGeom>
          <a:noFill/>
          <a:ln/>
        </p:spPr>
        <p:txBody>
          <a:bodyPr wrap="square" rtlCol="0" anchor="ctr"/>
          <a:lstStyle/>
          <a:p>
            <a:pPr marL="0" indent="0">
              <a:buNone/>
            </a:pPr>
            <a:r>
              <a:rPr lang="en-US" sz="1150" b="1" dirty="0">
                <a:solidFill>
                  <a:srgbClr val="1A2B3C"/>
                </a:solidFill>
                <a:latin typeface="Cambria" pitchFamily="34" charset="0"/>
                <a:ea typeface="Cambria" pitchFamily="34" charset="-122"/>
                <a:cs typeface="Cambria" pitchFamily="34" charset="-120"/>
              </a:rPr>
              <a:t>Controlled vs. In-the-Wild Discrepancy</a:t>
            </a:r>
            <a:endParaRPr lang="en-US" sz="1150" dirty="0"/>
          </a:p>
        </p:txBody>
      </p:sp>
      <p:sp>
        <p:nvSpPr>
          <p:cNvPr id="15" name="Text 13"/>
          <p:cNvSpPr/>
          <p:nvPr/>
        </p:nvSpPr>
        <p:spPr>
          <a:xfrm>
            <a:off x="6858000" y="1645920"/>
            <a:ext cx="4800600" cy="978408"/>
          </a:xfrm>
          <a:prstGeom prst="rect">
            <a:avLst/>
          </a:prstGeom>
          <a:noFill/>
          <a:ln/>
        </p:spPr>
        <p:txBody>
          <a:bodyPr wrap="square" rtlCol="0" anchor="ctr"/>
          <a:lstStyle/>
          <a:p>
            <a:pPr marL="0" indent="0">
              <a:buNone/>
            </a:pPr>
            <a:r>
              <a:rPr lang="en-US" sz="1050" dirty="0">
                <a:solidFill>
                  <a:srgbClr val="1A2B3C"/>
                </a:solidFill>
                <a:latin typeface="Calibri" pitchFamily="34" charset="0"/>
                <a:ea typeface="Calibri" pitchFamily="34" charset="-122"/>
                <a:cs typeface="Calibri" pitchFamily="34" charset="-120"/>
              </a:rPr>
              <a:t>Lab-trained models fail in authentic classrooms: severe occlusion, wide-angle distortion, dynamic illumination, and dense multi-person scenes cause catastrophic performance degradation.</a:t>
            </a:r>
            <a:endParaRPr lang="en-US" sz="1050" dirty="0"/>
          </a:p>
        </p:txBody>
      </p:sp>
      <p:sp>
        <p:nvSpPr>
          <p:cNvPr id="16" name="Shape 14"/>
          <p:cNvSpPr/>
          <p:nvPr/>
        </p:nvSpPr>
        <p:spPr>
          <a:xfrm>
            <a:off x="320040" y="2871216"/>
            <a:ext cx="5486400" cy="1389888"/>
          </a:xfrm>
          <a:prstGeom prst="rect">
            <a:avLst/>
          </a:prstGeom>
          <a:solidFill>
            <a:srgbClr val="E8EDF2"/>
          </a:solidFill>
          <a:ln w="8890">
            <a:solidFill>
              <a:srgbClr val="1B6CA8"/>
            </a:solidFill>
            <a:prstDash val="solid"/>
          </a:ln>
        </p:spPr>
      </p:sp>
      <p:sp>
        <p:nvSpPr>
          <p:cNvPr id="17" name="Shape 15"/>
          <p:cNvSpPr/>
          <p:nvPr/>
        </p:nvSpPr>
        <p:spPr>
          <a:xfrm>
            <a:off x="320040" y="2871216"/>
            <a:ext cx="502920" cy="1389888"/>
          </a:xfrm>
          <a:prstGeom prst="rect">
            <a:avLst/>
          </a:prstGeom>
          <a:solidFill>
            <a:srgbClr val="1B6CA8"/>
          </a:solidFill>
          <a:ln w="12700">
            <a:solidFill>
              <a:srgbClr val="1B6CA8"/>
            </a:solidFill>
            <a:prstDash val="solid"/>
          </a:ln>
        </p:spPr>
      </p:sp>
      <p:sp>
        <p:nvSpPr>
          <p:cNvPr id="18" name="Text 16"/>
          <p:cNvSpPr/>
          <p:nvPr/>
        </p:nvSpPr>
        <p:spPr>
          <a:xfrm>
            <a:off x="320040" y="2871216"/>
            <a:ext cx="502920" cy="138988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03</a:t>
            </a:r>
            <a:endParaRPr lang="en-US" sz="1400" dirty="0"/>
          </a:p>
        </p:txBody>
      </p:sp>
      <p:sp>
        <p:nvSpPr>
          <p:cNvPr id="19" name="Text 17"/>
          <p:cNvSpPr/>
          <p:nvPr/>
        </p:nvSpPr>
        <p:spPr>
          <a:xfrm>
            <a:off x="914400" y="2935224"/>
            <a:ext cx="4800600" cy="274320"/>
          </a:xfrm>
          <a:prstGeom prst="rect">
            <a:avLst/>
          </a:prstGeom>
          <a:noFill/>
          <a:ln/>
        </p:spPr>
        <p:txBody>
          <a:bodyPr wrap="square" rtlCol="0" anchor="ctr"/>
          <a:lstStyle/>
          <a:p>
            <a:pPr marL="0" indent="0">
              <a:buNone/>
            </a:pPr>
            <a:r>
              <a:rPr lang="en-US" sz="1150" b="1" dirty="0">
                <a:solidFill>
                  <a:srgbClr val="1A2B3C"/>
                </a:solidFill>
                <a:latin typeface="Cambria" pitchFamily="34" charset="0"/>
                <a:ea typeface="Cambria" pitchFamily="34" charset="-122"/>
                <a:cs typeface="Cambria" pitchFamily="34" charset="-120"/>
              </a:rPr>
              <a:t>Temporal Blindness of 2D Models</a:t>
            </a:r>
            <a:endParaRPr lang="en-US" sz="1150" dirty="0"/>
          </a:p>
        </p:txBody>
      </p:sp>
      <p:sp>
        <p:nvSpPr>
          <p:cNvPr id="20" name="Text 18"/>
          <p:cNvSpPr/>
          <p:nvPr/>
        </p:nvSpPr>
        <p:spPr>
          <a:xfrm>
            <a:off x="914400" y="3218688"/>
            <a:ext cx="4800600" cy="978408"/>
          </a:xfrm>
          <a:prstGeom prst="rect">
            <a:avLst/>
          </a:prstGeom>
          <a:noFill/>
          <a:ln/>
        </p:spPr>
        <p:txBody>
          <a:bodyPr wrap="square" rtlCol="0" anchor="ctr"/>
          <a:lstStyle/>
          <a:p>
            <a:pPr marL="0" indent="0">
              <a:buNone/>
            </a:pPr>
            <a:r>
              <a:rPr lang="en-US" sz="1050" dirty="0">
                <a:solidFill>
                  <a:srgbClr val="1A2B3C"/>
                </a:solidFill>
                <a:latin typeface="Calibri" pitchFamily="34" charset="0"/>
                <a:ea typeface="Calibri" pitchFamily="34" charset="-122"/>
                <a:cs typeface="Calibri" pitchFamily="34" charset="-120"/>
              </a:rPr>
              <a:t>2D CNNs process frames independently. They cannot distinguish a momentary glance from sustained cognitive attention — engagement is inherently durational.</a:t>
            </a:r>
            <a:endParaRPr lang="en-US" sz="1050" dirty="0"/>
          </a:p>
        </p:txBody>
      </p:sp>
      <p:sp>
        <p:nvSpPr>
          <p:cNvPr id="21" name="Shape 19"/>
          <p:cNvSpPr/>
          <p:nvPr/>
        </p:nvSpPr>
        <p:spPr>
          <a:xfrm>
            <a:off x="6263640" y="2871216"/>
            <a:ext cx="5486400" cy="1389888"/>
          </a:xfrm>
          <a:prstGeom prst="rect">
            <a:avLst/>
          </a:prstGeom>
          <a:solidFill>
            <a:srgbClr val="E8EDF2"/>
          </a:solidFill>
          <a:ln w="8890">
            <a:solidFill>
              <a:srgbClr val="1B6CA8"/>
            </a:solidFill>
            <a:prstDash val="solid"/>
          </a:ln>
        </p:spPr>
      </p:sp>
      <p:sp>
        <p:nvSpPr>
          <p:cNvPr id="22" name="Shape 20"/>
          <p:cNvSpPr/>
          <p:nvPr/>
        </p:nvSpPr>
        <p:spPr>
          <a:xfrm>
            <a:off x="6263640" y="2871216"/>
            <a:ext cx="502920" cy="1389888"/>
          </a:xfrm>
          <a:prstGeom prst="rect">
            <a:avLst/>
          </a:prstGeom>
          <a:solidFill>
            <a:srgbClr val="1B6CA8"/>
          </a:solidFill>
          <a:ln w="12700">
            <a:solidFill>
              <a:srgbClr val="1B6CA8"/>
            </a:solidFill>
            <a:prstDash val="solid"/>
          </a:ln>
        </p:spPr>
      </p:sp>
      <p:sp>
        <p:nvSpPr>
          <p:cNvPr id="23" name="Text 21"/>
          <p:cNvSpPr/>
          <p:nvPr/>
        </p:nvSpPr>
        <p:spPr>
          <a:xfrm>
            <a:off x="6263640" y="2871216"/>
            <a:ext cx="502920" cy="138988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04</a:t>
            </a:r>
            <a:endParaRPr lang="en-US" sz="1400" dirty="0"/>
          </a:p>
        </p:txBody>
      </p:sp>
      <p:sp>
        <p:nvSpPr>
          <p:cNvPr id="24" name="Text 22"/>
          <p:cNvSpPr/>
          <p:nvPr/>
        </p:nvSpPr>
        <p:spPr>
          <a:xfrm>
            <a:off x="6858000" y="2935224"/>
            <a:ext cx="4800600" cy="274320"/>
          </a:xfrm>
          <a:prstGeom prst="rect">
            <a:avLst/>
          </a:prstGeom>
          <a:noFill/>
          <a:ln/>
        </p:spPr>
        <p:txBody>
          <a:bodyPr wrap="square" rtlCol="0" anchor="ctr"/>
          <a:lstStyle/>
          <a:p>
            <a:pPr marL="0" indent="0">
              <a:buNone/>
            </a:pPr>
            <a:r>
              <a:rPr lang="en-US" sz="1150" b="1" dirty="0">
                <a:solidFill>
                  <a:srgbClr val="1A2B3C"/>
                </a:solidFill>
                <a:latin typeface="Cambria" pitchFamily="34" charset="0"/>
                <a:ea typeface="Cambria" pitchFamily="34" charset="-122"/>
                <a:cs typeface="Cambria" pitchFamily="34" charset="-120"/>
              </a:rPr>
              <a:t>The Explainability Dilemma</a:t>
            </a:r>
            <a:endParaRPr lang="en-US" sz="1150" dirty="0"/>
          </a:p>
        </p:txBody>
      </p:sp>
      <p:sp>
        <p:nvSpPr>
          <p:cNvPr id="25" name="Text 23"/>
          <p:cNvSpPr/>
          <p:nvPr/>
        </p:nvSpPr>
        <p:spPr>
          <a:xfrm>
            <a:off x="6858000" y="3218688"/>
            <a:ext cx="4800600" cy="978408"/>
          </a:xfrm>
          <a:prstGeom prst="rect">
            <a:avLst/>
          </a:prstGeom>
          <a:noFill/>
          <a:ln/>
        </p:spPr>
        <p:txBody>
          <a:bodyPr wrap="square" rtlCol="0" anchor="ctr"/>
          <a:lstStyle/>
          <a:p>
            <a:pPr marL="0" indent="0">
              <a:buNone/>
            </a:pPr>
            <a:r>
              <a:rPr lang="en-US" sz="1050" dirty="0">
                <a:solidFill>
                  <a:srgbClr val="1A2B3C"/>
                </a:solidFill>
                <a:latin typeface="Calibri" pitchFamily="34" charset="0"/>
                <a:ea typeface="Calibri" pitchFamily="34" charset="-122"/>
                <a:cs typeface="Calibri" pitchFamily="34" charset="-120"/>
              </a:rPr>
              <a:t>High-accuracy models (I3D, SlowFast) are opaque predictors. They yield no actionable pedagogical justification, making adoption by educators legally and ethically problematic.</a:t>
            </a:r>
            <a:endParaRPr lang="en-US" sz="1050" dirty="0"/>
          </a:p>
        </p:txBody>
      </p:sp>
      <p:sp>
        <p:nvSpPr>
          <p:cNvPr id="26" name="Shape 24"/>
          <p:cNvSpPr/>
          <p:nvPr/>
        </p:nvSpPr>
        <p:spPr>
          <a:xfrm>
            <a:off x="320040" y="4443984"/>
            <a:ext cx="5486400" cy="1389888"/>
          </a:xfrm>
          <a:prstGeom prst="rect">
            <a:avLst/>
          </a:prstGeom>
          <a:solidFill>
            <a:srgbClr val="E8EDF2"/>
          </a:solidFill>
          <a:ln w="8890">
            <a:solidFill>
              <a:srgbClr val="1B6CA8"/>
            </a:solidFill>
            <a:prstDash val="solid"/>
          </a:ln>
        </p:spPr>
      </p:sp>
      <p:sp>
        <p:nvSpPr>
          <p:cNvPr id="27" name="Shape 25"/>
          <p:cNvSpPr/>
          <p:nvPr/>
        </p:nvSpPr>
        <p:spPr>
          <a:xfrm>
            <a:off x="320040" y="4443984"/>
            <a:ext cx="502920" cy="1389888"/>
          </a:xfrm>
          <a:prstGeom prst="rect">
            <a:avLst/>
          </a:prstGeom>
          <a:solidFill>
            <a:srgbClr val="1B6CA8"/>
          </a:solidFill>
          <a:ln w="12700">
            <a:solidFill>
              <a:srgbClr val="1B6CA8"/>
            </a:solidFill>
            <a:prstDash val="solid"/>
          </a:ln>
        </p:spPr>
      </p:sp>
      <p:sp>
        <p:nvSpPr>
          <p:cNvPr id="28" name="Text 26"/>
          <p:cNvSpPr/>
          <p:nvPr/>
        </p:nvSpPr>
        <p:spPr>
          <a:xfrm>
            <a:off x="320040" y="4443984"/>
            <a:ext cx="502920" cy="138988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05</a:t>
            </a:r>
            <a:endParaRPr lang="en-US" sz="1400" dirty="0"/>
          </a:p>
        </p:txBody>
      </p:sp>
      <p:sp>
        <p:nvSpPr>
          <p:cNvPr id="29" name="Text 27"/>
          <p:cNvSpPr/>
          <p:nvPr/>
        </p:nvSpPr>
        <p:spPr>
          <a:xfrm>
            <a:off x="914400" y="4507992"/>
            <a:ext cx="4800600" cy="274320"/>
          </a:xfrm>
          <a:prstGeom prst="rect">
            <a:avLst/>
          </a:prstGeom>
          <a:noFill/>
          <a:ln/>
        </p:spPr>
        <p:txBody>
          <a:bodyPr wrap="square" rtlCol="0" anchor="ctr"/>
          <a:lstStyle/>
          <a:p>
            <a:pPr marL="0" indent="0">
              <a:buNone/>
            </a:pPr>
            <a:r>
              <a:rPr lang="en-US" sz="1150" b="1" dirty="0">
                <a:solidFill>
                  <a:srgbClr val="1A2B3C"/>
                </a:solidFill>
                <a:latin typeface="Cambria" pitchFamily="34" charset="0"/>
                <a:ea typeface="Cambria" pitchFamily="34" charset="-122"/>
                <a:cs typeface="Cambria" pitchFamily="34" charset="-120"/>
              </a:rPr>
              <a:t>Modality Constraints</a:t>
            </a:r>
            <a:endParaRPr lang="en-US" sz="1150" dirty="0"/>
          </a:p>
        </p:txBody>
      </p:sp>
      <p:sp>
        <p:nvSpPr>
          <p:cNvPr id="30" name="Text 28"/>
          <p:cNvSpPr/>
          <p:nvPr/>
        </p:nvSpPr>
        <p:spPr>
          <a:xfrm>
            <a:off x="914400" y="4791456"/>
            <a:ext cx="4800600" cy="978408"/>
          </a:xfrm>
          <a:prstGeom prst="rect">
            <a:avLst/>
          </a:prstGeom>
          <a:noFill/>
          <a:ln/>
        </p:spPr>
        <p:txBody>
          <a:bodyPr wrap="square" rtlCol="0" anchor="ctr"/>
          <a:lstStyle/>
          <a:p>
            <a:pPr marL="0" indent="0">
              <a:buNone/>
            </a:pPr>
            <a:r>
              <a:rPr lang="en-US" sz="1050" dirty="0">
                <a:solidFill>
                  <a:srgbClr val="1A2B3C"/>
                </a:solidFill>
                <a:latin typeface="Calibri" pitchFamily="34" charset="0"/>
                <a:ea typeface="Calibri" pitchFamily="34" charset="-122"/>
                <a:cs typeface="Calibri" pitchFamily="34" charset="-120"/>
              </a:rPr>
              <a:t>Most datasets are RGB-only. Acoustic cues (peer discussion, teacher cadence) — potent non-redundant indicators of cognitive load — are systematically excluded.</a:t>
            </a:r>
            <a:endParaRPr lang="en-US" sz="1050" dirty="0"/>
          </a:p>
        </p:txBody>
      </p:sp>
      <p:sp>
        <p:nvSpPr>
          <p:cNvPr id="31" name="Shape 29"/>
          <p:cNvSpPr/>
          <p:nvPr/>
        </p:nvSpPr>
        <p:spPr>
          <a:xfrm>
            <a:off x="6263640" y="4443984"/>
            <a:ext cx="5486400" cy="1389888"/>
          </a:xfrm>
          <a:prstGeom prst="rect">
            <a:avLst/>
          </a:prstGeom>
          <a:solidFill>
            <a:srgbClr val="E8EDF2"/>
          </a:solidFill>
          <a:ln w="8890">
            <a:solidFill>
              <a:srgbClr val="1B6CA8"/>
            </a:solidFill>
            <a:prstDash val="solid"/>
          </a:ln>
        </p:spPr>
      </p:sp>
      <p:sp>
        <p:nvSpPr>
          <p:cNvPr id="32" name="Shape 30"/>
          <p:cNvSpPr/>
          <p:nvPr/>
        </p:nvSpPr>
        <p:spPr>
          <a:xfrm>
            <a:off x="6263640" y="4443984"/>
            <a:ext cx="502920" cy="1389888"/>
          </a:xfrm>
          <a:prstGeom prst="rect">
            <a:avLst/>
          </a:prstGeom>
          <a:solidFill>
            <a:srgbClr val="1B6CA8"/>
          </a:solidFill>
          <a:ln w="12700">
            <a:solidFill>
              <a:srgbClr val="1B6CA8"/>
            </a:solidFill>
            <a:prstDash val="solid"/>
          </a:ln>
        </p:spPr>
      </p:sp>
      <p:sp>
        <p:nvSpPr>
          <p:cNvPr id="33" name="Text 31"/>
          <p:cNvSpPr/>
          <p:nvPr/>
        </p:nvSpPr>
        <p:spPr>
          <a:xfrm>
            <a:off x="6263640" y="4443984"/>
            <a:ext cx="502920" cy="1389888"/>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06</a:t>
            </a:r>
            <a:endParaRPr lang="en-US" sz="1400" dirty="0"/>
          </a:p>
        </p:txBody>
      </p:sp>
      <p:sp>
        <p:nvSpPr>
          <p:cNvPr id="34" name="Text 32"/>
          <p:cNvSpPr/>
          <p:nvPr/>
        </p:nvSpPr>
        <p:spPr>
          <a:xfrm>
            <a:off x="6858000" y="4507992"/>
            <a:ext cx="4800600" cy="274320"/>
          </a:xfrm>
          <a:prstGeom prst="rect">
            <a:avLst/>
          </a:prstGeom>
          <a:noFill/>
          <a:ln/>
        </p:spPr>
        <p:txBody>
          <a:bodyPr wrap="square" rtlCol="0" anchor="ctr"/>
          <a:lstStyle/>
          <a:p>
            <a:pPr marL="0" indent="0">
              <a:buNone/>
            </a:pPr>
            <a:r>
              <a:rPr lang="en-US" sz="1150" b="1" dirty="0">
                <a:solidFill>
                  <a:srgbClr val="1A2B3C"/>
                </a:solidFill>
                <a:latin typeface="Cambria" pitchFamily="34" charset="0"/>
                <a:ea typeface="Cambria" pitchFamily="34" charset="-122"/>
                <a:cs typeface="Cambria" pitchFamily="34" charset="-120"/>
              </a:rPr>
              <a:t>Cloud vs. Edge Deployment Gap</a:t>
            </a:r>
            <a:endParaRPr lang="en-US" sz="1150" dirty="0"/>
          </a:p>
        </p:txBody>
      </p:sp>
      <p:sp>
        <p:nvSpPr>
          <p:cNvPr id="35" name="Text 33"/>
          <p:cNvSpPr/>
          <p:nvPr/>
        </p:nvSpPr>
        <p:spPr>
          <a:xfrm>
            <a:off x="6858000" y="4791456"/>
            <a:ext cx="4800600" cy="978408"/>
          </a:xfrm>
          <a:prstGeom prst="rect">
            <a:avLst/>
          </a:prstGeom>
          <a:noFill/>
          <a:ln/>
        </p:spPr>
        <p:txBody>
          <a:bodyPr wrap="square" rtlCol="0" anchor="ctr"/>
          <a:lstStyle/>
          <a:p>
            <a:pPr marL="0" indent="0">
              <a:buNone/>
            </a:pPr>
            <a:r>
              <a:rPr lang="en-US" sz="1050" dirty="0">
                <a:solidFill>
                  <a:srgbClr val="1A2B3C"/>
                </a:solidFill>
                <a:latin typeface="Calibri" pitchFamily="34" charset="0"/>
                <a:ea typeface="Calibri" pitchFamily="34" charset="-122"/>
                <a:cs typeface="Calibri" pitchFamily="34" charset="-120"/>
              </a:rPr>
              <a:t>SOTA models (Video Swin Transformer, 3D DenseNet) require massive VRAM. Real-time edge processing on standard school hardware remains computationally infeasible.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EDF2"/>
        </a:solidFill>
        <a:effectLst/>
      </p:bgPr>
    </p:bg>
    <p:spTree>
      <p:nvGrpSpPr>
        <p:cNvPr id="1" name=""/>
        <p:cNvGrpSpPr/>
        <p:nvPr/>
      </p:nvGrpSpPr>
      <p:grpSpPr>
        <a:xfrm>
          <a:off x="0" y="0"/>
          <a:ext cx="0" cy="0"/>
          <a:chOff x="0" y="0"/>
          <a:chExt cx="0" cy="0"/>
        </a:xfrm>
      </p:grpSpPr>
      <p:sp>
        <p:nvSpPr>
          <p:cNvPr id="2" name="Shape 0"/>
          <p:cNvSpPr/>
          <p:nvPr/>
        </p:nvSpPr>
        <p:spPr>
          <a:xfrm>
            <a:off x="320040" y="201168"/>
            <a:ext cx="1828800" cy="256032"/>
          </a:xfrm>
          <a:prstGeom prst="rect">
            <a:avLst/>
          </a:prstGeom>
          <a:solidFill>
            <a:srgbClr val="2B9FD9"/>
          </a:solidFill>
          <a:ln w="12700">
            <a:solidFill>
              <a:srgbClr val="2B9FD9"/>
            </a:solidFill>
            <a:prstDash val="solid"/>
          </a:ln>
        </p:spPr>
      </p:sp>
      <p:sp>
        <p:nvSpPr>
          <p:cNvPr id="3" name="Text 1"/>
          <p:cNvSpPr/>
          <p:nvPr/>
        </p:nvSpPr>
        <p:spPr>
          <a:xfrm>
            <a:off x="320040" y="201168"/>
            <a:ext cx="1828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RESEARCH LANDSCAPE</a:t>
            </a:r>
            <a:endParaRPr lang="en-US" sz="800" dirty="0"/>
          </a:p>
        </p:txBody>
      </p:sp>
      <p:sp>
        <p:nvSpPr>
          <p:cNvPr id="4" name="Text 2"/>
          <p:cNvSpPr/>
          <p:nvPr/>
        </p:nvSpPr>
        <p:spPr>
          <a:xfrm>
            <a:off x="320040" y="548640"/>
            <a:ext cx="11521440" cy="502920"/>
          </a:xfrm>
          <a:prstGeom prst="rect">
            <a:avLst/>
          </a:prstGeom>
          <a:noFill/>
          <a:ln/>
        </p:spPr>
        <p:txBody>
          <a:bodyPr wrap="square" rtlCol="0" anchor="ctr"/>
          <a:lstStyle/>
          <a:p>
            <a:pPr marL="0" indent="0" algn="l">
              <a:buNone/>
            </a:pPr>
            <a:r>
              <a:rPr lang="en-US" sz="2600" b="1" dirty="0">
                <a:solidFill>
                  <a:srgbClr val="1A2B3C"/>
                </a:solidFill>
                <a:latin typeface="Cambria" pitchFamily="34" charset="0"/>
                <a:ea typeface="Cambria" pitchFamily="34" charset="-122"/>
                <a:cs typeface="Cambria" pitchFamily="34" charset="-120"/>
              </a:rPr>
              <a:t>Methodological Evolution: From Traditional ML to Vision Transformers</a:t>
            </a:r>
            <a:endParaRPr lang="en-US" sz="2600" dirty="0"/>
          </a:p>
        </p:txBody>
      </p:sp>
      <p:sp>
        <p:nvSpPr>
          <p:cNvPr id="5" name="Shape 3"/>
          <p:cNvSpPr/>
          <p:nvPr/>
        </p:nvSpPr>
        <p:spPr>
          <a:xfrm>
            <a:off x="320040" y="1115568"/>
            <a:ext cx="11521440" cy="0"/>
          </a:xfrm>
          <a:prstGeom prst="line">
            <a:avLst/>
          </a:prstGeom>
          <a:noFill/>
          <a:ln w="19050">
            <a:solidFill>
              <a:srgbClr val="2B9FD9"/>
            </a:solidFill>
            <a:prstDash val="solid"/>
          </a:ln>
        </p:spPr>
      </p:sp>
      <p:sp>
        <p:nvSpPr>
          <p:cNvPr id="6" name="Shape 4"/>
          <p:cNvSpPr/>
          <p:nvPr/>
        </p:nvSpPr>
        <p:spPr>
          <a:xfrm>
            <a:off x="2514600" y="2423160"/>
            <a:ext cx="109728" cy="164592"/>
          </a:xfrm>
          <a:prstGeom prst="rect">
            <a:avLst/>
          </a:prstGeom>
          <a:solidFill>
            <a:srgbClr val="7A8FA6"/>
          </a:solidFill>
          <a:ln w="12700">
            <a:solidFill>
              <a:srgbClr val="7A8FA6"/>
            </a:solidFill>
            <a:prstDash val="solid"/>
          </a:ln>
        </p:spPr>
      </p:sp>
      <p:sp>
        <p:nvSpPr>
          <p:cNvPr id="7" name="Shape 5"/>
          <p:cNvSpPr/>
          <p:nvPr/>
        </p:nvSpPr>
        <p:spPr>
          <a:xfrm>
            <a:off x="320040" y="1298448"/>
            <a:ext cx="2194560" cy="566928"/>
          </a:xfrm>
          <a:prstGeom prst="rect">
            <a:avLst/>
          </a:prstGeom>
          <a:solidFill>
            <a:srgbClr val="7A8FA6"/>
          </a:solidFill>
          <a:ln w="12700">
            <a:solidFill>
              <a:srgbClr val="7A8FA6"/>
            </a:solidFill>
            <a:prstDash val="solid"/>
          </a:ln>
        </p:spPr>
      </p:sp>
      <p:sp>
        <p:nvSpPr>
          <p:cNvPr id="8" name="Text 6"/>
          <p:cNvSpPr/>
          <p:nvPr/>
        </p:nvSpPr>
        <p:spPr>
          <a:xfrm>
            <a:off x="320040" y="1298448"/>
            <a:ext cx="21945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Traditional ML</a:t>
            </a:r>
            <a:endParaRPr lang="en-US" sz="1100" dirty="0"/>
          </a:p>
        </p:txBody>
      </p:sp>
      <p:sp>
        <p:nvSpPr>
          <p:cNvPr id="9" name="Text 7"/>
          <p:cNvSpPr/>
          <p:nvPr/>
        </p:nvSpPr>
        <p:spPr>
          <a:xfrm>
            <a:off x="320040" y="1645920"/>
            <a:ext cx="2194560" cy="219456"/>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Pre-2018</a:t>
            </a:r>
            <a:endParaRPr lang="en-US" sz="900" dirty="0"/>
          </a:p>
        </p:txBody>
      </p:sp>
      <p:sp>
        <p:nvSpPr>
          <p:cNvPr id="10" name="Shape 8"/>
          <p:cNvSpPr/>
          <p:nvPr/>
        </p:nvSpPr>
        <p:spPr>
          <a:xfrm>
            <a:off x="320040" y="1865376"/>
            <a:ext cx="2194560" cy="4297680"/>
          </a:xfrm>
          <a:prstGeom prst="rect">
            <a:avLst/>
          </a:prstGeom>
          <a:solidFill>
            <a:srgbClr val="FFFFFF"/>
          </a:solidFill>
          <a:ln w="10160">
            <a:solidFill>
              <a:srgbClr val="7A8FA6"/>
            </a:solidFill>
            <a:prstDash val="solid"/>
          </a:ln>
        </p:spPr>
      </p:sp>
      <p:sp>
        <p:nvSpPr>
          <p:cNvPr id="11" name="Shape 9"/>
          <p:cNvSpPr/>
          <p:nvPr/>
        </p:nvSpPr>
        <p:spPr>
          <a:xfrm>
            <a:off x="411480" y="2048256"/>
            <a:ext cx="137160" cy="137160"/>
          </a:xfrm>
          <a:prstGeom prst="ellipse">
            <a:avLst/>
          </a:prstGeom>
          <a:solidFill>
            <a:srgbClr val="7A8FA6"/>
          </a:solidFill>
          <a:ln w="12700">
            <a:solidFill>
              <a:srgbClr val="7A8FA6"/>
            </a:solidFill>
            <a:prstDash val="solid"/>
          </a:ln>
        </p:spPr>
      </p:sp>
      <p:sp>
        <p:nvSpPr>
          <p:cNvPr id="12" name="Text 10"/>
          <p:cNvSpPr/>
          <p:nvPr/>
        </p:nvSpPr>
        <p:spPr>
          <a:xfrm>
            <a:off x="594360" y="2011680"/>
            <a:ext cx="1847088" cy="868680"/>
          </a:xfrm>
          <a:prstGeom prst="rect">
            <a:avLst/>
          </a:prstGeom>
          <a:noFill/>
          <a:ln/>
        </p:spPr>
        <p:txBody>
          <a:bodyPr wrap="square" rtlCol="0" anchor="t"/>
          <a:lstStyle/>
          <a:p>
            <a:pPr marL="0" indent="0">
              <a:buNone/>
            </a:pPr>
            <a:r>
              <a:rPr lang="en-US" sz="1050" dirty="0">
                <a:solidFill>
                  <a:srgbClr val="1A2B3C"/>
                </a:solidFill>
                <a:latin typeface="Calibri" pitchFamily="34" charset="0"/>
                <a:ea typeface="Calibri" pitchFamily="34" charset="-122"/>
                <a:cs typeface="Calibri" pitchFamily="34" charset="-120"/>
              </a:rPr>
              <a:t>HOG / Optical Flow features</a:t>
            </a:r>
            <a:endParaRPr lang="en-US" sz="1050" dirty="0"/>
          </a:p>
        </p:txBody>
      </p:sp>
      <p:sp>
        <p:nvSpPr>
          <p:cNvPr id="13" name="Shape 11"/>
          <p:cNvSpPr/>
          <p:nvPr/>
        </p:nvSpPr>
        <p:spPr>
          <a:xfrm>
            <a:off x="411480" y="3054096"/>
            <a:ext cx="137160" cy="137160"/>
          </a:xfrm>
          <a:prstGeom prst="ellipse">
            <a:avLst/>
          </a:prstGeom>
          <a:solidFill>
            <a:srgbClr val="7A8FA6"/>
          </a:solidFill>
          <a:ln w="12700">
            <a:solidFill>
              <a:srgbClr val="7A8FA6"/>
            </a:solidFill>
            <a:prstDash val="solid"/>
          </a:ln>
        </p:spPr>
      </p:sp>
      <p:sp>
        <p:nvSpPr>
          <p:cNvPr id="14" name="Text 12"/>
          <p:cNvSpPr/>
          <p:nvPr/>
        </p:nvSpPr>
        <p:spPr>
          <a:xfrm>
            <a:off x="594360" y="3017520"/>
            <a:ext cx="1847088" cy="868680"/>
          </a:xfrm>
          <a:prstGeom prst="rect">
            <a:avLst/>
          </a:prstGeom>
          <a:noFill/>
          <a:ln/>
        </p:spPr>
        <p:txBody>
          <a:bodyPr wrap="square" rtlCol="0" anchor="t"/>
          <a:lstStyle/>
          <a:p>
            <a:pPr marL="0" indent="0">
              <a:buNone/>
            </a:pPr>
            <a:r>
              <a:rPr lang="en-US" sz="1050" dirty="0">
                <a:solidFill>
                  <a:srgbClr val="1A2B3C"/>
                </a:solidFill>
                <a:latin typeface="Calibri" pitchFamily="34" charset="0"/>
                <a:ea typeface="Calibri" pitchFamily="34" charset="-122"/>
                <a:cs typeface="Calibri" pitchFamily="34" charset="-120"/>
              </a:rPr>
              <a:t>SVM classifiers</a:t>
            </a:r>
            <a:endParaRPr lang="en-US" sz="1050" dirty="0"/>
          </a:p>
        </p:txBody>
      </p:sp>
      <p:sp>
        <p:nvSpPr>
          <p:cNvPr id="15" name="Shape 13"/>
          <p:cNvSpPr/>
          <p:nvPr/>
        </p:nvSpPr>
        <p:spPr>
          <a:xfrm>
            <a:off x="411480" y="4059936"/>
            <a:ext cx="137160" cy="137160"/>
          </a:xfrm>
          <a:prstGeom prst="ellipse">
            <a:avLst/>
          </a:prstGeom>
          <a:solidFill>
            <a:srgbClr val="7A8FA6"/>
          </a:solidFill>
          <a:ln w="12700">
            <a:solidFill>
              <a:srgbClr val="7A8FA6"/>
            </a:solidFill>
            <a:prstDash val="solid"/>
          </a:ln>
        </p:spPr>
      </p:sp>
      <p:sp>
        <p:nvSpPr>
          <p:cNvPr id="16" name="Text 14"/>
          <p:cNvSpPr/>
          <p:nvPr/>
        </p:nvSpPr>
        <p:spPr>
          <a:xfrm>
            <a:off x="594360" y="4023360"/>
            <a:ext cx="1847088" cy="868680"/>
          </a:xfrm>
          <a:prstGeom prst="rect">
            <a:avLst/>
          </a:prstGeom>
          <a:noFill/>
          <a:ln/>
        </p:spPr>
        <p:txBody>
          <a:bodyPr wrap="square" rtlCol="0" anchor="t"/>
          <a:lstStyle/>
          <a:p>
            <a:pPr marL="0" indent="0">
              <a:buNone/>
            </a:pPr>
            <a:r>
              <a:rPr lang="en-US" sz="1050" dirty="0">
                <a:solidFill>
                  <a:srgbClr val="1A2B3C"/>
                </a:solidFill>
                <a:latin typeface="Calibri" pitchFamily="34" charset="0"/>
                <a:ea typeface="Calibri" pitchFamily="34" charset="-122"/>
                <a:cs typeface="Calibri" pitchFamily="34" charset="-120"/>
              </a:rPr>
              <a:t>Frame-by-frame static analysis</a:t>
            </a:r>
            <a:endParaRPr lang="en-US" sz="1050" dirty="0"/>
          </a:p>
        </p:txBody>
      </p:sp>
      <p:sp>
        <p:nvSpPr>
          <p:cNvPr id="17" name="Shape 15"/>
          <p:cNvSpPr/>
          <p:nvPr/>
        </p:nvSpPr>
        <p:spPr>
          <a:xfrm>
            <a:off x="411480" y="5065776"/>
            <a:ext cx="137160" cy="137160"/>
          </a:xfrm>
          <a:prstGeom prst="ellipse">
            <a:avLst/>
          </a:prstGeom>
          <a:solidFill>
            <a:srgbClr val="7A8FA6"/>
          </a:solidFill>
          <a:ln w="12700">
            <a:solidFill>
              <a:srgbClr val="7A8FA6"/>
            </a:solidFill>
            <a:prstDash val="solid"/>
          </a:ln>
        </p:spPr>
      </p:sp>
      <p:sp>
        <p:nvSpPr>
          <p:cNvPr id="18" name="Text 16"/>
          <p:cNvSpPr/>
          <p:nvPr/>
        </p:nvSpPr>
        <p:spPr>
          <a:xfrm>
            <a:off x="594360" y="5029200"/>
            <a:ext cx="1847088" cy="868680"/>
          </a:xfrm>
          <a:prstGeom prst="rect">
            <a:avLst/>
          </a:prstGeom>
          <a:noFill/>
          <a:ln/>
        </p:spPr>
        <p:txBody>
          <a:bodyPr wrap="square" rtlCol="0" anchor="t"/>
          <a:lstStyle/>
          <a:p>
            <a:pPr marL="0" indent="0">
              <a:buNone/>
            </a:pPr>
            <a:r>
              <a:rPr lang="en-US" sz="1050" dirty="0">
                <a:solidFill>
                  <a:srgbClr val="1A2B3C"/>
                </a:solidFill>
                <a:latin typeface="Calibri" pitchFamily="34" charset="0"/>
                <a:ea typeface="Calibri" pitchFamily="34" charset="-122"/>
                <a:cs typeface="Calibri" pitchFamily="34" charset="-120"/>
              </a:rPr>
              <a:t>High variance on real data</a:t>
            </a:r>
            <a:endParaRPr lang="en-US" sz="1050" dirty="0"/>
          </a:p>
        </p:txBody>
      </p:sp>
      <p:sp>
        <p:nvSpPr>
          <p:cNvPr id="19" name="Shape 17"/>
          <p:cNvSpPr/>
          <p:nvPr/>
        </p:nvSpPr>
        <p:spPr>
          <a:xfrm>
            <a:off x="4818888" y="2423160"/>
            <a:ext cx="109728" cy="164592"/>
          </a:xfrm>
          <a:prstGeom prst="rect">
            <a:avLst/>
          </a:prstGeom>
          <a:solidFill>
            <a:srgbClr val="2B9FD9"/>
          </a:solidFill>
          <a:ln w="12700">
            <a:solidFill>
              <a:srgbClr val="2B9FD9"/>
            </a:solidFill>
            <a:prstDash val="solid"/>
          </a:ln>
        </p:spPr>
      </p:sp>
      <p:sp>
        <p:nvSpPr>
          <p:cNvPr id="20" name="Shape 18"/>
          <p:cNvSpPr/>
          <p:nvPr/>
        </p:nvSpPr>
        <p:spPr>
          <a:xfrm>
            <a:off x="2624328" y="1298448"/>
            <a:ext cx="2194560" cy="566928"/>
          </a:xfrm>
          <a:prstGeom prst="rect">
            <a:avLst/>
          </a:prstGeom>
          <a:solidFill>
            <a:srgbClr val="2B9FD9"/>
          </a:solidFill>
          <a:ln w="12700">
            <a:solidFill>
              <a:srgbClr val="2B9FD9"/>
            </a:solidFill>
            <a:prstDash val="solid"/>
          </a:ln>
        </p:spPr>
      </p:sp>
      <p:sp>
        <p:nvSpPr>
          <p:cNvPr id="21" name="Text 19"/>
          <p:cNvSpPr/>
          <p:nvPr/>
        </p:nvSpPr>
        <p:spPr>
          <a:xfrm>
            <a:off x="2624328" y="1298448"/>
            <a:ext cx="21945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2D CNN</a:t>
            </a:r>
            <a:endParaRPr lang="en-US" sz="1100" dirty="0"/>
          </a:p>
        </p:txBody>
      </p:sp>
      <p:sp>
        <p:nvSpPr>
          <p:cNvPr id="22" name="Text 20"/>
          <p:cNvSpPr/>
          <p:nvPr/>
        </p:nvSpPr>
        <p:spPr>
          <a:xfrm>
            <a:off x="2624328" y="1645920"/>
            <a:ext cx="2194560" cy="219456"/>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2018–2020</a:t>
            </a:r>
            <a:endParaRPr lang="en-US" sz="900" dirty="0"/>
          </a:p>
        </p:txBody>
      </p:sp>
      <p:sp>
        <p:nvSpPr>
          <p:cNvPr id="23" name="Shape 21"/>
          <p:cNvSpPr/>
          <p:nvPr/>
        </p:nvSpPr>
        <p:spPr>
          <a:xfrm>
            <a:off x="2624328" y="1865376"/>
            <a:ext cx="2194560" cy="4297680"/>
          </a:xfrm>
          <a:prstGeom prst="rect">
            <a:avLst/>
          </a:prstGeom>
          <a:solidFill>
            <a:srgbClr val="FFFFFF"/>
          </a:solidFill>
          <a:ln w="10160">
            <a:solidFill>
              <a:srgbClr val="2B9FD9"/>
            </a:solidFill>
            <a:prstDash val="solid"/>
          </a:ln>
        </p:spPr>
      </p:sp>
      <p:sp>
        <p:nvSpPr>
          <p:cNvPr id="24" name="Shape 22"/>
          <p:cNvSpPr/>
          <p:nvPr/>
        </p:nvSpPr>
        <p:spPr>
          <a:xfrm>
            <a:off x="2715768" y="2048256"/>
            <a:ext cx="137160" cy="137160"/>
          </a:xfrm>
          <a:prstGeom prst="ellipse">
            <a:avLst/>
          </a:prstGeom>
          <a:solidFill>
            <a:srgbClr val="2B9FD9"/>
          </a:solidFill>
          <a:ln w="12700">
            <a:solidFill>
              <a:srgbClr val="2B9FD9"/>
            </a:solidFill>
            <a:prstDash val="solid"/>
          </a:ln>
        </p:spPr>
      </p:sp>
      <p:sp>
        <p:nvSpPr>
          <p:cNvPr id="25" name="Text 23"/>
          <p:cNvSpPr/>
          <p:nvPr/>
        </p:nvSpPr>
        <p:spPr>
          <a:xfrm>
            <a:off x="2898648" y="2011680"/>
            <a:ext cx="1847088" cy="868680"/>
          </a:xfrm>
          <a:prstGeom prst="rect">
            <a:avLst/>
          </a:prstGeom>
          <a:noFill/>
          <a:ln/>
        </p:spPr>
        <p:txBody>
          <a:bodyPr wrap="square" rtlCol="0" anchor="t"/>
          <a:lstStyle/>
          <a:p>
            <a:pPr marL="0" indent="0">
              <a:buNone/>
            </a:pPr>
            <a:r>
              <a:rPr lang="en-US" sz="1050" dirty="0">
                <a:solidFill>
                  <a:srgbClr val="1A2B3C"/>
                </a:solidFill>
                <a:latin typeface="Calibri" pitchFamily="34" charset="0"/>
                <a:ea typeface="Calibri" pitchFamily="34" charset="-122"/>
                <a:cs typeface="Calibri" pitchFamily="34" charset="-120"/>
              </a:rPr>
              <a:t>VGG16, ResNet50 backbones</a:t>
            </a:r>
            <a:endParaRPr lang="en-US" sz="1050" dirty="0"/>
          </a:p>
        </p:txBody>
      </p:sp>
      <p:sp>
        <p:nvSpPr>
          <p:cNvPr id="26" name="Shape 24"/>
          <p:cNvSpPr/>
          <p:nvPr/>
        </p:nvSpPr>
        <p:spPr>
          <a:xfrm>
            <a:off x="2715768" y="3054096"/>
            <a:ext cx="137160" cy="137160"/>
          </a:xfrm>
          <a:prstGeom prst="ellipse">
            <a:avLst/>
          </a:prstGeom>
          <a:solidFill>
            <a:srgbClr val="2B9FD9"/>
          </a:solidFill>
          <a:ln w="12700">
            <a:solidFill>
              <a:srgbClr val="2B9FD9"/>
            </a:solidFill>
            <a:prstDash val="solid"/>
          </a:ln>
        </p:spPr>
      </p:sp>
      <p:sp>
        <p:nvSpPr>
          <p:cNvPr id="27" name="Text 25"/>
          <p:cNvSpPr/>
          <p:nvPr/>
        </p:nvSpPr>
        <p:spPr>
          <a:xfrm>
            <a:off x="2898648" y="3017520"/>
            <a:ext cx="1847088" cy="868680"/>
          </a:xfrm>
          <a:prstGeom prst="rect">
            <a:avLst/>
          </a:prstGeom>
          <a:noFill/>
          <a:ln/>
        </p:spPr>
        <p:txBody>
          <a:bodyPr wrap="square" rtlCol="0" anchor="t"/>
          <a:lstStyle/>
          <a:p>
            <a:pPr marL="0" indent="0">
              <a:buNone/>
            </a:pPr>
            <a:r>
              <a:rPr lang="en-US" sz="1050" dirty="0">
                <a:solidFill>
                  <a:srgbClr val="1A2B3C"/>
                </a:solidFill>
                <a:latin typeface="Calibri" pitchFamily="34" charset="0"/>
                <a:ea typeface="Calibri" pitchFamily="34" charset="-122"/>
                <a:cs typeface="Calibri" pitchFamily="34" charset="-120"/>
              </a:rPr>
              <a:t>Spatial feature extraction</a:t>
            </a:r>
            <a:endParaRPr lang="en-US" sz="1050" dirty="0"/>
          </a:p>
        </p:txBody>
      </p:sp>
      <p:sp>
        <p:nvSpPr>
          <p:cNvPr id="28" name="Shape 26"/>
          <p:cNvSpPr/>
          <p:nvPr/>
        </p:nvSpPr>
        <p:spPr>
          <a:xfrm>
            <a:off x="2715768" y="4059936"/>
            <a:ext cx="137160" cy="137160"/>
          </a:xfrm>
          <a:prstGeom prst="ellipse">
            <a:avLst/>
          </a:prstGeom>
          <a:solidFill>
            <a:srgbClr val="2B9FD9"/>
          </a:solidFill>
          <a:ln w="12700">
            <a:solidFill>
              <a:srgbClr val="2B9FD9"/>
            </a:solidFill>
            <a:prstDash val="solid"/>
          </a:ln>
        </p:spPr>
      </p:sp>
      <p:sp>
        <p:nvSpPr>
          <p:cNvPr id="29" name="Text 27"/>
          <p:cNvSpPr/>
          <p:nvPr/>
        </p:nvSpPr>
        <p:spPr>
          <a:xfrm>
            <a:off x="2898648" y="4023360"/>
            <a:ext cx="1847088" cy="868680"/>
          </a:xfrm>
          <a:prstGeom prst="rect">
            <a:avLst/>
          </a:prstGeom>
          <a:noFill/>
          <a:ln/>
        </p:spPr>
        <p:txBody>
          <a:bodyPr wrap="square" rtlCol="0" anchor="t"/>
          <a:lstStyle/>
          <a:p>
            <a:pPr marL="0" indent="0">
              <a:buNone/>
            </a:pPr>
            <a:r>
              <a:rPr lang="en-US" sz="1050" dirty="0">
                <a:solidFill>
                  <a:srgbClr val="1A2B3C"/>
                </a:solidFill>
                <a:latin typeface="Calibri" pitchFamily="34" charset="0"/>
                <a:ea typeface="Calibri" pitchFamily="34" charset="-122"/>
                <a:cs typeface="Calibri" pitchFamily="34" charset="-120"/>
              </a:rPr>
              <a:t>Temporal blindness</a:t>
            </a:r>
            <a:endParaRPr lang="en-US" sz="1050" dirty="0"/>
          </a:p>
        </p:txBody>
      </p:sp>
      <p:sp>
        <p:nvSpPr>
          <p:cNvPr id="30" name="Shape 28"/>
          <p:cNvSpPr/>
          <p:nvPr/>
        </p:nvSpPr>
        <p:spPr>
          <a:xfrm>
            <a:off x="2715768" y="5065776"/>
            <a:ext cx="137160" cy="137160"/>
          </a:xfrm>
          <a:prstGeom prst="ellipse">
            <a:avLst/>
          </a:prstGeom>
          <a:solidFill>
            <a:srgbClr val="2B9FD9"/>
          </a:solidFill>
          <a:ln w="12700">
            <a:solidFill>
              <a:srgbClr val="2B9FD9"/>
            </a:solidFill>
            <a:prstDash val="solid"/>
          </a:ln>
        </p:spPr>
      </p:sp>
      <p:sp>
        <p:nvSpPr>
          <p:cNvPr id="31" name="Text 29"/>
          <p:cNvSpPr/>
          <p:nvPr/>
        </p:nvSpPr>
        <p:spPr>
          <a:xfrm>
            <a:off x="2898648" y="5029200"/>
            <a:ext cx="1847088" cy="868680"/>
          </a:xfrm>
          <a:prstGeom prst="rect">
            <a:avLst/>
          </a:prstGeom>
          <a:noFill/>
          <a:ln/>
        </p:spPr>
        <p:txBody>
          <a:bodyPr wrap="square" rtlCol="0" anchor="t"/>
          <a:lstStyle/>
          <a:p>
            <a:pPr marL="0" indent="0">
              <a:buNone/>
            </a:pPr>
            <a:r>
              <a:rPr lang="en-US" sz="1050" dirty="0">
                <a:solidFill>
                  <a:srgbClr val="1A2B3C"/>
                </a:solidFill>
                <a:latin typeface="Calibri" pitchFamily="34" charset="0"/>
                <a:ea typeface="Calibri" pitchFamily="34" charset="-122"/>
                <a:cs typeface="Calibri" pitchFamily="34" charset="-120"/>
              </a:rPr>
              <a:t>Outperforms SVM on facial data</a:t>
            </a:r>
            <a:endParaRPr lang="en-US" sz="1050" dirty="0"/>
          </a:p>
        </p:txBody>
      </p:sp>
      <p:sp>
        <p:nvSpPr>
          <p:cNvPr id="32" name="Shape 30"/>
          <p:cNvSpPr/>
          <p:nvPr/>
        </p:nvSpPr>
        <p:spPr>
          <a:xfrm>
            <a:off x="7123176" y="2423160"/>
            <a:ext cx="109728" cy="164592"/>
          </a:xfrm>
          <a:prstGeom prst="rect">
            <a:avLst/>
          </a:prstGeom>
          <a:solidFill>
            <a:srgbClr val="1B6CA8"/>
          </a:solidFill>
          <a:ln w="12700">
            <a:solidFill>
              <a:srgbClr val="1B6CA8"/>
            </a:solidFill>
            <a:prstDash val="solid"/>
          </a:ln>
        </p:spPr>
      </p:sp>
      <p:sp>
        <p:nvSpPr>
          <p:cNvPr id="33" name="Shape 31"/>
          <p:cNvSpPr/>
          <p:nvPr/>
        </p:nvSpPr>
        <p:spPr>
          <a:xfrm>
            <a:off x="4928616" y="1298448"/>
            <a:ext cx="2194560" cy="566928"/>
          </a:xfrm>
          <a:prstGeom prst="rect">
            <a:avLst/>
          </a:prstGeom>
          <a:solidFill>
            <a:srgbClr val="1B6CA8"/>
          </a:solidFill>
          <a:ln w="12700">
            <a:solidFill>
              <a:srgbClr val="1B6CA8"/>
            </a:solidFill>
            <a:prstDash val="solid"/>
          </a:ln>
        </p:spPr>
      </p:sp>
      <p:sp>
        <p:nvSpPr>
          <p:cNvPr id="34" name="Text 32"/>
          <p:cNvSpPr/>
          <p:nvPr/>
        </p:nvSpPr>
        <p:spPr>
          <a:xfrm>
            <a:off x="4928616" y="1298448"/>
            <a:ext cx="21945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CNN + LSTM</a:t>
            </a:r>
            <a:endParaRPr lang="en-US" sz="1100" dirty="0"/>
          </a:p>
        </p:txBody>
      </p:sp>
      <p:sp>
        <p:nvSpPr>
          <p:cNvPr id="35" name="Text 33"/>
          <p:cNvSpPr/>
          <p:nvPr/>
        </p:nvSpPr>
        <p:spPr>
          <a:xfrm>
            <a:off x="4928616" y="1645920"/>
            <a:ext cx="2194560" cy="219456"/>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2019–2021</a:t>
            </a:r>
            <a:endParaRPr lang="en-US" sz="900" dirty="0"/>
          </a:p>
        </p:txBody>
      </p:sp>
      <p:sp>
        <p:nvSpPr>
          <p:cNvPr id="36" name="Shape 34"/>
          <p:cNvSpPr/>
          <p:nvPr/>
        </p:nvSpPr>
        <p:spPr>
          <a:xfrm>
            <a:off x="4928616" y="1865376"/>
            <a:ext cx="2194560" cy="4297680"/>
          </a:xfrm>
          <a:prstGeom prst="rect">
            <a:avLst/>
          </a:prstGeom>
          <a:solidFill>
            <a:srgbClr val="FFFFFF"/>
          </a:solidFill>
          <a:ln w="10160">
            <a:solidFill>
              <a:srgbClr val="1B6CA8"/>
            </a:solidFill>
            <a:prstDash val="solid"/>
          </a:ln>
        </p:spPr>
      </p:sp>
      <p:sp>
        <p:nvSpPr>
          <p:cNvPr id="37" name="Shape 35"/>
          <p:cNvSpPr/>
          <p:nvPr/>
        </p:nvSpPr>
        <p:spPr>
          <a:xfrm>
            <a:off x="5020056" y="2048256"/>
            <a:ext cx="137160" cy="137160"/>
          </a:xfrm>
          <a:prstGeom prst="ellipse">
            <a:avLst/>
          </a:prstGeom>
          <a:solidFill>
            <a:srgbClr val="1B6CA8"/>
          </a:solidFill>
          <a:ln w="12700">
            <a:solidFill>
              <a:srgbClr val="1B6CA8"/>
            </a:solidFill>
            <a:prstDash val="solid"/>
          </a:ln>
        </p:spPr>
      </p:sp>
      <p:sp>
        <p:nvSpPr>
          <p:cNvPr id="38" name="Text 36"/>
          <p:cNvSpPr/>
          <p:nvPr/>
        </p:nvSpPr>
        <p:spPr>
          <a:xfrm>
            <a:off x="5202936" y="2011680"/>
            <a:ext cx="1847088" cy="868680"/>
          </a:xfrm>
          <a:prstGeom prst="rect">
            <a:avLst/>
          </a:prstGeom>
          <a:noFill/>
          <a:ln/>
        </p:spPr>
        <p:txBody>
          <a:bodyPr wrap="square" rtlCol="0" anchor="t"/>
          <a:lstStyle/>
          <a:p>
            <a:pPr marL="0" indent="0">
              <a:buNone/>
            </a:pPr>
            <a:r>
              <a:rPr lang="en-US" sz="1050" dirty="0">
                <a:solidFill>
                  <a:srgbClr val="1A2B3C"/>
                </a:solidFill>
                <a:latin typeface="Calibri" pitchFamily="34" charset="0"/>
                <a:ea typeface="Calibri" pitchFamily="34" charset="-122"/>
                <a:cs typeface="Calibri" pitchFamily="34" charset="-120"/>
              </a:rPr>
              <a:t>2D CNN spatial features</a:t>
            </a:r>
            <a:endParaRPr lang="en-US" sz="1050" dirty="0"/>
          </a:p>
        </p:txBody>
      </p:sp>
      <p:sp>
        <p:nvSpPr>
          <p:cNvPr id="39" name="Shape 37"/>
          <p:cNvSpPr/>
          <p:nvPr/>
        </p:nvSpPr>
        <p:spPr>
          <a:xfrm>
            <a:off x="5020056" y="3054096"/>
            <a:ext cx="137160" cy="137160"/>
          </a:xfrm>
          <a:prstGeom prst="ellipse">
            <a:avLst/>
          </a:prstGeom>
          <a:solidFill>
            <a:srgbClr val="1B6CA8"/>
          </a:solidFill>
          <a:ln w="12700">
            <a:solidFill>
              <a:srgbClr val="1B6CA8"/>
            </a:solidFill>
            <a:prstDash val="solid"/>
          </a:ln>
        </p:spPr>
      </p:sp>
      <p:sp>
        <p:nvSpPr>
          <p:cNvPr id="40" name="Text 38"/>
          <p:cNvSpPr/>
          <p:nvPr/>
        </p:nvSpPr>
        <p:spPr>
          <a:xfrm>
            <a:off x="5202936" y="3017520"/>
            <a:ext cx="1847088" cy="868680"/>
          </a:xfrm>
          <a:prstGeom prst="rect">
            <a:avLst/>
          </a:prstGeom>
          <a:noFill/>
          <a:ln/>
        </p:spPr>
        <p:txBody>
          <a:bodyPr wrap="square" rtlCol="0" anchor="t"/>
          <a:lstStyle/>
          <a:p>
            <a:pPr marL="0" indent="0">
              <a:buNone/>
            </a:pPr>
            <a:r>
              <a:rPr lang="en-US" sz="1050" dirty="0">
                <a:solidFill>
                  <a:srgbClr val="1A2B3C"/>
                </a:solidFill>
                <a:latin typeface="Calibri" pitchFamily="34" charset="0"/>
                <a:ea typeface="Calibri" pitchFamily="34" charset="-122"/>
                <a:cs typeface="Calibri" pitchFamily="34" charset="-120"/>
              </a:rPr>
              <a:t>LSTM temporal modeling</a:t>
            </a:r>
            <a:endParaRPr lang="en-US" sz="1050" dirty="0"/>
          </a:p>
        </p:txBody>
      </p:sp>
      <p:sp>
        <p:nvSpPr>
          <p:cNvPr id="41" name="Shape 39"/>
          <p:cNvSpPr/>
          <p:nvPr/>
        </p:nvSpPr>
        <p:spPr>
          <a:xfrm>
            <a:off x="5020056" y="4059936"/>
            <a:ext cx="137160" cy="137160"/>
          </a:xfrm>
          <a:prstGeom prst="ellipse">
            <a:avLst/>
          </a:prstGeom>
          <a:solidFill>
            <a:srgbClr val="1B6CA8"/>
          </a:solidFill>
          <a:ln w="12700">
            <a:solidFill>
              <a:srgbClr val="1B6CA8"/>
            </a:solidFill>
            <a:prstDash val="solid"/>
          </a:ln>
        </p:spPr>
      </p:sp>
      <p:sp>
        <p:nvSpPr>
          <p:cNvPr id="42" name="Text 40"/>
          <p:cNvSpPr/>
          <p:nvPr/>
        </p:nvSpPr>
        <p:spPr>
          <a:xfrm>
            <a:off x="5202936" y="4023360"/>
            <a:ext cx="1847088" cy="868680"/>
          </a:xfrm>
          <a:prstGeom prst="rect">
            <a:avLst/>
          </a:prstGeom>
          <a:noFill/>
          <a:ln/>
        </p:spPr>
        <p:txBody>
          <a:bodyPr wrap="square" rtlCol="0" anchor="t"/>
          <a:lstStyle/>
          <a:p>
            <a:pPr marL="0" indent="0">
              <a:buNone/>
            </a:pPr>
            <a:r>
              <a:rPr lang="en-US" sz="1050" dirty="0">
                <a:solidFill>
                  <a:srgbClr val="1A2B3C"/>
                </a:solidFill>
                <a:latin typeface="Calibri" pitchFamily="34" charset="0"/>
                <a:ea typeface="Calibri" pitchFamily="34" charset="-122"/>
                <a:cs typeface="Calibri" pitchFamily="34" charset="-120"/>
              </a:rPr>
              <a:t>Vanishing gradients over long sequences</a:t>
            </a:r>
            <a:endParaRPr lang="en-US" sz="1050" dirty="0"/>
          </a:p>
        </p:txBody>
      </p:sp>
      <p:sp>
        <p:nvSpPr>
          <p:cNvPr id="43" name="Shape 41"/>
          <p:cNvSpPr/>
          <p:nvPr/>
        </p:nvSpPr>
        <p:spPr>
          <a:xfrm>
            <a:off x="5020056" y="5065776"/>
            <a:ext cx="137160" cy="137160"/>
          </a:xfrm>
          <a:prstGeom prst="ellipse">
            <a:avLst/>
          </a:prstGeom>
          <a:solidFill>
            <a:srgbClr val="1B6CA8"/>
          </a:solidFill>
          <a:ln w="12700">
            <a:solidFill>
              <a:srgbClr val="1B6CA8"/>
            </a:solidFill>
            <a:prstDash val="solid"/>
          </a:ln>
        </p:spPr>
      </p:sp>
      <p:sp>
        <p:nvSpPr>
          <p:cNvPr id="44" name="Text 42"/>
          <p:cNvSpPr/>
          <p:nvPr/>
        </p:nvSpPr>
        <p:spPr>
          <a:xfrm>
            <a:off x="5202936" y="5029200"/>
            <a:ext cx="1847088" cy="868680"/>
          </a:xfrm>
          <a:prstGeom prst="rect">
            <a:avLst/>
          </a:prstGeom>
          <a:noFill/>
          <a:ln/>
        </p:spPr>
        <p:txBody>
          <a:bodyPr wrap="square" rtlCol="0" anchor="t"/>
          <a:lstStyle/>
          <a:p>
            <a:pPr marL="0" indent="0">
              <a:buNone/>
            </a:pPr>
            <a:r>
              <a:rPr lang="en-US" sz="1050" dirty="0">
                <a:solidFill>
                  <a:srgbClr val="1A2B3C"/>
                </a:solidFill>
                <a:latin typeface="Calibri" pitchFamily="34" charset="0"/>
                <a:ea typeface="Calibri" pitchFamily="34" charset="-122"/>
                <a:cs typeface="Calibri" pitchFamily="34" charset="-120"/>
              </a:rPr>
              <a:t>Partial temporal awareness</a:t>
            </a:r>
            <a:endParaRPr lang="en-US" sz="1050" dirty="0"/>
          </a:p>
        </p:txBody>
      </p:sp>
      <p:sp>
        <p:nvSpPr>
          <p:cNvPr id="45" name="Shape 43"/>
          <p:cNvSpPr/>
          <p:nvPr/>
        </p:nvSpPr>
        <p:spPr>
          <a:xfrm>
            <a:off x="9427464" y="2423160"/>
            <a:ext cx="109728" cy="164592"/>
          </a:xfrm>
          <a:prstGeom prst="rect">
            <a:avLst/>
          </a:prstGeom>
          <a:solidFill>
            <a:srgbClr val="F4A811"/>
          </a:solidFill>
          <a:ln w="12700">
            <a:solidFill>
              <a:srgbClr val="F4A811"/>
            </a:solidFill>
            <a:prstDash val="solid"/>
          </a:ln>
        </p:spPr>
      </p:sp>
      <p:sp>
        <p:nvSpPr>
          <p:cNvPr id="46" name="Shape 44"/>
          <p:cNvSpPr/>
          <p:nvPr/>
        </p:nvSpPr>
        <p:spPr>
          <a:xfrm>
            <a:off x="7232904" y="1298448"/>
            <a:ext cx="2194560" cy="566928"/>
          </a:xfrm>
          <a:prstGeom prst="rect">
            <a:avLst/>
          </a:prstGeom>
          <a:solidFill>
            <a:srgbClr val="F4A811"/>
          </a:solidFill>
          <a:ln w="12700">
            <a:solidFill>
              <a:srgbClr val="F4A811"/>
            </a:solidFill>
            <a:prstDash val="solid"/>
          </a:ln>
        </p:spPr>
      </p:sp>
      <p:sp>
        <p:nvSpPr>
          <p:cNvPr id="47" name="Text 45"/>
          <p:cNvSpPr/>
          <p:nvPr/>
        </p:nvSpPr>
        <p:spPr>
          <a:xfrm>
            <a:off x="7232904" y="1298448"/>
            <a:ext cx="21945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3D CNN</a:t>
            </a:r>
            <a:endParaRPr lang="en-US" sz="1100" dirty="0"/>
          </a:p>
        </p:txBody>
      </p:sp>
      <p:sp>
        <p:nvSpPr>
          <p:cNvPr id="48" name="Text 46"/>
          <p:cNvSpPr/>
          <p:nvPr/>
        </p:nvSpPr>
        <p:spPr>
          <a:xfrm>
            <a:off x="7232904" y="1645920"/>
            <a:ext cx="2194560" cy="219456"/>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2020–2023</a:t>
            </a:r>
            <a:endParaRPr lang="en-US" sz="900" dirty="0"/>
          </a:p>
        </p:txBody>
      </p:sp>
      <p:sp>
        <p:nvSpPr>
          <p:cNvPr id="49" name="Shape 47"/>
          <p:cNvSpPr/>
          <p:nvPr/>
        </p:nvSpPr>
        <p:spPr>
          <a:xfrm>
            <a:off x="7232904" y="1865376"/>
            <a:ext cx="2194560" cy="4297680"/>
          </a:xfrm>
          <a:prstGeom prst="rect">
            <a:avLst/>
          </a:prstGeom>
          <a:solidFill>
            <a:srgbClr val="FFFFFF"/>
          </a:solidFill>
          <a:ln w="10160">
            <a:solidFill>
              <a:srgbClr val="F4A811"/>
            </a:solidFill>
            <a:prstDash val="solid"/>
          </a:ln>
        </p:spPr>
      </p:sp>
      <p:sp>
        <p:nvSpPr>
          <p:cNvPr id="50" name="Shape 48"/>
          <p:cNvSpPr/>
          <p:nvPr/>
        </p:nvSpPr>
        <p:spPr>
          <a:xfrm>
            <a:off x="7324344" y="2048256"/>
            <a:ext cx="137160" cy="137160"/>
          </a:xfrm>
          <a:prstGeom prst="ellipse">
            <a:avLst/>
          </a:prstGeom>
          <a:solidFill>
            <a:srgbClr val="F4A811"/>
          </a:solidFill>
          <a:ln w="12700">
            <a:solidFill>
              <a:srgbClr val="F4A811"/>
            </a:solidFill>
            <a:prstDash val="solid"/>
          </a:ln>
        </p:spPr>
      </p:sp>
      <p:sp>
        <p:nvSpPr>
          <p:cNvPr id="51" name="Text 49"/>
          <p:cNvSpPr/>
          <p:nvPr/>
        </p:nvSpPr>
        <p:spPr>
          <a:xfrm>
            <a:off x="7507224" y="2011680"/>
            <a:ext cx="1847088" cy="868680"/>
          </a:xfrm>
          <a:prstGeom prst="rect">
            <a:avLst/>
          </a:prstGeom>
          <a:noFill/>
          <a:ln/>
        </p:spPr>
        <p:txBody>
          <a:bodyPr wrap="square" rtlCol="0" anchor="t"/>
          <a:lstStyle/>
          <a:p>
            <a:pPr marL="0" indent="0">
              <a:buNone/>
            </a:pPr>
            <a:r>
              <a:rPr lang="en-US" sz="1050" dirty="0">
                <a:solidFill>
                  <a:srgbClr val="1A2B3C"/>
                </a:solidFill>
                <a:latin typeface="Calibri" pitchFamily="34" charset="0"/>
                <a:ea typeface="Calibri" pitchFamily="34" charset="-122"/>
                <a:cs typeface="Calibri" pitchFamily="34" charset="-120"/>
              </a:rPr>
              <a:t>C3D, I3D, SlowFast, DenseNet</a:t>
            </a:r>
            <a:endParaRPr lang="en-US" sz="1050" dirty="0"/>
          </a:p>
        </p:txBody>
      </p:sp>
      <p:sp>
        <p:nvSpPr>
          <p:cNvPr id="52" name="Shape 50"/>
          <p:cNvSpPr/>
          <p:nvPr/>
        </p:nvSpPr>
        <p:spPr>
          <a:xfrm>
            <a:off x="7324344" y="3054096"/>
            <a:ext cx="137160" cy="137160"/>
          </a:xfrm>
          <a:prstGeom prst="ellipse">
            <a:avLst/>
          </a:prstGeom>
          <a:solidFill>
            <a:srgbClr val="F4A811"/>
          </a:solidFill>
          <a:ln w="12700">
            <a:solidFill>
              <a:srgbClr val="F4A811"/>
            </a:solidFill>
            <a:prstDash val="solid"/>
          </a:ln>
        </p:spPr>
      </p:sp>
      <p:sp>
        <p:nvSpPr>
          <p:cNvPr id="53" name="Text 51"/>
          <p:cNvSpPr/>
          <p:nvPr/>
        </p:nvSpPr>
        <p:spPr>
          <a:xfrm>
            <a:off x="7507224" y="3017520"/>
            <a:ext cx="1847088" cy="868680"/>
          </a:xfrm>
          <a:prstGeom prst="rect">
            <a:avLst/>
          </a:prstGeom>
          <a:noFill/>
          <a:ln/>
        </p:spPr>
        <p:txBody>
          <a:bodyPr wrap="square" rtlCol="0" anchor="t"/>
          <a:lstStyle/>
          <a:p>
            <a:pPr marL="0" indent="0">
              <a:buNone/>
            </a:pPr>
            <a:r>
              <a:rPr lang="en-US" sz="1050" dirty="0">
                <a:solidFill>
                  <a:srgbClr val="1A2B3C"/>
                </a:solidFill>
                <a:latin typeface="Calibri" pitchFamily="34" charset="0"/>
                <a:ea typeface="Calibri" pitchFamily="34" charset="-122"/>
                <a:cs typeface="Calibri" pitchFamily="34" charset="-120"/>
              </a:rPr>
              <a:t>Joint spatio-temporal learning</a:t>
            </a:r>
            <a:endParaRPr lang="en-US" sz="1050" dirty="0"/>
          </a:p>
        </p:txBody>
      </p:sp>
      <p:sp>
        <p:nvSpPr>
          <p:cNvPr id="54" name="Shape 52"/>
          <p:cNvSpPr/>
          <p:nvPr/>
        </p:nvSpPr>
        <p:spPr>
          <a:xfrm>
            <a:off x="7324344" y="4059936"/>
            <a:ext cx="137160" cy="137160"/>
          </a:xfrm>
          <a:prstGeom prst="ellipse">
            <a:avLst/>
          </a:prstGeom>
          <a:solidFill>
            <a:srgbClr val="F4A811"/>
          </a:solidFill>
          <a:ln w="12700">
            <a:solidFill>
              <a:srgbClr val="F4A811"/>
            </a:solidFill>
            <a:prstDash val="solid"/>
          </a:ln>
        </p:spPr>
      </p:sp>
      <p:sp>
        <p:nvSpPr>
          <p:cNvPr id="55" name="Text 53"/>
          <p:cNvSpPr/>
          <p:nvPr/>
        </p:nvSpPr>
        <p:spPr>
          <a:xfrm>
            <a:off x="7507224" y="4023360"/>
            <a:ext cx="1847088" cy="868680"/>
          </a:xfrm>
          <a:prstGeom prst="rect">
            <a:avLst/>
          </a:prstGeom>
          <a:noFill/>
          <a:ln/>
        </p:spPr>
        <p:txBody>
          <a:bodyPr wrap="square" rtlCol="0" anchor="t"/>
          <a:lstStyle/>
          <a:p>
            <a:pPr marL="0" indent="0">
              <a:buNone/>
            </a:pPr>
            <a:r>
              <a:rPr lang="en-US" sz="1050" dirty="0">
                <a:solidFill>
                  <a:srgbClr val="1A2B3C"/>
                </a:solidFill>
                <a:latin typeface="Calibri" pitchFamily="34" charset="0"/>
                <a:ea typeface="Calibri" pitchFamily="34" charset="-122"/>
                <a:cs typeface="Calibri" pitchFamily="34" charset="-120"/>
              </a:rPr>
              <a:t>High VRAM requirement</a:t>
            </a:r>
            <a:endParaRPr lang="en-US" sz="1050" dirty="0"/>
          </a:p>
        </p:txBody>
      </p:sp>
      <p:sp>
        <p:nvSpPr>
          <p:cNvPr id="56" name="Shape 54"/>
          <p:cNvSpPr/>
          <p:nvPr/>
        </p:nvSpPr>
        <p:spPr>
          <a:xfrm>
            <a:off x="7324344" y="5065776"/>
            <a:ext cx="137160" cy="137160"/>
          </a:xfrm>
          <a:prstGeom prst="ellipse">
            <a:avLst/>
          </a:prstGeom>
          <a:solidFill>
            <a:srgbClr val="F4A811"/>
          </a:solidFill>
          <a:ln w="12700">
            <a:solidFill>
              <a:srgbClr val="F4A811"/>
            </a:solidFill>
            <a:prstDash val="solid"/>
          </a:ln>
        </p:spPr>
      </p:sp>
      <p:sp>
        <p:nvSpPr>
          <p:cNvPr id="57" name="Text 55"/>
          <p:cNvSpPr/>
          <p:nvPr/>
        </p:nvSpPr>
        <p:spPr>
          <a:xfrm>
            <a:off x="7507224" y="5029200"/>
            <a:ext cx="1847088" cy="868680"/>
          </a:xfrm>
          <a:prstGeom prst="rect">
            <a:avLst/>
          </a:prstGeom>
          <a:noFill/>
          <a:ln/>
        </p:spPr>
        <p:txBody>
          <a:bodyPr wrap="square" rtlCol="0" anchor="t"/>
          <a:lstStyle/>
          <a:p>
            <a:pPr marL="0" indent="0">
              <a:buNone/>
            </a:pPr>
            <a:r>
              <a:rPr lang="en-US" sz="1050" dirty="0">
                <a:solidFill>
                  <a:srgbClr val="1A2B3C"/>
                </a:solidFill>
                <a:latin typeface="Calibri" pitchFamily="34" charset="0"/>
                <a:ea typeface="Calibri" pitchFamily="34" charset="-122"/>
                <a:cs typeface="Calibri" pitchFamily="34" charset="-120"/>
              </a:rPr>
              <a:t>OUC-CGE baseline: 94.3% (I3D)</a:t>
            </a:r>
            <a:endParaRPr lang="en-US" sz="1050" dirty="0"/>
          </a:p>
        </p:txBody>
      </p:sp>
      <p:sp>
        <p:nvSpPr>
          <p:cNvPr id="58" name="Shape 56"/>
          <p:cNvSpPr/>
          <p:nvPr/>
        </p:nvSpPr>
        <p:spPr>
          <a:xfrm>
            <a:off x="9537192" y="1298448"/>
            <a:ext cx="2194560" cy="566928"/>
          </a:xfrm>
          <a:prstGeom prst="rect">
            <a:avLst/>
          </a:prstGeom>
          <a:solidFill>
            <a:srgbClr val="C0392B"/>
          </a:solidFill>
          <a:ln w="12700">
            <a:solidFill>
              <a:srgbClr val="C0392B"/>
            </a:solidFill>
            <a:prstDash val="solid"/>
          </a:ln>
        </p:spPr>
      </p:sp>
      <p:sp>
        <p:nvSpPr>
          <p:cNvPr id="59" name="Text 57"/>
          <p:cNvSpPr/>
          <p:nvPr/>
        </p:nvSpPr>
        <p:spPr>
          <a:xfrm>
            <a:off x="9537192" y="1298448"/>
            <a:ext cx="21945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Transformers</a:t>
            </a:r>
            <a:endParaRPr lang="en-US" sz="1100" dirty="0"/>
          </a:p>
        </p:txBody>
      </p:sp>
      <p:sp>
        <p:nvSpPr>
          <p:cNvPr id="60" name="Text 58"/>
          <p:cNvSpPr/>
          <p:nvPr/>
        </p:nvSpPr>
        <p:spPr>
          <a:xfrm>
            <a:off x="9537192" y="1645920"/>
            <a:ext cx="2194560" cy="219456"/>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2023–Present</a:t>
            </a:r>
            <a:endParaRPr lang="en-US" sz="900" dirty="0"/>
          </a:p>
        </p:txBody>
      </p:sp>
      <p:sp>
        <p:nvSpPr>
          <p:cNvPr id="61" name="Shape 59"/>
          <p:cNvSpPr/>
          <p:nvPr/>
        </p:nvSpPr>
        <p:spPr>
          <a:xfrm>
            <a:off x="9537192" y="1865376"/>
            <a:ext cx="2194560" cy="4297680"/>
          </a:xfrm>
          <a:prstGeom prst="rect">
            <a:avLst/>
          </a:prstGeom>
          <a:solidFill>
            <a:srgbClr val="FFFFFF"/>
          </a:solidFill>
          <a:ln w="10160">
            <a:solidFill>
              <a:srgbClr val="C0392B"/>
            </a:solidFill>
            <a:prstDash val="solid"/>
          </a:ln>
        </p:spPr>
      </p:sp>
      <p:sp>
        <p:nvSpPr>
          <p:cNvPr id="62" name="Shape 60"/>
          <p:cNvSpPr/>
          <p:nvPr/>
        </p:nvSpPr>
        <p:spPr>
          <a:xfrm>
            <a:off x="9628632" y="2048256"/>
            <a:ext cx="137160" cy="137160"/>
          </a:xfrm>
          <a:prstGeom prst="ellipse">
            <a:avLst/>
          </a:prstGeom>
          <a:solidFill>
            <a:srgbClr val="C0392B"/>
          </a:solidFill>
          <a:ln w="12700">
            <a:solidFill>
              <a:srgbClr val="C0392B"/>
            </a:solidFill>
            <a:prstDash val="solid"/>
          </a:ln>
        </p:spPr>
      </p:sp>
      <p:sp>
        <p:nvSpPr>
          <p:cNvPr id="63" name="Text 61"/>
          <p:cNvSpPr/>
          <p:nvPr/>
        </p:nvSpPr>
        <p:spPr>
          <a:xfrm>
            <a:off x="9811512" y="2011680"/>
            <a:ext cx="1847088" cy="868680"/>
          </a:xfrm>
          <a:prstGeom prst="rect">
            <a:avLst/>
          </a:prstGeom>
          <a:noFill/>
          <a:ln/>
        </p:spPr>
        <p:txBody>
          <a:bodyPr wrap="square" rtlCol="0" anchor="t"/>
          <a:lstStyle/>
          <a:p>
            <a:pPr marL="0" indent="0">
              <a:buNone/>
            </a:pPr>
            <a:r>
              <a:rPr lang="en-US" sz="1050" dirty="0">
                <a:solidFill>
                  <a:srgbClr val="1A2B3C"/>
                </a:solidFill>
                <a:latin typeface="Calibri" pitchFamily="34" charset="0"/>
                <a:ea typeface="Calibri" pitchFamily="34" charset="-122"/>
                <a:cs typeface="Calibri" pitchFamily="34" charset="-120"/>
              </a:rPr>
              <a:t>Video Swin, ViT, MAE-based</a:t>
            </a:r>
            <a:endParaRPr lang="en-US" sz="1050" dirty="0"/>
          </a:p>
        </p:txBody>
      </p:sp>
      <p:sp>
        <p:nvSpPr>
          <p:cNvPr id="64" name="Shape 62"/>
          <p:cNvSpPr/>
          <p:nvPr/>
        </p:nvSpPr>
        <p:spPr>
          <a:xfrm>
            <a:off x="9628632" y="3054096"/>
            <a:ext cx="137160" cy="137160"/>
          </a:xfrm>
          <a:prstGeom prst="ellipse">
            <a:avLst/>
          </a:prstGeom>
          <a:solidFill>
            <a:srgbClr val="C0392B"/>
          </a:solidFill>
          <a:ln w="12700">
            <a:solidFill>
              <a:srgbClr val="C0392B"/>
            </a:solidFill>
            <a:prstDash val="solid"/>
          </a:ln>
        </p:spPr>
      </p:sp>
      <p:sp>
        <p:nvSpPr>
          <p:cNvPr id="65" name="Text 63"/>
          <p:cNvSpPr/>
          <p:nvPr/>
        </p:nvSpPr>
        <p:spPr>
          <a:xfrm>
            <a:off x="9811512" y="3017520"/>
            <a:ext cx="1847088" cy="868680"/>
          </a:xfrm>
          <a:prstGeom prst="rect">
            <a:avLst/>
          </a:prstGeom>
          <a:noFill/>
          <a:ln/>
        </p:spPr>
        <p:txBody>
          <a:bodyPr wrap="square" rtlCol="0" anchor="t"/>
          <a:lstStyle/>
          <a:p>
            <a:pPr marL="0" indent="0">
              <a:buNone/>
            </a:pPr>
            <a:r>
              <a:rPr lang="en-US" sz="1050" dirty="0">
                <a:solidFill>
                  <a:srgbClr val="1A2B3C"/>
                </a:solidFill>
                <a:latin typeface="Calibri" pitchFamily="34" charset="0"/>
                <a:ea typeface="Calibri" pitchFamily="34" charset="-122"/>
                <a:cs typeface="Calibri" pitchFamily="34" charset="-120"/>
              </a:rPr>
              <a:t>Global long-range attention</a:t>
            </a:r>
            <a:endParaRPr lang="en-US" sz="1050" dirty="0"/>
          </a:p>
        </p:txBody>
      </p:sp>
      <p:sp>
        <p:nvSpPr>
          <p:cNvPr id="66" name="Shape 64"/>
          <p:cNvSpPr/>
          <p:nvPr/>
        </p:nvSpPr>
        <p:spPr>
          <a:xfrm>
            <a:off x="9628632" y="4059936"/>
            <a:ext cx="137160" cy="137160"/>
          </a:xfrm>
          <a:prstGeom prst="ellipse">
            <a:avLst/>
          </a:prstGeom>
          <a:solidFill>
            <a:srgbClr val="C0392B"/>
          </a:solidFill>
          <a:ln w="12700">
            <a:solidFill>
              <a:srgbClr val="C0392B"/>
            </a:solidFill>
            <a:prstDash val="solid"/>
          </a:ln>
        </p:spPr>
      </p:sp>
      <p:sp>
        <p:nvSpPr>
          <p:cNvPr id="67" name="Text 65"/>
          <p:cNvSpPr/>
          <p:nvPr/>
        </p:nvSpPr>
        <p:spPr>
          <a:xfrm>
            <a:off x="9811512" y="4023360"/>
            <a:ext cx="1847088" cy="868680"/>
          </a:xfrm>
          <a:prstGeom prst="rect">
            <a:avLst/>
          </a:prstGeom>
          <a:noFill/>
          <a:ln/>
        </p:spPr>
        <p:txBody>
          <a:bodyPr wrap="square" rtlCol="0" anchor="t"/>
          <a:lstStyle/>
          <a:p>
            <a:pPr marL="0" indent="0">
              <a:buNone/>
            </a:pPr>
            <a:r>
              <a:rPr lang="en-US" sz="1050" dirty="0">
                <a:solidFill>
                  <a:srgbClr val="1A2B3C"/>
                </a:solidFill>
                <a:latin typeface="Calibri" pitchFamily="34" charset="0"/>
                <a:ea typeface="Calibri" pitchFamily="34" charset="-122"/>
                <a:cs typeface="Calibri" pitchFamily="34" charset="-120"/>
              </a:rPr>
              <a:t>Self-supervised pre-training</a:t>
            </a:r>
            <a:endParaRPr lang="en-US" sz="1050" dirty="0"/>
          </a:p>
        </p:txBody>
      </p:sp>
      <p:sp>
        <p:nvSpPr>
          <p:cNvPr id="68" name="Shape 66"/>
          <p:cNvSpPr/>
          <p:nvPr/>
        </p:nvSpPr>
        <p:spPr>
          <a:xfrm>
            <a:off x="9628632" y="5065776"/>
            <a:ext cx="137160" cy="137160"/>
          </a:xfrm>
          <a:prstGeom prst="ellipse">
            <a:avLst/>
          </a:prstGeom>
          <a:solidFill>
            <a:srgbClr val="C0392B"/>
          </a:solidFill>
          <a:ln w="12700">
            <a:solidFill>
              <a:srgbClr val="C0392B"/>
            </a:solidFill>
            <a:prstDash val="solid"/>
          </a:ln>
        </p:spPr>
      </p:sp>
      <p:sp>
        <p:nvSpPr>
          <p:cNvPr id="69" name="Text 67"/>
          <p:cNvSpPr/>
          <p:nvPr/>
        </p:nvSpPr>
        <p:spPr>
          <a:xfrm>
            <a:off x="9811512" y="5029200"/>
            <a:ext cx="1847088" cy="868680"/>
          </a:xfrm>
          <a:prstGeom prst="rect">
            <a:avLst/>
          </a:prstGeom>
          <a:noFill/>
          <a:ln/>
        </p:spPr>
        <p:txBody>
          <a:bodyPr wrap="square" rtlCol="0" anchor="t"/>
          <a:lstStyle/>
          <a:p>
            <a:pPr marL="0" indent="0">
              <a:buNone/>
            </a:pPr>
            <a:r>
              <a:rPr lang="en-US" sz="1050" dirty="0">
                <a:solidFill>
                  <a:srgbClr val="1A2B3C"/>
                </a:solidFill>
                <a:latin typeface="Calibri" pitchFamily="34" charset="0"/>
                <a:ea typeface="Calibri" pitchFamily="34" charset="-122"/>
                <a:cs typeface="Calibri" pitchFamily="34" charset="-120"/>
              </a:rPr>
              <a:t>SOTA: 98.5% Acc (OUC-CGE)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201168"/>
            <a:ext cx="1828800" cy="256032"/>
          </a:xfrm>
          <a:prstGeom prst="rect">
            <a:avLst/>
          </a:prstGeom>
          <a:solidFill>
            <a:srgbClr val="2B9FD9"/>
          </a:solidFill>
          <a:ln w="12700">
            <a:solidFill>
              <a:srgbClr val="2B9FD9"/>
            </a:solidFill>
            <a:prstDash val="solid"/>
          </a:ln>
        </p:spPr>
      </p:sp>
      <p:sp>
        <p:nvSpPr>
          <p:cNvPr id="3" name="Text 1"/>
          <p:cNvSpPr/>
          <p:nvPr/>
        </p:nvSpPr>
        <p:spPr>
          <a:xfrm>
            <a:off x="320040" y="201168"/>
            <a:ext cx="1828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LITERATURE REVIEW</a:t>
            </a:r>
            <a:endParaRPr lang="en-US" sz="800" dirty="0"/>
          </a:p>
        </p:txBody>
      </p:sp>
      <p:sp>
        <p:nvSpPr>
          <p:cNvPr id="4" name="Text 2"/>
          <p:cNvSpPr/>
          <p:nvPr/>
        </p:nvSpPr>
        <p:spPr>
          <a:xfrm>
            <a:off x="320040" y="548640"/>
            <a:ext cx="11521440" cy="502920"/>
          </a:xfrm>
          <a:prstGeom prst="rect">
            <a:avLst/>
          </a:prstGeom>
          <a:noFill/>
          <a:ln/>
        </p:spPr>
        <p:txBody>
          <a:bodyPr wrap="square" rtlCol="0" anchor="ctr"/>
          <a:lstStyle/>
          <a:p>
            <a:pPr marL="0" indent="0" algn="l">
              <a:buNone/>
            </a:pPr>
            <a:r>
              <a:rPr lang="en-US" sz="2600" b="1" dirty="0">
                <a:solidFill>
                  <a:srgbClr val="1A2B3C"/>
                </a:solidFill>
                <a:latin typeface="Cambria" pitchFamily="34" charset="0"/>
                <a:ea typeface="Cambria" pitchFamily="34" charset="-122"/>
                <a:cs typeface="Cambria" pitchFamily="34" charset="-120"/>
              </a:rPr>
              <a:t>Summary of Reviewed Publications</a:t>
            </a:r>
            <a:endParaRPr lang="en-US" sz="2600" dirty="0"/>
          </a:p>
        </p:txBody>
      </p:sp>
      <p:sp>
        <p:nvSpPr>
          <p:cNvPr id="5" name="Shape 3"/>
          <p:cNvSpPr/>
          <p:nvPr/>
        </p:nvSpPr>
        <p:spPr>
          <a:xfrm>
            <a:off x="320040" y="1115568"/>
            <a:ext cx="11521440" cy="0"/>
          </a:xfrm>
          <a:prstGeom prst="line">
            <a:avLst/>
          </a:prstGeom>
          <a:noFill/>
          <a:ln w="19050">
            <a:solidFill>
              <a:srgbClr val="2B9FD9"/>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0040" y="1261872"/>
          <a:ext cx="11521440" cy="5074916"/>
        </p:xfrm>
        <a:graphic>
          <a:graphicData uri="http://schemas.openxmlformats.org/drawingml/2006/table">
            <a:tbl>
              <a:tblPr/>
              <a:tblGrid>
                <a:gridCol w="164592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gridCol w="2926080">
                  <a:extLst>
                    <a:ext uri="{9D8B030D-6E8A-4147-A177-3AD203B41FA5}">
                      <a16:colId xmlns:a16="http://schemas.microsoft.com/office/drawing/2014/main" val="20005"/>
                    </a:ext>
                  </a:extLst>
                </a:gridCol>
              </a:tblGrid>
              <a:tr h="461356">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Author / Year</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0D1B2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Journal</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0D1B2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Dataset</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0D1B2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Method</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0D1B2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Key Metric</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0D1B2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Limitation</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461356">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Lu et al., 2025</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Scientific Data (Nature)</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OUC-CGE</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SlowFast, I3D, C2D</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Acc 94.3%</a:t>
                      </a:r>
                      <a:endParaRPr lang="en-US" sz="850" dirty="0">
                        <a:latin typeface="Calibri" charset="0"/>
                        <a:ea typeface="Calibri" charset="0"/>
                        <a:cs typeface="Calibri" charset="0"/>
                      </a:endParaRPr>
                    </a:p>
                    <a:p>
                      <a:pPr marL="0" indent="0">
                        <a:buNone/>
                      </a:pPr>
                      <a:r>
                        <a:rPr lang="en-US" sz="850" dirty="0">
                          <a:solidFill>
                            <a:srgbClr val="1A2B3C"/>
                          </a:solidFill>
                          <a:latin typeface="Calibri" pitchFamily="34" charset="0"/>
                          <a:ea typeface="Calibri" pitchFamily="34" charset="-122"/>
                          <a:cs typeface="Calibri" pitchFamily="34" charset="-120"/>
                        </a:rPr>
                        <a:t>AUC 99.1%</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No explicit socio-affective modeling</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extLst>
                  <a:ext uri="{0D108BD9-81ED-4DB2-BD59-A6C34878D82A}">
                    <a16:rowId xmlns:a16="http://schemas.microsoft.com/office/drawing/2014/main" val="10001"/>
                  </a:ext>
                </a:extLst>
              </a:tr>
              <a:tr h="461356">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Nie &amp; Wang, 2026</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IEEE Access</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OUC-CGE</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Video Swin + EED Framework</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Acc 98.5%</a:t>
                      </a:r>
                      <a:endParaRPr lang="en-US" sz="850" dirty="0">
                        <a:latin typeface="Calibri" charset="0"/>
                        <a:ea typeface="Calibri" charset="0"/>
                        <a:cs typeface="Calibri" charset="0"/>
                      </a:endParaRPr>
                    </a:p>
                    <a:p>
                      <a:pPr marL="0" indent="0">
                        <a:buNone/>
                      </a:pPr>
                      <a:r>
                        <a:rPr lang="en-US" sz="850" dirty="0">
                          <a:solidFill>
                            <a:srgbClr val="1A2B3C"/>
                          </a:solidFill>
                          <a:latin typeface="Calibri" pitchFamily="34" charset="0"/>
                          <a:ea typeface="Calibri" pitchFamily="34" charset="-122"/>
                          <a:cs typeface="Calibri" pitchFamily="34" charset="-120"/>
                        </a:rPr>
                        <a:t>QWK 0.984</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High computational overhead</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extLst>
                  <a:ext uri="{0D108BD9-81ED-4DB2-BD59-A6C34878D82A}">
                    <a16:rowId xmlns:a16="http://schemas.microsoft.com/office/drawing/2014/main" val="10002"/>
                  </a:ext>
                </a:extLst>
              </a:tr>
              <a:tr h="461356">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Mehta et al., 2022</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Applied Intelligence</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DAiSEE, EmotiW-EP</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3D DenseAttNet</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Acc 94.85%</a:t>
                      </a:r>
                      <a:endParaRPr lang="en-US" sz="850" dirty="0">
                        <a:latin typeface="Calibri" charset="0"/>
                        <a:ea typeface="Calibri" charset="0"/>
                        <a:cs typeface="Calibri" charset="0"/>
                      </a:endParaRPr>
                    </a:p>
                    <a:p>
                      <a:pPr marL="0" indent="0">
                        <a:buNone/>
                      </a:pPr>
                      <a:r>
                        <a:rPr lang="en-US" sz="850" dirty="0">
                          <a:solidFill>
                            <a:srgbClr val="1A2B3C"/>
                          </a:solidFill>
                          <a:latin typeface="Calibri" pitchFamily="34" charset="0"/>
                          <a:ea typeface="Calibri" pitchFamily="34" charset="-122"/>
                          <a:cs typeface="Calibri" pitchFamily="34" charset="-120"/>
                        </a:rPr>
                        <a:t>MSE 0.035</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Not deployable on edge hardware</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extLst>
                  <a:ext uri="{0D108BD9-81ED-4DB2-BD59-A6C34878D82A}">
                    <a16:rowId xmlns:a16="http://schemas.microsoft.com/office/drawing/2014/main" val="10003"/>
                  </a:ext>
                </a:extLst>
              </a:tr>
              <a:tr h="461356">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Zhang et al., 2024</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IEEE Trans. CSVT</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DAiSEE, EmotiW</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FMAE (ViT + Masked AE)</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SOTA on both</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Facial only, no body/group</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extLst>
                  <a:ext uri="{0D108BD9-81ED-4DB2-BD59-A6C34878D82A}">
                    <a16:rowId xmlns:a16="http://schemas.microsoft.com/office/drawing/2014/main" val="10004"/>
                  </a:ext>
                </a:extLst>
              </a:tr>
              <a:tr h="461356">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Zhao et al., 2025</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IEEE Access</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CSBR10, UCF-101</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Multimodal Framework Transformer</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Best class acc.</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Microphone noise in dense classrooms</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extLst>
                  <a:ext uri="{0D108BD9-81ED-4DB2-BD59-A6C34878D82A}">
                    <a16:rowId xmlns:a16="http://schemas.microsoft.com/office/drawing/2014/main" val="10005"/>
                  </a:ext>
                </a:extLst>
              </a:tr>
              <a:tr h="461356">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Das &amp; Dev, 2025</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Neural Comp. &amp; Apps</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DAiSEE, WACV</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EfficientNet + XGBoost (AUs)</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Acc 82.9% (XGB)</a:t>
                      </a:r>
                      <a:endParaRPr lang="en-US" sz="850" dirty="0">
                        <a:latin typeface="Calibri" charset="0"/>
                        <a:ea typeface="Calibri" charset="0"/>
                        <a:cs typeface="Calibri" charset="0"/>
                      </a:endParaRPr>
                    </a:p>
                    <a:p>
                      <a:pPr marL="0" indent="0">
                        <a:buNone/>
                      </a:pPr>
                      <a:r>
                        <a:rPr lang="en-US" sz="850" dirty="0">
                          <a:solidFill>
                            <a:srgbClr val="1A2B3C"/>
                          </a:solidFill>
                          <a:latin typeface="Calibri" pitchFamily="34" charset="0"/>
                          <a:ea typeface="Calibri" pitchFamily="34" charset="-122"/>
                          <a:cs typeface="Calibri" pitchFamily="34" charset="-120"/>
                        </a:rPr>
                        <a:t>MSE 0.051</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Degrades on occluded low-res faces</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extLst>
                  <a:ext uri="{0D108BD9-81ED-4DB2-BD59-A6C34878D82A}">
                    <a16:rowId xmlns:a16="http://schemas.microsoft.com/office/drawing/2014/main" val="10006"/>
                  </a:ext>
                </a:extLst>
              </a:tr>
              <a:tr h="461356">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Sumer et al., 2023</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IEEE Trans. Affective Comp.</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Proprietary in-the-wild</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Multimodal late-fusion (OpenFace)</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AUC 0.62–0.72</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No body/group; frontal face only</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extLst>
                  <a:ext uri="{0D108BD9-81ED-4DB2-BD59-A6C34878D82A}">
                    <a16:rowId xmlns:a16="http://schemas.microsoft.com/office/drawing/2014/main" val="10007"/>
                  </a:ext>
                </a:extLst>
              </a:tr>
              <a:tr h="461356">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Xie et al., 2025</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IEEE Trans. Learning Tech.</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DAiSEE + GOLD</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MSC-Trans (ResNet + Transformer)</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Acc 92.9%</a:t>
                      </a:r>
                      <a:endParaRPr lang="en-US" sz="850" dirty="0">
                        <a:latin typeface="Calibri" charset="0"/>
                        <a:ea typeface="Calibri" charset="0"/>
                        <a:cs typeface="Calibri" charset="0"/>
                      </a:endParaRPr>
                    </a:p>
                    <a:p>
                      <a:pPr marL="0" indent="0">
                        <a:buNone/>
                      </a:pPr>
                      <a:r>
                        <a:rPr lang="en-US" sz="850" dirty="0">
                          <a:solidFill>
                            <a:srgbClr val="1A2B3C"/>
                          </a:solidFill>
                          <a:latin typeface="Calibri" pitchFamily="34" charset="0"/>
                          <a:ea typeface="Calibri" pitchFamily="34" charset="-122"/>
                          <a:cs typeface="Calibri" pitchFamily="34" charset="-120"/>
                        </a:rPr>
                        <a:t>F1 97.1%</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5-min averaging; misses rapid events</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extLst>
                  <a:ext uri="{0D108BD9-81ED-4DB2-BD59-A6C34878D82A}">
                    <a16:rowId xmlns:a16="http://schemas.microsoft.com/office/drawing/2014/main" val="10008"/>
                  </a:ext>
                </a:extLst>
              </a:tr>
              <a:tr h="461356">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Qin et al., 2025</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IEEE Access</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SCB-Dataset3</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ACM-YOLOv10</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mAP 82.4%</a:t>
                      </a:r>
                      <a:endParaRPr lang="en-US" sz="850" dirty="0">
                        <a:latin typeface="Calibri" charset="0"/>
                        <a:ea typeface="Calibri" charset="0"/>
                        <a:cs typeface="Calibri" charset="0"/>
                      </a:endParaRPr>
                    </a:p>
                    <a:p>
                      <a:pPr marL="0" indent="0">
                        <a:buNone/>
                      </a:pPr>
                      <a:r>
                        <a:rPr lang="en-US" sz="850" dirty="0">
                          <a:solidFill>
                            <a:srgbClr val="1A2B3C"/>
                          </a:solidFill>
                          <a:latin typeface="Calibri" pitchFamily="34" charset="0"/>
                          <a:ea typeface="Calibri" pitchFamily="34" charset="-122"/>
                          <a:cs typeface="Calibri" pitchFamily="34" charset="-120"/>
                        </a:rPr>
                        <a:t>+5.3% vs baseline</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No temporal reasoning</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extLst>
                  <a:ext uri="{0D108BD9-81ED-4DB2-BD59-A6C34878D82A}">
                    <a16:rowId xmlns:a16="http://schemas.microsoft.com/office/drawing/2014/main" val="10009"/>
                  </a:ext>
                </a:extLst>
              </a:tr>
              <a:tr h="461356">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Hu et al., 2022</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Sensors (MDPI)</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Self-built (28 students)</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YOLOv5 + ResNet50/CoAtNet + KNN</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Det 95.4%</a:t>
                      </a:r>
                      <a:endParaRPr lang="en-US" sz="850" dirty="0">
                        <a:latin typeface="Calibri" charset="0"/>
                        <a:ea typeface="Calibri" charset="0"/>
                        <a:cs typeface="Calibri" charset="0"/>
                      </a:endParaRPr>
                    </a:p>
                    <a:p>
                      <a:pPr marL="0" indent="0">
                        <a:buNone/>
                      </a:pPr>
                      <a:r>
                        <a:rPr lang="en-US" sz="850" dirty="0">
                          <a:solidFill>
                            <a:srgbClr val="1A2B3C"/>
                          </a:solidFill>
                          <a:latin typeface="Calibri" pitchFamily="34" charset="0"/>
                          <a:ea typeface="Calibri" pitchFamily="34" charset="-122"/>
                          <a:cs typeface="Calibri" pitchFamily="34" charset="-120"/>
                        </a:rPr>
                        <a:t>Acc 93.94%</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buNone/>
                      </a:pPr>
                      <a:r>
                        <a:rPr lang="en-US" sz="850" dirty="0">
                          <a:solidFill>
                            <a:srgbClr val="1A2B3C"/>
                          </a:solidFill>
                          <a:latin typeface="Calibri" pitchFamily="34" charset="0"/>
                          <a:ea typeface="Calibri" pitchFamily="34" charset="-122"/>
                          <a:cs typeface="Calibri" pitchFamily="34" charset="-120"/>
                        </a:rPr>
                        <a:t>KNN fusion; no spatiotemporal modelling</a:t>
                      </a:r>
                      <a:endParaRPr lang="en-US" sz="8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EDF2"/>
        </a:solidFill>
        <a:effectLst/>
      </p:bgPr>
    </p:bg>
    <p:spTree>
      <p:nvGrpSpPr>
        <p:cNvPr id="1" name=""/>
        <p:cNvGrpSpPr/>
        <p:nvPr/>
      </p:nvGrpSpPr>
      <p:grpSpPr>
        <a:xfrm>
          <a:off x="0" y="0"/>
          <a:ext cx="0" cy="0"/>
          <a:chOff x="0" y="0"/>
          <a:chExt cx="0" cy="0"/>
        </a:xfrm>
      </p:grpSpPr>
      <p:sp>
        <p:nvSpPr>
          <p:cNvPr id="2" name="Shape 0"/>
          <p:cNvSpPr/>
          <p:nvPr/>
        </p:nvSpPr>
        <p:spPr>
          <a:xfrm>
            <a:off x="320040" y="201168"/>
            <a:ext cx="1828800" cy="256032"/>
          </a:xfrm>
          <a:prstGeom prst="rect">
            <a:avLst/>
          </a:prstGeom>
          <a:solidFill>
            <a:srgbClr val="2B9FD9"/>
          </a:solidFill>
          <a:ln w="12700">
            <a:solidFill>
              <a:srgbClr val="2B9FD9"/>
            </a:solidFill>
            <a:prstDash val="solid"/>
          </a:ln>
        </p:spPr>
      </p:sp>
      <p:sp>
        <p:nvSpPr>
          <p:cNvPr id="3" name="Text 1"/>
          <p:cNvSpPr/>
          <p:nvPr/>
        </p:nvSpPr>
        <p:spPr>
          <a:xfrm>
            <a:off x="320040" y="201168"/>
            <a:ext cx="1828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DATASETS</a:t>
            </a:r>
            <a:endParaRPr lang="en-US" sz="800" dirty="0"/>
          </a:p>
        </p:txBody>
      </p:sp>
      <p:sp>
        <p:nvSpPr>
          <p:cNvPr id="4" name="Text 2"/>
          <p:cNvSpPr/>
          <p:nvPr/>
        </p:nvSpPr>
        <p:spPr>
          <a:xfrm>
            <a:off x="320040" y="548640"/>
            <a:ext cx="11521440" cy="502920"/>
          </a:xfrm>
          <a:prstGeom prst="rect">
            <a:avLst/>
          </a:prstGeom>
          <a:noFill/>
          <a:ln/>
        </p:spPr>
        <p:txBody>
          <a:bodyPr wrap="square" rtlCol="0" anchor="ctr"/>
          <a:lstStyle/>
          <a:p>
            <a:pPr marL="0" indent="0" algn="l">
              <a:buNone/>
            </a:pPr>
            <a:r>
              <a:rPr lang="en-US" sz="2600" b="1" dirty="0">
                <a:solidFill>
                  <a:srgbClr val="1A2B3C"/>
                </a:solidFill>
                <a:latin typeface="Cambria" pitchFamily="34" charset="0"/>
                <a:ea typeface="Cambria" pitchFamily="34" charset="-122"/>
                <a:cs typeface="Cambria" pitchFamily="34" charset="-120"/>
              </a:rPr>
              <a:t>Comparison of Datasets in Existing Literature</a:t>
            </a:r>
            <a:endParaRPr lang="en-US" sz="2600" dirty="0"/>
          </a:p>
        </p:txBody>
      </p:sp>
      <p:sp>
        <p:nvSpPr>
          <p:cNvPr id="5" name="Shape 3"/>
          <p:cNvSpPr/>
          <p:nvPr/>
        </p:nvSpPr>
        <p:spPr>
          <a:xfrm>
            <a:off x="320040" y="1115568"/>
            <a:ext cx="11521440" cy="0"/>
          </a:xfrm>
          <a:prstGeom prst="line">
            <a:avLst/>
          </a:prstGeom>
          <a:noFill/>
          <a:ln w="19050">
            <a:solidFill>
              <a:srgbClr val="2B9FD9"/>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20040" y="1261872"/>
          <a:ext cx="11521440" cy="1897380"/>
        </p:xfrm>
        <a:graphic>
          <a:graphicData uri="http://schemas.openxmlformats.org/drawingml/2006/table">
            <a:tbl>
              <a:tblPr/>
              <a:tblGrid>
                <a:gridCol w="17830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gridCol w="1051560">
                  <a:extLst>
                    <a:ext uri="{9D8B030D-6E8A-4147-A177-3AD203B41FA5}">
                      <a16:colId xmlns:a16="http://schemas.microsoft.com/office/drawing/2014/main" val="20006"/>
                    </a:ext>
                  </a:extLst>
                </a:gridCol>
              </a:tblGrid>
              <a:tr h="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Dataset</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1B6CA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Domain</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1B6CA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Approx. Size</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1B6CA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Modality</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1B6CA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Setting</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1B6CA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Label Type</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1B6CA8"/>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Availability</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1B6CA8"/>
                    </a:solidFill>
                  </a:tcPr>
                </a:tc>
                <a:extLst>
                  <a:ext uri="{0D108BD9-81ED-4DB2-BD59-A6C34878D82A}">
                    <a16:rowId xmlns:a16="http://schemas.microsoft.com/office/drawing/2014/main" val="10000"/>
                  </a:ext>
                </a:extLst>
              </a:tr>
              <a:tr h="0">
                <a:tc>
                  <a:txBody>
                    <a:bodyPr/>
                    <a:lstStyle/>
                    <a:p>
                      <a:pPr marL="0" indent="0" algn="ctr">
                        <a:buNone/>
                      </a:pPr>
                      <a:r>
                        <a:rPr lang="en-US" sz="950" b="1" dirty="0">
                          <a:solidFill>
                            <a:srgbClr val="1B6CA8"/>
                          </a:solidFill>
                          <a:latin typeface="Calibri" pitchFamily="34" charset="0"/>
                          <a:ea typeface="Calibri" pitchFamily="34" charset="-122"/>
                          <a:cs typeface="Calibri" pitchFamily="34" charset="-120"/>
                        </a:rPr>
                        <a:t>OUC-CGE</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Physical Classroom</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Multi-clip (10-sec segments)</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RGB Video</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In-the-wild group</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3-class ordinal</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b="1" dirty="0">
                          <a:solidFill>
                            <a:srgbClr val="1B6CA8"/>
                          </a:solidFill>
                          <a:latin typeface="Calibri" pitchFamily="34" charset="0"/>
                          <a:ea typeface="Calibri" pitchFamily="34" charset="-122"/>
                          <a:cs typeface="Calibri" pitchFamily="34" charset="-120"/>
                        </a:rPr>
                        <a:t>Public</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DAiSEE</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E-Learning</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9,028 clips</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Facial webcam</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Controlled individual</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4-class ordinal</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Public</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extLst>
                  <a:ext uri="{0D108BD9-81ED-4DB2-BD59-A6C34878D82A}">
                    <a16:rowId xmlns:a16="http://schemas.microsoft.com/office/drawing/2014/main" val="10002"/>
                  </a:ext>
                </a:extLst>
              </a:tr>
              <a:tr h="0">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EmotiW-EP</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E-Learning</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~16K frames</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Facial video</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In-the-wild individual</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3-class ordinal</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Public</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SCB-Dataset3</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Physical Classroom</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Multi-action</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RGB (bounding box)</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Classroom scenes</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Action categories</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Public</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extLst>
                  <a:ext uri="{0D108BD9-81ED-4DB2-BD59-A6C34878D82A}">
                    <a16:rowId xmlns:a16="http://schemas.microsoft.com/office/drawing/2014/main" val="10004"/>
                  </a:ext>
                </a:extLst>
              </a:tr>
              <a:tr h="0">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CSBR10</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Physical Classroom</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&gt;700 clips/class</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Audio + Video</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Classroom scenes</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10 behavior categories</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Public (GitHub)</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Sumer et al. Private</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Physical Classroom</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~725K frames / 9 hrs</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Facial video</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In-the-wild individual</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Continuous AUC</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Private</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extLst>
                  <a:ext uri="{0D108BD9-81ED-4DB2-BD59-A6C34878D82A}">
                    <a16:rowId xmlns:a16="http://schemas.microsoft.com/office/drawing/2014/main" val="10006"/>
                  </a:ext>
                </a:extLst>
              </a:tr>
              <a:tr h="0">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Hu et al. Self-built</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Physical Classroom</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28 students</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RGB Video</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Unconstrained group</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3-tier categorical</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950" dirty="0">
                          <a:solidFill>
                            <a:srgbClr val="1A2B3C"/>
                          </a:solidFill>
                          <a:latin typeface="Calibri" pitchFamily="34" charset="0"/>
                          <a:ea typeface="Calibri" pitchFamily="34" charset="-122"/>
                          <a:cs typeface="Calibri" pitchFamily="34" charset="-120"/>
                        </a:rPr>
                        <a:t>Private</a:t>
                      </a:r>
                      <a:endParaRPr lang="en-US" sz="95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4"/>
          <p:cNvSpPr/>
          <p:nvPr/>
        </p:nvSpPr>
        <p:spPr>
          <a:xfrm>
            <a:off x="320040" y="5833872"/>
            <a:ext cx="11521440" cy="347472"/>
          </a:xfrm>
          <a:prstGeom prst="rect">
            <a:avLst/>
          </a:prstGeom>
          <a:noFill/>
          <a:ln/>
        </p:spPr>
        <p:txBody>
          <a:bodyPr wrap="square" rtlCol="0" anchor="ctr"/>
          <a:lstStyle/>
          <a:p>
            <a:pPr marL="0" indent="0">
              <a:buNone/>
            </a:pPr>
            <a:r>
              <a:rPr lang="en-US" sz="1150" b="1" i="1" dirty="0">
                <a:solidFill>
                  <a:srgbClr val="1B6CA8"/>
                </a:solidFill>
                <a:latin typeface="Calibri" pitchFamily="34" charset="0"/>
                <a:ea typeface="Calibri" pitchFamily="34" charset="-122"/>
                <a:cs typeface="Calibri" pitchFamily="34" charset="-120"/>
              </a:rPr>
              <a:t>★  OUC-CGE is the only publicly available dataset capturing authentic classroom group dynamics at scale.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201168"/>
            <a:ext cx="1828800" cy="256032"/>
          </a:xfrm>
          <a:prstGeom prst="rect">
            <a:avLst/>
          </a:prstGeom>
          <a:solidFill>
            <a:srgbClr val="2B9FD9"/>
          </a:solidFill>
          <a:ln w="12700">
            <a:solidFill>
              <a:srgbClr val="2B9FD9"/>
            </a:solidFill>
            <a:prstDash val="solid"/>
          </a:ln>
        </p:spPr>
      </p:sp>
      <p:sp>
        <p:nvSpPr>
          <p:cNvPr id="3" name="Text 1"/>
          <p:cNvSpPr/>
          <p:nvPr/>
        </p:nvSpPr>
        <p:spPr>
          <a:xfrm>
            <a:off x="320040" y="201168"/>
            <a:ext cx="1828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MODEL TAXONOMY</a:t>
            </a:r>
            <a:endParaRPr lang="en-US" sz="800" dirty="0"/>
          </a:p>
        </p:txBody>
      </p:sp>
      <p:sp>
        <p:nvSpPr>
          <p:cNvPr id="4" name="Text 2"/>
          <p:cNvSpPr/>
          <p:nvPr/>
        </p:nvSpPr>
        <p:spPr>
          <a:xfrm>
            <a:off x="320040" y="548640"/>
            <a:ext cx="11521440" cy="502920"/>
          </a:xfrm>
          <a:prstGeom prst="rect">
            <a:avLst/>
          </a:prstGeom>
          <a:noFill/>
          <a:ln/>
        </p:spPr>
        <p:txBody>
          <a:bodyPr wrap="square" rtlCol="0" anchor="ctr"/>
          <a:lstStyle/>
          <a:p>
            <a:pPr marL="0" indent="0" algn="l">
              <a:buNone/>
            </a:pPr>
            <a:r>
              <a:rPr lang="en-US" sz="2600" b="1" dirty="0">
                <a:solidFill>
                  <a:srgbClr val="1A2B3C"/>
                </a:solidFill>
                <a:latin typeface="Cambria" pitchFamily="34" charset="0"/>
                <a:ea typeface="Cambria" pitchFamily="34" charset="-122"/>
                <a:cs typeface="Cambria" pitchFamily="34" charset="-120"/>
              </a:rPr>
              <a:t>Architectural Approaches in the Literature</a:t>
            </a:r>
            <a:endParaRPr lang="en-US" sz="2600" dirty="0"/>
          </a:p>
        </p:txBody>
      </p:sp>
      <p:sp>
        <p:nvSpPr>
          <p:cNvPr id="5" name="Shape 3"/>
          <p:cNvSpPr/>
          <p:nvPr/>
        </p:nvSpPr>
        <p:spPr>
          <a:xfrm>
            <a:off x="320040" y="1115568"/>
            <a:ext cx="11521440" cy="0"/>
          </a:xfrm>
          <a:prstGeom prst="line">
            <a:avLst/>
          </a:prstGeom>
          <a:noFill/>
          <a:ln w="19050">
            <a:solidFill>
              <a:srgbClr val="2B9FD9"/>
            </a:solidFill>
            <a:prstDash val="solid"/>
          </a:ln>
        </p:spPr>
      </p:sp>
      <p:sp>
        <p:nvSpPr>
          <p:cNvPr id="6" name="Shape 4"/>
          <p:cNvSpPr/>
          <p:nvPr/>
        </p:nvSpPr>
        <p:spPr>
          <a:xfrm>
            <a:off x="320040" y="1298448"/>
            <a:ext cx="5486400" cy="2267712"/>
          </a:xfrm>
          <a:prstGeom prst="rect">
            <a:avLst/>
          </a:prstGeom>
          <a:solidFill>
            <a:srgbClr val="FFFFFF"/>
          </a:solidFill>
          <a:ln w="15240">
            <a:solidFill>
              <a:srgbClr val="2B9FD9"/>
            </a:solidFill>
            <a:prstDash val="solid"/>
          </a:ln>
        </p:spPr>
      </p:sp>
      <p:sp>
        <p:nvSpPr>
          <p:cNvPr id="7" name="Shape 5"/>
          <p:cNvSpPr/>
          <p:nvPr/>
        </p:nvSpPr>
        <p:spPr>
          <a:xfrm>
            <a:off x="320040" y="1298448"/>
            <a:ext cx="5486400" cy="347472"/>
          </a:xfrm>
          <a:prstGeom prst="rect">
            <a:avLst/>
          </a:prstGeom>
          <a:solidFill>
            <a:srgbClr val="2B9FD9"/>
          </a:solidFill>
          <a:ln w="12700">
            <a:solidFill>
              <a:srgbClr val="2B9FD9"/>
            </a:solidFill>
            <a:prstDash val="solid"/>
          </a:ln>
        </p:spPr>
      </p:sp>
      <p:sp>
        <p:nvSpPr>
          <p:cNvPr id="8" name="Text 6"/>
          <p:cNvSpPr/>
          <p:nvPr/>
        </p:nvSpPr>
        <p:spPr>
          <a:xfrm>
            <a:off x="320040" y="1298448"/>
            <a:ext cx="548640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CNN Approaches</a:t>
            </a:r>
            <a:endParaRPr lang="en-US" sz="1200" dirty="0"/>
          </a:p>
        </p:txBody>
      </p:sp>
      <p:sp>
        <p:nvSpPr>
          <p:cNvPr id="9" name="Text 7"/>
          <p:cNvSpPr/>
          <p:nvPr/>
        </p:nvSpPr>
        <p:spPr>
          <a:xfrm>
            <a:off x="429768" y="1700784"/>
            <a:ext cx="5266944" cy="292608"/>
          </a:xfrm>
          <a:prstGeom prst="rect">
            <a:avLst/>
          </a:prstGeom>
          <a:noFill/>
          <a:ln/>
        </p:spPr>
        <p:txBody>
          <a:bodyPr wrap="square" rtlCol="0" anchor="ctr"/>
          <a:lstStyle/>
          <a:p>
            <a:pPr marL="0" indent="0">
              <a:buNone/>
            </a:pPr>
            <a:r>
              <a:rPr lang="en-US" sz="950" i="1" dirty="0">
                <a:solidFill>
                  <a:srgbClr val="7A8FA6"/>
                </a:solidFill>
                <a:latin typeface="Calibri" pitchFamily="34" charset="0"/>
                <a:ea typeface="Calibri" pitchFamily="34" charset="-122"/>
                <a:cs typeface="Calibri" pitchFamily="34" charset="-120"/>
              </a:rPr>
              <a:t>Papers/Models: ResNet50, EfficientNet, CoAtNet, YOLOv5/v10</a:t>
            </a:r>
            <a:endParaRPr lang="en-US" sz="950" dirty="0"/>
          </a:p>
        </p:txBody>
      </p:sp>
      <p:sp>
        <p:nvSpPr>
          <p:cNvPr id="10" name="Text 8"/>
          <p:cNvSpPr/>
          <p:nvPr/>
        </p:nvSpPr>
        <p:spPr>
          <a:xfrm>
            <a:off x="429768" y="2011680"/>
            <a:ext cx="5266944" cy="685800"/>
          </a:xfrm>
          <a:prstGeom prst="rect">
            <a:avLst/>
          </a:prstGeom>
          <a:noFill/>
          <a:ln/>
        </p:spPr>
        <p:txBody>
          <a:bodyPr wrap="square" rtlCol="0" anchor="ctr"/>
          <a:lstStyle/>
          <a:p>
            <a:pPr marL="0" indent="0">
              <a:buNone/>
            </a:pPr>
            <a:r>
              <a:rPr lang="en-US" sz="1050" dirty="0">
                <a:solidFill>
                  <a:srgbClr val="1A7A4A"/>
                </a:solidFill>
                <a:latin typeface="Calibri" pitchFamily="34" charset="0"/>
                <a:ea typeface="Calibri" pitchFamily="34" charset="-122"/>
                <a:cs typeface="Calibri" pitchFamily="34" charset="-120"/>
              </a:rPr>
              <a:t>✔  Strong spatial feature extraction; computationally efficient; effective for per-frame behavior detection</a:t>
            </a:r>
            <a:endParaRPr lang="en-US" sz="1050" dirty="0"/>
          </a:p>
        </p:txBody>
      </p:sp>
      <p:sp>
        <p:nvSpPr>
          <p:cNvPr id="11" name="Text 9"/>
          <p:cNvSpPr/>
          <p:nvPr/>
        </p:nvSpPr>
        <p:spPr>
          <a:xfrm>
            <a:off x="429768" y="2715768"/>
            <a:ext cx="5266944" cy="685800"/>
          </a:xfrm>
          <a:prstGeom prst="rect">
            <a:avLst/>
          </a:prstGeom>
          <a:noFill/>
          <a:ln/>
        </p:spPr>
        <p:txBody>
          <a:bodyPr wrap="square" rtlCol="0" anchor="ctr"/>
          <a:lstStyle/>
          <a:p>
            <a:pPr marL="0" indent="0">
              <a:buNone/>
            </a:pPr>
            <a:r>
              <a:rPr lang="en-US" sz="1050" dirty="0">
                <a:solidFill>
                  <a:srgbClr val="C0392B"/>
                </a:solidFill>
                <a:latin typeface="Calibri" pitchFamily="34" charset="0"/>
                <a:ea typeface="Calibri" pitchFamily="34" charset="-122"/>
                <a:cs typeface="Calibri" pitchFamily="34" charset="-120"/>
              </a:rPr>
              <a:t>✘  Temporal blindness — cannot model engagement sequences; relies on external tracking for temporal continuity</a:t>
            </a:r>
            <a:endParaRPr lang="en-US" sz="1050" dirty="0"/>
          </a:p>
        </p:txBody>
      </p:sp>
      <p:sp>
        <p:nvSpPr>
          <p:cNvPr id="12" name="Shape 10"/>
          <p:cNvSpPr/>
          <p:nvPr/>
        </p:nvSpPr>
        <p:spPr>
          <a:xfrm>
            <a:off x="6263640" y="1298448"/>
            <a:ext cx="5486400" cy="2267712"/>
          </a:xfrm>
          <a:prstGeom prst="rect">
            <a:avLst/>
          </a:prstGeom>
          <a:solidFill>
            <a:srgbClr val="FFFFFF"/>
          </a:solidFill>
          <a:ln w="15240">
            <a:solidFill>
              <a:srgbClr val="1B6CA8"/>
            </a:solidFill>
            <a:prstDash val="solid"/>
          </a:ln>
        </p:spPr>
      </p:sp>
      <p:sp>
        <p:nvSpPr>
          <p:cNvPr id="13" name="Shape 11"/>
          <p:cNvSpPr/>
          <p:nvPr/>
        </p:nvSpPr>
        <p:spPr>
          <a:xfrm>
            <a:off x="6263640" y="1298448"/>
            <a:ext cx="5486400" cy="347472"/>
          </a:xfrm>
          <a:prstGeom prst="rect">
            <a:avLst/>
          </a:prstGeom>
          <a:solidFill>
            <a:srgbClr val="1B6CA8"/>
          </a:solidFill>
          <a:ln w="12700">
            <a:solidFill>
              <a:srgbClr val="1B6CA8"/>
            </a:solidFill>
            <a:prstDash val="solid"/>
          </a:ln>
        </p:spPr>
      </p:sp>
      <p:sp>
        <p:nvSpPr>
          <p:cNvPr id="14" name="Text 12"/>
          <p:cNvSpPr/>
          <p:nvPr/>
        </p:nvSpPr>
        <p:spPr>
          <a:xfrm>
            <a:off x="6263640" y="1298448"/>
            <a:ext cx="548640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RNN / LSTM Approaches</a:t>
            </a:r>
            <a:endParaRPr lang="en-US" sz="1200" dirty="0"/>
          </a:p>
        </p:txBody>
      </p:sp>
      <p:sp>
        <p:nvSpPr>
          <p:cNvPr id="15" name="Text 13"/>
          <p:cNvSpPr/>
          <p:nvPr/>
        </p:nvSpPr>
        <p:spPr>
          <a:xfrm>
            <a:off x="6373368" y="1700784"/>
            <a:ext cx="5266944" cy="292608"/>
          </a:xfrm>
          <a:prstGeom prst="rect">
            <a:avLst/>
          </a:prstGeom>
          <a:noFill/>
          <a:ln/>
        </p:spPr>
        <p:txBody>
          <a:bodyPr wrap="square" rtlCol="0" anchor="ctr"/>
          <a:lstStyle/>
          <a:p>
            <a:pPr marL="0" indent="0">
              <a:buNone/>
            </a:pPr>
            <a:r>
              <a:rPr lang="en-US" sz="950" i="1" dirty="0">
                <a:solidFill>
                  <a:srgbClr val="7A8FA6"/>
                </a:solidFill>
                <a:latin typeface="Calibri" pitchFamily="34" charset="0"/>
                <a:ea typeface="Calibri" pitchFamily="34" charset="-122"/>
                <a:cs typeface="Calibri" pitchFamily="34" charset="-120"/>
              </a:rPr>
              <a:t>Papers/Models: CNN + LSTM hybrids (earlier literature)</a:t>
            </a:r>
            <a:endParaRPr lang="en-US" sz="950" dirty="0"/>
          </a:p>
        </p:txBody>
      </p:sp>
      <p:sp>
        <p:nvSpPr>
          <p:cNvPr id="16" name="Text 14"/>
          <p:cNvSpPr/>
          <p:nvPr/>
        </p:nvSpPr>
        <p:spPr>
          <a:xfrm>
            <a:off x="6373368" y="2011680"/>
            <a:ext cx="5266944" cy="685800"/>
          </a:xfrm>
          <a:prstGeom prst="rect">
            <a:avLst/>
          </a:prstGeom>
          <a:noFill/>
          <a:ln/>
        </p:spPr>
        <p:txBody>
          <a:bodyPr wrap="square" rtlCol="0" anchor="ctr"/>
          <a:lstStyle/>
          <a:p>
            <a:pPr marL="0" indent="0">
              <a:buNone/>
            </a:pPr>
            <a:r>
              <a:rPr lang="en-US" sz="1050" dirty="0">
                <a:solidFill>
                  <a:srgbClr val="1A7A4A"/>
                </a:solidFill>
                <a:latin typeface="Calibri" pitchFamily="34" charset="0"/>
                <a:ea typeface="Calibri" pitchFamily="34" charset="-122"/>
                <a:cs typeface="Calibri" pitchFamily="34" charset="-120"/>
              </a:rPr>
              <a:t>✔  Adds sequential memory to CNN features; models short-term temporal dependencies</a:t>
            </a:r>
            <a:endParaRPr lang="en-US" sz="1050" dirty="0"/>
          </a:p>
        </p:txBody>
      </p:sp>
      <p:sp>
        <p:nvSpPr>
          <p:cNvPr id="17" name="Text 15"/>
          <p:cNvSpPr/>
          <p:nvPr/>
        </p:nvSpPr>
        <p:spPr>
          <a:xfrm>
            <a:off x="6373368" y="2715768"/>
            <a:ext cx="5266944" cy="685800"/>
          </a:xfrm>
          <a:prstGeom prst="rect">
            <a:avLst/>
          </a:prstGeom>
          <a:noFill/>
          <a:ln/>
        </p:spPr>
        <p:txBody>
          <a:bodyPr wrap="square" rtlCol="0" anchor="ctr"/>
          <a:lstStyle/>
          <a:p>
            <a:pPr marL="0" indent="0">
              <a:buNone/>
            </a:pPr>
            <a:r>
              <a:rPr lang="en-US" sz="1050" dirty="0">
                <a:solidFill>
                  <a:srgbClr val="C0392B"/>
                </a:solidFill>
                <a:latin typeface="Calibri" pitchFamily="34" charset="0"/>
                <a:ea typeface="Calibri" pitchFamily="34" charset="-122"/>
                <a:cs typeface="Calibri" pitchFamily="34" charset="-120"/>
              </a:rPr>
              <a:t>✘  Vanishing gradients over long classroom video segments; poor long-range temporal modeling</a:t>
            </a:r>
            <a:endParaRPr lang="en-US" sz="1050" dirty="0"/>
          </a:p>
        </p:txBody>
      </p:sp>
      <p:sp>
        <p:nvSpPr>
          <p:cNvPr id="18" name="Shape 16"/>
          <p:cNvSpPr/>
          <p:nvPr/>
        </p:nvSpPr>
        <p:spPr>
          <a:xfrm>
            <a:off x="320040" y="3749040"/>
            <a:ext cx="5486400" cy="2267712"/>
          </a:xfrm>
          <a:prstGeom prst="rect">
            <a:avLst/>
          </a:prstGeom>
          <a:solidFill>
            <a:srgbClr val="FFFFFF"/>
          </a:solidFill>
          <a:ln w="15240">
            <a:solidFill>
              <a:srgbClr val="F4A811"/>
            </a:solidFill>
            <a:prstDash val="solid"/>
          </a:ln>
        </p:spPr>
      </p:sp>
      <p:sp>
        <p:nvSpPr>
          <p:cNvPr id="19" name="Shape 17"/>
          <p:cNvSpPr/>
          <p:nvPr/>
        </p:nvSpPr>
        <p:spPr>
          <a:xfrm>
            <a:off x="320040" y="3749040"/>
            <a:ext cx="5486400" cy="347472"/>
          </a:xfrm>
          <a:prstGeom prst="rect">
            <a:avLst/>
          </a:prstGeom>
          <a:solidFill>
            <a:srgbClr val="F4A811"/>
          </a:solidFill>
          <a:ln w="12700">
            <a:solidFill>
              <a:srgbClr val="F4A811"/>
            </a:solidFill>
            <a:prstDash val="solid"/>
          </a:ln>
        </p:spPr>
      </p:sp>
      <p:sp>
        <p:nvSpPr>
          <p:cNvPr id="20" name="Text 18"/>
          <p:cNvSpPr/>
          <p:nvPr/>
        </p:nvSpPr>
        <p:spPr>
          <a:xfrm>
            <a:off x="320040" y="3749040"/>
            <a:ext cx="548640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3D CNN Approaches</a:t>
            </a:r>
            <a:endParaRPr lang="en-US" sz="1200" dirty="0"/>
          </a:p>
        </p:txBody>
      </p:sp>
      <p:sp>
        <p:nvSpPr>
          <p:cNvPr id="21" name="Text 19"/>
          <p:cNvSpPr/>
          <p:nvPr/>
        </p:nvSpPr>
        <p:spPr>
          <a:xfrm>
            <a:off x="429768" y="4151376"/>
            <a:ext cx="5266944" cy="292608"/>
          </a:xfrm>
          <a:prstGeom prst="rect">
            <a:avLst/>
          </a:prstGeom>
          <a:noFill/>
          <a:ln/>
        </p:spPr>
        <p:txBody>
          <a:bodyPr wrap="square" rtlCol="0" anchor="ctr"/>
          <a:lstStyle/>
          <a:p>
            <a:pPr marL="0" indent="0">
              <a:buNone/>
            </a:pPr>
            <a:r>
              <a:rPr lang="en-US" sz="950" i="1" dirty="0">
                <a:solidFill>
                  <a:srgbClr val="7A8FA6"/>
                </a:solidFill>
                <a:latin typeface="Calibri" pitchFamily="34" charset="0"/>
                <a:ea typeface="Calibri" pitchFamily="34" charset="-122"/>
                <a:cs typeface="Calibri" pitchFamily="34" charset="-120"/>
              </a:rPr>
              <a:t>Papers/Models: C3D, I3D, SlowFast, DenseAttNet (3D DenseNet)</a:t>
            </a:r>
            <a:endParaRPr lang="en-US" sz="950" dirty="0"/>
          </a:p>
        </p:txBody>
      </p:sp>
      <p:sp>
        <p:nvSpPr>
          <p:cNvPr id="22" name="Text 20"/>
          <p:cNvSpPr/>
          <p:nvPr/>
        </p:nvSpPr>
        <p:spPr>
          <a:xfrm>
            <a:off x="429768" y="4462272"/>
            <a:ext cx="5266944" cy="685800"/>
          </a:xfrm>
          <a:prstGeom prst="rect">
            <a:avLst/>
          </a:prstGeom>
          <a:noFill/>
          <a:ln/>
        </p:spPr>
        <p:txBody>
          <a:bodyPr wrap="square" rtlCol="0" anchor="ctr"/>
          <a:lstStyle/>
          <a:p>
            <a:pPr marL="0" indent="0">
              <a:buNone/>
            </a:pPr>
            <a:r>
              <a:rPr lang="en-US" sz="1050" dirty="0">
                <a:solidFill>
                  <a:srgbClr val="1A7A4A"/>
                </a:solidFill>
                <a:latin typeface="Calibri" pitchFamily="34" charset="0"/>
                <a:ea typeface="Calibri" pitchFamily="34" charset="-122"/>
                <a:cs typeface="Calibri" pitchFamily="34" charset="-120"/>
              </a:rPr>
              <a:t>✔  Joint spatiotemporal convolution; captures synchronized group motion; OUC-CGE baseline (I3D: 94.3%)</a:t>
            </a:r>
            <a:endParaRPr lang="en-US" sz="1050" dirty="0"/>
          </a:p>
        </p:txBody>
      </p:sp>
      <p:sp>
        <p:nvSpPr>
          <p:cNvPr id="23" name="Text 21"/>
          <p:cNvSpPr/>
          <p:nvPr/>
        </p:nvSpPr>
        <p:spPr>
          <a:xfrm>
            <a:off x="429768" y="5166360"/>
            <a:ext cx="5266944" cy="685800"/>
          </a:xfrm>
          <a:prstGeom prst="rect">
            <a:avLst/>
          </a:prstGeom>
          <a:noFill/>
          <a:ln/>
        </p:spPr>
        <p:txBody>
          <a:bodyPr wrap="square" rtlCol="0" anchor="ctr"/>
          <a:lstStyle/>
          <a:p>
            <a:pPr marL="0" indent="0">
              <a:buNone/>
            </a:pPr>
            <a:r>
              <a:rPr lang="en-US" sz="1050" dirty="0">
                <a:solidFill>
                  <a:srgbClr val="C0392B"/>
                </a:solidFill>
                <a:latin typeface="Calibri" pitchFamily="34" charset="0"/>
                <a:ea typeface="Calibri" pitchFamily="34" charset="-122"/>
                <a:cs typeface="Calibri" pitchFamily="34" charset="-120"/>
              </a:rPr>
              <a:t>✘  Extremely high VRAM; impractical for real-time edge inference</a:t>
            </a:r>
            <a:endParaRPr lang="en-US" sz="1050" dirty="0"/>
          </a:p>
        </p:txBody>
      </p:sp>
      <p:sp>
        <p:nvSpPr>
          <p:cNvPr id="24" name="Shape 22"/>
          <p:cNvSpPr/>
          <p:nvPr/>
        </p:nvSpPr>
        <p:spPr>
          <a:xfrm>
            <a:off x="6263640" y="3749040"/>
            <a:ext cx="5486400" cy="2267712"/>
          </a:xfrm>
          <a:prstGeom prst="rect">
            <a:avLst/>
          </a:prstGeom>
          <a:solidFill>
            <a:srgbClr val="FFFFFF"/>
          </a:solidFill>
          <a:ln w="15240">
            <a:solidFill>
              <a:srgbClr val="C0392B"/>
            </a:solidFill>
            <a:prstDash val="solid"/>
          </a:ln>
        </p:spPr>
      </p:sp>
      <p:sp>
        <p:nvSpPr>
          <p:cNvPr id="25" name="Shape 23"/>
          <p:cNvSpPr/>
          <p:nvPr/>
        </p:nvSpPr>
        <p:spPr>
          <a:xfrm>
            <a:off x="6263640" y="3749040"/>
            <a:ext cx="5486400" cy="347472"/>
          </a:xfrm>
          <a:prstGeom prst="rect">
            <a:avLst/>
          </a:prstGeom>
          <a:solidFill>
            <a:srgbClr val="C0392B"/>
          </a:solidFill>
          <a:ln w="12700">
            <a:solidFill>
              <a:srgbClr val="C0392B"/>
            </a:solidFill>
            <a:prstDash val="solid"/>
          </a:ln>
        </p:spPr>
      </p:sp>
      <p:sp>
        <p:nvSpPr>
          <p:cNvPr id="26" name="Text 24"/>
          <p:cNvSpPr/>
          <p:nvPr/>
        </p:nvSpPr>
        <p:spPr>
          <a:xfrm>
            <a:off x="6263640" y="3749040"/>
            <a:ext cx="548640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Transformer Approaches</a:t>
            </a:r>
            <a:endParaRPr lang="en-US" sz="1200" dirty="0"/>
          </a:p>
        </p:txBody>
      </p:sp>
      <p:sp>
        <p:nvSpPr>
          <p:cNvPr id="27" name="Text 25"/>
          <p:cNvSpPr/>
          <p:nvPr/>
        </p:nvSpPr>
        <p:spPr>
          <a:xfrm>
            <a:off x="6373368" y="4151376"/>
            <a:ext cx="5266944" cy="292608"/>
          </a:xfrm>
          <a:prstGeom prst="rect">
            <a:avLst/>
          </a:prstGeom>
          <a:noFill/>
          <a:ln/>
        </p:spPr>
        <p:txBody>
          <a:bodyPr wrap="square" rtlCol="0" anchor="ctr"/>
          <a:lstStyle/>
          <a:p>
            <a:pPr marL="0" indent="0">
              <a:buNone/>
            </a:pPr>
            <a:r>
              <a:rPr lang="en-US" sz="950" i="1" dirty="0">
                <a:solidFill>
                  <a:srgbClr val="7A8FA6"/>
                </a:solidFill>
                <a:latin typeface="Calibri" pitchFamily="34" charset="0"/>
                <a:ea typeface="Calibri" pitchFamily="34" charset="-122"/>
                <a:cs typeface="Calibri" pitchFamily="34" charset="-120"/>
              </a:rPr>
              <a:t>Papers/Models: Video Swin Transformer, ViT-MAE, MSC-Trans, MFT</a:t>
            </a:r>
            <a:endParaRPr lang="en-US" sz="950" dirty="0"/>
          </a:p>
        </p:txBody>
      </p:sp>
      <p:sp>
        <p:nvSpPr>
          <p:cNvPr id="28" name="Text 26"/>
          <p:cNvSpPr/>
          <p:nvPr/>
        </p:nvSpPr>
        <p:spPr>
          <a:xfrm>
            <a:off x="6373368" y="4462272"/>
            <a:ext cx="5266944" cy="685800"/>
          </a:xfrm>
          <a:prstGeom prst="rect">
            <a:avLst/>
          </a:prstGeom>
          <a:noFill/>
          <a:ln/>
        </p:spPr>
        <p:txBody>
          <a:bodyPr wrap="square" rtlCol="0" anchor="ctr"/>
          <a:lstStyle/>
          <a:p>
            <a:pPr marL="0" indent="0">
              <a:buNone/>
            </a:pPr>
            <a:r>
              <a:rPr lang="en-US" sz="1050" dirty="0">
                <a:solidFill>
                  <a:srgbClr val="1A7A4A"/>
                </a:solidFill>
                <a:latin typeface="Calibri" pitchFamily="34" charset="0"/>
                <a:ea typeface="Calibri" pitchFamily="34" charset="-122"/>
                <a:cs typeface="Calibri" pitchFamily="34" charset="-120"/>
              </a:rPr>
              <a:t>✔  Global long-range attention; handles occlusion; self-supervised pretraining; current SOTA (98.5% on OUC-CGE)</a:t>
            </a:r>
            <a:endParaRPr lang="en-US" sz="1050" dirty="0"/>
          </a:p>
        </p:txBody>
      </p:sp>
      <p:sp>
        <p:nvSpPr>
          <p:cNvPr id="29" name="Text 27"/>
          <p:cNvSpPr/>
          <p:nvPr/>
        </p:nvSpPr>
        <p:spPr>
          <a:xfrm>
            <a:off x="6373368" y="5166360"/>
            <a:ext cx="5266944" cy="685800"/>
          </a:xfrm>
          <a:prstGeom prst="rect">
            <a:avLst/>
          </a:prstGeom>
          <a:noFill/>
          <a:ln/>
        </p:spPr>
        <p:txBody>
          <a:bodyPr wrap="square" rtlCol="0" anchor="ctr"/>
          <a:lstStyle/>
          <a:p>
            <a:pPr marL="0" indent="0">
              <a:buNone/>
            </a:pPr>
            <a:r>
              <a:rPr lang="en-US" sz="1050" dirty="0">
                <a:solidFill>
                  <a:srgbClr val="C0392B"/>
                </a:solidFill>
                <a:latin typeface="Calibri" pitchFamily="34" charset="0"/>
                <a:ea typeface="Calibri" pitchFamily="34" charset="-122"/>
                <a:cs typeface="Calibri" pitchFamily="34" charset="-120"/>
              </a:rPr>
              <a:t>✘  Data-hungry; high inference latency; complex multi-stage architecture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EDF2"/>
        </a:solidFill>
        <a:effectLst/>
      </p:bgPr>
    </p:bg>
    <p:spTree>
      <p:nvGrpSpPr>
        <p:cNvPr id="1" name=""/>
        <p:cNvGrpSpPr/>
        <p:nvPr/>
      </p:nvGrpSpPr>
      <p:grpSpPr>
        <a:xfrm>
          <a:off x="0" y="0"/>
          <a:ext cx="0" cy="0"/>
          <a:chOff x="0" y="0"/>
          <a:chExt cx="0" cy="0"/>
        </a:xfrm>
      </p:grpSpPr>
      <p:sp>
        <p:nvSpPr>
          <p:cNvPr id="2" name="Shape 0"/>
          <p:cNvSpPr/>
          <p:nvPr/>
        </p:nvSpPr>
        <p:spPr>
          <a:xfrm>
            <a:off x="320040" y="201168"/>
            <a:ext cx="1828800" cy="256032"/>
          </a:xfrm>
          <a:prstGeom prst="rect">
            <a:avLst/>
          </a:prstGeom>
          <a:solidFill>
            <a:srgbClr val="2B9FD9"/>
          </a:solidFill>
          <a:ln w="12700">
            <a:solidFill>
              <a:srgbClr val="2B9FD9"/>
            </a:solidFill>
            <a:prstDash val="solid"/>
          </a:ln>
        </p:spPr>
      </p:sp>
      <p:sp>
        <p:nvSpPr>
          <p:cNvPr id="3" name="Text 1"/>
          <p:cNvSpPr/>
          <p:nvPr/>
        </p:nvSpPr>
        <p:spPr>
          <a:xfrm>
            <a:off x="320040" y="201168"/>
            <a:ext cx="1828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KEY PAPERS</a:t>
            </a:r>
            <a:endParaRPr lang="en-US" sz="800" dirty="0"/>
          </a:p>
        </p:txBody>
      </p:sp>
      <p:sp>
        <p:nvSpPr>
          <p:cNvPr id="4" name="Text 2"/>
          <p:cNvSpPr/>
          <p:nvPr/>
        </p:nvSpPr>
        <p:spPr>
          <a:xfrm>
            <a:off x="320040" y="548640"/>
            <a:ext cx="11521440" cy="502920"/>
          </a:xfrm>
          <a:prstGeom prst="rect">
            <a:avLst/>
          </a:prstGeom>
          <a:noFill/>
          <a:ln/>
        </p:spPr>
        <p:txBody>
          <a:bodyPr wrap="square" rtlCol="0" anchor="ctr"/>
          <a:lstStyle/>
          <a:p>
            <a:pPr marL="0" indent="0" algn="l">
              <a:buNone/>
            </a:pPr>
            <a:r>
              <a:rPr lang="en-US" sz="2600" b="1" dirty="0">
                <a:solidFill>
                  <a:srgbClr val="1A2B3C"/>
                </a:solidFill>
                <a:latin typeface="Cambria" pitchFamily="34" charset="0"/>
                <a:ea typeface="Cambria" pitchFamily="34" charset="-122"/>
                <a:cs typeface="Cambria" pitchFamily="34" charset="-120"/>
              </a:rPr>
              <a:t>Analysis of Five Most Relevant Papers</a:t>
            </a:r>
            <a:endParaRPr lang="en-US" sz="2600" dirty="0"/>
          </a:p>
        </p:txBody>
      </p:sp>
      <p:sp>
        <p:nvSpPr>
          <p:cNvPr id="5" name="Shape 3"/>
          <p:cNvSpPr/>
          <p:nvPr/>
        </p:nvSpPr>
        <p:spPr>
          <a:xfrm>
            <a:off x="320040" y="1115568"/>
            <a:ext cx="11521440" cy="0"/>
          </a:xfrm>
          <a:prstGeom prst="line">
            <a:avLst/>
          </a:prstGeom>
          <a:noFill/>
          <a:ln w="19050">
            <a:solidFill>
              <a:srgbClr val="2B9FD9"/>
            </a:solidFill>
            <a:prstDash val="solid"/>
          </a:ln>
        </p:spPr>
      </p:sp>
      <p:sp>
        <p:nvSpPr>
          <p:cNvPr id="6" name="Shape 4"/>
          <p:cNvSpPr/>
          <p:nvPr/>
        </p:nvSpPr>
        <p:spPr>
          <a:xfrm>
            <a:off x="320040" y="1298448"/>
            <a:ext cx="3566160" cy="2331720"/>
          </a:xfrm>
          <a:prstGeom prst="rect">
            <a:avLst/>
          </a:prstGeom>
          <a:solidFill>
            <a:srgbClr val="FFFFFF"/>
          </a:solidFill>
          <a:ln w="12700">
            <a:solidFill>
              <a:srgbClr val="1B6CA8"/>
            </a:solidFill>
            <a:prstDash val="solid"/>
          </a:ln>
        </p:spPr>
      </p:sp>
      <p:sp>
        <p:nvSpPr>
          <p:cNvPr id="7" name="Shape 5"/>
          <p:cNvSpPr/>
          <p:nvPr/>
        </p:nvSpPr>
        <p:spPr>
          <a:xfrm>
            <a:off x="320040" y="1298448"/>
            <a:ext cx="3566160" cy="292608"/>
          </a:xfrm>
          <a:prstGeom prst="rect">
            <a:avLst/>
          </a:prstGeom>
          <a:solidFill>
            <a:srgbClr val="1B6CA8"/>
          </a:solidFill>
          <a:ln w="12700">
            <a:solidFill>
              <a:srgbClr val="1B6CA8"/>
            </a:solidFill>
            <a:prstDash val="solid"/>
          </a:ln>
        </p:spPr>
      </p:sp>
      <p:sp>
        <p:nvSpPr>
          <p:cNvPr id="8" name="Text 6"/>
          <p:cNvSpPr/>
          <p:nvPr/>
        </p:nvSpPr>
        <p:spPr>
          <a:xfrm>
            <a:off x="365760" y="1298448"/>
            <a:ext cx="3474720" cy="292608"/>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P1  Lu et al. (2025) – Scientific Data (Nature)</a:t>
            </a:r>
            <a:endParaRPr lang="en-US" sz="850" dirty="0"/>
          </a:p>
        </p:txBody>
      </p:sp>
      <p:sp>
        <p:nvSpPr>
          <p:cNvPr id="9" name="Text 7"/>
          <p:cNvSpPr/>
          <p:nvPr/>
        </p:nvSpPr>
        <p:spPr>
          <a:xfrm>
            <a:off x="411480" y="1636776"/>
            <a:ext cx="3383280" cy="201168"/>
          </a:xfrm>
          <a:prstGeom prst="rect">
            <a:avLst/>
          </a:prstGeom>
          <a:noFill/>
          <a:ln/>
        </p:spPr>
        <p:txBody>
          <a:bodyPr wrap="square" rtlCol="0" anchor="ctr"/>
          <a:lstStyle/>
          <a:p>
            <a:pPr marL="0" indent="0">
              <a:buNone/>
            </a:pPr>
            <a:r>
              <a:rPr lang="en-US" sz="850" b="1" dirty="0">
                <a:solidFill>
                  <a:srgbClr val="1B6CA8"/>
                </a:solidFill>
                <a:latin typeface="Calibri" pitchFamily="34" charset="0"/>
                <a:ea typeface="Calibri" pitchFamily="34" charset="-122"/>
                <a:cs typeface="Calibri" pitchFamily="34" charset="-120"/>
              </a:rPr>
              <a:t>Contribution:</a:t>
            </a:r>
            <a:endParaRPr lang="en-US" sz="850" dirty="0"/>
          </a:p>
        </p:txBody>
      </p:sp>
      <p:sp>
        <p:nvSpPr>
          <p:cNvPr id="10" name="Text 8"/>
          <p:cNvSpPr/>
          <p:nvPr/>
        </p:nvSpPr>
        <p:spPr>
          <a:xfrm>
            <a:off x="411480" y="1819656"/>
            <a:ext cx="3383280" cy="7498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Introduces OUC-CGE dataset; SlowFast &amp; I3D baselines on authentic group engagement</a:t>
            </a:r>
            <a:endParaRPr lang="en-US" sz="950" dirty="0"/>
          </a:p>
        </p:txBody>
      </p:sp>
      <p:sp>
        <p:nvSpPr>
          <p:cNvPr id="11" name="Text 9"/>
          <p:cNvSpPr/>
          <p:nvPr/>
        </p:nvSpPr>
        <p:spPr>
          <a:xfrm>
            <a:off x="411480" y="2596896"/>
            <a:ext cx="3383280" cy="256032"/>
          </a:xfrm>
          <a:prstGeom prst="rect">
            <a:avLst/>
          </a:prstGeom>
          <a:noFill/>
          <a:ln/>
        </p:spPr>
        <p:txBody>
          <a:bodyPr wrap="square" rtlCol="0" anchor="ctr"/>
          <a:lstStyle/>
          <a:p>
            <a:pPr marL="0" indent="0">
              <a:buNone/>
            </a:pPr>
            <a:r>
              <a:rPr lang="en-US" sz="900" b="1" dirty="0">
                <a:solidFill>
                  <a:srgbClr val="1B6CA8"/>
                </a:solidFill>
                <a:latin typeface="Calibri" pitchFamily="34" charset="0"/>
                <a:ea typeface="Calibri" pitchFamily="34" charset="-122"/>
                <a:cs typeface="Calibri" pitchFamily="34" charset="-120"/>
              </a:rPr>
              <a:t>Metric: Acc 94.3% | AUC 99.1%</a:t>
            </a:r>
            <a:endParaRPr lang="en-US" sz="900" dirty="0"/>
          </a:p>
        </p:txBody>
      </p:sp>
      <p:sp>
        <p:nvSpPr>
          <p:cNvPr id="12" name="Text 10"/>
          <p:cNvSpPr/>
          <p:nvPr/>
        </p:nvSpPr>
        <p:spPr>
          <a:xfrm>
            <a:off x="411480" y="2871216"/>
            <a:ext cx="3383280" cy="566928"/>
          </a:xfrm>
          <a:prstGeom prst="rect">
            <a:avLst/>
          </a:prstGeom>
          <a:noFill/>
          <a:ln/>
        </p:spPr>
        <p:txBody>
          <a:bodyPr wrap="square" rtlCol="0" anchor="ctr"/>
          <a:lstStyle/>
          <a:p>
            <a:pPr marL="0" indent="0">
              <a:buNone/>
            </a:pPr>
            <a:r>
              <a:rPr lang="en-US" sz="900" i="1" dirty="0">
                <a:solidFill>
                  <a:srgbClr val="7A8FA6"/>
                </a:solidFill>
                <a:latin typeface="Calibri" pitchFamily="34" charset="0"/>
                <a:ea typeface="Calibri" pitchFamily="34" charset="-122"/>
                <a:cs typeface="Calibri" pitchFamily="34" charset="-120"/>
              </a:rPr>
              <a:t>Why cite: Foundational dataset paper — defines the research paradigm shift from individual to group</a:t>
            </a:r>
            <a:endParaRPr lang="en-US" sz="900" dirty="0"/>
          </a:p>
        </p:txBody>
      </p:sp>
      <p:sp>
        <p:nvSpPr>
          <p:cNvPr id="13" name="Shape 11"/>
          <p:cNvSpPr/>
          <p:nvPr/>
        </p:nvSpPr>
        <p:spPr>
          <a:xfrm>
            <a:off x="4251960" y="1298448"/>
            <a:ext cx="3566160" cy="2331720"/>
          </a:xfrm>
          <a:prstGeom prst="rect">
            <a:avLst/>
          </a:prstGeom>
          <a:solidFill>
            <a:srgbClr val="FFFFFF"/>
          </a:solidFill>
          <a:ln w="12700">
            <a:solidFill>
              <a:srgbClr val="C0392B"/>
            </a:solidFill>
            <a:prstDash val="solid"/>
          </a:ln>
        </p:spPr>
      </p:sp>
      <p:sp>
        <p:nvSpPr>
          <p:cNvPr id="14" name="Shape 12"/>
          <p:cNvSpPr/>
          <p:nvPr/>
        </p:nvSpPr>
        <p:spPr>
          <a:xfrm>
            <a:off x="4251960" y="1298448"/>
            <a:ext cx="3566160" cy="292608"/>
          </a:xfrm>
          <a:prstGeom prst="rect">
            <a:avLst/>
          </a:prstGeom>
          <a:solidFill>
            <a:srgbClr val="C0392B"/>
          </a:solidFill>
          <a:ln w="12700">
            <a:solidFill>
              <a:srgbClr val="C0392B"/>
            </a:solidFill>
            <a:prstDash val="solid"/>
          </a:ln>
        </p:spPr>
      </p:sp>
      <p:sp>
        <p:nvSpPr>
          <p:cNvPr id="15" name="Text 13"/>
          <p:cNvSpPr/>
          <p:nvPr/>
        </p:nvSpPr>
        <p:spPr>
          <a:xfrm>
            <a:off x="4297680" y="1298448"/>
            <a:ext cx="3474720" cy="292608"/>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P2  Nie &amp; Wang (2026) – IEEE Access</a:t>
            </a:r>
            <a:endParaRPr lang="en-US" sz="850" dirty="0"/>
          </a:p>
        </p:txBody>
      </p:sp>
      <p:sp>
        <p:nvSpPr>
          <p:cNvPr id="16" name="Text 14"/>
          <p:cNvSpPr/>
          <p:nvPr/>
        </p:nvSpPr>
        <p:spPr>
          <a:xfrm>
            <a:off x="4343400" y="1636776"/>
            <a:ext cx="3383280" cy="201168"/>
          </a:xfrm>
          <a:prstGeom prst="rect">
            <a:avLst/>
          </a:prstGeom>
          <a:noFill/>
          <a:ln/>
        </p:spPr>
        <p:txBody>
          <a:bodyPr wrap="square" rtlCol="0" anchor="ctr"/>
          <a:lstStyle/>
          <a:p>
            <a:pPr marL="0" indent="0">
              <a:buNone/>
            </a:pPr>
            <a:r>
              <a:rPr lang="en-US" sz="850" b="1" dirty="0">
                <a:solidFill>
                  <a:srgbClr val="C0392B"/>
                </a:solidFill>
                <a:latin typeface="Calibri" pitchFamily="34" charset="0"/>
                <a:ea typeface="Calibri" pitchFamily="34" charset="-122"/>
                <a:cs typeface="Calibri" pitchFamily="34" charset="-120"/>
              </a:rPr>
              <a:t>Contribution:</a:t>
            </a:r>
            <a:endParaRPr lang="en-US" sz="850" dirty="0"/>
          </a:p>
        </p:txBody>
      </p:sp>
      <p:sp>
        <p:nvSpPr>
          <p:cNvPr id="17" name="Text 15"/>
          <p:cNvSpPr/>
          <p:nvPr/>
        </p:nvSpPr>
        <p:spPr>
          <a:xfrm>
            <a:off x="4343400" y="1819656"/>
            <a:ext cx="3383280" cy="7498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EED framework on OUC-CGE using Video Swin Transformer; reliability-gated fusion of interaction relations and group affective climate</a:t>
            </a:r>
            <a:endParaRPr lang="en-US" sz="950" dirty="0"/>
          </a:p>
        </p:txBody>
      </p:sp>
      <p:sp>
        <p:nvSpPr>
          <p:cNvPr id="18" name="Text 16"/>
          <p:cNvSpPr/>
          <p:nvPr/>
        </p:nvSpPr>
        <p:spPr>
          <a:xfrm>
            <a:off x="4343400" y="2596896"/>
            <a:ext cx="3383280" cy="256032"/>
          </a:xfrm>
          <a:prstGeom prst="rect">
            <a:avLst/>
          </a:prstGeom>
          <a:noFill/>
          <a:ln/>
        </p:spPr>
        <p:txBody>
          <a:bodyPr wrap="square" rtlCol="0" anchor="ctr"/>
          <a:lstStyle/>
          <a:p>
            <a:pPr marL="0" indent="0">
              <a:buNone/>
            </a:pPr>
            <a:r>
              <a:rPr lang="en-US" sz="900" b="1" dirty="0">
                <a:solidFill>
                  <a:srgbClr val="C0392B"/>
                </a:solidFill>
                <a:latin typeface="Calibri" pitchFamily="34" charset="0"/>
                <a:ea typeface="Calibri" pitchFamily="34" charset="-122"/>
                <a:cs typeface="Calibri" pitchFamily="34" charset="-120"/>
              </a:rPr>
              <a:t>Metric: Acc 98.5% | QWK 0.984</a:t>
            </a:r>
            <a:endParaRPr lang="en-US" sz="900" dirty="0"/>
          </a:p>
        </p:txBody>
      </p:sp>
      <p:sp>
        <p:nvSpPr>
          <p:cNvPr id="19" name="Text 17"/>
          <p:cNvSpPr/>
          <p:nvPr/>
        </p:nvSpPr>
        <p:spPr>
          <a:xfrm>
            <a:off x="4343400" y="2871216"/>
            <a:ext cx="3383280" cy="566928"/>
          </a:xfrm>
          <a:prstGeom prst="rect">
            <a:avLst/>
          </a:prstGeom>
          <a:noFill/>
          <a:ln/>
        </p:spPr>
        <p:txBody>
          <a:bodyPr wrap="square" rtlCol="0" anchor="ctr"/>
          <a:lstStyle/>
          <a:p>
            <a:pPr marL="0" indent="0">
              <a:buNone/>
            </a:pPr>
            <a:r>
              <a:rPr lang="en-US" sz="900" i="1" dirty="0">
                <a:solidFill>
                  <a:srgbClr val="7A8FA6"/>
                </a:solidFill>
                <a:latin typeface="Calibri" pitchFamily="34" charset="0"/>
                <a:ea typeface="Calibri" pitchFamily="34" charset="-122"/>
                <a:cs typeface="Calibri" pitchFamily="34" charset="-120"/>
              </a:rPr>
              <a:t>Why cite: Current SOTA on OUC-CGE; introduces Explainable AI principles to group engagement</a:t>
            </a:r>
            <a:endParaRPr lang="en-US" sz="900" dirty="0"/>
          </a:p>
        </p:txBody>
      </p:sp>
      <p:sp>
        <p:nvSpPr>
          <p:cNvPr id="20" name="Shape 18"/>
          <p:cNvSpPr/>
          <p:nvPr/>
        </p:nvSpPr>
        <p:spPr>
          <a:xfrm>
            <a:off x="8183880" y="1298448"/>
            <a:ext cx="3566160" cy="2331720"/>
          </a:xfrm>
          <a:prstGeom prst="rect">
            <a:avLst/>
          </a:prstGeom>
          <a:solidFill>
            <a:srgbClr val="FFFFFF"/>
          </a:solidFill>
          <a:ln w="12700">
            <a:solidFill>
              <a:srgbClr val="F4A811"/>
            </a:solidFill>
            <a:prstDash val="solid"/>
          </a:ln>
        </p:spPr>
      </p:sp>
      <p:sp>
        <p:nvSpPr>
          <p:cNvPr id="21" name="Shape 19"/>
          <p:cNvSpPr/>
          <p:nvPr/>
        </p:nvSpPr>
        <p:spPr>
          <a:xfrm>
            <a:off x="8183880" y="1298448"/>
            <a:ext cx="3566160" cy="292608"/>
          </a:xfrm>
          <a:prstGeom prst="rect">
            <a:avLst/>
          </a:prstGeom>
          <a:solidFill>
            <a:srgbClr val="F4A811"/>
          </a:solidFill>
          <a:ln w="12700">
            <a:solidFill>
              <a:srgbClr val="F4A811"/>
            </a:solidFill>
            <a:prstDash val="solid"/>
          </a:ln>
        </p:spPr>
      </p:sp>
      <p:sp>
        <p:nvSpPr>
          <p:cNvPr id="22" name="Text 20"/>
          <p:cNvSpPr/>
          <p:nvPr/>
        </p:nvSpPr>
        <p:spPr>
          <a:xfrm>
            <a:off x="8229600" y="1298448"/>
            <a:ext cx="3474720" cy="292608"/>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P3  Mehta et al. (2022) – Applied Intelligence</a:t>
            </a:r>
            <a:endParaRPr lang="en-US" sz="850" dirty="0"/>
          </a:p>
        </p:txBody>
      </p:sp>
      <p:sp>
        <p:nvSpPr>
          <p:cNvPr id="23" name="Text 21"/>
          <p:cNvSpPr/>
          <p:nvPr/>
        </p:nvSpPr>
        <p:spPr>
          <a:xfrm>
            <a:off x="8275320" y="1636776"/>
            <a:ext cx="3383280" cy="201168"/>
          </a:xfrm>
          <a:prstGeom prst="rect">
            <a:avLst/>
          </a:prstGeom>
          <a:noFill/>
          <a:ln/>
        </p:spPr>
        <p:txBody>
          <a:bodyPr wrap="square" rtlCol="0" anchor="ctr"/>
          <a:lstStyle/>
          <a:p>
            <a:pPr marL="0" indent="0">
              <a:buNone/>
            </a:pPr>
            <a:r>
              <a:rPr lang="en-US" sz="850" b="1" dirty="0">
                <a:solidFill>
                  <a:srgbClr val="F4A811"/>
                </a:solidFill>
                <a:latin typeface="Calibri" pitchFamily="34" charset="0"/>
                <a:ea typeface="Calibri" pitchFamily="34" charset="-122"/>
                <a:cs typeface="Calibri" pitchFamily="34" charset="-120"/>
              </a:rPr>
              <a:t>Contribution:</a:t>
            </a:r>
            <a:endParaRPr lang="en-US" sz="850" dirty="0"/>
          </a:p>
        </p:txBody>
      </p:sp>
      <p:sp>
        <p:nvSpPr>
          <p:cNvPr id="24" name="Text 22"/>
          <p:cNvSpPr/>
          <p:nvPr/>
        </p:nvSpPr>
        <p:spPr>
          <a:xfrm>
            <a:off x="8275320" y="1819656"/>
            <a:ext cx="3383280" cy="7498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DenseAttNet: 3D DenseNet + dual-domain self-attention (spatial + temporal) on DAiSEE / EmotiW-EP</a:t>
            </a:r>
            <a:endParaRPr lang="en-US" sz="950" dirty="0"/>
          </a:p>
        </p:txBody>
      </p:sp>
      <p:sp>
        <p:nvSpPr>
          <p:cNvPr id="25" name="Text 23"/>
          <p:cNvSpPr/>
          <p:nvPr/>
        </p:nvSpPr>
        <p:spPr>
          <a:xfrm>
            <a:off x="8275320" y="2596896"/>
            <a:ext cx="3383280" cy="256032"/>
          </a:xfrm>
          <a:prstGeom prst="rect">
            <a:avLst/>
          </a:prstGeom>
          <a:noFill/>
          <a:ln/>
        </p:spPr>
        <p:txBody>
          <a:bodyPr wrap="square" rtlCol="0" anchor="ctr"/>
          <a:lstStyle/>
          <a:p>
            <a:pPr marL="0" indent="0">
              <a:buNone/>
            </a:pPr>
            <a:r>
              <a:rPr lang="en-US" sz="900" b="1" dirty="0">
                <a:solidFill>
                  <a:srgbClr val="F4A811"/>
                </a:solidFill>
                <a:latin typeface="Calibri" pitchFamily="34" charset="0"/>
                <a:ea typeface="Calibri" pitchFamily="34" charset="-122"/>
                <a:cs typeface="Calibri" pitchFamily="34" charset="-120"/>
              </a:rPr>
              <a:t>Metric: Acc 94.85% | MSE 0.035</a:t>
            </a:r>
            <a:endParaRPr lang="en-US" sz="900" dirty="0"/>
          </a:p>
        </p:txBody>
      </p:sp>
      <p:sp>
        <p:nvSpPr>
          <p:cNvPr id="26" name="Text 24"/>
          <p:cNvSpPr/>
          <p:nvPr/>
        </p:nvSpPr>
        <p:spPr>
          <a:xfrm>
            <a:off x="8275320" y="2871216"/>
            <a:ext cx="3383280" cy="566928"/>
          </a:xfrm>
          <a:prstGeom prst="rect">
            <a:avLst/>
          </a:prstGeom>
          <a:noFill/>
          <a:ln/>
        </p:spPr>
        <p:txBody>
          <a:bodyPr wrap="square" rtlCol="0" anchor="ctr"/>
          <a:lstStyle/>
          <a:p>
            <a:pPr marL="0" indent="0">
              <a:buNone/>
            </a:pPr>
            <a:r>
              <a:rPr lang="en-US" sz="900" i="1" dirty="0">
                <a:solidFill>
                  <a:srgbClr val="7A8FA6"/>
                </a:solidFill>
                <a:latin typeface="Calibri" pitchFamily="34" charset="0"/>
                <a:ea typeface="Calibri" pitchFamily="34" charset="-122"/>
                <a:cs typeface="Calibri" pitchFamily="34" charset="-120"/>
              </a:rPr>
              <a:t>Why cite: Premier 3D CNN architecture demonstrating temporal modeling without vanishing gradients</a:t>
            </a:r>
            <a:endParaRPr lang="en-US" sz="900" dirty="0"/>
          </a:p>
        </p:txBody>
      </p:sp>
      <p:sp>
        <p:nvSpPr>
          <p:cNvPr id="27" name="Shape 25"/>
          <p:cNvSpPr/>
          <p:nvPr/>
        </p:nvSpPr>
        <p:spPr>
          <a:xfrm>
            <a:off x="320040" y="3840480"/>
            <a:ext cx="5394960" cy="2286000"/>
          </a:xfrm>
          <a:prstGeom prst="rect">
            <a:avLst/>
          </a:prstGeom>
          <a:solidFill>
            <a:srgbClr val="FFFFFF"/>
          </a:solidFill>
          <a:ln w="12700">
            <a:solidFill>
              <a:srgbClr val="2B9FD9"/>
            </a:solidFill>
            <a:prstDash val="solid"/>
          </a:ln>
        </p:spPr>
      </p:sp>
      <p:sp>
        <p:nvSpPr>
          <p:cNvPr id="28" name="Shape 26"/>
          <p:cNvSpPr/>
          <p:nvPr/>
        </p:nvSpPr>
        <p:spPr>
          <a:xfrm>
            <a:off x="320040" y="3840480"/>
            <a:ext cx="5394960" cy="292608"/>
          </a:xfrm>
          <a:prstGeom prst="rect">
            <a:avLst/>
          </a:prstGeom>
          <a:solidFill>
            <a:srgbClr val="2B9FD9"/>
          </a:solidFill>
          <a:ln w="12700">
            <a:solidFill>
              <a:srgbClr val="2B9FD9"/>
            </a:solidFill>
            <a:prstDash val="solid"/>
          </a:ln>
        </p:spPr>
      </p:sp>
      <p:sp>
        <p:nvSpPr>
          <p:cNvPr id="29" name="Text 27"/>
          <p:cNvSpPr/>
          <p:nvPr/>
        </p:nvSpPr>
        <p:spPr>
          <a:xfrm>
            <a:off x="365760" y="3840480"/>
            <a:ext cx="5303520" cy="292608"/>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P4  Zhang et al. (2024) – IEEE Trans. CSVT</a:t>
            </a:r>
            <a:endParaRPr lang="en-US" sz="850" dirty="0"/>
          </a:p>
        </p:txBody>
      </p:sp>
      <p:sp>
        <p:nvSpPr>
          <p:cNvPr id="30" name="Text 28"/>
          <p:cNvSpPr/>
          <p:nvPr/>
        </p:nvSpPr>
        <p:spPr>
          <a:xfrm>
            <a:off x="411480" y="4178808"/>
            <a:ext cx="5212080" cy="201168"/>
          </a:xfrm>
          <a:prstGeom prst="rect">
            <a:avLst/>
          </a:prstGeom>
          <a:noFill/>
          <a:ln/>
        </p:spPr>
        <p:txBody>
          <a:bodyPr wrap="square" rtlCol="0" anchor="ctr"/>
          <a:lstStyle/>
          <a:p>
            <a:pPr marL="0" indent="0">
              <a:buNone/>
            </a:pPr>
            <a:r>
              <a:rPr lang="en-US" sz="850" b="1" dirty="0">
                <a:solidFill>
                  <a:srgbClr val="2B9FD9"/>
                </a:solidFill>
                <a:latin typeface="Calibri" pitchFamily="34" charset="0"/>
                <a:ea typeface="Calibri" pitchFamily="34" charset="-122"/>
                <a:cs typeface="Calibri" pitchFamily="34" charset="-120"/>
              </a:rPr>
              <a:t>Contribution:</a:t>
            </a:r>
            <a:endParaRPr lang="en-US" sz="850" dirty="0"/>
          </a:p>
        </p:txBody>
      </p:sp>
      <p:sp>
        <p:nvSpPr>
          <p:cNvPr id="31" name="Text 29"/>
          <p:cNvSpPr/>
          <p:nvPr/>
        </p:nvSpPr>
        <p:spPr>
          <a:xfrm>
            <a:off x="411480" y="4361688"/>
            <a:ext cx="5212080" cy="7498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FMAE: Facial Masked Autoencoder — self-supervised ViT pretraining by reconstructing masked facial patches</a:t>
            </a:r>
            <a:endParaRPr lang="en-US" sz="950" dirty="0"/>
          </a:p>
        </p:txBody>
      </p:sp>
      <p:sp>
        <p:nvSpPr>
          <p:cNvPr id="32" name="Text 30"/>
          <p:cNvSpPr/>
          <p:nvPr/>
        </p:nvSpPr>
        <p:spPr>
          <a:xfrm>
            <a:off x="411480" y="5138928"/>
            <a:ext cx="5212080" cy="256032"/>
          </a:xfrm>
          <a:prstGeom prst="rect">
            <a:avLst/>
          </a:prstGeom>
          <a:noFill/>
          <a:ln/>
        </p:spPr>
        <p:txBody>
          <a:bodyPr wrap="square" rtlCol="0" anchor="ctr"/>
          <a:lstStyle/>
          <a:p>
            <a:pPr marL="0" indent="0">
              <a:buNone/>
            </a:pPr>
            <a:r>
              <a:rPr lang="en-US" sz="900" b="1" dirty="0">
                <a:solidFill>
                  <a:srgbClr val="2B9FD9"/>
                </a:solidFill>
                <a:latin typeface="Calibri" pitchFamily="34" charset="0"/>
                <a:ea typeface="Calibri" pitchFamily="34" charset="-122"/>
                <a:cs typeface="Calibri" pitchFamily="34" charset="-120"/>
              </a:rPr>
              <a:t>Metric: SOTA on DAiSEE &amp; EmotiW</a:t>
            </a:r>
            <a:endParaRPr lang="en-US" sz="900" dirty="0"/>
          </a:p>
        </p:txBody>
      </p:sp>
      <p:sp>
        <p:nvSpPr>
          <p:cNvPr id="33" name="Text 31"/>
          <p:cNvSpPr/>
          <p:nvPr/>
        </p:nvSpPr>
        <p:spPr>
          <a:xfrm>
            <a:off x="411480" y="5413248"/>
            <a:ext cx="5212080" cy="566928"/>
          </a:xfrm>
          <a:prstGeom prst="rect">
            <a:avLst/>
          </a:prstGeom>
          <a:noFill/>
          <a:ln/>
        </p:spPr>
        <p:txBody>
          <a:bodyPr wrap="square" rtlCol="0" anchor="ctr"/>
          <a:lstStyle/>
          <a:p>
            <a:pPr marL="0" indent="0">
              <a:buNone/>
            </a:pPr>
            <a:r>
              <a:rPr lang="en-US" sz="900" i="1" dirty="0">
                <a:solidFill>
                  <a:srgbClr val="7A8FA6"/>
                </a:solidFill>
                <a:latin typeface="Calibri" pitchFamily="34" charset="0"/>
                <a:ea typeface="Calibri" pitchFamily="34" charset="-122"/>
                <a:cs typeface="Calibri" pitchFamily="34" charset="-120"/>
              </a:rPr>
              <a:t>Why cite: Addresses annotation bottleneck; self-supervised learning transferable to OUC-CGE</a:t>
            </a:r>
            <a:endParaRPr lang="en-US" sz="900" dirty="0"/>
          </a:p>
        </p:txBody>
      </p:sp>
      <p:sp>
        <p:nvSpPr>
          <p:cNvPr id="34" name="Shape 32"/>
          <p:cNvSpPr/>
          <p:nvPr/>
        </p:nvSpPr>
        <p:spPr>
          <a:xfrm>
            <a:off x="6263640" y="3840480"/>
            <a:ext cx="5394960" cy="2286000"/>
          </a:xfrm>
          <a:prstGeom prst="rect">
            <a:avLst/>
          </a:prstGeom>
          <a:solidFill>
            <a:srgbClr val="FFFFFF"/>
          </a:solidFill>
          <a:ln w="12700">
            <a:solidFill>
              <a:srgbClr val="7A8FA6"/>
            </a:solidFill>
            <a:prstDash val="solid"/>
          </a:ln>
        </p:spPr>
      </p:sp>
      <p:sp>
        <p:nvSpPr>
          <p:cNvPr id="35" name="Shape 33"/>
          <p:cNvSpPr/>
          <p:nvPr/>
        </p:nvSpPr>
        <p:spPr>
          <a:xfrm>
            <a:off x="6263640" y="3840480"/>
            <a:ext cx="5394960" cy="292608"/>
          </a:xfrm>
          <a:prstGeom prst="rect">
            <a:avLst/>
          </a:prstGeom>
          <a:solidFill>
            <a:srgbClr val="7A8FA6"/>
          </a:solidFill>
          <a:ln w="12700">
            <a:solidFill>
              <a:srgbClr val="7A8FA6"/>
            </a:solidFill>
            <a:prstDash val="solid"/>
          </a:ln>
        </p:spPr>
      </p:sp>
      <p:sp>
        <p:nvSpPr>
          <p:cNvPr id="36" name="Text 34"/>
          <p:cNvSpPr/>
          <p:nvPr/>
        </p:nvSpPr>
        <p:spPr>
          <a:xfrm>
            <a:off x="6309360" y="3840480"/>
            <a:ext cx="5303520" cy="292608"/>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P5  Zhao et al. (2025) – IEEE Access</a:t>
            </a:r>
            <a:endParaRPr lang="en-US" sz="850" dirty="0"/>
          </a:p>
        </p:txBody>
      </p:sp>
      <p:sp>
        <p:nvSpPr>
          <p:cNvPr id="37" name="Text 35"/>
          <p:cNvSpPr/>
          <p:nvPr/>
        </p:nvSpPr>
        <p:spPr>
          <a:xfrm>
            <a:off x="6355080" y="4178808"/>
            <a:ext cx="5212080" cy="201168"/>
          </a:xfrm>
          <a:prstGeom prst="rect">
            <a:avLst/>
          </a:prstGeom>
          <a:noFill/>
          <a:ln/>
        </p:spPr>
        <p:txBody>
          <a:bodyPr wrap="square" rtlCol="0" anchor="ctr"/>
          <a:lstStyle/>
          <a:p>
            <a:pPr marL="0" indent="0">
              <a:buNone/>
            </a:pPr>
            <a:r>
              <a:rPr lang="en-US" sz="850" b="1" dirty="0">
                <a:solidFill>
                  <a:srgbClr val="7A8FA6"/>
                </a:solidFill>
                <a:latin typeface="Calibri" pitchFamily="34" charset="0"/>
                <a:ea typeface="Calibri" pitchFamily="34" charset="-122"/>
                <a:cs typeface="Calibri" pitchFamily="34" charset="-120"/>
              </a:rPr>
              <a:t>Contribution:</a:t>
            </a:r>
            <a:endParaRPr lang="en-US" sz="850" dirty="0"/>
          </a:p>
        </p:txBody>
      </p:sp>
      <p:sp>
        <p:nvSpPr>
          <p:cNvPr id="38" name="Text 36"/>
          <p:cNvSpPr/>
          <p:nvPr/>
        </p:nvSpPr>
        <p:spPr>
          <a:xfrm>
            <a:off x="6355080" y="4361688"/>
            <a:ext cx="5212080" cy="7498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Multimodal Framework Transformer (MFT): hierarchical cross-modal fusion of synchronized audio and video streams</a:t>
            </a:r>
            <a:endParaRPr lang="en-US" sz="950" dirty="0"/>
          </a:p>
        </p:txBody>
      </p:sp>
      <p:sp>
        <p:nvSpPr>
          <p:cNvPr id="39" name="Text 37"/>
          <p:cNvSpPr/>
          <p:nvPr/>
        </p:nvSpPr>
        <p:spPr>
          <a:xfrm>
            <a:off x="6355080" y="5138928"/>
            <a:ext cx="5212080" cy="256032"/>
          </a:xfrm>
          <a:prstGeom prst="rect">
            <a:avLst/>
          </a:prstGeom>
          <a:noFill/>
          <a:ln/>
        </p:spPr>
        <p:txBody>
          <a:bodyPr wrap="square" rtlCol="0" anchor="ctr"/>
          <a:lstStyle/>
          <a:p>
            <a:pPr marL="0" indent="0">
              <a:buNone/>
            </a:pPr>
            <a:r>
              <a:rPr lang="en-US" sz="900" b="1" dirty="0">
                <a:solidFill>
                  <a:srgbClr val="7A8FA6"/>
                </a:solidFill>
                <a:latin typeface="Calibri" pitchFamily="34" charset="0"/>
                <a:ea typeface="Calibri" pitchFamily="34" charset="-122"/>
                <a:cs typeface="Calibri" pitchFamily="34" charset="-120"/>
              </a:rPr>
              <a:t>Metric: Best multimodal class accuracy</a:t>
            </a:r>
            <a:endParaRPr lang="en-US" sz="900" dirty="0"/>
          </a:p>
        </p:txBody>
      </p:sp>
      <p:sp>
        <p:nvSpPr>
          <p:cNvPr id="40" name="Text 38"/>
          <p:cNvSpPr/>
          <p:nvPr/>
        </p:nvSpPr>
        <p:spPr>
          <a:xfrm>
            <a:off x="6355080" y="5413248"/>
            <a:ext cx="5212080" cy="566928"/>
          </a:xfrm>
          <a:prstGeom prst="rect">
            <a:avLst/>
          </a:prstGeom>
          <a:noFill/>
          <a:ln/>
        </p:spPr>
        <p:txBody>
          <a:bodyPr wrap="square" rtlCol="0" anchor="ctr"/>
          <a:lstStyle/>
          <a:p>
            <a:pPr marL="0" indent="0">
              <a:buNone/>
            </a:pPr>
            <a:r>
              <a:rPr lang="en-US" sz="900" i="1" dirty="0">
                <a:solidFill>
                  <a:srgbClr val="7A8FA6"/>
                </a:solidFill>
                <a:latin typeface="Calibri" pitchFamily="34" charset="0"/>
                <a:ea typeface="Calibri" pitchFamily="34" charset="-122"/>
                <a:cs typeface="Calibri" pitchFamily="34" charset="-120"/>
              </a:rPr>
              <a:t>Why cite: Proves acoustic cues are non-redundant; blueprint for future audio extension of OUC-CGE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1B6CA8"/>
          </a:solidFill>
          <a:ln w="12700">
            <a:solidFill>
              <a:srgbClr val="1B6CA8"/>
            </a:solidFill>
            <a:prstDash val="solid"/>
          </a:ln>
        </p:spPr>
      </p:sp>
      <p:sp>
        <p:nvSpPr>
          <p:cNvPr id="3" name="Text 1"/>
          <p:cNvSpPr/>
          <p:nvPr/>
        </p:nvSpPr>
        <p:spPr>
          <a:xfrm>
            <a:off x="320040" y="0"/>
            <a:ext cx="7315200" cy="8229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OUC-CGE DATASET</a:t>
            </a:r>
            <a:endParaRPr lang="en-US" sz="2800" dirty="0"/>
          </a:p>
        </p:txBody>
      </p:sp>
      <p:sp>
        <p:nvSpPr>
          <p:cNvPr id="4" name="Text 2"/>
          <p:cNvSpPr/>
          <p:nvPr/>
        </p:nvSpPr>
        <p:spPr>
          <a:xfrm>
            <a:off x="320040" y="822960"/>
            <a:ext cx="11521440" cy="411480"/>
          </a:xfrm>
          <a:prstGeom prst="rect">
            <a:avLst/>
          </a:prstGeom>
          <a:noFill/>
          <a:ln/>
        </p:spPr>
        <p:txBody>
          <a:bodyPr wrap="square" rtlCol="0" anchor="ctr"/>
          <a:lstStyle/>
          <a:p>
            <a:pPr marL="0" indent="0">
              <a:buNone/>
            </a:pPr>
            <a:r>
              <a:rPr lang="en-US" sz="1400" i="1" dirty="0">
                <a:solidFill>
                  <a:srgbClr val="2B9FD9"/>
                </a:solidFill>
                <a:latin typeface="Cambria" pitchFamily="34" charset="0"/>
                <a:ea typeface="Cambria" pitchFamily="34" charset="-122"/>
                <a:cs typeface="Cambria" pitchFamily="34" charset="-120"/>
              </a:rPr>
              <a:t>Ocean University of China — Classroom Group Engagement</a:t>
            </a:r>
            <a:endParaRPr lang="en-US" sz="1400" dirty="0"/>
          </a:p>
        </p:txBody>
      </p:sp>
      <p:sp>
        <p:nvSpPr>
          <p:cNvPr id="5" name="Shape 3"/>
          <p:cNvSpPr/>
          <p:nvPr/>
        </p:nvSpPr>
        <p:spPr>
          <a:xfrm>
            <a:off x="320040" y="1353312"/>
            <a:ext cx="3566160" cy="5212080"/>
          </a:xfrm>
          <a:prstGeom prst="rect">
            <a:avLst/>
          </a:prstGeom>
          <a:solidFill>
            <a:srgbClr val="1A3550"/>
          </a:solidFill>
          <a:ln w="10160">
            <a:solidFill>
              <a:srgbClr val="2B9FD9"/>
            </a:solidFill>
            <a:prstDash val="solid"/>
          </a:ln>
        </p:spPr>
      </p:sp>
      <p:sp>
        <p:nvSpPr>
          <p:cNvPr id="6" name="Shape 4"/>
          <p:cNvSpPr/>
          <p:nvPr/>
        </p:nvSpPr>
        <p:spPr>
          <a:xfrm>
            <a:off x="320040" y="1353312"/>
            <a:ext cx="3566160" cy="438912"/>
          </a:xfrm>
          <a:prstGeom prst="rect">
            <a:avLst/>
          </a:prstGeom>
          <a:solidFill>
            <a:srgbClr val="2B9FD9"/>
          </a:solidFill>
          <a:ln w="12700">
            <a:solidFill>
              <a:srgbClr val="2B9FD9"/>
            </a:solidFill>
            <a:prstDash val="solid"/>
          </a:ln>
        </p:spPr>
      </p:sp>
      <p:sp>
        <p:nvSpPr>
          <p:cNvPr id="7" name="Text 5"/>
          <p:cNvSpPr/>
          <p:nvPr/>
        </p:nvSpPr>
        <p:spPr>
          <a:xfrm>
            <a:off x="411480" y="1353312"/>
            <a:ext cx="3383280" cy="438912"/>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  Purpose</a:t>
            </a:r>
            <a:endParaRPr lang="en-US" sz="1300" dirty="0"/>
          </a:p>
        </p:txBody>
      </p:sp>
      <p:sp>
        <p:nvSpPr>
          <p:cNvPr id="8" name="Shape 6"/>
          <p:cNvSpPr/>
          <p:nvPr/>
        </p:nvSpPr>
        <p:spPr>
          <a:xfrm>
            <a:off x="457200" y="1920240"/>
            <a:ext cx="164592" cy="164592"/>
          </a:xfrm>
          <a:prstGeom prst="rect">
            <a:avLst/>
          </a:prstGeom>
          <a:solidFill>
            <a:srgbClr val="F4A811"/>
          </a:solidFill>
          <a:ln w="12700">
            <a:solidFill>
              <a:srgbClr val="F4A811"/>
            </a:solidFill>
            <a:prstDash val="solid"/>
          </a:ln>
        </p:spPr>
      </p:sp>
      <p:sp>
        <p:nvSpPr>
          <p:cNvPr id="9" name="Text 7"/>
          <p:cNvSpPr/>
          <p:nvPr/>
        </p:nvSpPr>
        <p:spPr>
          <a:xfrm>
            <a:off x="704088" y="1901952"/>
            <a:ext cx="3063240" cy="960120"/>
          </a:xfrm>
          <a:prstGeom prst="rect">
            <a:avLst/>
          </a:prstGeom>
          <a:noFill/>
          <a:ln/>
        </p:spPr>
        <p:txBody>
          <a:bodyPr wrap="square" rtlCol="0" anchor="ctr"/>
          <a:lstStyle/>
          <a:p>
            <a:pPr marL="0" indent="0">
              <a:buNone/>
            </a:pPr>
            <a:r>
              <a:rPr lang="en-US" sz="1150" b="1" dirty="0">
                <a:solidFill>
                  <a:srgbClr val="E8F0FA"/>
                </a:solidFill>
                <a:latin typeface="Calibri" pitchFamily="34" charset="0"/>
                <a:ea typeface="Calibri" pitchFamily="34" charset="-122"/>
                <a:cs typeface="Calibri" pitchFamily="34" charset="-120"/>
              </a:rPr>
              <a:t>Bridge the individual-to-group research gap</a:t>
            </a:r>
            <a:endParaRPr lang="en-US" sz="1150" dirty="0"/>
          </a:p>
        </p:txBody>
      </p:sp>
      <p:sp>
        <p:nvSpPr>
          <p:cNvPr id="10" name="Shape 8"/>
          <p:cNvSpPr/>
          <p:nvPr/>
        </p:nvSpPr>
        <p:spPr>
          <a:xfrm>
            <a:off x="457200" y="3035808"/>
            <a:ext cx="164592" cy="164592"/>
          </a:xfrm>
          <a:prstGeom prst="rect">
            <a:avLst/>
          </a:prstGeom>
          <a:solidFill>
            <a:srgbClr val="F4A811"/>
          </a:solidFill>
          <a:ln w="12700">
            <a:solidFill>
              <a:srgbClr val="F4A811"/>
            </a:solidFill>
            <a:prstDash val="solid"/>
          </a:ln>
        </p:spPr>
      </p:sp>
      <p:sp>
        <p:nvSpPr>
          <p:cNvPr id="11" name="Text 9"/>
          <p:cNvSpPr/>
          <p:nvPr/>
        </p:nvSpPr>
        <p:spPr>
          <a:xfrm>
            <a:off x="704088" y="3017520"/>
            <a:ext cx="3063240" cy="960120"/>
          </a:xfrm>
          <a:prstGeom prst="rect">
            <a:avLst/>
          </a:prstGeom>
          <a:noFill/>
          <a:ln/>
        </p:spPr>
        <p:txBody>
          <a:bodyPr wrap="square" rtlCol="0" anchor="ctr"/>
          <a:lstStyle/>
          <a:p>
            <a:pPr marL="0" indent="0">
              <a:buNone/>
            </a:pPr>
            <a:r>
              <a:rPr lang="en-US" sz="1150" b="1" dirty="0">
                <a:solidFill>
                  <a:srgbClr val="E8F0FA"/>
                </a:solidFill>
                <a:latin typeface="Calibri" pitchFamily="34" charset="0"/>
                <a:ea typeface="Calibri" pitchFamily="34" charset="-122"/>
                <a:cs typeface="Calibri" pitchFamily="34" charset="-120"/>
              </a:rPr>
              <a:t>Provide large-scale, non-intrusively recorded classroom data</a:t>
            </a:r>
            <a:endParaRPr lang="en-US" sz="1150" dirty="0"/>
          </a:p>
        </p:txBody>
      </p:sp>
      <p:sp>
        <p:nvSpPr>
          <p:cNvPr id="12" name="Shape 10"/>
          <p:cNvSpPr/>
          <p:nvPr/>
        </p:nvSpPr>
        <p:spPr>
          <a:xfrm>
            <a:off x="457200" y="4151376"/>
            <a:ext cx="164592" cy="164592"/>
          </a:xfrm>
          <a:prstGeom prst="rect">
            <a:avLst/>
          </a:prstGeom>
          <a:solidFill>
            <a:srgbClr val="F4A811"/>
          </a:solidFill>
          <a:ln w="12700">
            <a:solidFill>
              <a:srgbClr val="F4A811"/>
            </a:solidFill>
            <a:prstDash val="solid"/>
          </a:ln>
        </p:spPr>
      </p:sp>
      <p:sp>
        <p:nvSpPr>
          <p:cNvPr id="13" name="Text 11"/>
          <p:cNvSpPr/>
          <p:nvPr/>
        </p:nvSpPr>
        <p:spPr>
          <a:xfrm>
            <a:off x="704088" y="4133088"/>
            <a:ext cx="3063240" cy="960120"/>
          </a:xfrm>
          <a:prstGeom prst="rect">
            <a:avLst/>
          </a:prstGeom>
          <a:noFill/>
          <a:ln/>
        </p:spPr>
        <p:txBody>
          <a:bodyPr wrap="square" rtlCol="0" anchor="ctr"/>
          <a:lstStyle/>
          <a:p>
            <a:pPr marL="0" indent="0">
              <a:buNone/>
            </a:pPr>
            <a:r>
              <a:rPr lang="en-US" sz="1150" b="1" dirty="0">
                <a:solidFill>
                  <a:srgbClr val="E8F0FA"/>
                </a:solidFill>
                <a:latin typeface="Calibri" pitchFamily="34" charset="0"/>
                <a:ea typeface="Calibri" pitchFamily="34" charset="-122"/>
                <a:cs typeface="Calibri" pitchFamily="34" charset="-120"/>
              </a:rPr>
              <a:t>Establish group engagement as a computable pedagogical construct</a:t>
            </a:r>
            <a:endParaRPr lang="en-US" sz="1150" dirty="0"/>
          </a:p>
        </p:txBody>
      </p:sp>
      <p:sp>
        <p:nvSpPr>
          <p:cNvPr id="14" name="Shape 12"/>
          <p:cNvSpPr/>
          <p:nvPr/>
        </p:nvSpPr>
        <p:spPr>
          <a:xfrm>
            <a:off x="457200" y="5266944"/>
            <a:ext cx="164592" cy="164592"/>
          </a:xfrm>
          <a:prstGeom prst="rect">
            <a:avLst/>
          </a:prstGeom>
          <a:solidFill>
            <a:srgbClr val="F4A811"/>
          </a:solidFill>
          <a:ln w="12700">
            <a:solidFill>
              <a:srgbClr val="F4A811"/>
            </a:solidFill>
            <a:prstDash val="solid"/>
          </a:ln>
        </p:spPr>
      </p:sp>
      <p:sp>
        <p:nvSpPr>
          <p:cNvPr id="15" name="Text 13"/>
          <p:cNvSpPr/>
          <p:nvPr/>
        </p:nvSpPr>
        <p:spPr>
          <a:xfrm>
            <a:off x="704088" y="5248656"/>
            <a:ext cx="3063240" cy="960120"/>
          </a:xfrm>
          <a:prstGeom prst="rect">
            <a:avLst/>
          </a:prstGeom>
          <a:noFill/>
          <a:ln/>
        </p:spPr>
        <p:txBody>
          <a:bodyPr wrap="square" rtlCol="0" anchor="ctr"/>
          <a:lstStyle/>
          <a:p>
            <a:pPr marL="0" indent="0">
              <a:buNone/>
            </a:pPr>
            <a:r>
              <a:rPr lang="en-US" sz="1150" b="1" dirty="0">
                <a:solidFill>
                  <a:srgbClr val="E8F0FA"/>
                </a:solidFill>
                <a:latin typeface="Calibri" pitchFamily="34" charset="0"/>
                <a:ea typeface="Calibri" pitchFamily="34" charset="-122"/>
                <a:cs typeface="Calibri" pitchFamily="34" charset="-120"/>
              </a:rPr>
              <a:t>Enable spatiotemporal algorithmic baseline development</a:t>
            </a:r>
            <a:endParaRPr lang="en-US" sz="1150" dirty="0"/>
          </a:p>
        </p:txBody>
      </p:sp>
      <p:sp>
        <p:nvSpPr>
          <p:cNvPr id="16" name="Shape 14"/>
          <p:cNvSpPr/>
          <p:nvPr/>
        </p:nvSpPr>
        <p:spPr>
          <a:xfrm>
            <a:off x="4251960" y="1353312"/>
            <a:ext cx="3566160" cy="5212080"/>
          </a:xfrm>
          <a:prstGeom prst="rect">
            <a:avLst/>
          </a:prstGeom>
          <a:solidFill>
            <a:srgbClr val="1A3550"/>
          </a:solidFill>
          <a:ln w="10160">
            <a:solidFill>
              <a:srgbClr val="2B9FD9"/>
            </a:solidFill>
            <a:prstDash val="solid"/>
          </a:ln>
        </p:spPr>
      </p:sp>
      <p:sp>
        <p:nvSpPr>
          <p:cNvPr id="17" name="Shape 15"/>
          <p:cNvSpPr/>
          <p:nvPr/>
        </p:nvSpPr>
        <p:spPr>
          <a:xfrm>
            <a:off x="4251960" y="1353312"/>
            <a:ext cx="3566160" cy="438912"/>
          </a:xfrm>
          <a:prstGeom prst="rect">
            <a:avLst/>
          </a:prstGeom>
          <a:solidFill>
            <a:srgbClr val="2B9FD9"/>
          </a:solidFill>
          <a:ln w="12700">
            <a:solidFill>
              <a:srgbClr val="2B9FD9"/>
            </a:solidFill>
            <a:prstDash val="solid"/>
          </a:ln>
        </p:spPr>
      </p:sp>
      <p:sp>
        <p:nvSpPr>
          <p:cNvPr id="18" name="Text 16"/>
          <p:cNvSpPr/>
          <p:nvPr/>
        </p:nvSpPr>
        <p:spPr>
          <a:xfrm>
            <a:off x="4343400" y="1353312"/>
            <a:ext cx="3383280" cy="438912"/>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  Motivation</a:t>
            </a:r>
            <a:endParaRPr lang="en-US" sz="1300" dirty="0"/>
          </a:p>
        </p:txBody>
      </p:sp>
      <p:sp>
        <p:nvSpPr>
          <p:cNvPr id="19" name="Shape 17"/>
          <p:cNvSpPr/>
          <p:nvPr/>
        </p:nvSpPr>
        <p:spPr>
          <a:xfrm>
            <a:off x="4389120" y="1920240"/>
            <a:ext cx="164592" cy="164592"/>
          </a:xfrm>
          <a:prstGeom prst="rect">
            <a:avLst/>
          </a:prstGeom>
          <a:solidFill>
            <a:srgbClr val="F4A811"/>
          </a:solidFill>
          <a:ln w="12700">
            <a:solidFill>
              <a:srgbClr val="F4A811"/>
            </a:solidFill>
            <a:prstDash val="solid"/>
          </a:ln>
        </p:spPr>
      </p:sp>
      <p:sp>
        <p:nvSpPr>
          <p:cNvPr id="20" name="Text 18"/>
          <p:cNvSpPr/>
          <p:nvPr/>
        </p:nvSpPr>
        <p:spPr>
          <a:xfrm>
            <a:off x="4636008" y="1901952"/>
            <a:ext cx="3063240" cy="960120"/>
          </a:xfrm>
          <a:prstGeom prst="rect">
            <a:avLst/>
          </a:prstGeom>
          <a:noFill/>
          <a:ln/>
        </p:spPr>
        <p:txBody>
          <a:bodyPr wrap="square" rtlCol="0" anchor="ctr"/>
          <a:lstStyle/>
          <a:p>
            <a:pPr marL="0" indent="0">
              <a:buNone/>
            </a:pPr>
            <a:r>
              <a:rPr lang="en-US" sz="1150" b="1" dirty="0">
                <a:solidFill>
                  <a:srgbClr val="E8F0FA"/>
                </a:solidFill>
                <a:latin typeface="Calibri" pitchFamily="34" charset="0"/>
                <a:ea typeface="Calibri" pitchFamily="34" charset="-122"/>
                <a:cs typeface="Calibri" pitchFamily="34" charset="-120"/>
              </a:rPr>
              <a:t>Prior datasets (DAiSEE, EngageWild) capture isolated students only</a:t>
            </a:r>
            <a:endParaRPr lang="en-US" sz="1150" dirty="0"/>
          </a:p>
        </p:txBody>
      </p:sp>
      <p:sp>
        <p:nvSpPr>
          <p:cNvPr id="21" name="Shape 19"/>
          <p:cNvSpPr/>
          <p:nvPr/>
        </p:nvSpPr>
        <p:spPr>
          <a:xfrm>
            <a:off x="4389120" y="3035808"/>
            <a:ext cx="164592" cy="164592"/>
          </a:xfrm>
          <a:prstGeom prst="rect">
            <a:avLst/>
          </a:prstGeom>
          <a:solidFill>
            <a:srgbClr val="F4A811"/>
          </a:solidFill>
          <a:ln w="12700">
            <a:solidFill>
              <a:srgbClr val="F4A811"/>
            </a:solidFill>
            <a:prstDash val="solid"/>
          </a:ln>
        </p:spPr>
      </p:sp>
      <p:sp>
        <p:nvSpPr>
          <p:cNvPr id="22" name="Text 20"/>
          <p:cNvSpPr/>
          <p:nvPr/>
        </p:nvSpPr>
        <p:spPr>
          <a:xfrm>
            <a:off x="4636008" y="3017520"/>
            <a:ext cx="3063240" cy="960120"/>
          </a:xfrm>
          <a:prstGeom prst="rect">
            <a:avLst/>
          </a:prstGeom>
          <a:noFill/>
          <a:ln/>
        </p:spPr>
        <p:txBody>
          <a:bodyPr wrap="square" rtlCol="0" anchor="ctr"/>
          <a:lstStyle/>
          <a:p>
            <a:pPr marL="0" indent="0">
              <a:buNone/>
            </a:pPr>
            <a:r>
              <a:rPr lang="en-US" sz="1150" b="1" dirty="0">
                <a:solidFill>
                  <a:srgbClr val="E8F0FA"/>
                </a:solidFill>
                <a:latin typeface="Calibri" pitchFamily="34" charset="0"/>
                <a:ea typeface="Calibri" pitchFamily="34" charset="-122"/>
                <a:cs typeface="Calibri" pitchFamily="34" charset="-120"/>
              </a:rPr>
              <a:t>Learning is socially embedded — group dynamics are essential</a:t>
            </a:r>
            <a:endParaRPr lang="en-US" sz="1150" dirty="0"/>
          </a:p>
        </p:txBody>
      </p:sp>
      <p:sp>
        <p:nvSpPr>
          <p:cNvPr id="23" name="Shape 21"/>
          <p:cNvSpPr/>
          <p:nvPr/>
        </p:nvSpPr>
        <p:spPr>
          <a:xfrm>
            <a:off x="4389120" y="4151376"/>
            <a:ext cx="164592" cy="164592"/>
          </a:xfrm>
          <a:prstGeom prst="rect">
            <a:avLst/>
          </a:prstGeom>
          <a:solidFill>
            <a:srgbClr val="F4A811"/>
          </a:solidFill>
          <a:ln w="12700">
            <a:solidFill>
              <a:srgbClr val="F4A811"/>
            </a:solidFill>
            <a:prstDash val="solid"/>
          </a:ln>
        </p:spPr>
      </p:sp>
      <p:sp>
        <p:nvSpPr>
          <p:cNvPr id="24" name="Text 22"/>
          <p:cNvSpPr/>
          <p:nvPr/>
        </p:nvSpPr>
        <p:spPr>
          <a:xfrm>
            <a:off x="4636008" y="4133088"/>
            <a:ext cx="3063240" cy="960120"/>
          </a:xfrm>
          <a:prstGeom prst="rect">
            <a:avLst/>
          </a:prstGeom>
          <a:noFill/>
          <a:ln/>
        </p:spPr>
        <p:txBody>
          <a:bodyPr wrap="square" rtlCol="0" anchor="ctr"/>
          <a:lstStyle/>
          <a:p>
            <a:pPr marL="0" indent="0">
              <a:buNone/>
            </a:pPr>
            <a:r>
              <a:rPr lang="en-US" sz="1150" b="1" dirty="0">
                <a:solidFill>
                  <a:srgbClr val="E8F0FA"/>
                </a:solidFill>
                <a:latin typeface="Calibri" pitchFamily="34" charset="0"/>
                <a:ea typeface="Calibri" pitchFamily="34" charset="-122"/>
                <a:cs typeface="Calibri" pitchFamily="34" charset="-120"/>
              </a:rPr>
              <a:t>Lack of data for synchronized collaborative behavior analysis</a:t>
            </a:r>
            <a:endParaRPr lang="en-US" sz="1150" dirty="0"/>
          </a:p>
        </p:txBody>
      </p:sp>
      <p:sp>
        <p:nvSpPr>
          <p:cNvPr id="25" name="Shape 23"/>
          <p:cNvSpPr/>
          <p:nvPr/>
        </p:nvSpPr>
        <p:spPr>
          <a:xfrm>
            <a:off x="4389120" y="5266944"/>
            <a:ext cx="164592" cy="164592"/>
          </a:xfrm>
          <a:prstGeom prst="rect">
            <a:avLst/>
          </a:prstGeom>
          <a:solidFill>
            <a:srgbClr val="F4A811"/>
          </a:solidFill>
          <a:ln w="12700">
            <a:solidFill>
              <a:srgbClr val="F4A811"/>
            </a:solidFill>
            <a:prstDash val="solid"/>
          </a:ln>
        </p:spPr>
      </p:sp>
      <p:sp>
        <p:nvSpPr>
          <p:cNvPr id="26" name="Text 24"/>
          <p:cNvSpPr/>
          <p:nvPr/>
        </p:nvSpPr>
        <p:spPr>
          <a:xfrm>
            <a:off x="4636008" y="5248656"/>
            <a:ext cx="3063240" cy="960120"/>
          </a:xfrm>
          <a:prstGeom prst="rect">
            <a:avLst/>
          </a:prstGeom>
          <a:noFill/>
          <a:ln/>
        </p:spPr>
        <p:txBody>
          <a:bodyPr wrap="square" rtlCol="0" anchor="ctr"/>
          <a:lstStyle/>
          <a:p>
            <a:pPr marL="0" indent="0">
              <a:buNone/>
            </a:pPr>
            <a:r>
              <a:rPr lang="en-US" sz="1150" b="1" dirty="0">
                <a:solidFill>
                  <a:srgbClr val="E8F0FA"/>
                </a:solidFill>
                <a:latin typeface="Calibri" pitchFamily="34" charset="0"/>
                <a:ea typeface="Calibri" pitchFamily="34" charset="-122"/>
                <a:cs typeface="Calibri" pitchFamily="34" charset="-120"/>
              </a:rPr>
              <a:t>Critical gap between virtual e-learning and physical classroom AI</a:t>
            </a:r>
            <a:endParaRPr lang="en-US" sz="1150" dirty="0"/>
          </a:p>
        </p:txBody>
      </p:sp>
      <p:sp>
        <p:nvSpPr>
          <p:cNvPr id="27" name="Shape 25"/>
          <p:cNvSpPr/>
          <p:nvPr/>
        </p:nvSpPr>
        <p:spPr>
          <a:xfrm>
            <a:off x="8183880" y="1353312"/>
            <a:ext cx="3566160" cy="5212080"/>
          </a:xfrm>
          <a:prstGeom prst="rect">
            <a:avLst/>
          </a:prstGeom>
          <a:solidFill>
            <a:srgbClr val="1A3550"/>
          </a:solidFill>
          <a:ln w="10160">
            <a:solidFill>
              <a:srgbClr val="2B9FD9"/>
            </a:solidFill>
            <a:prstDash val="solid"/>
          </a:ln>
        </p:spPr>
      </p:sp>
      <p:sp>
        <p:nvSpPr>
          <p:cNvPr id="28" name="Shape 26"/>
          <p:cNvSpPr/>
          <p:nvPr/>
        </p:nvSpPr>
        <p:spPr>
          <a:xfrm>
            <a:off x="8183880" y="1353312"/>
            <a:ext cx="3566160" cy="438912"/>
          </a:xfrm>
          <a:prstGeom prst="rect">
            <a:avLst/>
          </a:prstGeom>
          <a:solidFill>
            <a:srgbClr val="2B9FD9"/>
          </a:solidFill>
          <a:ln w="12700">
            <a:solidFill>
              <a:srgbClr val="2B9FD9"/>
            </a:solidFill>
            <a:prstDash val="solid"/>
          </a:ln>
        </p:spPr>
      </p:sp>
      <p:sp>
        <p:nvSpPr>
          <p:cNvPr id="29" name="Text 27"/>
          <p:cNvSpPr/>
          <p:nvPr/>
        </p:nvSpPr>
        <p:spPr>
          <a:xfrm>
            <a:off x="8275320" y="1353312"/>
            <a:ext cx="3383280" cy="438912"/>
          </a:xfrm>
          <a:prstGeom prst="rect">
            <a:avLst/>
          </a:prstGeom>
          <a:noFill/>
          <a:ln/>
        </p:spPr>
        <p:txBody>
          <a:bodyPr wrap="square"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  Dataset Contribution</a:t>
            </a:r>
            <a:endParaRPr lang="en-US" sz="1300" dirty="0"/>
          </a:p>
        </p:txBody>
      </p:sp>
      <p:sp>
        <p:nvSpPr>
          <p:cNvPr id="30" name="Shape 28"/>
          <p:cNvSpPr/>
          <p:nvPr/>
        </p:nvSpPr>
        <p:spPr>
          <a:xfrm>
            <a:off x="8321040" y="1920240"/>
            <a:ext cx="164592" cy="164592"/>
          </a:xfrm>
          <a:prstGeom prst="rect">
            <a:avLst/>
          </a:prstGeom>
          <a:solidFill>
            <a:srgbClr val="F4A811"/>
          </a:solidFill>
          <a:ln w="12700">
            <a:solidFill>
              <a:srgbClr val="F4A811"/>
            </a:solidFill>
            <a:prstDash val="solid"/>
          </a:ln>
        </p:spPr>
      </p:sp>
      <p:sp>
        <p:nvSpPr>
          <p:cNvPr id="31" name="Text 29"/>
          <p:cNvSpPr/>
          <p:nvPr/>
        </p:nvSpPr>
        <p:spPr>
          <a:xfrm>
            <a:off x="8567928" y="1901952"/>
            <a:ext cx="3063240" cy="960120"/>
          </a:xfrm>
          <a:prstGeom prst="rect">
            <a:avLst/>
          </a:prstGeom>
          <a:noFill/>
          <a:ln/>
        </p:spPr>
        <p:txBody>
          <a:bodyPr wrap="square" rtlCol="0" anchor="ctr"/>
          <a:lstStyle/>
          <a:p>
            <a:pPr marL="0" indent="0">
              <a:buNone/>
            </a:pPr>
            <a:r>
              <a:rPr lang="en-US" sz="1150" b="1" dirty="0">
                <a:solidFill>
                  <a:srgbClr val="E8F0FA"/>
                </a:solidFill>
                <a:latin typeface="Calibri" pitchFamily="34" charset="0"/>
                <a:ea typeface="Calibri" pitchFamily="34" charset="-122"/>
                <a:cs typeface="Calibri" pitchFamily="34" charset="-120"/>
              </a:rPr>
              <a:t>First publicly released authentic classroom group engagement dataset</a:t>
            </a:r>
            <a:endParaRPr lang="en-US" sz="1150" dirty="0"/>
          </a:p>
        </p:txBody>
      </p:sp>
      <p:sp>
        <p:nvSpPr>
          <p:cNvPr id="32" name="Shape 30"/>
          <p:cNvSpPr/>
          <p:nvPr/>
        </p:nvSpPr>
        <p:spPr>
          <a:xfrm>
            <a:off x="8321040" y="3035808"/>
            <a:ext cx="164592" cy="164592"/>
          </a:xfrm>
          <a:prstGeom prst="rect">
            <a:avLst/>
          </a:prstGeom>
          <a:solidFill>
            <a:srgbClr val="F4A811"/>
          </a:solidFill>
          <a:ln w="12700">
            <a:solidFill>
              <a:srgbClr val="F4A811"/>
            </a:solidFill>
            <a:prstDash val="solid"/>
          </a:ln>
        </p:spPr>
      </p:sp>
      <p:sp>
        <p:nvSpPr>
          <p:cNvPr id="33" name="Text 31"/>
          <p:cNvSpPr/>
          <p:nvPr/>
        </p:nvSpPr>
        <p:spPr>
          <a:xfrm>
            <a:off x="8567928" y="3017520"/>
            <a:ext cx="3063240" cy="960120"/>
          </a:xfrm>
          <a:prstGeom prst="rect">
            <a:avLst/>
          </a:prstGeom>
          <a:noFill/>
          <a:ln/>
        </p:spPr>
        <p:txBody>
          <a:bodyPr wrap="square" rtlCol="0" anchor="ctr"/>
          <a:lstStyle/>
          <a:p>
            <a:pPr marL="0" indent="0">
              <a:buNone/>
            </a:pPr>
            <a:r>
              <a:rPr lang="en-US" sz="1150" b="1" dirty="0">
                <a:solidFill>
                  <a:srgbClr val="E8F0FA"/>
                </a:solidFill>
                <a:latin typeface="Calibri" pitchFamily="34" charset="0"/>
                <a:ea typeface="Calibri" pitchFamily="34" charset="-122"/>
                <a:cs typeface="Calibri" pitchFamily="34" charset="-120"/>
              </a:rPr>
              <a:t>Published in Scientific Data (Nature) — 2025</a:t>
            </a:r>
            <a:endParaRPr lang="en-US" sz="1150" dirty="0"/>
          </a:p>
        </p:txBody>
      </p:sp>
      <p:sp>
        <p:nvSpPr>
          <p:cNvPr id="34" name="Shape 32"/>
          <p:cNvSpPr/>
          <p:nvPr/>
        </p:nvSpPr>
        <p:spPr>
          <a:xfrm>
            <a:off x="8321040" y="4151376"/>
            <a:ext cx="164592" cy="164592"/>
          </a:xfrm>
          <a:prstGeom prst="rect">
            <a:avLst/>
          </a:prstGeom>
          <a:solidFill>
            <a:srgbClr val="F4A811"/>
          </a:solidFill>
          <a:ln w="12700">
            <a:solidFill>
              <a:srgbClr val="F4A811"/>
            </a:solidFill>
            <a:prstDash val="solid"/>
          </a:ln>
        </p:spPr>
      </p:sp>
      <p:sp>
        <p:nvSpPr>
          <p:cNvPr id="35" name="Text 33"/>
          <p:cNvSpPr/>
          <p:nvPr/>
        </p:nvSpPr>
        <p:spPr>
          <a:xfrm>
            <a:off x="8567928" y="4133088"/>
            <a:ext cx="3063240" cy="960120"/>
          </a:xfrm>
          <a:prstGeom prst="rect">
            <a:avLst/>
          </a:prstGeom>
          <a:noFill/>
          <a:ln/>
        </p:spPr>
        <p:txBody>
          <a:bodyPr wrap="square" rtlCol="0" anchor="ctr"/>
          <a:lstStyle/>
          <a:p>
            <a:pPr marL="0" indent="0">
              <a:buNone/>
            </a:pPr>
            <a:r>
              <a:rPr lang="en-US" sz="1150" b="1" dirty="0">
                <a:solidFill>
                  <a:srgbClr val="E8F0FA"/>
                </a:solidFill>
                <a:latin typeface="Calibri" pitchFamily="34" charset="0"/>
                <a:ea typeface="Calibri" pitchFamily="34" charset="-122"/>
                <a:cs typeface="Calibri" pitchFamily="34" charset="-120"/>
              </a:rPr>
              <a:t>Establishes SlowFast, C2D, I3D baselines for future benchmarking</a:t>
            </a:r>
            <a:endParaRPr lang="en-US" sz="1150" dirty="0"/>
          </a:p>
        </p:txBody>
      </p:sp>
      <p:sp>
        <p:nvSpPr>
          <p:cNvPr id="36" name="Shape 34"/>
          <p:cNvSpPr/>
          <p:nvPr/>
        </p:nvSpPr>
        <p:spPr>
          <a:xfrm>
            <a:off x="8321040" y="5266944"/>
            <a:ext cx="164592" cy="164592"/>
          </a:xfrm>
          <a:prstGeom prst="rect">
            <a:avLst/>
          </a:prstGeom>
          <a:solidFill>
            <a:srgbClr val="F4A811"/>
          </a:solidFill>
          <a:ln w="12700">
            <a:solidFill>
              <a:srgbClr val="F4A811"/>
            </a:solidFill>
            <a:prstDash val="solid"/>
          </a:ln>
        </p:spPr>
      </p:sp>
      <p:sp>
        <p:nvSpPr>
          <p:cNvPr id="37" name="Text 35"/>
          <p:cNvSpPr/>
          <p:nvPr/>
        </p:nvSpPr>
        <p:spPr>
          <a:xfrm>
            <a:off x="8567928" y="5248656"/>
            <a:ext cx="3063240" cy="960120"/>
          </a:xfrm>
          <a:prstGeom prst="rect">
            <a:avLst/>
          </a:prstGeom>
          <a:noFill/>
          <a:ln/>
        </p:spPr>
        <p:txBody>
          <a:bodyPr wrap="square" rtlCol="0" anchor="ctr"/>
          <a:lstStyle/>
          <a:p>
            <a:pPr marL="0" indent="0">
              <a:buNone/>
            </a:pPr>
            <a:r>
              <a:rPr lang="en-US" sz="1150" b="1" dirty="0">
                <a:solidFill>
                  <a:srgbClr val="E8F0FA"/>
                </a:solidFill>
                <a:latin typeface="Calibri" pitchFamily="34" charset="0"/>
                <a:ea typeface="Calibri" pitchFamily="34" charset="-122"/>
                <a:cs typeface="Calibri" pitchFamily="34" charset="-120"/>
              </a:rPr>
              <a:t>Ordinal 3-class label taxonomy: High, Medium, Low engagement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201168"/>
            <a:ext cx="1828800" cy="256032"/>
          </a:xfrm>
          <a:prstGeom prst="rect">
            <a:avLst/>
          </a:prstGeom>
          <a:solidFill>
            <a:srgbClr val="2B9FD9"/>
          </a:solidFill>
          <a:ln w="12700">
            <a:solidFill>
              <a:srgbClr val="2B9FD9"/>
            </a:solidFill>
            <a:prstDash val="solid"/>
          </a:ln>
        </p:spPr>
      </p:sp>
      <p:sp>
        <p:nvSpPr>
          <p:cNvPr id="3" name="Text 1"/>
          <p:cNvSpPr/>
          <p:nvPr/>
        </p:nvSpPr>
        <p:spPr>
          <a:xfrm>
            <a:off x="320040" y="201168"/>
            <a:ext cx="1828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OUC-CGE DATASET</a:t>
            </a:r>
            <a:endParaRPr lang="en-US" sz="800" dirty="0"/>
          </a:p>
        </p:txBody>
      </p:sp>
      <p:sp>
        <p:nvSpPr>
          <p:cNvPr id="4" name="Text 2"/>
          <p:cNvSpPr/>
          <p:nvPr/>
        </p:nvSpPr>
        <p:spPr>
          <a:xfrm>
            <a:off x="320040" y="548640"/>
            <a:ext cx="11521440" cy="502920"/>
          </a:xfrm>
          <a:prstGeom prst="rect">
            <a:avLst/>
          </a:prstGeom>
          <a:noFill/>
          <a:ln/>
        </p:spPr>
        <p:txBody>
          <a:bodyPr wrap="square" rtlCol="0" anchor="ctr"/>
          <a:lstStyle/>
          <a:p>
            <a:pPr marL="0" indent="0" algn="l">
              <a:buNone/>
            </a:pPr>
            <a:r>
              <a:rPr lang="en-US" sz="2600" b="1" dirty="0">
                <a:solidFill>
                  <a:srgbClr val="1A2B3C"/>
                </a:solidFill>
                <a:latin typeface="Cambria" pitchFamily="34" charset="0"/>
                <a:ea typeface="Cambria" pitchFamily="34" charset="-122"/>
                <a:cs typeface="Cambria" pitchFamily="34" charset="-120"/>
              </a:rPr>
              <a:t>OUC-CGE Dataset: Technical Characteristics</a:t>
            </a:r>
            <a:endParaRPr lang="en-US" sz="2600" dirty="0"/>
          </a:p>
        </p:txBody>
      </p:sp>
      <p:sp>
        <p:nvSpPr>
          <p:cNvPr id="5" name="Shape 3"/>
          <p:cNvSpPr/>
          <p:nvPr/>
        </p:nvSpPr>
        <p:spPr>
          <a:xfrm>
            <a:off x="320040" y="1115568"/>
            <a:ext cx="11521440" cy="0"/>
          </a:xfrm>
          <a:prstGeom prst="line">
            <a:avLst/>
          </a:prstGeom>
          <a:noFill/>
          <a:ln w="19050">
            <a:solidFill>
              <a:srgbClr val="2B9FD9"/>
            </a:solidFill>
            <a:prstDash val="solid"/>
          </a:ln>
        </p:spPr>
      </p:sp>
      <p:sp>
        <p:nvSpPr>
          <p:cNvPr id="6" name="Shape 4"/>
          <p:cNvSpPr/>
          <p:nvPr/>
        </p:nvSpPr>
        <p:spPr>
          <a:xfrm>
            <a:off x="320040" y="1298448"/>
            <a:ext cx="5486400" cy="420624"/>
          </a:xfrm>
          <a:prstGeom prst="rect">
            <a:avLst/>
          </a:prstGeom>
          <a:solidFill>
            <a:srgbClr val="EFF4FA"/>
          </a:solidFill>
          <a:ln w="6350">
            <a:solidFill>
              <a:srgbClr val="D0DDE8"/>
            </a:solidFill>
            <a:prstDash val="solid"/>
          </a:ln>
        </p:spPr>
      </p:sp>
      <p:sp>
        <p:nvSpPr>
          <p:cNvPr id="7" name="Text 5"/>
          <p:cNvSpPr/>
          <p:nvPr/>
        </p:nvSpPr>
        <p:spPr>
          <a:xfrm>
            <a:off x="411480" y="1316736"/>
            <a:ext cx="2560320" cy="384048"/>
          </a:xfrm>
          <a:prstGeom prst="rect">
            <a:avLst/>
          </a:prstGeom>
          <a:noFill/>
          <a:ln/>
        </p:spPr>
        <p:txBody>
          <a:bodyPr wrap="square" rtlCol="0" anchor="ctr"/>
          <a:lstStyle/>
          <a:p>
            <a:pPr marL="0" indent="0">
              <a:buNone/>
            </a:pPr>
            <a:r>
              <a:rPr lang="en-US" sz="1050" b="1" dirty="0">
                <a:solidFill>
                  <a:srgbClr val="1B6CA8"/>
                </a:solidFill>
                <a:latin typeface="Calibri" pitchFamily="34" charset="0"/>
                <a:ea typeface="Calibri" pitchFamily="34" charset="-122"/>
                <a:cs typeface="Calibri" pitchFamily="34" charset="-120"/>
              </a:rPr>
              <a:t>Video Resolution</a:t>
            </a:r>
            <a:endParaRPr lang="en-US" sz="1050" dirty="0"/>
          </a:p>
        </p:txBody>
      </p:sp>
      <p:sp>
        <p:nvSpPr>
          <p:cNvPr id="8" name="Text 6"/>
          <p:cNvSpPr/>
          <p:nvPr/>
        </p:nvSpPr>
        <p:spPr>
          <a:xfrm>
            <a:off x="3017520" y="1316736"/>
            <a:ext cx="2743200" cy="384048"/>
          </a:xfrm>
          <a:prstGeom prst="rect">
            <a:avLst/>
          </a:prstGeom>
          <a:noFill/>
          <a:ln/>
        </p:spPr>
        <p:txBody>
          <a:bodyPr wrap="square" rtlCol="0" anchor="ctr"/>
          <a:lstStyle/>
          <a:p>
            <a:pPr marL="0" indent="0">
              <a:buNone/>
            </a:pPr>
            <a:r>
              <a:rPr lang="en-US" sz="1050" dirty="0">
                <a:solidFill>
                  <a:srgbClr val="1A2B3C"/>
                </a:solidFill>
                <a:latin typeface="Calibri" pitchFamily="34" charset="0"/>
                <a:ea typeface="Calibri" pitchFamily="34" charset="-122"/>
                <a:cs typeface="Calibri" pitchFamily="34" charset="-120"/>
              </a:rPr>
              <a:t>1280 × 720 px (HD)</a:t>
            </a:r>
            <a:endParaRPr lang="en-US" sz="1050" dirty="0"/>
          </a:p>
        </p:txBody>
      </p:sp>
      <p:sp>
        <p:nvSpPr>
          <p:cNvPr id="9" name="Shape 7"/>
          <p:cNvSpPr/>
          <p:nvPr/>
        </p:nvSpPr>
        <p:spPr>
          <a:xfrm>
            <a:off x="320040" y="1746504"/>
            <a:ext cx="5486400" cy="420624"/>
          </a:xfrm>
          <a:prstGeom prst="rect">
            <a:avLst/>
          </a:prstGeom>
          <a:solidFill>
            <a:srgbClr val="FFFFFF"/>
          </a:solidFill>
          <a:ln w="6350">
            <a:solidFill>
              <a:srgbClr val="D0DDE8"/>
            </a:solidFill>
            <a:prstDash val="solid"/>
          </a:ln>
        </p:spPr>
      </p:sp>
      <p:sp>
        <p:nvSpPr>
          <p:cNvPr id="10" name="Text 8"/>
          <p:cNvSpPr/>
          <p:nvPr/>
        </p:nvSpPr>
        <p:spPr>
          <a:xfrm>
            <a:off x="411480" y="1764792"/>
            <a:ext cx="2560320" cy="384048"/>
          </a:xfrm>
          <a:prstGeom prst="rect">
            <a:avLst/>
          </a:prstGeom>
          <a:noFill/>
          <a:ln/>
        </p:spPr>
        <p:txBody>
          <a:bodyPr wrap="square" rtlCol="0" anchor="ctr"/>
          <a:lstStyle/>
          <a:p>
            <a:pPr marL="0" indent="0">
              <a:buNone/>
            </a:pPr>
            <a:r>
              <a:rPr lang="en-US" sz="1050" b="1" dirty="0">
                <a:solidFill>
                  <a:srgbClr val="1B6CA8"/>
                </a:solidFill>
                <a:latin typeface="Calibri" pitchFamily="34" charset="0"/>
                <a:ea typeface="Calibri" pitchFamily="34" charset="-122"/>
                <a:cs typeface="Calibri" pitchFamily="34" charset="-120"/>
              </a:rPr>
              <a:t>Frame Rate</a:t>
            </a:r>
            <a:endParaRPr lang="en-US" sz="1050" dirty="0"/>
          </a:p>
        </p:txBody>
      </p:sp>
      <p:sp>
        <p:nvSpPr>
          <p:cNvPr id="11" name="Text 9"/>
          <p:cNvSpPr/>
          <p:nvPr/>
        </p:nvSpPr>
        <p:spPr>
          <a:xfrm>
            <a:off x="3017520" y="1764792"/>
            <a:ext cx="2743200" cy="384048"/>
          </a:xfrm>
          <a:prstGeom prst="rect">
            <a:avLst/>
          </a:prstGeom>
          <a:noFill/>
          <a:ln/>
        </p:spPr>
        <p:txBody>
          <a:bodyPr wrap="square" rtlCol="0" anchor="ctr"/>
          <a:lstStyle/>
          <a:p>
            <a:pPr marL="0" indent="0">
              <a:buNone/>
            </a:pPr>
            <a:r>
              <a:rPr lang="en-US" sz="1050" dirty="0">
                <a:solidFill>
                  <a:srgbClr val="1A2B3C"/>
                </a:solidFill>
                <a:latin typeface="Calibri" pitchFamily="34" charset="0"/>
                <a:ea typeface="Calibri" pitchFamily="34" charset="-122"/>
                <a:cs typeface="Calibri" pitchFamily="34" charset="-120"/>
              </a:rPr>
              <a:t>30 fps</a:t>
            </a:r>
            <a:endParaRPr lang="en-US" sz="1050" dirty="0"/>
          </a:p>
        </p:txBody>
      </p:sp>
      <p:sp>
        <p:nvSpPr>
          <p:cNvPr id="12" name="Shape 10"/>
          <p:cNvSpPr/>
          <p:nvPr/>
        </p:nvSpPr>
        <p:spPr>
          <a:xfrm>
            <a:off x="320040" y="2194560"/>
            <a:ext cx="5486400" cy="420624"/>
          </a:xfrm>
          <a:prstGeom prst="rect">
            <a:avLst/>
          </a:prstGeom>
          <a:solidFill>
            <a:srgbClr val="EFF4FA"/>
          </a:solidFill>
          <a:ln w="6350">
            <a:solidFill>
              <a:srgbClr val="D0DDE8"/>
            </a:solidFill>
            <a:prstDash val="solid"/>
          </a:ln>
        </p:spPr>
      </p:sp>
      <p:sp>
        <p:nvSpPr>
          <p:cNvPr id="13" name="Text 11"/>
          <p:cNvSpPr/>
          <p:nvPr/>
        </p:nvSpPr>
        <p:spPr>
          <a:xfrm>
            <a:off x="411480" y="2212848"/>
            <a:ext cx="2560320" cy="384048"/>
          </a:xfrm>
          <a:prstGeom prst="rect">
            <a:avLst/>
          </a:prstGeom>
          <a:noFill/>
          <a:ln/>
        </p:spPr>
        <p:txBody>
          <a:bodyPr wrap="square" rtlCol="0" anchor="ctr"/>
          <a:lstStyle/>
          <a:p>
            <a:pPr marL="0" indent="0">
              <a:buNone/>
            </a:pPr>
            <a:r>
              <a:rPr lang="en-US" sz="1050" b="1" dirty="0">
                <a:solidFill>
                  <a:srgbClr val="1B6CA8"/>
                </a:solidFill>
                <a:latin typeface="Calibri" pitchFamily="34" charset="0"/>
                <a:ea typeface="Calibri" pitchFamily="34" charset="-122"/>
                <a:cs typeface="Calibri" pitchFamily="34" charset="-120"/>
              </a:rPr>
              <a:t>Clip Duration</a:t>
            </a:r>
            <a:endParaRPr lang="en-US" sz="1050" dirty="0"/>
          </a:p>
        </p:txBody>
      </p:sp>
      <p:sp>
        <p:nvSpPr>
          <p:cNvPr id="14" name="Text 12"/>
          <p:cNvSpPr/>
          <p:nvPr/>
        </p:nvSpPr>
        <p:spPr>
          <a:xfrm>
            <a:off x="3017520" y="2212848"/>
            <a:ext cx="2743200" cy="384048"/>
          </a:xfrm>
          <a:prstGeom prst="rect">
            <a:avLst/>
          </a:prstGeom>
          <a:noFill/>
          <a:ln/>
        </p:spPr>
        <p:txBody>
          <a:bodyPr wrap="square" rtlCol="0" anchor="ctr"/>
          <a:lstStyle/>
          <a:p>
            <a:pPr marL="0" indent="0">
              <a:buNone/>
            </a:pPr>
            <a:r>
              <a:rPr lang="en-US" sz="1050" dirty="0">
                <a:solidFill>
                  <a:srgbClr val="1A2B3C"/>
                </a:solidFill>
                <a:latin typeface="Calibri" pitchFamily="34" charset="0"/>
                <a:ea typeface="Calibri" pitchFamily="34" charset="-122"/>
                <a:cs typeface="Calibri" pitchFamily="34" charset="-120"/>
              </a:rPr>
              <a:t>10-second evaluation intervals</a:t>
            </a:r>
            <a:endParaRPr lang="en-US" sz="1050" dirty="0"/>
          </a:p>
        </p:txBody>
      </p:sp>
      <p:sp>
        <p:nvSpPr>
          <p:cNvPr id="15" name="Shape 13"/>
          <p:cNvSpPr/>
          <p:nvPr/>
        </p:nvSpPr>
        <p:spPr>
          <a:xfrm>
            <a:off x="320040" y="2642616"/>
            <a:ext cx="5486400" cy="420624"/>
          </a:xfrm>
          <a:prstGeom prst="rect">
            <a:avLst/>
          </a:prstGeom>
          <a:solidFill>
            <a:srgbClr val="FFFFFF"/>
          </a:solidFill>
          <a:ln w="6350">
            <a:solidFill>
              <a:srgbClr val="D0DDE8"/>
            </a:solidFill>
            <a:prstDash val="solid"/>
          </a:ln>
        </p:spPr>
      </p:sp>
      <p:sp>
        <p:nvSpPr>
          <p:cNvPr id="16" name="Text 14"/>
          <p:cNvSpPr/>
          <p:nvPr/>
        </p:nvSpPr>
        <p:spPr>
          <a:xfrm>
            <a:off x="411480" y="2660904"/>
            <a:ext cx="2560320" cy="384048"/>
          </a:xfrm>
          <a:prstGeom prst="rect">
            <a:avLst/>
          </a:prstGeom>
          <a:noFill/>
          <a:ln/>
        </p:spPr>
        <p:txBody>
          <a:bodyPr wrap="square" rtlCol="0" anchor="ctr"/>
          <a:lstStyle/>
          <a:p>
            <a:pPr marL="0" indent="0">
              <a:buNone/>
            </a:pPr>
            <a:r>
              <a:rPr lang="en-US" sz="1050" b="1" dirty="0">
                <a:solidFill>
                  <a:srgbClr val="1B6CA8"/>
                </a:solidFill>
                <a:latin typeface="Calibri" pitchFamily="34" charset="0"/>
                <a:ea typeface="Calibri" pitchFamily="34" charset="-122"/>
                <a:cs typeface="Calibri" pitchFamily="34" charset="-120"/>
              </a:rPr>
              <a:t>Engagement Classes</a:t>
            </a:r>
            <a:endParaRPr lang="en-US" sz="1050" dirty="0"/>
          </a:p>
        </p:txBody>
      </p:sp>
      <p:sp>
        <p:nvSpPr>
          <p:cNvPr id="17" name="Text 15"/>
          <p:cNvSpPr/>
          <p:nvPr/>
        </p:nvSpPr>
        <p:spPr>
          <a:xfrm>
            <a:off x="3017520" y="2660904"/>
            <a:ext cx="2743200" cy="384048"/>
          </a:xfrm>
          <a:prstGeom prst="rect">
            <a:avLst/>
          </a:prstGeom>
          <a:noFill/>
          <a:ln/>
        </p:spPr>
        <p:txBody>
          <a:bodyPr wrap="square" rtlCol="0" anchor="ctr"/>
          <a:lstStyle/>
          <a:p>
            <a:pPr marL="0" indent="0">
              <a:buNone/>
            </a:pPr>
            <a:r>
              <a:rPr lang="en-US" sz="1050" dirty="0">
                <a:solidFill>
                  <a:srgbClr val="1A2B3C"/>
                </a:solidFill>
                <a:latin typeface="Calibri" pitchFamily="34" charset="0"/>
                <a:ea typeface="Calibri" pitchFamily="34" charset="-122"/>
                <a:cs typeface="Calibri" pitchFamily="34" charset="-120"/>
              </a:rPr>
              <a:t>3 ordinal levels: High / Medium / Low</a:t>
            </a:r>
            <a:endParaRPr lang="en-US" sz="1050" dirty="0"/>
          </a:p>
        </p:txBody>
      </p:sp>
      <p:sp>
        <p:nvSpPr>
          <p:cNvPr id="18" name="Shape 16"/>
          <p:cNvSpPr/>
          <p:nvPr/>
        </p:nvSpPr>
        <p:spPr>
          <a:xfrm>
            <a:off x="320040" y="3090672"/>
            <a:ext cx="5486400" cy="420624"/>
          </a:xfrm>
          <a:prstGeom prst="rect">
            <a:avLst/>
          </a:prstGeom>
          <a:solidFill>
            <a:srgbClr val="EFF4FA"/>
          </a:solidFill>
          <a:ln w="6350">
            <a:solidFill>
              <a:srgbClr val="D0DDE8"/>
            </a:solidFill>
            <a:prstDash val="solid"/>
          </a:ln>
        </p:spPr>
      </p:sp>
      <p:sp>
        <p:nvSpPr>
          <p:cNvPr id="19" name="Text 17"/>
          <p:cNvSpPr/>
          <p:nvPr/>
        </p:nvSpPr>
        <p:spPr>
          <a:xfrm>
            <a:off x="411480" y="3108960"/>
            <a:ext cx="2560320" cy="384048"/>
          </a:xfrm>
          <a:prstGeom prst="rect">
            <a:avLst/>
          </a:prstGeom>
          <a:noFill/>
          <a:ln/>
        </p:spPr>
        <p:txBody>
          <a:bodyPr wrap="square" rtlCol="0" anchor="ctr"/>
          <a:lstStyle/>
          <a:p>
            <a:pPr marL="0" indent="0">
              <a:buNone/>
            </a:pPr>
            <a:r>
              <a:rPr lang="en-US" sz="1050" b="1" dirty="0">
                <a:solidFill>
                  <a:srgbClr val="1B6CA8"/>
                </a:solidFill>
                <a:latin typeface="Calibri" pitchFamily="34" charset="0"/>
                <a:ea typeface="Calibri" pitchFamily="34" charset="-122"/>
                <a:cs typeface="Calibri" pitchFamily="34" charset="-120"/>
              </a:rPr>
              <a:t>Annotation</a:t>
            </a:r>
            <a:endParaRPr lang="en-US" sz="1050" dirty="0"/>
          </a:p>
        </p:txBody>
      </p:sp>
      <p:sp>
        <p:nvSpPr>
          <p:cNvPr id="20" name="Text 18"/>
          <p:cNvSpPr/>
          <p:nvPr/>
        </p:nvSpPr>
        <p:spPr>
          <a:xfrm>
            <a:off x="3017520" y="3108960"/>
            <a:ext cx="2743200" cy="384048"/>
          </a:xfrm>
          <a:prstGeom prst="rect">
            <a:avLst/>
          </a:prstGeom>
          <a:noFill/>
          <a:ln/>
        </p:spPr>
        <p:txBody>
          <a:bodyPr wrap="square" rtlCol="0" anchor="ctr"/>
          <a:lstStyle/>
          <a:p>
            <a:pPr marL="0" indent="0">
              <a:buNone/>
            </a:pPr>
            <a:r>
              <a:rPr lang="en-US" sz="1050" dirty="0">
                <a:solidFill>
                  <a:srgbClr val="1A2B3C"/>
                </a:solidFill>
                <a:latin typeface="Calibri" pitchFamily="34" charset="0"/>
                <a:ea typeface="Calibri" pitchFamily="34" charset="-122"/>
                <a:cs typeface="Calibri" pitchFamily="34" charset="-120"/>
              </a:rPr>
              <a:t>Expert pedagogical annotators</a:t>
            </a:r>
            <a:endParaRPr lang="en-US" sz="1050" dirty="0"/>
          </a:p>
        </p:txBody>
      </p:sp>
      <p:sp>
        <p:nvSpPr>
          <p:cNvPr id="21" name="Shape 19"/>
          <p:cNvSpPr/>
          <p:nvPr/>
        </p:nvSpPr>
        <p:spPr>
          <a:xfrm>
            <a:off x="320040" y="3538728"/>
            <a:ext cx="5486400" cy="420624"/>
          </a:xfrm>
          <a:prstGeom prst="rect">
            <a:avLst/>
          </a:prstGeom>
          <a:solidFill>
            <a:srgbClr val="FFFFFF"/>
          </a:solidFill>
          <a:ln w="6350">
            <a:solidFill>
              <a:srgbClr val="D0DDE8"/>
            </a:solidFill>
            <a:prstDash val="solid"/>
          </a:ln>
        </p:spPr>
      </p:sp>
      <p:sp>
        <p:nvSpPr>
          <p:cNvPr id="22" name="Text 20"/>
          <p:cNvSpPr/>
          <p:nvPr/>
        </p:nvSpPr>
        <p:spPr>
          <a:xfrm>
            <a:off x="411480" y="3557016"/>
            <a:ext cx="2560320" cy="384048"/>
          </a:xfrm>
          <a:prstGeom prst="rect">
            <a:avLst/>
          </a:prstGeom>
          <a:noFill/>
          <a:ln/>
        </p:spPr>
        <p:txBody>
          <a:bodyPr wrap="square" rtlCol="0" anchor="ctr"/>
          <a:lstStyle/>
          <a:p>
            <a:pPr marL="0" indent="0">
              <a:buNone/>
            </a:pPr>
            <a:r>
              <a:rPr lang="en-US" sz="1050" b="1" dirty="0">
                <a:solidFill>
                  <a:srgbClr val="1B6CA8"/>
                </a:solidFill>
                <a:latin typeface="Calibri" pitchFamily="34" charset="0"/>
                <a:ea typeface="Calibri" pitchFamily="34" charset="-122"/>
                <a:cs typeface="Calibri" pitchFamily="34" charset="-120"/>
              </a:rPr>
              <a:t>Scene Type</a:t>
            </a:r>
            <a:endParaRPr lang="en-US" sz="1050" dirty="0"/>
          </a:p>
        </p:txBody>
      </p:sp>
      <p:sp>
        <p:nvSpPr>
          <p:cNvPr id="23" name="Text 21"/>
          <p:cNvSpPr/>
          <p:nvPr/>
        </p:nvSpPr>
        <p:spPr>
          <a:xfrm>
            <a:off x="3017520" y="3557016"/>
            <a:ext cx="2743200" cy="384048"/>
          </a:xfrm>
          <a:prstGeom prst="rect">
            <a:avLst/>
          </a:prstGeom>
          <a:noFill/>
          <a:ln/>
        </p:spPr>
        <p:txBody>
          <a:bodyPr wrap="square" rtlCol="0" anchor="ctr"/>
          <a:lstStyle/>
          <a:p>
            <a:pPr marL="0" indent="0">
              <a:buNone/>
            </a:pPr>
            <a:r>
              <a:rPr lang="en-US" sz="1050" dirty="0">
                <a:solidFill>
                  <a:srgbClr val="1A2B3C"/>
                </a:solidFill>
                <a:latin typeface="Calibri" pitchFamily="34" charset="0"/>
                <a:ea typeface="Calibri" pitchFamily="34" charset="-122"/>
                <a:cs typeface="Calibri" pitchFamily="34" charset="-120"/>
              </a:rPr>
              <a:t>Active unscripted classrooms (group tasks, tutorials)</a:t>
            </a:r>
            <a:endParaRPr lang="en-US" sz="1050" dirty="0"/>
          </a:p>
        </p:txBody>
      </p:sp>
      <p:sp>
        <p:nvSpPr>
          <p:cNvPr id="24" name="Shape 22"/>
          <p:cNvSpPr/>
          <p:nvPr/>
        </p:nvSpPr>
        <p:spPr>
          <a:xfrm>
            <a:off x="320040" y="3986784"/>
            <a:ext cx="5486400" cy="420624"/>
          </a:xfrm>
          <a:prstGeom prst="rect">
            <a:avLst/>
          </a:prstGeom>
          <a:solidFill>
            <a:srgbClr val="EFF4FA"/>
          </a:solidFill>
          <a:ln w="6350">
            <a:solidFill>
              <a:srgbClr val="D0DDE8"/>
            </a:solidFill>
            <a:prstDash val="solid"/>
          </a:ln>
        </p:spPr>
      </p:sp>
      <p:sp>
        <p:nvSpPr>
          <p:cNvPr id="25" name="Text 23"/>
          <p:cNvSpPr/>
          <p:nvPr/>
        </p:nvSpPr>
        <p:spPr>
          <a:xfrm>
            <a:off x="411480" y="4005072"/>
            <a:ext cx="2560320" cy="384048"/>
          </a:xfrm>
          <a:prstGeom prst="rect">
            <a:avLst/>
          </a:prstGeom>
          <a:noFill/>
          <a:ln/>
        </p:spPr>
        <p:txBody>
          <a:bodyPr wrap="square" rtlCol="0" anchor="ctr"/>
          <a:lstStyle/>
          <a:p>
            <a:pPr marL="0" indent="0">
              <a:buNone/>
            </a:pPr>
            <a:r>
              <a:rPr lang="en-US" sz="1050" b="1" dirty="0">
                <a:solidFill>
                  <a:srgbClr val="1B6CA8"/>
                </a:solidFill>
                <a:latin typeface="Calibri" pitchFamily="34" charset="0"/>
                <a:ea typeface="Calibri" pitchFamily="34" charset="-122"/>
                <a:cs typeface="Calibri" pitchFamily="34" charset="-120"/>
              </a:rPr>
              <a:t>Camera Modality</a:t>
            </a:r>
            <a:endParaRPr lang="en-US" sz="1050" dirty="0"/>
          </a:p>
        </p:txBody>
      </p:sp>
      <p:sp>
        <p:nvSpPr>
          <p:cNvPr id="26" name="Text 24"/>
          <p:cNvSpPr/>
          <p:nvPr/>
        </p:nvSpPr>
        <p:spPr>
          <a:xfrm>
            <a:off x="3017520" y="4005072"/>
            <a:ext cx="2743200" cy="384048"/>
          </a:xfrm>
          <a:prstGeom prst="rect">
            <a:avLst/>
          </a:prstGeom>
          <a:noFill/>
          <a:ln/>
        </p:spPr>
        <p:txBody>
          <a:bodyPr wrap="square" rtlCol="0" anchor="ctr"/>
          <a:lstStyle/>
          <a:p>
            <a:pPr marL="0" indent="0">
              <a:buNone/>
            </a:pPr>
            <a:r>
              <a:rPr lang="en-US" sz="1050" dirty="0">
                <a:solidFill>
                  <a:srgbClr val="1A2B3C"/>
                </a:solidFill>
                <a:latin typeface="Calibri" pitchFamily="34" charset="0"/>
                <a:ea typeface="Calibri" pitchFamily="34" charset="-122"/>
                <a:cs typeface="Calibri" pitchFamily="34" charset="-120"/>
              </a:rPr>
              <a:t>RGB video — wide-angle group capture</a:t>
            </a:r>
            <a:endParaRPr lang="en-US" sz="1050" dirty="0"/>
          </a:p>
        </p:txBody>
      </p:sp>
      <p:sp>
        <p:nvSpPr>
          <p:cNvPr id="27" name="Shape 25"/>
          <p:cNvSpPr/>
          <p:nvPr/>
        </p:nvSpPr>
        <p:spPr>
          <a:xfrm>
            <a:off x="320040" y="4434840"/>
            <a:ext cx="5486400" cy="420624"/>
          </a:xfrm>
          <a:prstGeom prst="rect">
            <a:avLst/>
          </a:prstGeom>
          <a:solidFill>
            <a:srgbClr val="FFFFFF"/>
          </a:solidFill>
          <a:ln w="6350">
            <a:solidFill>
              <a:srgbClr val="D0DDE8"/>
            </a:solidFill>
            <a:prstDash val="solid"/>
          </a:ln>
        </p:spPr>
      </p:sp>
      <p:sp>
        <p:nvSpPr>
          <p:cNvPr id="28" name="Text 26"/>
          <p:cNvSpPr/>
          <p:nvPr/>
        </p:nvSpPr>
        <p:spPr>
          <a:xfrm>
            <a:off x="411480" y="4453128"/>
            <a:ext cx="2560320" cy="384048"/>
          </a:xfrm>
          <a:prstGeom prst="rect">
            <a:avLst/>
          </a:prstGeom>
          <a:noFill/>
          <a:ln/>
        </p:spPr>
        <p:txBody>
          <a:bodyPr wrap="square" rtlCol="0" anchor="ctr"/>
          <a:lstStyle/>
          <a:p>
            <a:pPr marL="0" indent="0">
              <a:buNone/>
            </a:pPr>
            <a:r>
              <a:rPr lang="en-US" sz="1050" b="1" dirty="0">
                <a:solidFill>
                  <a:srgbClr val="1B6CA8"/>
                </a:solidFill>
                <a:latin typeface="Calibri" pitchFamily="34" charset="0"/>
                <a:ea typeface="Calibri" pitchFamily="34" charset="-122"/>
                <a:cs typeface="Calibri" pitchFamily="34" charset="-120"/>
              </a:rPr>
              <a:t>Availability</a:t>
            </a:r>
            <a:endParaRPr lang="en-US" sz="1050" dirty="0"/>
          </a:p>
        </p:txBody>
      </p:sp>
      <p:sp>
        <p:nvSpPr>
          <p:cNvPr id="29" name="Text 27"/>
          <p:cNvSpPr/>
          <p:nvPr/>
        </p:nvSpPr>
        <p:spPr>
          <a:xfrm>
            <a:off x="3017520" y="4453128"/>
            <a:ext cx="2743200" cy="384048"/>
          </a:xfrm>
          <a:prstGeom prst="rect">
            <a:avLst/>
          </a:prstGeom>
          <a:noFill/>
          <a:ln/>
        </p:spPr>
        <p:txBody>
          <a:bodyPr wrap="square" rtlCol="0" anchor="ctr"/>
          <a:lstStyle/>
          <a:p>
            <a:pPr marL="0" indent="0">
              <a:buNone/>
            </a:pPr>
            <a:r>
              <a:rPr lang="en-US" sz="1050" dirty="0">
                <a:solidFill>
                  <a:srgbClr val="1A2B3C"/>
                </a:solidFill>
                <a:latin typeface="Calibri" pitchFamily="34" charset="0"/>
                <a:ea typeface="Calibri" pitchFamily="34" charset="-122"/>
                <a:cs typeface="Calibri" pitchFamily="34" charset="-120"/>
              </a:rPr>
              <a:t>Publicly released</a:t>
            </a:r>
            <a:endParaRPr lang="en-US" sz="1050" dirty="0"/>
          </a:p>
        </p:txBody>
      </p:sp>
      <p:sp>
        <p:nvSpPr>
          <p:cNvPr id="30" name="Shape 28"/>
          <p:cNvSpPr/>
          <p:nvPr/>
        </p:nvSpPr>
        <p:spPr>
          <a:xfrm>
            <a:off x="320040" y="4882896"/>
            <a:ext cx="5486400" cy="420624"/>
          </a:xfrm>
          <a:prstGeom prst="rect">
            <a:avLst/>
          </a:prstGeom>
          <a:solidFill>
            <a:srgbClr val="EFF4FA"/>
          </a:solidFill>
          <a:ln w="6350">
            <a:solidFill>
              <a:srgbClr val="D0DDE8"/>
            </a:solidFill>
            <a:prstDash val="solid"/>
          </a:ln>
        </p:spPr>
      </p:sp>
      <p:sp>
        <p:nvSpPr>
          <p:cNvPr id="31" name="Text 29"/>
          <p:cNvSpPr/>
          <p:nvPr/>
        </p:nvSpPr>
        <p:spPr>
          <a:xfrm>
            <a:off x="411480" y="4901184"/>
            <a:ext cx="2560320" cy="384048"/>
          </a:xfrm>
          <a:prstGeom prst="rect">
            <a:avLst/>
          </a:prstGeom>
          <a:noFill/>
          <a:ln/>
        </p:spPr>
        <p:txBody>
          <a:bodyPr wrap="square" rtlCol="0" anchor="ctr"/>
          <a:lstStyle/>
          <a:p>
            <a:pPr marL="0" indent="0">
              <a:buNone/>
            </a:pPr>
            <a:r>
              <a:rPr lang="en-US" sz="1050" b="1" dirty="0">
                <a:solidFill>
                  <a:srgbClr val="1B6CA8"/>
                </a:solidFill>
                <a:latin typeface="Calibri" pitchFamily="34" charset="0"/>
                <a:ea typeface="Calibri" pitchFamily="34" charset="-122"/>
                <a:cs typeface="Calibri" pitchFamily="34" charset="-120"/>
              </a:rPr>
              <a:t>Publication Venue</a:t>
            </a:r>
            <a:endParaRPr lang="en-US" sz="1050" dirty="0"/>
          </a:p>
        </p:txBody>
      </p:sp>
      <p:sp>
        <p:nvSpPr>
          <p:cNvPr id="32" name="Text 30"/>
          <p:cNvSpPr/>
          <p:nvPr/>
        </p:nvSpPr>
        <p:spPr>
          <a:xfrm>
            <a:off x="3017520" y="4901184"/>
            <a:ext cx="2743200" cy="384048"/>
          </a:xfrm>
          <a:prstGeom prst="rect">
            <a:avLst/>
          </a:prstGeom>
          <a:noFill/>
          <a:ln/>
        </p:spPr>
        <p:txBody>
          <a:bodyPr wrap="square" rtlCol="0" anchor="ctr"/>
          <a:lstStyle/>
          <a:p>
            <a:pPr marL="0" indent="0">
              <a:buNone/>
            </a:pPr>
            <a:r>
              <a:rPr lang="en-US" sz="1050" dirty="0">
                <a:solidFill>
                  <a:srgbClr val="1A2B3C"/>
                </a:solidFill>
                <a:latin typeface="Calibri" pitchFamily="34" charset="0"/>
                <a:ea typeface="Calibri" pitchFamily="34" charset="-122"/>
                <a:cs typeface="Calibri" pitchFamily="34" charset="-120"/>
              </a:rPr>
              <a:t>Scientific Data (Nature), 2025</a:t>
            </a:r>
            <a:endParaRPr lang="en-US" sz="1050" dirty="0"/>
          </a:p>
        </p:txBody>
      </p:sp>
      <p:sp>
        <p:nvSpPr>
          <p:cNvPr id="33" name="Shape 31"/>
          <p:cNvSpPr/>
          <p:nvPr/>
        </p:nvSpPr>
        <p:spPr>
          <a:xfrm>
            <a:off x="320040" y="5330952"/>
            <a:ext cx="5486400" cy="420624"/>
          </a:xfrm>
          <a:prstGeom prst="rect">
            <a:avLst/>
          </a:prstGeom>
          <a:solidFill>
            <a:srgbClr val="FFFFFF"/>
          </a:solidFill>
          <a:ln w="6350">
            <a:solidFill>
              <a:srgbClr val="D0DDE8"/>
            </a:solidFill>
            <a:prstDash val="solid"/>
          </a:ln>
        </p:spPr>
      </p:sp>
      <p:sp>
        <p:nvSpPr>
          <p:cNvPr id="34" name="Text 32"/>
          <p:cNvSpPr/>
          <p:nvPr/>
        </p:nvSpPr>
        <p:spPr>
          <a:xfrm>
            <a:off x="411480" y="5349240"/>
            <a:ext cx="2560320" cy="384048"/>
          </a:xfrm>
          <a:prstGeom prst="rect">
            <a:avLst/>
          </a:prstGeom>
          <a:noFill/>
          <a:ln/>
        </p:spPr>
        <p:txBody>
          <a:bodyPr wrap="square" rtlCol="0" anchor="ctr"/>
          <a:lstStyle/>
          <a:p>
            <a:pPr marL="0" indent="0">
              <a:buNone/>
            </a:pPr>
            <a:r>
              <a:rPr lang="en-US" sz="1050" b="1" dirty="0">
                <a:solidFill>
                  <a:srgbClr val="1B6CA8"/>
                </a:solidFill>
                <a:latin typeface="Calibri" pitchFamily="34" charset="0"/>
                <a:ea typeface="Calibri" pitchFamily="34" charset="-122"/>
                <a:cs typeface="Calibri" pitchFamily="34" charset="-120"/>
              </a:rPr>
              <a:t>DOI</a:t>
            </a:r>
            <a:endParaRPr lang="en-US" sz="1050" dirty="0"/>
          </a:p>
        </p:txBody>
      </p:sp>
      <p:sp>
        <p:nvSpPr>
          <p:cNvPr id="35" name="Text 33"/>
          <p:cNvSpPr/>
          <p:nvPr/>
        </p:nvSpPr>
        <p:spPr>
          <a:xfrm>
            <a:off x="3017520" y="5349240"/>
            <a:ext cx="2743200" cy="384048"/>
          </a:xfrm>
          <a:prstGeom prst="rect">
            <a:avLst/>
          </a:prstGeom>
          <a:noFill/>
          <a:ln/>
        </p:spPr>
        <p:txBody>
          <a:bodyPr wrap="square" rtlCol="0" anchor="ctr"/>
          <a:lstStyle/>
          <a:p>
            <a:pPr marL="0" indent="0">
              <a:buNone/>
            </a:pPr>
            <a:r>
              <a:rPr lang="en-US" sz="1050" dirty="0">
                <a:solidFill>
                  <a:srgbClr val="1A2B3C"/>
                </a:solidFill>
                <a:latin typeface="Calibri" pitchFamily="34" charset="0"/>
                <a:ea typeface="Calibri" pitchFamily="34" charset="-122"/>
                <a:cs typeface="Calibri" pitchFamily="34" charset="-120"/>
              </a:rPr>
              <a:t>10.1038/s41597-025-04987-w</a:t>
            </a:r>
            <a:endParaRPr lang="en-US" sz="1050" dirty="0"/>
          </a:p>
        </p:txBody>
      </p:sp>
      <p:sp>
        <p:nvSpPr>
          <p:cNvPr id="36" name="Text 34"/>
          <p:cNvSpPr/>
          <p:nvPr/>
        </p:nvSpPr>
        <p:spPr>
          <a:xfrm>
            <a:off x="6400800" y="1298448"/>
            <a:ext cx="5486400" cy="347472"/>
          </a:xfrm>
          <a:prstGeom prst="rect">
            <a:avLst/>
          </a:prstGeom>
          <a:noFill/>
          <a:ln/>
        </p:spPr>
        <p:txBody>
          <a:bodyPr wrap="square" rtlCol="0" anchor="ctr"/>
          <a:lstStyle/>
          <a:p>
            <a:pPr marL="0" indent="0">
              <a:buNone/>
            </a:pPr>
            <a:r>
              <a:rPr lang="en-US" sz="1400" b="1" dirty="0">
                <a:solidFill>
                  <a:srgbClr val="1A2B3C"/>
                </a:solidFill>
                <a:latin typeface="Cambria" pitchFamily="34" charset="0"/>
                <a:ea typeface="Cambria" pitchFamily="34" charset="-122"/>
                <a:cs typeface="Cambria" pitchFamily="34" charset="-120"/>
              </a:rPr>
              <a:t>Baseline Model Performance on OUC-CGE</a:t>
            </a:r>
            <a:endParaRPr lang="en-US" sz="14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400800" y="1719072"/>
          <a:ext cx="5486400" cy="1249680"/>
        </p:xfrm>
        <a:graphic>
          <a:graphicData uri="http://schemas.openxmlformats.org/drawingml/2006/table">
            <a:tbl>
              <a:tblPr/>
              <a:tblGrid>
                <a:gridCol w="2194560">
                  <a:extLst>
                    <a:ext uri="{9D8B030D-6E8A-4147-A177-3AD203B41FA5}">
                      <a16:colId xmlns:a16="http://schemas.microsoft.com/office/drawing/2014/main" val="20000"/>
                    </a:ext>
                  </a:extLst>
                </a:gridCol>
                <a:gridCol w="804672">
                  <a:extLst>
                    <a:ext uri="{9D8B030D-6E8A-4147-A177-3AD203B41FA5}">
                      <a16:colId xmlns:a16="http://schemas.microsoft.com/office/drawing/2014/main" val="20001"/>
                    </a:ext>
                  </a:extLst>
                </a:gridCol>
                <a:gridCol w="841248">
                  <a:extLst>
                    <a:ext uri="{9D8B030D-6E8A-4147-A177-3AD203B41FA5}">
                      <a16:colId xmlns:a16="http://schemas.microsoft.com/office/drawing/2014/main" val="20002"/>
                    </a:ext>
                  </a:extLst>
                </a:gridCol>
                <a:gridCol w="713232">
                  <a:extLst>
                    <a:ext uri="{9D8B030D-6E8A-4147-A177-3AD203B41FA5}">
                      <a16:colId xmlns:a16="http://schemas.microsoft.com/office/drawing/2014/main" val="20003"/>
                    </a:ext>
                  </a:extLst>
                </a:gridCol>
                <a:gridCol w="932688">
                  <a:extLst>
                    <a:ext uri="{9D8B030D-6E8A-4147-A177-3AD203B41FA5}">
                      <a16:colId xmlns:a16="http://schemas.microsoft.com/office/drawing/2014/main" val="20004"/>
                    </a:ext>
                  </a:extLst>
                </a:gridCol>
              </a:tblGrid>
              <a:tr h="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Acc %</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Recall %</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F1 %</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0D1B2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AUC</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0D1B2A"/>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000000"/>
                          </a:solidFill>
                        </a:rPr>
                        <a:t>C2D</a:t>
                      </a:r>
                      <a:endParaRPr lang="en-US" sz="1200" dirty="0"/>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SlowFast</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93.2</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92.9</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92.8</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99.1</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FF4FA"/>
                    </a:solidFill>
                  </a:tcPr>
                </a:tc>
                <a:extLst>
                  <a:ext uri="{0D108BD9-81ED-4DB2-BD59-A6C34878D82A}">
                    <a16:rowId xmlns:a16="http://schemas.microsoft.com/office/drawing/2014/main" val="10002"/>
                  </a:ext>
                </a:extLst>
              </a:tr>
              <a:tr h="0">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I3D (Best Baseline)</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1000" b="1" dirty="0">
                          <a:solidFill>
                            <a:srgbClr val="1B6CA8"/>
                          </a:solidFill>
                          <a:latin typeface="Calibri" pitchFamily="34" charset="0"/>
                          <a:ea typeface="Calibri" pitchFamily="34" charset="-122"/>
                          <a:cs typeface="Calibri" pitchFamily="34" charset="-120"/>
                        </a:rPr>
                        <a:t>94.3</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tc>
                  <a:txBody>
                    <a:bodyPr/>
                    <a:lstStyle/>
                    <a:p>
                      <a:pPr marL="0" indent="0" algn="ctr">
                        <a:buNone/>
                      </a:pPr>
                      <a:r>
                        <a:rPr lang="en-US" sz="1000" dirty="0">
                          <a:solidFill>
                            <a:srgbClr val="00000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00" b="1" dirty="0">
                          <a:solidFill>
                            <a:srgbClr val="000000"/>
                          </a:solidFill>
                          <a:latin typeface="Calibri" pitchFamily="34" charset="0"/>
                          <a:ea typeface="Calibri" pitchFamily="34" charset="-122"/>
                          <a:cs typeface="Calibri" pitchFamily="34" charset="-120"/>
                        </a:rPr>
                        <a:t>EED (Nie &amp; Wang '26)</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8F5E9"/>
                    </a:solidFill>
                  </a:tcPr>
                </a:tc>
                <a:tc>
                  <a:txBody>
                    <a:bodyPr/>
                    <a:lstStyle/>
                    <a:p>
                      <a:pPr marL="0" indent="0" algn="ctr">
                        <a:buNone/>
                      </a:pPr>
                      <a:r>
                        <a:rPr lang="en-US" sz="1000" b="1" dirty="0">
                          <a:solidFill>
                            <a:srgbClr val="1A7A4A"/>
                          </a:solidFill>
                          <a:latin typeface="Calibri" pitchFamily="34" charset="0"/>
                          <a:ea typeface="Calibri" pitchFamily="34" charset="-122"/>
                          <a:cs typeface="Calibri" pitchFamily="34" charset="-120"/>
                        </a:rPr>
                        <a:t>98.5</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8F5E9"/>
                    </a:solidFill>
                  </a:tcPr>
                </a:tc>
                <a:tc>
                  <a:txBody>
                    <a:bodyPr/>
                    <a:lstStyle/>
                    <a:p>
                      <a:pPr marL="0" indent="0" algn="ctr">
                        <a:buNone/>
                      </a:pPr>
                      <a:r>
                        <a:rPr lang="en-US" sz="1000" b="1" dirty="0">
                          <a:solidFill>
                            <a:srgbClr val="1A7A4A"/>
                          </a:solidFill>
                          <a:latin typeface="Calibri" pitchFamily="34" charset="0"/>
                          <a:ea typeface="Calibri" pitchFamily="34" charset="-122"/>
                          <a:cs typeface="Calibri" pitchFamily="34" charset="-120"/>
                        </a:rPr>
                        <a:t>98.1</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8F5E9"/>
                    </a:solidFill>
                  </a:tcPr>
                </a:tc>
                <a:tc>
                  <a:txBody>
                    <a:bodyPr/>
                    <a:lstStyle/>
                    <a:p>
                      <a:pPr marL="0" indent="0" algn="ctr">
                        <a:buNone/>
                      </a:pPr>
                      <a:r>
                        <a:rPr lang="en-US" sz="1000" b="1" dirty="0">
                          <a:solidFill>
                            <a:srgbClr val="1A7A4A"/>
                          </a:solidFill>
                          <a:latin typeface="Calibri" pitchFamily="34" charset="0"/>
                          <a:ea typeface="Calibri" pitchFamily="34" charset="-122"/>
                          <a:cs typeface="Calibri" pitchFamily="34" charset="-120"/>
                        </a:rPr>
                        <a:t>98.3</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8F5E9"/>
                    </a:solidFill>
                  </a:tcPr>
                </a:tc>
                <a:tc>
                  <a:txBody>
                    <a:bodyPr/>
                    <a:lstStyle/>
                    <a:p>
                      <a:pPr marL="0" indent="0" algn="ctr">
                        <a:buNone/>
                      </a:pPr>
                      <a:r>
                        <a:rPr lang="en-US" sz="1000" b="1" dirty="0">
                          <a:solidFill>
                            <a:srgbClr val="1A7A4A"/>
                          </a:solidFill>
                          <a:latin typeface="Calibri" pitchFamily="34" charset="0"/>
                          <a:ea typeface="Calibri" pitchFamily="34" charset="-122"/>
                          <a:cs typeface="Calibri" pitchFamily="34" charset="-120"/>
                        </a:rPr>
                        <a:t>0.984</a:t>
                      </a:r>
                      <a:endParaRPr lang="en-US" sz="1000" dirty="0">
                        <a:latin typeface="Calibri" charset="0"/>
                        <a:ea typeface="Calibri" charset="0"/>
                        <a:cs typeface="Calibri" charset="0"/>
                      </a:endParaRPr>
                    </a:p>
                  </a:txBody>
                  <a:tcPr>
                    <a:lnL w="6350" cap="flat" cmpd="sng" algn="ctr">
                      <a:solidFill>
                        <a:srgbClr val="C5D5E4"/>
                      </a:solidFill>
                      <a:prstDash val="solid"/>
                      <a:round/>
                      <a:headEnd type="none" w="med" len="med"/>
                      <a:tailEnd type="none" w="med" len="med"/>
                    </a:lnL>
                    <a:lnR w="6350" cap="flat" cmpd="sng" algn="ctr">
                      <a:solidFill>
                        <a:srgbClr val="C5D5E4"/>
                      </a:solidFill>
                      <a:prstDash val="solid"/>
                      <a:round/>
                      <a:headEnd type="none" w="med" len="med"/>
                      <a:tailEnd type="none" w="med" len="med"/>
                    </a:lnR>
                    <a:lnT w="6350" cap="flat" cmpd="sng" algn="ctr">
                      <a:solidFill>
                        <a:srgbClr val="C5D5E4"/>
                      </a:solidFill>
                      <a:prstDash val="solid"/>
                      <a:round/>
                      <a:headEnd type="none" w="med" len="med"/>
                      <a:tailEnd type="none" w="med" len="med"/>
                    </a:lnT>
                    <a:lnB w="6350" cap="flat" cmpd="sng" algn="ctr">
                      <a:solidFill>
                        <a:srgbClr val="C5D5E4"/>
                      </a:solidFill>
                      <a:prstDash val="solid"/>
                      <a:round/>
                      <a:headEnd type="none" w="med" len="med"/>
                      <a:tailEnd type="none" w="med" len="med"/>
                    </a:lnB>
                    <a:solidFill>
                      <a:srgbClr val="E8F5E9"/>
                    </a:solidFill>
                  </a:tcPr>
                </a:tc>
                <a:extLst>
                  <a:ext uri="{0D108BD9-81ED-4DB2-BD59-A6C34878D82A}">
                    <a16:rowId xmlns:a16="http://schemas.microsoft.com/office/drawing/2014/main" val="10004"/>
                  </a:ext>
                </a:extLst>
              </a:tr>
            </a:tbl>
          </a:graphicData>
        </a:graphic>
      </p:graphicFrame>
      <p:sp>
        <p:nvSpPr>
          <p:cNvPr id="38" name="Text 35"/>
          <p:cNvSpPr/>
          <p:nvPr/>
        </p:nvSpPr>
        <p:spPr>
          <a:xfrm>
            <a:off x="6400800" y="4572000"/>
            <a:ext cx="5486400" cy="457200"/>
          </a:xfrm>
          <a:prstGeom prst="rect">
            <a:avLst/>
          </a:prstGeom>
          <a:noFill/>
          <a:ln/>
        </p:spPr>
        <p:txBody>
          <a:bodyPr wrap="square" rtlCol="0" anchor="ctr"/>
          <a:lstStyle/>
          <a:p>
            <a:pPr marL="0" indent="0">
              <a:buNone/>
            </a:pPr>
            <a:r>
              <a:rPr lang="en-US" sz="1050" b="1" i="1" dirty="0">
                <a:solidFill>
                  <a:srgbClr val="1B6CA8"/>
                </a:solidFill>
                <a:latin typeface="Calibri" pitchFamily="34" charset="0"/>
                <a:ea typeface="Calibri" pitchFamily="34" charset="-122"/>
                <a:cs typeface="Calibri" pitchFamily="34" charset="-120"/>
              </a:rPr>
              <a:t>★  EED (Video Swin + Reliability-Gated Fusion) represents current state-of-the-art on OUC-CGE.</a:t>
            </a:r>
            <a:endParaRPr lang="en-US" sz="1050" dirty="0"/>
          </a:p>
        </p:txBody>
      </p:sp>
      <p:sp>
        <p:nvSpPr>
          <p:cNvPr id="39" name="Shape 36"/>
          <p:cNvSpPr/>
          <p:nvPr/>
        </p:nvSpPr>
        <p:spPr>
          <a:xfrm>
            <a:off x="6400800" y="5166360"/>
            <a:ext cx="5486400" cy="1417320"/>
          </a:xfrm>
          <a:prstGeom prst="rect">
            <a:avLst/>
          </a:prstGeom>
          <a:solidFill>
            <a:srgbClr val="EFF4FA"/>
          </a:solidFill>
          <a:ln w="6350">
            <a:solidFill>
              <a:srgbClr val="7A8FA6"/>
            </a:solidFill>
            <a:prstDash val="solid"/>
          </a:ln>
        </p:spPr>
      </p:sp>
      <p:sp>
        <p:nvSpPr>
          <p:cNvPr id="40" name="Text 37"/>
          <p:cNvSpPr/>
          <p:nvPr/>
        </p:nvSpPr>
        <p:spPr>
          <a:xfrm>
            <a:off x="6492240" y="5230368"/>
            <a:ext cx="5303520" cy="274320"/>
          </a:xfrm>
          <a:prstGeom prst="rect">
            <a:avLst/>
          </a:prstGeom>
          <a:noFill/>
          <a:ln/>
        </p:spPr>
        <p:txBody>
          <a:bodyPr wrap="square" rtlCol="0" anchor="ctr"/>
          <a:lstStyle/>
          <a:p>
            <a:pPr marL="0" indent="0">
              <a:buNone/>
            </a:pPr>
            <a:r>
              <a:rPr lang="en-US" sz="1050" b="1" dirty="0">
                <a:solidFill>
                  <a:srgbClr val="1B6CA8"/>
                </a:solidFill>
                <a:latin typeface="Cambria" pitchFamily="34" charset="0"/>
                <a:ea typeface="Cambria" pitchFamily="34" charset="-122"/>
                <a:cs typeface="Cambria" pitchFamily="34" charset="-120"/>
              </a:rPr>
              <a:t>Annotation Schema</a:t>
            </a:r>
            <a:endParaRPr lang="en-US" sz="1050" dirty="0"/>
          </a:p>
        </p:txBody>
      </p:sp>
      <p:sp>
        <p:nvSpPr>
          <p:cNvPr id="41" name="Text 38"/>
          <p:cNvSpPr/>
          <p:nvPr/>
        </p:nvSpPr>
        <p:spPr>
          <a:xfrm>
            <a:off x="6492240" y="5559552"/>
            <a:ext cx="5303520" cy="1005840"/>
          </a:xfrm>
          <a:prstGeom prst="rect">
            <a:avLst/>
          </a:prstGeom>
          <a:noFill/>
          <a:ln/>
        </p:spPr>
        <p:txBody>
          <a:bodyPr wrap="square" rtlCol="0" anchor="ctr"/>
          <a:lstStyle/>
          <a:p>
            <a:pPr marL="0" indent="0">
              <a:buNone/>
            </a:pPr>
            <a:r>
              <a:rPr lang="en-US" sz="1000" b="1" dirty="0">
                <a:solidFill>
                  <a:srgbClr val="1A7A4A"/>
                </a:solidFill>
                <a:latin typeface="Calibri" pitchFamily="34" charset="0"/>
                <a:ea typeface="Calibri" pitchFamily="34" charset="-122"/>
                <a:cs typeface="Calibri" pitchFamily="34" charset="-120"/>
              </a:rPr>
              <a:t>High Engagement: </a:t>
            </a:r>
            <a:r>
              <a:rPr lang="en-US" sz="1000" dirty="0">
                <a:solidFill>
                  <a:srgbClr val="1A2B3C"/>
                </a:solidFill>
                <a:latin typeface="Calibri" pitchFamily="34" charset="0"/>
                <a:ea typeface="Calibri" pitchFamily="34" charset="-122"/>
                <a:cs typeface="Calibri" pitchFamily="34" charset="-120"/>
              </a:rPr>
              <a:t>Active participation, focused posture, synchronized group tasks
</a:t>
            </a:r>
            <a:r>
              <a:rPr lang="en-US" sz="1000" b="1" dirty="0">
                <a:solidFill>
                  <a:srgbClr val="F4A811"/>
                </a:solidFill>
                <a:latin typeface="Calibri" pitchFamily="34" charset="0"/>
                <a:ea typeface="Calibri" pitchFamily="34" charset="-122"/>
                <a:cs typeface="Calibri" pitchFamily="34" charset="-120"/>
              </a:rPr>
              <a:t>Medium Engagement: </a:t>
            </a:r>
            <a:r>
              <a:rPr lang="en-US" sz="1000" dirty="0">
                <a:solidFill>
                  <a:srgbClr val="1A2B3C"/>
                </a:solidFill>
                <a:latin typeface="Calibri" pitchFamily="34" charset="0"/>
                <a:ea typeface="Calibri" pitchFamily="34" charset="-122"/>
                <a:cs typeface="Calibri" pitchFamily="34" charset="-120"/>
              </a:rPr>
              <a:t>Partial attention, some off-task behavior
</a:t>
            </a:r>
            <a:r>
              <a:rPr lang="en-US" sz="1000" b="1" dirty="0">
                <a:solidFill>
                  <a:srgbClr val="C0392B"/>
                </a:solidFill>
                <a:latin typeface="Calibri" pitchFamily="34" charset="0"/>
                <a:ea typeface="Calibri" pitchFamily="34" charset="-122"/>
                <a:cs typeface="Calibri" pitchFamily="34" charset="-120"/>
              </a:rPr>
              <a:t>Low Engagement: </a:t>
            </a:r>
            <a:r>
              <a:rPr lang="en-US" sz="1000" dirty="0">
                <a:solidFill>
                  <a:srgbClr val="1A2B3C"/>
                </a:solidFill>
                <a:latin typeface="Calibri" pitchFamily="34" charset="0"/>
                <a:ea typeface="Calibri" pitchFamily="34" charset="-122"/>
                <a:cs typeface="Calibri" pitchFamily="34" charset="-120"/>
              </a:rPr>
              <a:t>Evident disengagement, sleep, distraction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EDF2"/>
        </a:solidFill>
        <a:effectLst/>
      </p:bgPr>
    </p:bg>
    <p:spTree>
      <p:nvGrpSpPr>
        <p:cNvPr id="1" name=""/>
        <p:cNvGrpSpPr/>
        <p:nvPr/>
      </p:nvGrpSpPr>
      <p:grpSpPr>
        <a:xfrm>
          <a:off x="0" y="0"/>
          <a:ext cx="0" cy="0"/>
          <a:chOff x="0" y="0"/>
          <a:chExt cx="0" cy="0"/>
        </a:xfrm>
      </p:grpSpPr>
      <p:sp>
        <p:nvSpPr>
          <p:cNvPr id="2" name="Shape 0"/>
          <p:cNvSpPr/>
          <p:nvPr/>
        </p:nvSpPr>
        <p:spPr>
          <a:xfrm>
            <a:off x="320040" y="201168"/>
            <a:ext cx="1828800" cy="256032"/>
          </a:xfrm>
          <a:prstGeom prst="rect">
            <a:avLst/>
          </a:prstGeom>
          <a:solidFill>
            <a:srgbClr val="2B9FD9"/>
          </a:solidFill>
          <a:ln w="12700">
            <a:solidFill>
              <a:srgbClr val="2B9FD9"/>
            </a:solidFill>
            <a:prstDash val="solid"/>
          </a:ln>
        </p:spPr>
      </p:sp>
      <p:sp>
        <p:nvSpPr>
          <p:cNvPr id="3" name="Text 1"/>
          <p:cNvSpPr/>
          <p:nvPr/>
        </p:nvSpPr>
        <p:spPr>
          <a:xfrm>
            <a:off x="320040" y="201168"/>
            <a:ext cx="1828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PERFORMANCE</a:t>
            </a:r>
            <a:endParaRPr lang="en-US" sz="800" dirty="0"/>
          </a:p>
        </p:txBody>
      </p:sp>
      <p:sp>
        <p:nvSpPr>
          <p:cNvPr id="4" name="Text 2"/>
          <p:cNvSpPr/>
          <p:nvPr/>
        </p:nvSpPr>
        <p:spPr>
          <a:xfrm>
            <a:off x="320040" y="548640"/>
            <a:ext cx="11521440" cy="502920"/>
          </a:xfrm>
          <a:prstGeom prst="rect">
            <a:avLst/>
          </a:prstGeom>
          <a:noFill/>
          <a:ln/>
        </p:spPr>
        <p:txBody>
          <a:bodyPr wrap="square" rtlCol="0" anchor="ctr"/>
          <a:lstStyle/>
          <a:p>
            <a:pPr marL="0" indent="0" algn="l">
              <a:buNone/>
            </a:pPr>
            <a:r>
              <a:rPr lang="en-US" sz="2600" b="1" dirty="0">
                <a:solidFill>
                  <a:srgbClr val="1A2B3C"/>
                </a:solidFill>
                <a:latin typeface="Cambria" pitchFamily="34" charset="0"/>
                <a:ea typeface="Cambria" pitchFamily="34" charset="-122"/>
                <a:cs typeface="Cambria" pitchFamily="34" charset="-120"/>
              </a:rPr>
              <a:t>Baseline Methods and Performance Across Literature</a:t>
            </a:r>
            <a:endParaRPr lang="en-US" sz="2600" dirty="0"/>
          </a:p>
        </p:txBody>
      </p:sp>
      <p:sp>
        <p:nvSpPr>
          <p:cNvPr id="5" name="Shape 3"/>
          <p:cNvSpPr/>
          <p:nvPr/>
        </p:nvSpPr>
        <p:spPr>
          <a:xfrm>
            <a:off x="320040" y="1115568"/>
            <a:ext cx="11521440" cy="0"/>
          </a:xfrm>
          <a:prstGeom prst="line">
            <a:avLst/>
          </a:prstGeom>
          <a:noFill/>
          <a:ln w="19050">
            <a:solidFill>
              <a:srgbClr val="2B9FD9"/>
            </a:solidFill>
            <a:prstDash val="solid"/>
          </a:ln>
        </p:spPr>
      </p:sp>
      <p:sp>
        <p:nvSpPr>
          <p:cNvPr id="6" name="Shape 4"/>
          <p:cNvSpPr/>
          <p:nvPr/>
        </p:nvSpPr>
        <p:spPr>
          <a:xfrm>
            <a:off x="731520" y="2090684"/>
            <a:ext cx="1005840" cy="2938516"/>
          </a:xfrm>
          <a:prstGeom prst="rect">
            <a:avLst/>
          </a:prstGeom>
          <a:solidFill>
            <a:srgbClr val="7A8FA6"/>
          </a:solidFill>
          <a:ln w="12700">
            <a:solidFill>
              <a:srgbClr val="7A8FA6"/>
            </a:solidFill>
            <a:prstDash val="solid"/>
          </a:ln>
        </p:spPr>
      </p:sp>
      <p:sp>
        <p:nvSpPr>
          <p:cNvPr id="7" name="Text 5"/>
          <p:cNvSpPr/>
          <p:nvPr/>
        </p:nvSpPr>
        <p:spPr>
          <a:xfrm>
            <a:off x="731520" y="1816364"/>
            <a:ext cx="1005840" cy="256032"/>
          </a:xfrm>
          <a:prstGeom prst="rect">
            <a:avLst/>
          </a:prstGeom>
          <a:noFill/>
          <a:ln/>
        </p:spPr>
        <p:txBody>
          <a:bodyPr wrap="square" rtlCol="0" anchor="ctr"/>
          <a:lstStyle/>
          <a:p>
            <a:pPr marL="0" indent="0" algn="ctr">
              <a:buNone/>
            </a:pPr>
            <a:r>
              <a:rPr lang="en-US" sz="900" b="1" dirty="0">
                <a:solidFill>
                  <a:srgbClr val="7A8FA6"/>
                </a:solidFill>
                <a:latin typeface="Calibri" pitchFamily="34" charset="0"/>
                <a:ea typeface="Calibri" pitchFamily="34" charset="-122"/>
                <a:cs typeface="Calibri" pitchFamily="34" charset="-120"/>
              </a:rPr>
              <a:t>82.4%</a:t>
            </a:r>
            <a:endParaRPr lang="en-US" sz="900" dirty="0"/>
          </a:p>
        </p:txBody>
      </p:sp>
      <p:sp>
        <p:nvSpPr>
          <p:cNvPr id="8" name="Text 6"/>
          <p:cNvSpPr/>
          <p:nvPr/>
        </p:nvSpPr>
        <p:spPr>
          <a:xfrm>
            <a:off x="731520" y="5084064"/>
            <a:ext cx="1005840" cy="731520"/>
          </a:xfrm>
          <a:prstGeom prst="rect">
            <a:avLst/>
          </a:prstGeom>
          <a:noFill/>
          <a:ln/>
        </p:spPr>
        <p:txBody>
          <a:bodyPr wrap="square" rtlCol="0" anchor="ctr"/>
          <a:lstStyle/>
          <a:p>
            <a:pPr marL="0" indent="0" algn="ctr">
              <a:buNone/>
            </a:pPr>
            <a:r>
              <a:rPr lang="en-US" sz="750" dirty="0">
                <a:solidFill>
                  <a:srgbClr val="1A2B3C"/>
                </a:solidFill>
                <a:latin typeface="Calibri" pitchFamily="34" charset="0"/>
                <a:ea typeface="Calibri" pitchFamily="34" charset="-122"/>
                <a:cs typeface="Calibri" pitchFamily="34" charset="-120"/>
              </a:rPr>
              <a:t>ACM-YOLOv10</a:t>
            </a:r>
            <a:endParaRPr lang="en-US" sz="750" dirty="0"/>
          </a:p>
          <a:p>
            <a:pPr marL="0" indent="0" algn="ctr">
              <a:buNone/>
            </a:pPr>
            <a:r>
              <a:rPr lang="en-US" sz="750" dirty="0">
                <a:solidFill>
                  <a:srgbClr val="1A2B3C"/>
                </a:solidFill>
                <a:latin typeface="Calibri" pitchFamily="34" charset="0"/>
                <a:ea typeface="Calibri" pitchFamily="34" charset="-122"/>
                <a:cs typeface="Calibri" pitchFamily="34" charset="-120"/>
              </a:rPr>
              <a:t>(Qin 2025)</a:t>
            </a:r>
            <a:endParaRPr lang="en-US" sz="750" dirty="0"/>
          </a:p>
        </p:txBody>
      </p:sp>
      <p:sp>
        <p:nvSpPr>
          <p:cNvPr id="9" name="Text 7"/>
          <p:cNvSpPr/>
          <p:nvPr/>
        </p:nvSpPr>
        <p:spPr>
          <a:xfrm>
            <a:off x="731520" y="5806440"/>
            <a:ext cx="1005840" cy="228600"/>
          </a:xfrm>
          <a:prstGeom prst="rect">
            <a:avLst/>
          </a:prstGeom>
          <a:noFill/>
          <a:ln/>
        </p:spPr>
        <p:txBody>
          <a:bodyPr wrap="square" rtlCol="0" anchor="ctr"/>
          <a:lstStyle/>
          <a:p>
            <a:pPr marL="0" indent="0" algn="ctr">
              <a:buNone/>
            </a:pPr>
            <a:r>
              <a:rPr lang="en-US" sz="700" i="1" dirty="0">
                <a:solidFill>
                  <a:srgbClr val="7A8FA6"/>
                </a:solidFill>
                <a:latin typeface="Calibri" pitchFamily="34" charset="0"/>
                <a:ea typeface="Calibri" pitchFamily="34" charset="-122"/>
                <a:cs typeface="Calibri" pitchFamily="34" charset="-120"/>
              </a:rPr>
              <a:t>mAP</a:t>
            </a:r>
            <a:endParaRPr lang="en-US" sz="700" dirty="0"/>
          </a:p>
        </p:txBody>
      </p:sp>
      <p:sp>
        <p:nvSpPr>
          <p:cNvPr id="10" name="Shape 8"/>
          <p:cNvSpPr/>
          <p:nvPr/>
        </p:nvSpPr>
        <p:spPr>
          <a:xfrm>
            <a:off x="1975104" y="2072853"/>
            <a:ext cx="1005840" cy="2956347"/>
          </a:xfrm>
          <a:prstGeom prst="rect">
            <a:avLst/>
          </a:prstGeom>
          <a:solidFill>
            <a:srgbClr val="2B9FD9"/>
          </a:solidFill>
          <a:ln w="12700">
            <a:solidFill>
              <a:srgbClr val="2B9FD9"/>
            </a:solidFill>
            <a:prstDash val="solid"/>
          </a:ln>
        </p:spPr>
      </p:sp>
      <p:sp>
        <p:nvSpPr>
          <p:cNvPr id="11" name="Text 9"/>
          <p:cNvSpPr/>
          <p:nvPr/>
        </p:nvSpPr>
        <p:spPr>
          <a:xfrm>
            <a:off x="1975104" y="1798533"/>
            <a:ext cx="1005840" cy="256032"/>
          </a:xfrm>
          <a:prstGeom prst="rect">
            <a:avLst/>
          </a:prstGeom>
          <a:noFill/>
          <a:ln/>
        </p:spPr>
        <p:txBody>
          <a:bodyPr wrap="square" rtlCol="0" anchor="ctr"/>
          <a:lstStyle/>
          <a:p>
            <a:pPr marL="0" indent="0" algn="ctr">
              <a:buNone/>
            </a:pPr>
            <a:r>
              <a:rPr lang="en-US" sz="900" b="1" dirty="0">
                <a:solidFill>
                  <a:srgbClr val="2B9FD9"/>
                </a:solidFill>
                <a:latin typeface="Calibri" pitchFamily="34" charset="0"/>
                <a:ea typeface="Calibri" pitchFamily="34" charset="-122"/>
                <a:cs typeface="Calibri" pitchFamily="34" charset="-120"/>
              </a:rPr>
              <a:t>82.9%</a:t>
            </a:r>
            <a:endParaRPr lang="en-US" sz="900" dirty="0"/>
          </a:p>
        </p:txBody>
      </p:sp>
      <p:sp>
        <p:nvSpPr>
          <p:cNvPr id="12" name="Text 10"/>
          <p:cNvSpPr/>
          <p:nvPr/>
        </p:nvSpPr>
        <p:spPr>
          <a:xfrm>
            <a:off x="1975104" y="5084064"/>
            <a:ext cx="1005840" cy="731520"/>
          </a:xfrm>
          <a:prstGeom prst="rect">
            <a:avLst/>
          </a:prstGeom>
          <a:noFill/>
          <a:ln/>
        </p:spPr>
        <p:txBody>
          <a:bodyPr wrap="square" rtlCol="0" anchor="ctr"/>
          <a:lstStyle/>
          <a:p>
            <a:pPr marL="0" indent="0" algn="ctr">
              <a:buNone/>
            </a:pPr>
            <a:r>
              <a:rPr lang="en-US" sz="750" dirty="0">
                <a:solidFill>
                  <a:srgbClr val="1A2B3C"/>
                </a:solidFill>
                <a:latin typeface="Calibri" pitchFamily="34" charset="0"/>
                <a:ea typeface="Calibri" pitchFamily="34" charset="-122"/>
                <a:cs typeface="Calibri" pitchFamily="34" charset="-120"/>
              </a:rPr>
              <a:t>Das &amp; Dev</a:t>
            </a:r>
            <a:endParaRPr lang="en-US" sz="750" dirty="0"/>
          </a:p>
          <a:p>
            <a:pPr marL="0" indent="0" algn="ctr">
              <a:buNone/>
            </a:pPr>
            <a:r>
              <a:rPr lang="en-US" sz="750" dirty="0">
                <a:solidFill>
                  <a:srgbClr val="1A2B3C"/>
                </a:solidFill>
                <a:latin typeface="Calibri" pitchFamily="34" charset="0"/>
                <a:ea typeface="Calibri" pitchFamily="34" charset="-122"/>
                <a:cs typeface="Calibri" pitchFamily="34" charset="-120"/>
              </a:rPr>
              <a:t>(XGBoost)</a:t>
            </a:r>
            <a:endParaRPr lang="en-US" sz="750" dirty="0"/>
          </a:p>
        </p:txBody>
      </p:sp>
      <p:sp>
        <p:nvSpPr>
          <p:cNvPr id="13" name="Text 11"/>
          <p:cNvSpPr/>
          <p:nvPr/>
        </p:nvSpPr>
        <p:spPr>
          <a:xfrm>
            <a:off x="1975104" y="5806440"/>
            <a:ext cx="1005840" cy="228600"/>
          </a:xfrm>
          <a:prstGeom prst="rect">
            <a:avLst/>
          </a:prstGeom>
          <a:noFill/>
          <a:ln/>
        </p:spPr>
        <p:txBody>
          <a:bodyPr wrap="square" rtlCol="0" anchor="ctr"/>
          <a:lstStyle/>
          <a:p>
            <a:pPr marL="0" indent="0" algn="ctr">
              <a:buNone/>
            </a:pPr>
            <a:r>
              <a:rPr lang="en-US" sz="700" i="1" dirty="0">
                <a:solidFill>
                  <a:srgbClr val="7A8FA6"/>
                </a:solidFill>
                <a:latin typeface="Calibri" pitchFamily="34" charset="0"/>
                <a:ea typeface="Calibri" pitchFamily="34" charset="-122"/>
                <a:cs typeface="Calibri" pitchFamily="34" charset="-120"/>
              </a:rPr>
              <a:t>Acc</a:t>
            </a:r>
            <a:endParaRPr lang="en-US" sz="700" dirty="0"/>
          </a:p>
        </p:txBody>
      </p:sp>
      <p:sp>
        <p:nvSpPr>
          <p:cNvPr id="14" name="Shape 12"/>
          <p:cNvSpPr/>
          <p:nvPr/>
        </p:nvSpPr>
        <p:spPr>
          <a:xfrm>
            <a:off x="3218688" y="2461565"/>
            <a:ext cx="1005840" cy="2567635"/>
          </a:xfrm>
          <a:prstGeom prst="rect">
            <a:avLst/>
          </a:prstGeom>
          <a:solidFill>
            <a:srgbClr val="2B9FD9"/>
          </a:solidFill>
          <a:ln w="12700">
            <a:solidFill>
              <a:srgbClr val="2B9FD9"/>
            </a:solidFill>
            <a:prstDash val="solid"/>
          </a:ln>
        </p:spPr>
      </p:sp>
      <p:sp>
        <p:nvSpPr>
          <p:cNvPr id="15" name="Text 13"/>
          <p:cNvSpPr/>
          <p:nvPr/>
        </p:nvSpPr>
        <p:spPr>
          <a:xfrm>
            <a:off x="3218688" y="2187245"/>
            <a:ext cx="1005840" cy="256032"/>
          </a:xfrm>
          <a:prstGeom prst="rect">
            <a:avLst/>
          </a:prstGeom>
          <a:noFill/>
          <a:ln/>
        </p:spPr>
        <p:txBody>
          <a:bodyPr wrap="square" rtlCol="0" anchor="ctr"/>
          <a:lstStyle/>
          <a:p>
            <a:pPr marL="0" indent="0" algn="ctr">
              <a:buNone/>
            </a:pPr>
            <a:r>
              <a:rPr lang="en-US" sz="900" b="1" dirty="0">
                <a:solidFill>
                  <a:srgbClr val="2B9FD9"/>
                </a:solidFill>
                <a:latin typeface="Calibri" pitchFamily="34" charset="0"/>
                <a:ea typeface="Calibri" pitchFamily="34" charset="-122"/>
                <a:cs typeface="Calibri" pitchFamily="34" charset="-120"/>
              </a:rPr>
              <a:t>72.0%</a:t>
            </a:r>
            <a:endParaRPr lang="en-US" sz="900" dirty="0"/>
          </a:p>
        </p:txBody>
      </p:sp>
      <p:sp>
        <p:nvSpPr>
          <p:cNvPr id="16" name="Text 14"/>
          <p:cNvSpPr/>
          <p:nvPr/>
        </p:nvSpPr>
        <p:spPr>
          <a:xfrm>
            <a:off x="3218688" y="5084064"/>
            <a:ext cx="1005840" cy="731520"/>
          </a:xfrm>
          <a:prstGeom prst="rect">
            <a:avLst/>
          </a:prstGeom>
          <a:noFill/>
          <a:ln/>
        </p:spPr>
        <p:txBody>
          <a:bodyPr wrap="square" rtlCol="0" anchor="ctr"/>
          <a:lstStyle/>
          <a:p>
            <a:pPr marL="0" indent="0" algn="ctr">
              <a:buNone/>
            </a:pPr>
            <a:r>
              <a:rPr lang="en-US" sz="750" dirty="0">
                <a:solidFill>
                  <a:srgbClr val="1A2B3C"/>
                </a:solidFill>
                <a:latin typeface="Calibri" pitchFamily="34" charset="0"/>
                <a:ea typeface="Calibri" pitchFamily="34" charset="-122"/>
                <a:cs typeface="Calibri" pitchFamily="34" charset="-120"/>
              </a:rPr>
              <a:t>Sumer</a:t>
            </a:r>
            <a:endParaRPr lang="en-US" sz="750" dirty="0"/>
          </a:p>
          <a:p>
            <a:pPr marL="0" indent="0" algn="ctr">
              <a:buNone/>
            </a:pPr>
            <a:r>
              <a:rPr lang="en-US" sz="750" dirty="0">
                <a:solidFill>
                  <a:srgbClr val="1A2B3C"/>
                </a:solidFill>
                <a:latin typeface="Calibri" pitchFamily="34" charset="0"/>
                <a:ea typeface="Calibri" pitchFamily="34" charset="-122"/>
                <a:cs typeface="Calibri" pitchFamily="34" charset="-120"/>
              </a:rPr>
              <a:t>(Multimodal)</a:t>
            </a:r>
            <a:endParaRPr lang="en-US" sz="750" dirty="0"/>
          </a:p>
        </p:txBody>
      </p:sp>
      <p:sp>
        <p:nvSpPr>
          <p:cNvPr id="17" name="Text 15"/>
          <p:cNvSpPr/>
          <p:nvPr/>
        </p:nvSpPr>
        <p:spPr>
          <a:xfrm>
            <a:off x="3218688" y="5806440"/>
            <a:ext cx="1005840" cy="228600"/>
          </a:xfrm>
          <a:prstGeom prst="rect">
            <a:avLst/>
          </a:prstGeom>
          <a:noFill/>
          <a:ln/>
        </p:spPr>
        <p:txBody>
          <a:bodyPr wrap="square" rtlCol="0" anchor="ctr"/>
          <a:lstStyle/>
          <a:p>
            <a:pPr marL="0" indent="0" algn="ctr">
              <a:buNone/>
            </a:pPr>
            <a:r>
              <a:rPr lang="en-US" sz="700" i="1" dirty="0">
                <a:solidFill>
                  <a:srgbClr val="7A8FA6"/>
                </a:solidFill>
                <a:latin typeface="Calibri" pitchFamily="34" charset="0"/>
                <a:ea typeface="Calibri" pitchFamily="34" charset="-122"/>
                <a:cs typeface="Calibri" pitchFamily="34" charset="-120"/>
              </a:rPr>
              <a:t>AUC×100</a:t>
            </a:r>
            <a:endParaRPr lang="en-US" sz="700" dirty="0"/>
          </a:p>
        </p:txBody>
      </p:sp>
      <p:sp>
        <p:nvSpPr>
          <p:cNvPr id="18" name="Shape 16"/>
          <p:cNvSpPr/>
          <p:nvPr/>
        </p:nvSpPr>
        <p:spPr>
          <a:xfrm>
            <a:off x="4462272" y="1716237"/>
            <a:ext cx="1005840" cy="3312963"/>
          </a:xfrm>
          <a:prstGeom prst="rect">
            <a:avLst/>
          </a:prstGeom>
          <a:solidFill>
            <a:srgbClr val="1B6CA8"/>
          </a:solidFill>
          <a:ln w="12700">
            <a:solidFill>
              <a:srgbClr val="1B6CA8"/>
            </a:solidFill>
            <a:prstDash val="solid"/>
          </a:ln>
        </p:spPr>
      </p:sp>
      <p:sp>
        <p:nvSpPr>
          <p:cNvPr id="19" name="Text 17"/>
          <p:cNvSpPr/>
          <p:nvPr/>
        </p:nvSpPr>
        <p:spPr>
          <a:xfrm>
            <a:off x="4462272" y="1441917"/>
            <a:ext cx="1005840" cy="256032"/>
          </a:xfrm>
          <a:prstGeom prst="rect">
            <a:avLst/>
          </a:prstGeom>
          <a:noFill/>
          <a:ln/>
        </p:spPr>
        <p:txBody>
          <a:bodyPr wrap="square" rtlCol="0" anchor="ctr"/>
          <a:lstStyle/>
          <a:p>
            <a:pPr marL="0" indent="0" algn="ctr">
              <a:buNone/>
            </a:pPr>
            <a:r>
              <a:rPr lang="en-US" sz="900" b="1" dirty="0">
                <a:solidFill>
                  <a:srgbClr val="1B6CA8"/>
                </a:solidFill>
                <a:latin typeface="Calibri" pitchFamily="34" charset="0"/>
                <a:ea typeface="Calibri" pitchFamily="34" charset="-122"/>
                <a:cs typeface="Calibri" pitchFamily="34" charset="-120"/>
              </a:rPr>
              <a:t>92.9%</a:t>
            </a:r>
            <a:endParaRPr lang="en-US" sz="900" dirty="0"/>
          </a:p>
        </p:txBody>
      </p:sp>
      <p:sp>
        <p:nvSpPr>
          <p:cNvPr id="20" name="Text 18"/>
          <p:cNvSpPr/>
          <p:nvPr/>
        </p:nvSpPr>
        <p:spPr>
          <a:xfrm>
            <a:off x="4462272" y="5084064"/>
            <a:ext cx="1005840" cy="731520"/>
          </a:xfrm>
          <a:prstGeom prst="rect">
            <a:avLst/>
          </a:prstGeom>
          <a:noFill/>
          <a:ln/>
        </p:spPr>
        <p:txBody>
          <a:bodyPr wrap="square" rtlCol="0" anchor="ctr"/>
          <a:lstStyle/>
          <a:p>
            <a:pPr marL="0" indent="0" algn="ctr">
              <a:buNone/>
            </a:pPr>
            <a:r>
              <a:rPr lang="en-US" sz="750" dirty="0">
                <a:solidFill>
                  <a:srgbClr val="1A2B3C"/>
                </a:solidFill>
                <a:latin typeface="Calibri" pitchFamily="34" charset="0"/>
                <a:ea typeface="Calibri" pitchFamily="34" charset="-122"/>
                <a:cs typeface="Calibri" pitchFamily="34" charset="-120"/>
              </a:rPr>
              <a:t>MSC-Trans</a:t>
            </a:r>
            <a:endParaRPr lang="en-US" sz="750" dirty="0"/>
          </a:p>
          <a:p>
            <a:pPr marL="0" indent="0" algn="ctr">
              <a:buNone/>
            </a:pPr>
            <a:r>
              <a:rPr lang="en-US" sz="750" dirty="0">
                <a:solidFill>
                  <a:srgbClr val="1A2B3C"/>
                </a:solidFill>
                <a:latin typeface="Calibri" pitchFamily="34" charset="0"/>
                <a:ea typeface="Calibri" pitchFamily="34" charset="-122"/>
                <a:cs typeface="Calibri" pitchFamily="34" charset="-120"/>
              </a:rPr>
              <a:t>(Xie 2025)</a:t>
            </a:r>
            <a:endParaRPr lang="en-US" sz="750" dirty="0"/>
          </a:p>
        </p:txBody>
      </p:sp>
      <p:sp>
        <p:nvSpPr>
          <p:cNvPr id="21" name="Text 19"/>
          <p:cNvSpPr/>
          <p:nvPr/>
        </p:nvSpPr>
        <p:spPr>
          <a:xfrm>
            <a:off x="4462272" y="5806440"/>
            <a:ext cx="1005840" cy="228600"/>
          </a:xfrm>
          <a:prstGeom prst="rect">
            <a:avLst/>
          </a:prstGeom>
          <a:noFill/>
          <a:ln/>
        </p:spPr>
        <p:txBody>
          <a:bodyPr wrap="square" rtlCol="0" anchor="ctr"/>
          <a:lstStyle/>
          <a:p>
            <a:pPr marL="0" indent="0" algn="ctr">
              <a:buNone/>
            </a:pPr>
            <a:r>
              <a:rPr lang="en-US" sz="700" i="1" dirty="0">
                <a:solidFill>
                  <a:srgbClr val="7A8FA6"/>
                </a:solidFill>
                <a:latin typeface="Calibri" pitchFamily="34" charset="0"/>
                <a:ea typeface="Calibri" pitchFamily="34" charset="-122"/>
                <a:cs typeface="Calibri" pitchFamily="34" charset="-120"/>
              </a:rPr>
              <a:t>Acc</a:t>
            </a:r>
            <a:endParaRPr lang="en-US" sz="700" dirty="0"/>
          </a:p>
        </p:txBody>
      </p:sp>
      <p:sp>
        <p:nvSpPr>
          <p:cNvPr id="22" name="Shape 20"/>
          <p:cNvSpPr/>
          <p:nvPr/>
        </p:nvSpPr>
        <p:spPr>
          <a:xfrm>
            <a:off x="5705856" y="1679149"/>
            <a:ext cx="1005840" cy="3350051"/>
          </a:xfrm>
          <a:prstGeom prst="rect">
            <a:avLst/>
          </a:prstGeom>
          <a:solidFill>
            <a:srgbClr val="1B6CA8"/>
          </a:solidFill>
          <a:ln w="12700">
            <a:solidFill>
              <a:srgbClr val="1B6CA8"/>
            </a:solidFill>
            <a:prstDash val="solid"/>
          </a:ln>
        </p:spPr>
      </p:sp>
      <p:sp>
        <p:nvSpPr>
          <p:cNvPr id="23" name="Text 21"/>
          <p:cNvSpPr/>
          <p:nvPr/>
        </p:nvSpPr>
        <p:spPr>
          <a:xfrm>
            <a:off x="5705856" y="1404829"/>
            <a:ext cx="1005840" cy="256032"/>
          </a:xfrm>
          <a:prstGeom prst="rect">
            <a:avLst/>
          </a:prstGeom>
          <a:noFill/>
          <a:ln/>
        </p:spPr>
        <p:txBody>
          <a:bodyPr wrap="square" rtlCol="0" anchor="ctr"/>
          <a:lstStyle/>
          <a:p>
            <a:pPr marL="0" indent="0" algn="ctr">
              <a:buNone/>
            </a:pPr>
            <a:r>
              <a:rPr lang="en-US" sz="900" b="1" dirty="0">
                <a:solidFill>
                  <a:srgbClr val="1B6CA8"/>
                </a:solidFill>
                <a:latin typeface="Calibri" pitchFamily="34" charset="0"/>
                <a:ea typeface="Calibri" pitchFamily="34" charset="-122"/>
                <a:cs typeface="Calibri" pitchFamily="34" charset="-120"/>
              </a:rPr>
              <a:t>93.9%</a:t>
            </a:r>
            <a:endParaRPr lang="en-US" sz="900" dirty="0"/>
          </a:p>
        </p:txBody>
      </p:sp>
      <p:sp>
        <p:nvSpPr>
          <p:cNvPr id="24" name="Text 22"/>
          <p:cNvSpPr/>
          <p:nvPr/>
        </p:nvSpPr>
        <p:spPr>
          <a:xfrm>
            <a:off x="5705856" y="5084064"/>
            <a:ext cx="1005840" cy="731520"/>
          </a:xfrm>
          <a:prstGeom prst="rect">
            <a:avLst/>
          </a:prstGeom>
          <a:noFill/>
          <a:ln/>
        </p:spPr>
        <p:txBody>
          <a:bodyPr wrap="square" rtlCol="0" anchor="ctr"/>
          <a:lstStyle/>
          <a:p>
            <a:pPr marL="0" indent="0" algn="ctr">
              <a:buNone/>
            </a:pPr>
            <a:r>
              <a:rPr lang="en-US" sz="750" dirty="0">
                <a:solidFill>
                  <a:srgbClr val="1A2B3C"/>
                </a:solidFill>
                <a:latin typeface="Calibri" pitchFamily="34" charset="0"/>
                <a:ea typeface="Calibri" pitchFamily="34" charset="-122"/>
                <a:cs typeface="Calibri" pitchFamily="34" charset="-120"/>
              </a:rPr>
              <a:t>Hu et al.</a:t>
            </a:r>
            <a:endParaRPr lang="en-US" sz="750" dirty="0"/>
          </a:p>
          <a:p>
            <a:pPr marL="0" indent="0" algn="ctr">
              <a:buNone/>
            </a:pPr>
            <a:r>
              <a:rPr lang="en-US" sz="750" dirty="0">
                <a:solidFill>
                  <a:srgbClr val="1A2B3C"/>
                </a:solidFill>
                <a:latin typeface="Calibri" pitchFamily="34" charset="0"/>
                <a:ea typeface="Calibri" pitchFamily="34" charset="-122"/>
                <a:cs typeface="Calibri" pitchFamily="34" charset="-120"/>
              </a:rPr>
              <a:t>(Bimodal)</a:t>
            </a:r>
            <a:endParaRPr lang="en-US" sz="750" dirty="0"/>
          </a:p>
        </p:txBody>
      </p:sp>
      <p:sp>
        <p:nvSpPr>
          <p:cNvPr id="25" name="Text 23"/>
          <p:cNvSpPr/>
          <p:nvPr/>
        </p:nvSpPr>
        <p:spPr>
          <a:xfrm>
            <a:off x="5705856" y="5806440"/>
            <a:ext cx="1005840" cy="228600"/>
          </a:xfrm>
          <a:prstGeom prst="rect">
            <a:avLst/>
          </a:prstGeom>
          <a:noFill/>
          <a:ln/>
        </p:spPr>
        <p:txBody>
          <a:bodyPr wrap="square" rtlCol="0" anchor="ctr"/>
          <a:lstStyle/>
          <a:p>
            <a:pPr marL="0" indent="0" algn="ctr">
              <a:buNone/>
            </a:pPr>
            <a:r>
              <a:rPr lang="en-US" sz="700" i="1" dirty="0">
                <a:solidFill>
                  <a:srgbClr val="7A8FA6"/>
                </a:solidFill>
                <a:latin typeface="Calibri" pitchFamily="34" charset="0"/>
                <a:ea typeface="Calibri" pitchFamily="34" charset="-122"/>
                <a:cs typeface="Calibri" pitchFamily="34" charset="-120"/>
              </a:rPr>
              <a:t>Acc</a:t>
            </a:r>
            <a:endParaRPr lang="en-US" sz="700" dirty="0"/>
          </a:p>
        </p:txBody>
      </p:sp>
      <p:sp>
        <p:nvSpPr>
          <p:cNvPr id="26" name="Shape 24"/>
          <p:cNvSpPr/>
          <p:nvPr/>
        </p:nvSpPr>
        <p:spPr>
          <a:xfrm>
            <a:off x="6949440" y="1705539"/>
            <a:ext cx="1005840" cy="3323661"/>
          </a:xfrm>
          <a:prstGeom prst="rect">
            <a:avLst/>
          </a:prstGeom>
          <a:solidFill>
            <a:srgbClr val="F4A811"/>
          </a:solidFill>
          <a:ln w="12700">
            <a:solidFill>
              <a:srgbClr val="F4A811"/>
            </a:solidFill>
            <a:prstDash val="solid"/>
          </a:ln>
        </p:spPr>
      </p:sp>
      <p:sp>
        <p:nvSpPr>
          <p:cNvPr id="27" name="Text 25"/>
          <p:cNvSpPr/>
          <p:nvPr/>
        </p:nvSpPr>
        <p:spPr>
          <a:xfrm>
            <a:off x="6949440" y="1431219"/>
            <a:ext cx="1005840" cy="256032"/>
          </a:xfrm>
          <a:prstGeom prst="rect">
            <a:avLst/>
          </a:prstGeom>
          <a:noFill/>
          <a:ln/>
        </p:spPr>
        <p:txBody>
          <a:bodyPr wrap="square" rtlCol="0" anchor="ctr"/>
          <a:lstStyle/>
          <a:p>
            <a:pPr marL="0" indent="0" algn="ctr">
              <a:buNone/>
            </a:pPr>
            <a:r>
              <a:rPr lang="en-US" sz="900" b="1" dirty="0">
                <a:solidFill>
                  <a:srgbClr val="F4A811"/>
                </a:solidFill>
                <a:latin typeface="Calibri" pitchFamily="34" charset="0"/>
                <a:ea typeface="Calibri" pitchFamily="34" charset="-122"/>
                <a:cs typeface="Calibri" pitchFamily="34" charset="-120"/>
              </a:rPr>
              <a:t>93.2%</a:t>
            </a:r>
            <a:endParaRPr lang="en-US" sz="900" dirty="0"/>
          </a:p>
        </p:txBody>
      </p:sp>
      <p:sp>
        <p:nvSpPr>
          <p:cNvPr id="28" name="Text 26"/>
          <p:cNvSpPr/>
          <p:nvPr/>
        </p:nvSpPr>
        <p:spPr>
          <a:xfrm>
            <a:off x="6949440" y="5084064"/>
            <a:ext cx="1005840" cy="731520"/>
          </a:xfrm>
          <a:prstGeom prst="rect">
            <a:avLst/>
          </a:prstGeom>
          <a:noFill/>
          <a:ln/>
        </p:spPr>
        <p:txBody>
          <a:bodyPr wrap="square" rtlCol="0" anchor="ctr"/>
          <a:lstStyle/>
          <a:p>
            <a:pPr marL="0" indent="0" algn="ctr">
              <a:buNone/>
            </a:pPr>
            <a:r>
              <a:rPr lang="en-US" sz="750" dirty="0">
                <a:solidFill>
                  <a:srgbClr val="1A2B3C"/>
                </a:solidFill>
                <a:latin typeface="Calibri" pitchFamily="34" charset="0"/>
                <a:ea typeface="Calibri" pitchFamily="34" charset="-122"/>
                <a:cs typeface="Calibri" pitchFamily="34" charset="-120"/>
              </a:rPr>
              <a:t>SlowFast</a:t>
            </a:r>
            <a:endParaRPr lang="en-US" sz="750" dirty="0"/>
          </a:p>
          <a:p>
            <a:pPr marL="0" indent="0" algn="ctr">
              <a:buNone/>
            </a:pPr>
            <a:r>
              <a:rPr lang="en-US" sz="750" dirty="0">
                <a:solidFill>
                  <a:srgbClr val="1A2B3C"/>
                </a:solidFill>
                <a:latin typeface="Calibri" pitchFamily="34" charset="0"/>
                <a:ea typeface="Calibri" pitchFamily="34" charset="-122"/>
                <a:cs typeface="Calibri" pitchFamily="34" charset="-120"/>
              </a:rPr>
              <a:t>(OUC-CGE)</a:t>
            </a:r>
            <a:endParaRPr lang="en-US" sz="750" dirty="0"/>
          </a:p>
        </p:txBody>
      </p:sp>
      <p:sp>
        <p:nvSpPr>
          <p:cNvPr id="29" name="Text 27"/>
          <p:cNvSpPr/>
          <p:nvPr/>
        </p:nvSpPr>
        <p:spPr>
          <a:xfrm>
            <a:off x="6949440" y="5806440"/>
            <a:ext cx="1005840" cy="228600"/>
          </a:xfrm>
          <a:prstGeom prst="rect">
            <a:avLst/>
          </a:prstGeom>
          <a:noFill/>
          <a:ln/>
        </p:spPr>
        <p:txBody>
          <a:bodyPr wrap="square" rtlCol="0" anchor="ctr"/>
          <a:lstStyle/>
          <a:p>
            <a:pPr marL="0" indent="0" algn="ctr">
              <a:buNone/>
            </a:pPr>
            <a:r>
              <a:rPr lang="en-US" sz="700" i="1" dirty="0">
                <a:solidFill>
                  <a:srgbClr val="7A8FA6"/>
                </a:solidFill>
                <a:latin typeface="Calibri" pitchFamily="34" charset="0"/>
                <a:ea typeface="Calibri" pitchFamily="34" charset="-122"/>
                <a:cs typeface="Calibri" pitchFamily="34" charset="-120"/>
              </a:rPr>
              <a:t>Acc</a:t>
            </a:r>
            <a:endParaRPr lang="en-US" sz="700" dirty="0"/>
          </a:p>
        </p:txBody>
      </p:sp>
      <p:sp>
        <p:nvSpPr>
          <p:cNvPr id="30" name="Shape 28"/>
          <p:cNvSpPr/>
          <p:nvPr/>
        </p:nvSpPr>
        <p:spPr>
          <a:xfrm>
            <a:off x="8193024" y="1646697"/>
            <a:ext cx="1005840" cy="3382503"/>
          </a:xfrm>
          <a:prstGeom prst="rect">
            <a:avLst/>
          </a:prstGeom>
          <a:solidFill>
            <a:srgbClr val="F4A811"/>
          </a:solidFill>
          <a:ln w="12700">
            <a:solidFill>
              <a:srgbClr val="F4A811"/>
            </a:solidFill>
            <a:prstDash val="solid"/>
          </a:ln>
        </p:spPr>
      </p:sp>
      <p:sp>
        <p:nvSpPr>
          <p:cNvPr id="31" name="Text 29"/>
          <p:cNvSpPr/>
          <p:nvPr/>
        </p:nvSpPr>
        <p:spPr>
          <a:xfrm>
            <a:off x="8193024" y="1372377"/>
            <a:ext cx="1005840" cy="256032"/>
          </a:xfrm>
          <a:prstGeom prst="rect">
            <a:avLst/>
          </a:prstGeom>
          <a:noFill/>
          <a:ln/>
        </p:spPr>
        <p:txBody>
          <a:bodyPr wrap="square" rtlCol="0" anchor="ctr"/>
          <a:lstStyle/>
          <a:p>
            <a:pPr marL="0" indent="0" algn="ctr">
              <a:buNone/>
            </a:pPr>
            <a:r>
              <a:rPr lang="en-US" sz="900" b="1" dirty="0">
                <a:solidFill>
                  <a:srgbClr val="F4A811"/>
                </a:solidFill>
                <a:latin typeface="Calibri" pitchFamily="34" charset="0"/>
                <a:ea typeface="Calibri" pitchFamily="34" charset="-122"/>
                <a:cs typeface="Calibri" pitchFamily="34" charset="-120"/>
              </a:rPr>
              <a:t>94.8%</a:t>
            </a:r>
            <a:endParaRPr lang="en-US" sz="900" dirty="0"/>
          </a:p>
        </p:txBody>
      </p:sp>
      <p:sp>
        <p:nvSpPr>
          <p:cNvPr id="32" name="Text 30"/>
          <p:cNvSpPr/>
          <p:nvPr/>
        </p:nvSpPr>
        <p:spPr>
          <a:xfrm>
            <a:off x="8193024" y="5084064"/>
            <a:ext cx="1005840" cy="731520"/>
          </a:xfrm>
          <a:prstGeom prst="rect">
            <a:avLst/>
          </a:prstGeom>
          <a:noFill/>
          <a:ln/>
        </p:spPr>
        <p:txBody>
          <a:bodyPr wrap="square" rtlCol="0" anchor="ctr"/>
          <a:lstStyle/>
          <a:p>
            <a:pPr marL="0" indent="0" algn="ctr">
              <a:buNone/>
            </a:pPr>
            <a:r>
              <a:rPr lang="en-US" sz="750" dirty="0">
                <a:solidFill>
                  <a:srgbClr val="1A2B3C"/>
                </a:solidFill>
                <a:latin typeface="Calibri" pitchFamily="34" charset="0"/>
                <a:ea typeface="Calibri" pitchFamily="34" charset="-122"/>
                <a:cs typeface="Calibri" pitchFamily="34" charset="-120"/>
              </a:rPr>
              <a:t>DenseAttNet</a:t>
            </a:r>
            <a:endParaRPr lang="en-US" sz="750" dirty="0"/>
          </a:p>
          <a:p>
            <a:pPr marL="0" indent="0" algn="ctr">
              <a:buNone/>
            </a:pPr>
            <a:r>
              <a:rPr lang="en-US" sz="750" dirty="0">
                <a:solidFill>
                  <a:srgbClr val="1A2B3C"/>
                </a:solidFill>
                <a:latin typeface="Calibri" pitchFamily="34" charset="0"/>
                <a:ea typeface="Calibri" pitchFamily="34" charset="-122"/>
                <a:cs typeface="Calibri" pitchFamily="34" charset="-120"/>
              </a:rPr>
              <a:t>(Mehta 2022)</a:t>
            </a:r>
            <a:endParaRPr lang="en-US" sz="750" dirty="0"/>
          </a:p>
        </p:txBody>
      </p:sp>
      <p:sp>
        <p:nvSpPr>
          <p:cNvPr id="33" name="Text 31"/>
          <p:cNvSpPr/>
          <p:nvPr/>
        </p:nvSpPr>
        <p:spPr>
          <a:xfrm>
            <a:off x="8193024" y="5806440"/>
            <a:ext cx="1005840" cy="228600"/>
          </a:xfrm>
          <a:prstGeom prst="rect">
            <a:avLst/>
          </a:prstGeom>
          <a:noFill/>
          <a:ln/>
        </p:spPr>
        <p:txBody>
          <a:bodyPr wrap="square" rtlCol="0" anchor="ctr"/>
          <a:lstStyle/>
          <a:p>
            <a:pPr marL="0" indent="0" algn="ctr">
              <a:buNone/>
            </a:pPr>
            <a:r>
              <a:rPr lang="en-US" sz="700" i="1" dirty="0">
                <a:solidFill>
                  <a:srgbClr val="7A8FA6"/>
                </a:solidFill>
                <a:latin typeface="Calibri" pitchFamily="34" charset="0"/>
                <a:ea typeface="Calibri" pitchFamily="34" charset="-122"/>
                <a:cs typeface="Calibri" pitchFamily="34" charset="-120"/>
              </a:rPr>
              <a:t>Acc</a:t>
            </a:r>
            <a:endParaRPr lang="en-US" sz="700" dirty="0"/>
          </a:p>
        </p:txBody>
      </p:sp>
      <p:sp>
        <p:nvSpPr>
          <p:cNvPr id="34" name="Shape 32"/>
          <p:cNvSpPr/>
          <p:nvPr/>
        </p:nvSpPr>
        <p:spPr>
          <a:xfrm>
            <a:off x="9436608" y="1666311"/>
            <a:ext cx="1005840" cy="3362889"/>
          </a:xfrm>
          <a:prstGeom prst="rect">
            <a:avLst/>
          </a:prstGeom>
          <a:solidFill>
            <a:srgbClr val="F4A811"/>
          </a:solidFill>
          <a:ln w="12700">
            <a:solidFill>
              <a:srgbClr val="F4A811"/>
            </a:solidFill>
            <a:prstDash val="solid"/>
          </a:ln>
        </p:spPr>
      </p:sp>
      <p:sp>
        <p:nvSpPr>
          <p:cNvPr id="35" name="Text 33"/>
          <p:cNvSpPr/>
          <p:nvPr/>
        </p:nvSpPr>
        <p:spPr>
          <a:xfrm>
            <a:off x="9436608" y="1391991"/>
            <a:ext cx="1005840" cy="256032"/>
          </a:xfrm>
          <a:prstGeom prst="rect">
            <a:avLst/>
          </a:prstGeom>
          <a:noFill/>
          <a:ln/>
        </p:spPr>
        <p:txBody>
          <a:bodyPr wrap="square" rtlCol="0" anchor="ctr"/>
          <a:lstStyle/>
          <a:p>
            <a:pPr marL="0" indent="0" algn="ctr">
              <a:buNone/>
            </a:pPr>
            <a:r>
              <a:rPr lang="en-US" sz="900" b="1" dirty="0">
                <a:solidFill>
                  <a:srgbClr val="F4A811"/>
                </a:solidFill>
                <a:latin typeface="Calibri" pitchFamily="34" charset="0"/>
                <a:ea typeface="Calibri" pitchFamily="34" charset="-122"/>
                <a:cs typeface="Calibri" pitchFamily="34" charset="-120"/>
              </a:rPr>
              <a:t>94.3%</a:t>
            </a:r>
            <a:endParaRPr lang="en-US" sz="900" dirty="0"/>
          </a:p>
        </p:txBody>
      </p:sp>
      <p:sp>
        <p:nvSpPr>
          <p:cNvPr id="36" name="Text 34"/>
          <p:cNvSpPr/>
          <p:nvPr/>
        </p:nvSpPr>
        <p:spPr>
          <a:xfrm>
            <a:off x="9436608" y="5084064"/>
            <a:ext cx="1005840" cy="731520"/>
          </a:xfrm>
          <a:prstGeom prst="rect">
            <a:avLst/>
          </a:prstGeom>
          <a:noFill/>
          <a:ln/>
        </p:spPr>
        <p:txBody>
          <a:bodyPr wrap="square" rtlCol="0" anchor="ctr"/>
          <a:lstStyle/>
          <a:p>
            <a:pPr marL="0" indent="0" algn="ctr">
              <a:buNone/>
            </a:pPr>
            <a:r>
              <a:rPr lang="en-US" sz="750" dirty="0">
                <a:solidFill>
                  <a:srgbClr val="1A2B3C"/>
                </a:solidFill>
                <a:latin typeface="Calibri" pitchFamily="34" charset="0"/>
                <a:ea typeface="Calibri" pitchFamily="34" charset="-122"/>
                <a:cs typeface="Calibri" pitchFamily="34" charset="-120"/>
              </a:rPr>
              <a:t>I3D Baseline</a:t>
            </a:r>
            <a:endParaRPr lang="en-US" sz="750" dirty="0"/>
          </a:p>
          <a:p>
            <a:pPr marL="0" indent="0" algn="ctr">
              <a:buNone/>
            </a:pPr>
            <a:r>
              <a:rPr lang="en-US" sz="750" dirty="0">
                <a:solidFill>
                  <a:srgbClr val="1A2B3C"/>
                </a:solidFill>
                <a:latin typeface="Calibri" pitchFamily="34" charset="0"/>
                <a:ea typeface="Calibri" pitchFamily="34" charset="-122"/>
                <a:cs typeface="Calibri" pitchFamily="34" charset="-120"/>
              </a:rPr>
              <a:t>(OUC-CGE)</a:t>
            </a:r>
            <a:endParaRPr lang="en-US" sz="750" dirty="0"/>
          </a:p>
        </p:txBody>
      </p:sp>
      <p:sp>
        <p:nvSpPr>
          <p:cNvPr id="37" name="Text 35"/>
          <p:cNvSpPr/>
          <p:nvPr/>
        </p:nvSpPr>
        <p:spPr>
          <a:xfrm>
            <a:off x="9436608" y="5806440"/>
            <a:ext cx="1005840" cy="228600"/>
          </a:xfrm>
          <a:prstGeom prst="rect">
            <a:avLst/>
          </a:prstGeom>
          <a:noFill/>
          <a:ln/>
        </p:spPr>
        <p:txBody>
          <a:bodyPr wrap="square" rtlCol="0" anchor="ctr"/>
          <a:lstStyle/>
          <a:p>
            <a:pPr marL="0" indent="0" algn="ctr">
              <a:buNone/>
            </a:pPr>
            <a:r>
              <a:rPr lang="en-US" sz="700" i="1" dirty="0">
                <a:solidFill>
                  <a:srgbClr val="7A8FA6"/>
                </a:solidFill>
                <a:latin typeface="Calibri" pitchFamily="34" charset="0"/>
                <a:ea typeface="Calibri" pitchFamily="34" charset="-122"/>
                <a:cs typeface="Calibri" pitchFamily="34" charset="-120"/>
              </a:rPr>
              <a:t>Acc</a:t>
            </a:r>
            <a:endParaRPr lang="en-US" sz="700" dirty="0"/>
          </a:p>
        </p:txBody>
      </p:sp>
      <p:sp>
        <p:nvSpPr>
          <p:cNvPr id="38" name="Shape 36"/>
          <p:cNvSpPr/>
          <p:nvPr/>
        </p:nvSpPr>
        <p:spPr>
          <a:xfrm>
            <a:off x="10680192" y="1516532"/>
            <a:ext cx="1005840" cy="3512668"/>
          </a:xfrm>
          <a:prstGeom prst="rect">
            <a:avLst/>
          </a:prstGeom>
          <a:solidFill>
            <a:srgbClr val="1A7A4A"/>
          </a:solidFill>
          <a:ln w="12700">
            <a:solidFill>
              <a:srgbClr val="1A7A4A"/>
            </a:solidFill>
            <a:prstDash val="solid"/>
          </a:ln>
        </p:spPr>
      </p:sp>
      <p:sp>
        <p:nvSpPr>
          <p:cNvPr id="39" name="Text 37"/>
          <p:cNvSpPr/>
          <p:nvPr/>
        </p:nvSpPr>
        <p:spPr>
          <a:xfrm>
            <a:off x="10680192" y="1242212"/>
            <a:ext cx="1005840" cy="256032"/>
          </a:xfrm>
          <a:prstGeom prst="rect">
            <a:avLst/>
          </a:prstGeom>
          <a:noFill/>
          <a:ln/>
        </p:spPr>
        <p:txBody>
          <a:bodyPr wrap="square" rtlCol="0" anchor="ctr"/>
          <a:lstStyle/>
          <a:p>
            <a:pPr marL="0" indent="0" algn="ctr">
              <a:buNone/>
            </a:pPr>
            <a:r>
              <a:rPr lang="en-US" sz="900" b="1" dirty="0">
                <a:solidFill>
                  <a:srgbClr val="1A7A4A"/>
                </a:solidFill>
                <a:latin typeface="Calibri" pitchFamily="34" charset="0"/>
                <a:ea typeface="Calibri" pitchFamily="34" charset="-122"/>
                <a:cs typeface="Calibri" pitchFamily="34" charset="-120"/>
              </a:rPr>
              <a:t>98.5%</a:t>
            </a:r>
            <a:endParaRPr lang="en-US" sz="900" dirty="0"/>
          </a:p>
        </p:txBody>
      </p:sp>
      <p:sp>
        <p:nvSpPr>
          <p:cNvPr id="40" name="Text 38"/>
          <p:cNvSpPr/>
          <p:nvPr/>
        </p:nvSpPr>
        <p:spPr>
          <a:xfrm>
            <a:off x="10680192" y="5084064"/>
            <a:ext cx="1005840" cy="731520"/>
          </a:xfrm>
          <a:prstGeom prst="rect">
            <a:avLst/>
          </a:prstGeom>
          <a:noFill/>
          <a:ln/>
        </p:spPr>
        <p:txBody>
          <a:bodyPr wrap="square" rtlCol="0" anchor="ctr"/>
          <a:lstStyle/>
          <a:p>
            <a:pPr marL="0" indent="0" algn="ctr">
              <a:buNone/>
            </a:pPr>
            <a:r>
              <a:rPr lang="en-US" sz="750" dirty="0">
                <a:solidFill>
                  <a:srgbClr val="1A2B3C"/>
                </a:solidFill>
                <a:latin typeface="Calibri" pitchFamily="34" charset="0"/>
                <a:ea typeface="Calibri" pitchFamily="34" charset="-122"/>
                <a:cs typeface="Calibri" pitchFamily="34" charset="-120"/>
              </a:rPr>
              <a:t>EED / Video Swin</a:t>
            </a:r>
            <a:endParaRPr lang="en-US" sz="750" dirty="0"/>
          </a:p>
          <a:p>
            <a:pPr marL="0" indent="0" algn="ctr">
              <a:buNone/>
            </a:pPr>
            <a:r>
              <a:rPr lang="en-US" sz="750" dirty="0">
                <a:solidFill>
                  <a:srgbClr val="1A2B3C"/>
                </a:solidFill>
                <a:latin typeface="Calibri" pitchFamily="34" charset="0"/>
                <a:ea typeface="Calibri" pitchFamily="34" charset="-122"/>
                <a:cs typeface="Calibri" pitchFamily="34" charset="-120"/>
              </a:rPr>
              <a:t>(Nie 2026)</a:t>
            </a:r>
            <a:endParaRPr lang="en-US" sz="750" dirty="0"/>
          </a:p>
        </p:txBody>
      </p:sp>
      <p:sp>
        <p:nvSpPr>
          <p:cNvPr id="41" name="Text 39"/>
          <p:cNvSpPr/>
          <p:nvPr/>
        </p:nvSpPr>
        <p:spPr>
          <a:xfrm>
            <a:off x="10680192" y="5806440"/>
            <a:ext cx="1005840" cy="228600"/>
          </a:xfrm>
          <a:prstGeom prst="rect">
            <a:avLst/>
          </a:prstGeom>
          <a:noFill/>
          <a:ln/>
        </p:spPr>
        <p:txBody>
          <a:bodyPr wrap="square" rtlCol="0" anchor="ctr"/>
          <a:lstStyle/>
          <a:p>
            <a:pPr marL="0" indent="0" algn="ctr">
              <a:buNone/>
            </a:pPr>
            <a:r>
              <a:rPr lang="en-US" sz="700" i="1" dirty="0">
                <a:solidFill>
                  <a:srgbClr val="7A8FA6"/>
                </a:solidFill>
                <a:latin typeface="Calibri" pitchFamily="34" charset="0"/>
                <a:ea typeface="Calibri" pitchFamily="34" charset="-122"/>
                <a:cs typeface="Calibri" pitchFamily="34" charset="-120"/>
              </a:rPr>
              <a:t>Acc</a:t>
            </a:r>
            <a:endParaRPr lang="en-US" sz="700" dirty="0"/>
          </a:p>
        </p:txBody>
      </p:sp>
      <p:sp>
        <p:nvSpPr>
          <p:cNvPr id="42" name="Shape 40"/>
          <p:cNvSpPr/>
          <p:nvPr/>
        </p:nvSpPr>
        <p:spPr>
          <a:xfrm>
            <a:off x="457200" y="1819656"/>
            <a:ext cx="11430000" cy="0"/>
          </a:xfrm>
          <a:prstGeom prst="line">
            <a:avLst/>
          </a:prstGeom>
          <a:noFill/>
          <a:ln w="10160">
            <a:solidFill>
              <a:srgbClr val="AAAAAA"/>
            </a:solidFill>
            <a:prstDash val="dash"/>
          </a:ln>
        </p:spPr>
      </p:sp>
      <p:sp>
        <p:nvSpPr>
          <p:cNvPr id="43" name="Text 41"/>
          <p:cNvSpPr/>
          <p:nvPr/>
        </p:nvSpPr>
        <p:spPr>
          <a:xfrm>
            <a:off x="457200" y="1591056"/>
            <a:ext cx="1828800" cy="201168"/>
          </a:xfrm>
          <a:prstGeom prst="rect">
            <a:avLst/>
          </a:prstGeom>
          <a:noFill/>
          <a:ln/>
        </p:spPr>
        <p:txBody>
          <a:bodyPr wrap="square" rtlCol="0" anchor="ctr"/>
          <a:lstStyle/>
          <a:p>
            <a:pPr marL="0" indent="0">
              <a:buNone/>
            </a:pPr>
            <a:r>
              <a:rPr lang="en-US" sz="800" i="1" dirty="0">
                <a:solidFill>
                  <a:srgbClr val="7A8FA6"/>
                </a:solidFill>
                <a:latin typeface="Calibri" pitchFamily="34" charset="0"/>
                <a:ea typeface="Calibri" pitchFamily="34" charset="-122"/>
                <a:cs typeface="Calibri" pitchFamily="34" charset="-120"/>
              </a:rPr>
              <a:t>90% threshold</a:t>
            </a:r>
            <a:endParaRPr lang="en-US" sz="800" dirty="0"/>
          </a:p>
        </p:txBody>
      </p:sp>
      <p:sp>
        <p:nvSpPr>
          <p:cNvPr id="44" name="Text 42"/>
          <p:cNvSpPr/>
          <p:nvPr/>
        </p:nvSpPr>
        <p:spPr>
          <a:xfrm>
            <a:off x="320040" y="6492240"/>
            <a:ext cx="11521440" cy="274320"/>
          </a:xfrm>
          <a:prstGeom prst="rect">
            <a:avLst/>
          </a:prstGeom>
          <a:noFill/>
          <a:ln/>
        </p:spPr>
        <p:txBody>
          <a:bodyPr wrap="square" rtlCol="0" anchor="ctr"/>
          <a:lstStyle/>
          <a:p>
            <a:pPr marL="0" indent="0">
              <a:buNone/>
            </a:pPr>
            <a:r>
              <a:rPr lang="en-US" sz="800" i="1" dirty="0">
                <a:solidFill>
                  <a:srgbClr val="7A8FA6"/>
                </a:solidFill>
                <a:latin typeface="Calibri" pitchFamily="34" charset="0"/>
                <a:ea typeface="Calibri" pitchFamily="34" charset="-122"/>
                <a:cs typeface="Calibri" pitchFamily="34" charset="-120"/>
              </a:rPr>
              <a:t>Note: Metrics are not directly comparable across datasets. All values are peak reported figures from the respective papers.</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201168"/>
            <a:ext cx="1828800" cy="256032"/>
          </a:xfrm>
          <a:prstGeom prst="rect">
            <a:avLst/>
          </a:prstGeom>
          <a:solidFill>
            <a:srgbClr val="2B9FD9"/>
          </a:solidFill>
          <a:ln w="12700">
            <a:solidFill>
              <a:srgbClr val="2B9FD9"/>
            </a:solidFill>
            <a:prstDash val="solid"/>
          </a:ln>
        </p:spPr>
      </p:sp>
      <p:sp>
        <p:nvSpPr>
          <p:cNvPr id="3" name="Text 1"/>
          <p:cNvSpPr/>
          <p:nvPr/>
        </p:nvSpPr>
        <p:spPr>
          <a:xfrm>
            <a:off x="320040" y="201168"/>
            <a:ext cx="1828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RESEARCH GAPS</a:t>
            </a:r>
            <a:endParaRPr lang="en-US" sz="800" dirty="0"/>
          </a:p>
        </p:txBody>
      </p:sp>
      <p:sp>
        <p:nvSpPr>
          <p:cNvPr id="4" name="Text 2"/>
          <p:cNvSpPr/>
          <p:nvPr/>
        </p:nvSpPr>
        <p:spPr>
          <a:xfrm>
            <a:off x="320040" y="548640"/>
            <a:ext cx="11521440" cy="502920"/>
          </a:xfrm>
          <a:prstGeom prst="rect">
            <a:avLst/>
          </a:prstGeom>
          <a:noFill/>
          <a:ln/>
        </p:spPr>
        <p:txBody>
          <a:bodyPr wrap="square" rtlCol="0" anchor="ctr"/>
          <a:lstStyle/>
          <a:p>
            <a:pPr marL="0" indent="0" algn="l">
              <a:buNone/>
            </a:pPr>
            <a:r>
              <a:rPr lang="en-US" sz="2600" b="1" dirty="0">
                <a:solidFill>
                  <a:srgbClr val="1A2B3C"/>
                </a:solidFill>
                <a:latin typeface="Cambria" pitchFamily="34" charset="0"/>
                <a:ea typeface="Cambria" pitchFamily="34" charset="-122"/>
                <a:cs typeface="Cambria" pitchFamily="34" charset="-120"/>
              </a:rPr>
              <a:t>Identified Limitations in Current Literature</a:t>
            </a:r>
            <a:endParaRPr lang="en-US" sz="2600" dirty="0"/>
          </a:p>
        </p:txBody>
      </p:sp>
      <p:sp>
        <p:nvSpPr>
          <p:cNvPr id="5" name="Shape 3"/>
          <p:cNvSpPr/>
          <p:nvPr/>
        </p:nvSpPr>
        <p:spPr>
          <a:xfrm>
            <a:off x="320040" y="1115568"/>
            <a:ext cx="11521440" cy="0"/>
          </a:xfrm>
          <a:prstGeom prst="line">
            <a:avLst/>
          </a:prstGeom>
          <a:noFill/>
          <a:ln w="19050">
            <a:solidFill>
              <a:srgbClr val="2B9FD9"/>
            </a:solidFill>
            <a:prstDash val="solid"/>
          </a:ln>
        </p:spPr>
      </p:sp>
      <p:sp>
        <p:nvSpPr>
          <p:cNvPr id="6" name="Shape 4"/>
          <p:cNvSpPr/>
          <p:nvPr/>
        </p:nvSpPr>
        <p:spPr>
          <a:xfrm>
            <a:off x="320040" y="1298448"/>
            <a:ext cx="5486400" cy="1463040"/>
          </a:xfrm>
          <a:prstGeom prst="rect">
            <a:avLst/>
          </a:prstGeom>
          <a:solidFill>
            <a:srgbClr val="FFFFFF"/>
          </a:solidFill>
          <a:ln w="12700">
            <a:solidFill>
              <a:srgbClr val="C0392B"/>
            </a:solidFill>
            <a:prstDash val="solid"/>
          </a:ln>
        </p:spPr>
      </p:sp>
      <p:sp>
        <p:nvSpPr>
          <p:cNvPr id="7" name="Shape 5"/>
          <p:cNvSpPr/>
          <p:nvPr/>
        </p:nvSpPr>
        <p:spPr>
          <a:xfrm>
            <a:off x="320040" y="1298448"/>
            <a:ext cx="438912" cy="1463040"/>
          </a:xfrm>
          <a:prstGeom prst="rect">
            <a:avLst/>
          </a:prstGeom>
          <a:solidFill>
            <a:srgbClr val="C0392B"/>
          </a:solidFill>
          <a:ln w="12700">
            <a:solidFill>
              <a:srgbClr val="C0392B"/>
            </a:solidFill>
            <a:prstDash val="solid"/>
          </a:ln>
        </p:spPr>
      </p:sp>
      <p:sp>
        <p:nvSpPr>
          <p:cNvPr id="8" name="Text 6"/>
          <p:cNvSpPr/>
          <p:nvPr/>
        </p:nvSpPr>
        <p:spPr>
          <a:xfrm>
            <a:off x="320040" y="1298448"/>
            <a:ext cx="438912" cy="146304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G1</a:t>
            </a:r>
            <a:endParaRPr lang="en-US" sz="1100" dirty="0"/>
          </a:p>
        </p:txBody>
      </p:sp>
      <p:sp>
        <p:nvSpPr>
          <p:cNvPr id="9" name="Shape 7"/>
          <p:cNvSpPr/>
          <p:nvPr/>
        </p:nvSpPr>
        <p:spPr>
          <a:xfrm>
            <a:off x="5074920" y="1371600"/>
            <a:ext cx="658368" cy="237744"/>
          </a:xfrm>
          <a:prstGeom prst="rect">
            <a:avLst/>
          </a:prstGeom>
          <a:solidFill>
            <a:srgbClr val="C0392B">
              <a:alpha val="25000"/>
            </a:srgbClr>
          </a:solidFill>
          <a:ln w="12700">
            <a:solidFill>
              <a:srgbClr val="C0392B"/>
            </a:solidFill>
            <a:prstDash val="solid"/>
          </a:ln>
        </p:spPr>
      </p:sp>
      <p:sp>
        <p:nvSpPr>
          <p:cNvPr id="10" name="Text 8"/>
          <p:cNvSpPr/>
          <p:nvPr/>
        </p:nvSpPr>
        <p:spPr>
          <a:xfrm>
            <a:off x="5074920" y="1371600"/>
            <a:ext cx="658368" cy="237744"/>
          </a:xfrm>
          <a:prstGeom prst="rect">
            <a:avLst/>
          </a:prstGeom>
          <a:noFill/>
          <a:ln/>
        </p:spPr>
        <p:txBody>
          <a:bodyPr wrap="square" rtlCol="0" anchor="ctr"/>
          <a:lstStyle/>
          <a:p>
            <a:pPr marL="0" indent="0" algn="ctr">
              <a:buNone/>
            </a:pPr>
            <a:r>
              <a:rPr lang="en-US" sz="700" b="1" dirty="0">
                <a:solidFill>
                  <a:srgbClr val="C0392B"/>
                </a:solidFill>
                <a:latin typeface="Calibri" pitchFamily="34" charset="0"/>
                <a:ea typeface="Calibri" pitchFamily="34" charset="-122"/>
                <a:cs typeface="Calibri" pitchFamily="34" charset="-120"/>
              </a:rPr>
              <a:t>Critical</a:t>
            </a:r>
            <a:endParaRPr lang="en-US" sz="700" dirty="0"/>
          </a:p>
        </p:txBody>
      </p:sp>
      <p:sp>
        <p:nvSpPr>
          <p:cNvPr id="11" name="Text 9"/>
          <p:cNvSpPr/>
          <p:nvPr/>
        </p:nvSpPr>
        <p:spPr>
          <a:xfrm>
            <a:off x="850392" y="1353312"/>
            <a:ext cx="4160520" cy="274320"/>
          </a:xfrm>
          <a:prstGeom prst="rect">
            <a:avLst/>
          </a:prstGeom>
          <a:noFill/>
          <a:ln/>
        </p:spPr>
        <p:txBody>
          <a:bodyPr wrap="square" rtlCol="0" anchor="ctr"/>
          <a:lstStyle/>
          <a:p>
            <a:pPr marL="0" indent="0">
              <a:buNone/>
            </a:pPr>
            <a:r>
              <a:rPr lang="en-US" sz="1150" b="1" dirty="0">
                <a:solidFill>
                  <a:srgbClr val="1A2B3C"/>
                </a:solidFill>
                <a:latin typeface="Cambria" pitchFamily="34" charset="0"/>
                <a:ea typeface="Cambria" pitchFamily="34" charset="-122"/>
                <a:cs typeface="Cambria" pitchFamily="34" charset="-120"/>
              </a:rPr>
              <a:t>The Explainability Dilemma</a:t>
            </a:r>
            <a:endParaRPr lang="en-US" sz="1150" dirty="0"/>
          </a:p>
        </p:txBody>
      </p:sp>
      <p:sp>
        <p:nvSpPr>
          <p:cNvPr id="12" name="Text 10"/>
          <p:cNvSpPr/>
          <p:nvPr/>
        </p:nvSpPr>
        <p:spPr>
          <a:xfrm>
            <a:off x="850392" y="1664208"/>
            <a:ext cx="4846320" cy="1005840"/>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High-accuracy models (I3D, SlowFast) are opaque. They provide no pedagogical justification — making them ethically and legally untrustworthy for educational deployment. Only one paper (Nie &amp; Wang, 2026) directly addresses XAI.</a:t>
            </a:r>
            <a:endParaRPr lang="en-US" sz="950" dirty="0"/>
          </a:p>
        </p:txBody>
      </p:sp>
      <p:sp>
        <p:nvSpPr>
          <p:cNvPr id="13" name="Shape 11"/>
          <p:cNvSpPr/>
          <p:nvPr/>
        </p:nvSpPr>
        <p:spPr>
          <a:xfrm>
            <a:off x="6263640" y="1298448"/>
            <a:ext cx="5486400" cy="1463040"/>
          </a:xfrm>
          <a:prstGeom prst="rect">
            <a:avLst/>
          </a:prstGeom>
          <a:solidFill>
            <a:srgbClr val="FFFFFF"/>
          </a:solidFill>
          <a:ln w="12700">
            <a:solidFill>
              <a:srgbClr val="E67E22"/>
            </a:solidFill>
            <a:prstDash val="solid"/>
          </a:ln>
        </p:spPr>
      </p:sp>
      <p:sp>
        <p:nvSpPr>
          <p:cNvPr id="14" name="Shape 12"/>
          <p:cNvSpPr/>
          <p:nvPr/>
        </p:nvSpPr>
        <p:spPr>
          <a:xfrm>
            <a:off x="6263640" y="1298448"/>
            <a:ext cx="438912" cy="1463040"/>
          </a:xfrm>
          <a:prstGeom prst="rect">
            <a:avLst/>
          </a:prstGeom>
          <a:solidFill>
            <a:srgbClr val="E67E22"/>
          </a:solidFill>
          <a:ln w="12700">
            <a:solidFill>
              <a:srgbClr val="E67E22"/>
            </a:solidFill>
            <a:prstDash val="solid"/>
          </a:ln>
        </p:spPr>
      </p:sp>
      <p:sp>
        <p:nvSpPr>
          <p:cNvPr id="15" name="Text 13"/>
          <p:cNvSpPr/>
          <p:nvPr/>
        </p:nvSpPr>
        <p:spPr>
          <a:xfrm>
            <a:off x="6263640" y="1298448"/>
            <a:ext cx="438912" cy="146304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G2</a:t>
            </a:r>
            <a:endParaRPr lang="en-US" sz="1100" dirty="0"/>
          </a:p>
        </p:txBody>
      </p:sp>
      <p:sp>
        <p:nvSpPr>
          <p:cNvPr id="16" name="Shape 14"/>
          <p:cNvSpPr/>
          <p:nvPr/>
        </p:nvSpPr>
        <p:spPr>
          <a:xfrm>
            <a:off x="11018520" y="1371600"/>
            <a:ext cx="658368" cy="237744"/>
          </a:xfrm>
          <a:prstGeom prst="rect">
            <a:avLst/>
          </a:prstGeom>
          <a:solidFill>
            <a:srgbClr val="E67E22">
              <a:alpha val="25000"/>
            </a:srgbClr>
          </a:solidFill>
          <a:ln w="12700">
            <a:solidFill>
              <a:srgbClr val="E67E22"/>
            </a:solidFill>
            <a:prstDash val="solid"/>
          </a:ln>
        </p:spPr>
      </p:sp>
      <p:sp>
        <p:nvSpPr>
          <p:cNvPr id="17" name="Text 15"/>
          <p:cNvSpPr/>
          <p:nvPr/>
        </p:nvSpPr>
        <p:spPr>
          <a:xfrm>
            <a:off x="11018520" y="1371600"/>
            <a:ext cx="658368" cy="237744"/>
          </a:xfrm>
          <a:prstGeom prst="rect">
            <a:avLst/>
          </a:prstGeom>
          <a:noFill/>
          <a:ln/>
        </p:spPr>
        <p:txBody>
          <a:bodyPr wrap="square" rtlCol="0" anchor="ctr"/>
          <a:lstStyle/>
          <a:p>
            <a:pPr marL="0" indent="0" algn="ctr">
              <a:buNone/>
            </a:pPr>
            <a:r>
              <a:rPr lang="en-US" sz="700" b="1" dirty="0">
                <a:solidFill>
                  <a:srgbClr val="E67E22"/>
                </a:solidFill>
                <a:latin typeface="Calibri" pitchFamily="34" charset="0"/>
                <a:ea typeface="Calibri" pitchFamily="34" charset="-122"/>
                <a:cs typeface="Calibri" pitchFamily="34" charset="-120"/>
              </a:rPr>
              <a:t>High</a:t>
            </a:r>
            <a:endParaRPr lang="en-US" sz="700" dirty="0"/>
          </a:p>
        </p:txBody>
      </p:sp>
      <p:sp>
        <p:nvSpPr>
          <p:cNvPr id="18" name="Text 16"/>
          <p:cNvSpPr/>
          <p:nvPr/>
        </p:nvSpPr>
        <p:spPr>
          <a:xfrm>
            <a:off x="6793992" y="1353312"/>
            <a:ext cx="4160520" cy="274320"/>
          </a:xfrm>
          <a:prstGeom prst="rect">
            <a:avLst/>
          </a:prstGeom>
          <a:noFill/>
          <a:ln/>
        </p:spPr>
        <p:txBody>
          <a:bodyPr wrap="square" rtlCol="0" anchor="ctr"/>
          <a:lstStyle/>
          <a:p>
            <a:pPr marL="0" indent="0">
              <a:buNone/>
            </a:pPr>
            <a:r>
              <a:rPr lang="en-US" sz="1150" b="1" dirty="0">
                <a:solidFill>
                  <a:srgbClr val="1A2B3C"/>
                </a:solidFill>
                <a:latin typeface="Cambria" pitchFamily="34" charset="0"/>
                <a:ea typeface="Cambria" pitchFamily="34" charset="-122"/>
                <a:cs typeface="Cambria" pitchFamily="34" charset="-120"/>
              </a:rPr>
              <a:t>Primitive Multimodal Fusion</a:t>
            </a:r>
            <a:endParaRPr lang="en-US" sz="1150" dirty="0"/>
          </a:p>
        </p:txBody>
      </p:sp>
      <p:sp>
        <p:nvSpPr>
          <p:cNvPr id="19" name="Text 17"/>
          <p:cNvSpPr/>
          <p:nvPr/>
        </p:nvSpPr>
        <p:spPr>
          <a:xfrm>
            <a:off x="6793992" y="1664208"/>
            <a:ext cx="4846320" cy="1005840"/>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Late-fusion dominates the literature — audio and visual streams are aggregated only at the final classification layer. This misses critical low-level cross-modal synergies (e.g., simultaneous hand-raise + speech onset).</a:t>
            </a:r>
            <a:endParaRPr lang="en-US" sz="950" dirty="0"/>
          </a:p>
        </p:txBody>
      </p:sp>
      <p:sp>
        <p:nvSpPr>
          <p:cNvPr id="20" name="Shape 18"/>
          <p:cNvSpPr/>
          <p:nvPr/>
        </p:nvSpPr>
        <p:spPr>
          <a:xfrm>
            <a:off x="320040" y="2926080"/>
            <a:ext cx="5486400" cy="1463040"/>
          </a:xfrm>
          <a:prstGeom prst="rect">
            <a:avLst/>
          </a:prstGeom>
          <a:solidFill>
            <a:srgbClr val="FFFFFF"/>
          </a:solidFill>
          <a:ln w="12700">
            <a:solidFill>
              <a:srgbClr val="C0392B"/>
            </a:solidFill>
            <a:prstDash val="solid"/>
          </a:ln>
        </p:spPr>
      </p:sp>
      <p:sp>
        <p:nvSpPr>
          <p:cNvPr id="21" name="Shape 19"/>
          <p:cNvSpPr/>
          <p:nvPr/>
        </p:nvSpPr>
        <p:spPr>
          <a:xfrm>
            <a:off x="320040" y="2926080"/>
            <a:ext cx="438912" cy="1463040"/>
          </a:xfrm>
          <a:prstGeom prst="rect">
            <a:avLst/>
          </a:prstGeom>
          <a:solidFill>
            <a:srgbClr val="C0392B"/>
          </a:solidFill>
          <a:ln w="12700">
            <a:solidFill>
              <a:srgbClr val="C0392B"/>
            </a:solidFill>
            <a:prstDash val="solid"/>
          </a:ln>
        </p:spPr>
      </p:sp>
      <p:sp>
        <p:nvSpPr>
          <p:cNvPr id="22" name="Text 20"/>
          <p:cNvSpPr/>
          <p:nvPr/>
        </p:nvSpPr>
        <p:spPr>
          <a:xfrm>
            <a:off x="320040" y="2926080"/>
            <a:ext cx="438912" cy="146304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G3</a:t>
            </a:r>
            <a:endParaRPr lang="en-US" sz="1100" dirty="0"/>
          </a:p>
        </p:txBody>
      </p:sp>
      <p:sp>
        <p:nvSpPr>
          <p:cNvPr id="23" name="Shape 21"/>
          <p:cNvSpPr/>
          <p:nvPr/>
        </p:nvSpPr>
        <p:spPr>
          <a:xfrm>
            <a:off x="5074920" y="2999232"/>
            <a:ext cx="658368" cy="237744"/>
          </a:xfrm>
          <a:prstGeom prst="rect">
            <a:avLst/>
          </a:prstGeom>
          <a:solidFill>
            <a:srgbClr val="C0392B">
              <a:alpha val="25000"/>
            </a:srgbClr>
          </a:solidFill>
          <a:ln w="12700">
            <a:solidFill>
              <a:srgbClr val="C0392B"/>
            </a:solidFill>
            <a:prstDash val="solid"/>
          </a:ln>
        </p:spPr>
      </p:sp>
      <p:sp>
        <p:nvSpPr>
          <p:cNvPr id="24" name="Text 22"/>
          <p:cNvSpPr/>
          <p:nvPr/>
        </p:nvSpPr>
        <p:spPr>
          <a:xfrm>
            <a:off x="5074920" y="2999232"/>
            <a:ext cx="658368" cy="237744"/>
          </a:xfrm>
          <a:prstGeom prst="rect">
            <a:avLst/>
          </a:prstGeom>
          <a:noFill/>
          <a:ln/>
        </p:spPr>
        <p:txBody>
          <a:bodyPr wrap="square" rtlCol="0" anchor="ctr"/>
          <a:lstStyle/>
          <a:p>
            <a:pPr marL="0" indent="0" algn="ctr">
              <a:buNone/>
            </a:pPr>
            <a:r>
              <a:rPr lang="en-US" sz="700" b="1" dirty="0">
                <a:solidFill>
                  <a:srgbClr val="C0392B"/>
                </a:solidFill>
                <a:latin typeface="Calibri" pitchFamily="34" charset="0"/>
                <a:ea typeface="Calibri" pitchFamily="34" charset="-122"/>
                <a:cs typeface="Calibri" pitchFamily="34" charset="-120"/>
              </a:rPr>
              <a:t>Critical</a:t>
            </a:r>
            <a:endParaRPr lang="en-US" sz="700" dirty="0"/>
          </a:p>
        </p:txBody>
      </p:sp>
      <p:sp>
        <p:nvSpPr>
          <p:cNvPr id="25" name="Text 23"/>
          <p:cNvSpPr/>
          <p:nvPr/>
        </p:nvSpPr>
        <p:spPr>
          <a:xfrm>
            <a:off x="850392" y="2980944"/>
            <a:ext cx="4160520" cy="274320"/>
          </a:xfrm>
          <a:prstGeom prst="rect">
            <a:avLst/>
          </a:prstGeom>
          <a:noFill/>
          <a:ln/>
        </p:spPr>
        <p:txBody>
          <a:bodyPr wrap="square" rtlCol="0" anchor="ctr"/>
          <a:lstStyle/>
          <a:p>
            <a:pPr marL="0" indent="0">
              <a:buNone/>
            </a:pPr>
            <a:r>
              <a:rPr lang="en-US" sz="1150" b="1" dirty="0">
                <a:solidFill>
                  <a:srgbClr val="1A2B3C"/>
                </a:solidFill>
                <a:latin typeface="Cambria" pitchFamily="34" charset="0"/>
                <a:ea typeface="Cambria" pitchFamily="34" charset="-122"/>
                <a:cs typeface="Cambria" pitchFamily="34" charset="-120"/>
              </a:rPr>
              <a:t>Individual vs. Group Dataset Gap</a:t>
            </a:r>
            <a:endParaRPr lang="en-US" sz="1150" dirty="0"/>
          </a:p>
        </p:txBody>
      </p:sp>
      <p:sp>
        <p:nvSpPr>
          <p:cNvPr id="26" name="Text 24"/>
          <p:cNvSpPr/>
          <p:nvPr/>
        </p:nvSpPr>
        <p:spPr>
          <a:xfrm>
            <a:off x="850392" y="3291840"/>
            <a:ext cx="4846320" cy="1005840"/>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DAiSEE and similar dominant benchmarks capture isolated students under controlled conditions. OUC-CGE is the sole authentically captured group dataset; all transfer learning is constrained by this gap.</a:t>
            </a:r>
            <a:endParaRPr lang="en-US" sz="950" dirty="0"/>
          </a:p>
        </p:txBody>
      </p:sp>
      <p:sp>
        <p:nvSpPr>
          <p:cNvPr id="27" name="Shape 25"/>
          <p:cNvSpPr/>
          <p:nvPr/>
        </p:nvSpPr>
        <p:spPr>
          <a:xfrm>
            <a:off x="6263640" y="2926080"/>
            <a:ext cx="5486400" cy="1463040"/>
          </a:xfrm>
          <a:prstGeom prst="rect">
            <a:avLst/>
          </a:prstGeom>
          <a:solidFill>
            <a:srgbClr val="FFFFFF"/>
          </a:solidFill>
          <a:ln w="12700">
            <a:solidFill>
              <a:srgbClr val="E67E22"/>
            </a:solidFill>
            <a:prstDash val="solid"/>
          </a:ln>
        </p:spPr>
      </p:sp>
      <p:sp>
        <p:nvSpPr>
          <p:cNvPr id="28" name="Shape 26"/>
          <p:cNvSpPr/>
          <p:nvPr/>
        </p:nvSpPr>
        <p:spPr>
          <a:xfrm>
            <a:off x="6263640" y="2926080"/>
            <a:ext cx="438912" cy="1463040"/>
          </a:xfrm>
          <a:prstGeom prst="rect">
            <a:avLst/>
          </a:prstGeom>
          <a:solidFill>
            <a:srgbClr val="E67E22"/>
          </a:solidFill>
          <a:ln w="12700">
            <a:solidFill>
              <a:srgbClr val="E67E22"/>
            </a:solidFill>
            <a:prstDash val="solid"/>
          </a:ln>
        </p:spPr>
      </p:sp>
      <p:sp>
        <p:nvSpPr>
          <p:cNvPr id="29" name="Text 27"/>
          <p:cNvSpPr/>
          <p:nvPr/>
        </p:nvSpPr>
        <p:spPr>
          <a:xfrm>
            <a:off x="6263640" y="2926080"/>
            <a:ext cx="438912" cy="146304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G4</a:t>
            </a:r>
            <a:endParaRPr lang="en-US" sz="1100" dirty="0"/>
          </a:p>
        </p:txBody>
      </p:sp>
      <p:sp>
        <p:nvSpPr>
          <p:cNvPr id="30" name="Shape 28"/>
          <p:cNvSpPr/>
          <p:nvPr/>
        </p:nvSpPr>
        <p:spPr>
          <a:xfrm>
            <a:off x="11018520" y="2999232"/>
            <a:ext cx="658368" cy="237744"/>
          </a:xfrm>
          <a:prstGeom prst="rect">
            <a:avLst/>
          </a:prstGeom>
          <a:solidFill>
            <a:srgbClr val="E67E22">
              <a:alpha val="25000"/>
            </a:srgbClr>
          </a:solidFill>
          <a:ln w="12700">
            <a:solidFill>
              <a:srgbClr val="E67E22"/>
            </a:solidFill>
            <a:prstDash val="solid"/>
          </a:ln>
        </p:spPr>
      </p:sp>
      <p:sp>
        <p:nvSpPr>
          <p:cNvPr id="31" name="Text 29"/>
          <p:cNvSpPr/>
          <p:nvPr/>
        </p:nvSpPr>
        <p:spPr>
          <a:xfrm>
            <a:off x="11018520" y="2999232"/>
            <a:ext cx="658368" cy="237744"/>
          </a:xfrm>
          <a:prstGeom prst="rect">
            <a:avLst/>
          </a:prstGeom>
          <a:noFill/>
          <a:ln/>
        </p:spPr>
        <p:txBody>
          <a:bodyPr wrap="square" rtlCol="0" anchor="ctr"/>
          <a:lstStyle/>
          <a:p>
            <a:pPr marL="0" indent="0" algn="ctr">
              <a:buNone/>
            </a:pPr>
            <a:r>
              <a:rPr lang="en-US" sz="700" b="1" dirty="0">
                <a:solidFill>
                  <a:srgbClr val="E67E22"/>
                </a:solidFill>
                <a:latin typeface="Calibri" pitchFamily="34" charset="0"/>
                <a:ea typeface="Calibri" pitchFamily="34" charset="-122"/>
                <a:cs typeface="Calibri" pitchFamily="34" charset="-120"/>
              </a:rPr>
              <a:t>High</a:t>
            </a:r>
            <a:endParaRPr lang="en-US" sz="700" dirty="0"/>
          </a:p>
        </p:txBody>
      </p:sp>
      <p:sp>
        <p:nvSpPr>
          <p:cNvPr id="32" name="Text 30"/>
          <p:cNvSpPr/>
          <p:nvPr/>
        </p:nvSpPr>
        <p:spPr>
          <a:xfrm>
            <a:off x="6793992" y="2980944"/>
            <a:ext cx="4160520" cy="274320"/>
          </a:xfrm>
          <a:prstGeom prst="rect">
            <a:avLst/>
          </a:prstGeom>
          <a:noFill/>
          <a:ln/>
        </p:spPr>
        <p:txBody>
          <a:bodyPr wrap="square" rtlCol="0" anchor="ctr"/>
          <a:lstStyle/>
          <a:p>
            <a:pPr marL="0" indent="0">
              <a:buNone/>
            </a:pPr>
            <a:r>
              <a:rPr lang="en-US" sz="1150" b="1" dirty="0">
                <a:solidFill>
                  <a:srgbClr val="1A2B3C"/>
                </a:solidFill>
                <a:latin typeface="Cambria" pitchFamily="34" charset="0"/>
                <a:ea typeface="Cambria" pitchFamily="34" charset="-122"/>
                <a:cs typeface="Cambria" pitchFamily="34" charset="-120"/>
              </a:rPr>
              <a:t>Cloud vs. Edge Deployment</a:t>
            </a:r>
            <a:endParaRPr lang="en-US" sz="1150" dirty="0"/>
          </a:p>
        </p:txBody>
      </p:sp>
      <p:sp>
        <p:nvSpPr>
          <p:cNvPr id="33" name="Text 31"/>
          <p:cNvSpPr/>
          <p:nvPr/>
        </p:nvSpPr>
        <p:spPr>
          <a:xfrm>
            <a:off x="6793992" y="3291840"/>
            <a:ext cx="4846320" cy="1005840"/>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SOTA architectures (Video Swin, 3D DenseNet) require large GPU clusters. No paper demonstrates sustained real-time inference on standard classroom embedded hardware — a prerequisite for practical adoption.</a:t>
            </a:r>
            <a:endParaRPr lang="en-US" sz="950" dirty="0"/>
          </a:p>
        </p:txBody>
      </p:sp>
      <p:sp>
        <p:nvSpPr>
          <p:cNvPr id="34" name="Shape 32"/>
          <p:cNvSpPr/>
          <p:nvPr/>
        </p:nvSpPr>
        <p:spPr>
          <a:xfrm>
            <a:off x="320040" y="4553712"/>
            <a:ext cx="5486400" cy="1463040"/>
          </a:xfrm>
          <a:prstGeom prst="rect">
            <a:avLst/>
          </a:prstGeom>
          <a:solidFill>
            <a:srgbClr val="FFFFFF"/>
          </a:solidFill>
          <a:ln w="12700">
            <a:solidFill>
              <a:srgbClr val="F4A811"/>
            </a:solidFill>
            <a:prstDash val="solid"/>
          </a:ln>
        </p:spPr>
      </p:sp>
      <p:sp>
        <p:nvSpPr>
          <p:cNvPr id="35" name="Shape 33"/>
          <p:cNvSpPr/>
          <p:nvPr/>
        </p:nvSpPr>
        <p:spPr>
          <a:xfrm>
            <a:off x="320040" y="4553712"/>
            <a:ext cx="438912" cy="1463040"/>
          </a:xfrm>
          <a:prstGeom prst="rect">
            <a:avLst/>
          </a:prstGeom>
          <a:solidFill>
            <a:srgbClr val="F4A811"/>
          </a:solidFill>
          <a:ln w="12700">
            <a:solidFill>
              <a:srgbClr val="F4A811"/>
            </a:solidFill>
            <a:prstDash val="solid"/>
          </a:ln>
        </p:spPr>
      </p:sp>
      <p:sp>
        <p:nvSpPr>
          <p:cNvPr id="36" name="Text 34"/>
          <p:cNvSpPr/>
          <p:nvPr/>
        </p:nvSpPr>
        <p:spPr>
          <a:xfrm>
            <a:off x="320040" y="4553712"/>
            <a:ext cx="438912" cy="146304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G5</a:t>
            </a:r>
            <a:endParaRPr lang="en-US" sz="1100" dirty="0"/>
          </a:p>
        </p:txBody>
      </p:sp>
      <p:sp>
        <p:nvSpPr>
          <p:cNvPr id="37" name="Shape 35"/>
          <p:cNvSpPr/>
          <p:nvPr/>
        </p:nvSpPr>
        <p:spPr>
          <a:xfrm>
            <a:off x="5074920" y="4626864"/>
            <a:ext cx="658368" cy="237744"/>
          </a:xfrm>
          <a:prstGeom prst="rect">
            <a:avLst/>
          </a:prstGeom>
          <a:solidFill>
            <a:srgbClr val="F4A811">
              <a:alpha val="25000"/>
            </a:srgbClr>
          </a:solidFill>
          <a:ln w="12700">
            <a:solidFill>
              <a:srgbClr val="F4A811"/>
            </a:solidFill>
            <a:prstDash val="solid"/>
          </a:ln>
        </p:spPr>
      </p:sp>
      <p:sp>
        <p:nvSpPr>
          <p:cNvPr id="38" name="Text 36"/>
          <p:cNvSpPr/>
          <p:nvPr/>
        </p:nvSpPr>
        <p:spPr>
          <a:xfrm>
            <a:off x="5074920" y="4626864"/>
            <a:ext cx="658368" cy="237744"/>
          </a:xfrm>
          <a:prstGeom prst="rect">
            <a:avLst/>
          </a:prstGeom>
          <a:noFill/>
          <a:ln/>
        </p:spPr>
        <p:txBody>
          <a:bodyPr wrap="square" rtlCol="0" anchor="ctr"/>
          <a:lstStyle/>
          <a:p>
            <a:pPr marL="0" indent="0" algn="ctr">
              <a:buNone/>
            </a:pPr>
            <a:r>
              <a:rPr lang="en-US" sz="700" b="1" dirty="0">
                <a:solidFill>
                  <a:srgbClr val="F4A811"/>
                </a:solidFill>
                <a:latin typeface="Calibri" pitchFamily="34" charset="0"/>
                <a:ea typeface="Calibri" pitchFamily="34" charset="-122"/>
                <a:cs typeface="Calibri" pitchFamily="34" charset="-120"/>
              </a:rPr>
              <a:t>Moderate</a:t>
            </a:r>
            <a:endParaRPr lang="en-US" sz="700" dirty="0"/>
          </a:p>
        </p:txBody>
      </p:sp>
      <p:sp>
        <p:nvSpPr>
          <p:cNvPr id="39" name="Text 37"/>
          <p:cNvSpPr/>
          <p:nvPr/>
        </p:nvSpPr>
        <p:spPr>
          <a:xfrm>
            <a:off x="850392" y="4608576"/>
            <a:ext cx="4160520" cy="274320"/>
          </a:xfrm>
          <a:prstGeom prst="rect">
            <a:avLst/>
          </a:prstGeom>
          <a:noFill/>
          <a:ln/>
        </p:spPr>
        <p:txBody>
          <a:bodyPr wrap="square" rtlCol="0" anchor="ctr"/>
          <a:lstStyle/>
          <a:p>
            <a:pPr marL="0" indent="0">
              <a:buNone/>
            </a:pPr>
            <a:r>
              <a:rPr lang="en-US" sz="1150" b="1" dirty="0">
                <a:solidFill>
                  <a:srgbClr val="1A2B3C"/>
                </a:solidFill>
                <a:latin typeface="Cambria" pitchFamily="34" charset="0"/>
                <a:ea typeface="Cambria" pitchFamily="34" charset="-122"/>
                <a:cs typeface="Cambria" pitchFamily="34" charset="-120"/>
              </a:rPr>
              <a:t>Annotation Scalability</a:t>
            </a:r>
            <a:endParaRPr lang="en-US" sz="1150" dirty="0"/>
          </a:p>
        </p:txBody>
      </p:sp>
      <p:sp>
        <p:nvSpPr>
          <p:cNvPr id="40" name="Text 38"/>
          <p:cNvSpPr/>
          <p:nvPr/>
        </p:nvSpPr>
        <p:spPr>
          <a:xfrm>
            <a:off x="850392" y="4919472"/>
            <a:ext cx="4846320" cy="1005840"/>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Manual annotation of subjective engagement states is expensive, slow, and inter-rater unreliable. Self-supervised approaches (FMAE) are nascent and tested only on individual-face datasets — not applied to group-level data.</a:t>
            </a:r>
            <a:endParaRPr lang="en-US" sz="950" dirty="0"/>
          </a:p>
        </p:txBody>
      </p:sp>
      <p:sp>
        <p:nvSpPr>
          <p:cNvPr id="41" name="Shape 39"/>
          <p:cNvSpPr/>
          <p:nvPr/>
        </p:nvSpPr>
        <p:spPr>
          <a:xfrm>
            <a:off x="6263640" y="4553712"/>
            <a:ext cx="5486400" cy="1463040"/>
          </a:xfrm>
          <a:prstGeom prst="rect">
            <a:avLst/>
          </a:prstGeom>
          <a:solidFill>
            <a:srgbClr val="FFFFFF"/>
          </a:solidFill>
          <a:ln w="12700">
            <a:solidFill>
              <a:srgbClr val="F4A811"/>
            </a:solidFill>
            <a:prstDash val="solid"/>
          </a:ln>
        </p:spPr>
      </p:sp>
      <p:sp>
        <p:nvSpPr>
          <p:cNvPr id="42" name="Shape 40"/>
          <p:cNvSpPr/>
          <p:nvPr/>
        </p:nvSpPr>
        <p:spPr>
          <a:xfrm>
            <a:off x="6263640" y="4553712"/>
            <a:ext cx="438912" cy="1463040"/>
          </a:xfrm>
          <a:prstGeom prst="rect">
            <a:avLst/>
          </a:prstGeom>
          <a:solidFill>
            <a:srgbClr val="F4A811"/>
          </a:solidFill>
          <a:ln w="12700">
            <a:solidFill>
              <a:srgbClr val="F4A811"/>
            </a:solidFill>
            <a:prstDash val="solid"/>
          </a:ln>
        </p:spPr>
      </p:sp>
      <p:sp>
        <p:nvSpPr>
          <p:cNvPr id="43" name="Text 41"/>
          <p:cNvSpPr/>
          <p:nvPr/>
        </p:nvSpPr>
        <p:spPr>
          <a:xfrm>
            <a:off x="6263640" y="4553712"/>
            <a:ext cx="438912" cy="1463040"/>
          </a:xfrm>
          <a:prstGeom prst="rect">
            <a:avLst/>
          </a:prstGeom>
          <a:noFill/>
          <a:ln/>
        </p:spPr>
        <p:txBody>
          <a:bodyPr wrap="square" lIns="0" tIns="0" rIns="0" bIns="0"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G6</a:t>
            </a:r>
            <a:endParaRPr lang="en-US" sz="1100" dirty="0"/>
          </a:p>
        </p:txBody>
      </p:sp>
      <p:sp>
        <p:nvSpPr>
          <p:cNvPr id="44" name="Shape 42"/>
          <p:cNvSpPr/>
          <p:nvPr/>
        </p:nvSpPr>
        <p:spPr>
          <a:xfrm>
            <a:off x="11018520" y="4626864"/>
            <a:ext cx="658368" cy="237744"/>
          </a:xfrm>
          <a:prstGeom prst="rect">
            <a:avLst/>
          </a:prstGeom>
          <a:solidFill>
            <a:srgbClr val="F4A811">
              <a:alpha val="25000"/>
            </a:srgbClr>
          </a:solidFill>
          <a:ln w="12700">
            <a:solidFill>
              <a:srgbClr val="F4A811"/>
            </a:solidFill>
            <a:prstDash val="solid"/>
          </a:ln>
        </p:spPr>
      </p:sp>
      <p:sp>
        <p:nvSpPr>
          <p:cNvPr id="45" name="Text 43"/>
          <p:cNvSpPr/>
          <p:nvPr/>
        </p:nvSpPr>
        <p:spPr>
          <a:xfrm>
            <a:off x="11018520" y="4626864"/>
            <a:ext cx="658368" cy="237744"/>
          </a:xfrm>
          <a:prstGeom prst="rect">
            <a:avLst/>
          </a:prstGeom>
          <a:noFill/>
          <a:ln/>
        </p:spPr>
        <p:txBody>
          <a:bodyPr wrap="square" rtlCol="0" anchor="ctr"/>
          <a:lstStyle/>
          <a:p>
            <a:pPr marL="0" indent="0" algn="ctr">
              <a:buNone/>
            </a:pPr>
            <a:r>
              <a:rPr lang="en-US" sz="700" b="1" dirty="0">
                <a:solidFill>
                  <a:srgbClr val="F4A811"/>
                </a:solidFill>
                <a:latin typeface="Calibri" pitchFamily="34" charset="0"/>
                <a:ea typeface="Calibri" pitchFamily="34" charset="-122"/>
                <a:cs typeface="Calibri" pitchFamily="34" charset="-120"/>
              </a:rPr>
              <a:t>Moderate</a:t>
            </a:r>
            <a:endParaRPr lang="en-US" sz="700" dirty="0"/>
          </a:p>
        </p:txBody>
      </p:sp>
      <p:sp>
        <p:nvSpPr>
          <p:cNvPr id="46" name="Text 44"/>
          <p:cNvSpPr/>
          <p:nvPr/>
        </p:nvSpPr>
        <p:spPr>
          <a:xfrm>
            <a:off x="6793992" y="4608576"/>
            <a:ext cx="4160520" cy="274320"/>
          </a:xfrm>
          <a:prstGeom prst="rect">
            <a:avLst/>
          </a:prstGeom>
          <a:noFill/>
          <a:ln/>
        </p:spPr>
        <p:txBody>
          <a:bodyPr wrap="square" rtlCol="0" anchor="ctr"/>
          <a:lstStyle/>
          <a:p>
            <a:pPr marL="0" indent="0">
              <a:buNone/>
            </a:pPr>
            <a:r>
              <a:rPr lang="en-US" sz="1150" b="1" dirty="0">
                <a:solidFill>
                  <a:srgbClr val="1A2B3C"/>
                </a:solidFill>
                <a:latin typeface="Cambria" pitchFamily="34" charset="0"/>
                <a:ea typeface="Cambria" pitchFamily="34" charset="-122"/>
                <a:cs typeface="Cambria" pitchFamily="34" charset="-120"/>
              </a:rPr>
              <a:t>Personalisation and Inter-Subject Variance</a:t>
            </a:r>
            <a:endParaRPr lang="en-US" sz="1150" dirty="0"/>
          </a:p>
        </p:txBody>
      </p:sp>
      <p:sp>
        <p:nvSpPr>
          <p:cNvPr id="47" name="Text 45"/>
          <p:cNvSpPr/>
          <p:nvPr/>
        </p:nvSpPr>
        <p:spPr>
          <a:xfrm>
            <a:off x="6793992" y="4919472"/>
            <a:ext cx="4846320" cy="1005840"/>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Sumer et al. (2023) demonstrate that group-level models systematically misclassify stoic students. No group engagement system incorporates student-level personalisation loops to calibrate baseline expressiveness.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8EDF2"/>
        </a:solidFill>
        <a:effectLst/>
      </p:bgPr>
    </p:bg>
    <p:spTree>
      <p:nvGrpSpPr>
        <p:cNvPr id="1" name=""/>
        <p:cNvGrpSpPr/>
        <p:nvPr/>
      </p:nvGrpSpPr>
      <p:grpSpPr>
        <a:xfrm>
          <a:off x="0" y="0"/>
          <a:ext cx="0" cy="0"/>
          <a:chOff x="0" y="0"/>
          <a:chExt cx="0" cy="0"/>
        </a:xfrm>
      </p:grpSpPr>
      <p:sp>
        <p:nvSpPr>
          <p:cNvPr id="2" name="Shape 0"/>
          <p:cNvSpPr/>
          <p:nvPr/>
        </p:nvSpPr>
        <p:spPr>
          <a:xfrm>
            <a:off x="320040" y="201168"/>
            <a:ext cx="1828800" cy="256032"/>
          </a:xfrm>
          <a:prstGeom prst="rect">
            <a:avLst/>
          </a:prstGeom>
          <a:solidFill>
            <a:srgbClr val="2B9FD9"/>
          </a:solidFill>
          <a:ln w="12700">
            <a:solidFill>
              <a:srgbClr val="2B9FD9"/>
            </a:solidFill>
            <a:prstDash val="solid"/>
          </a:ln>
        </p:spPr>
      </p:sp>
      <p:sp>
        <p:nvSpPr>
          <p:cNvPr id="3" name="Text 1"/>
          <p:cNvSpPr/>
          <p:nvPr/>
        </p:nvSpPr>
        <p:spPr>
          <a:xfrm>
            <a:off x="320040" y="201168"/>
            <a:ext cx="1828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FUTURE DIRECTIONS</a:t>
            </a:r>
            <a:endParaRPr lang="en-US" sz="800" dirty="0"/>
          </a:p>
        </p:txBody>
      </p:sp>
      <p:sp>
        <p:nvSpPr>
          <p:cNvPr id="4" name="Text 2"/>
          <p:cNvSpPr/>
          <p:nvPr/>
        </p:nvSpPr>
        <p:spPr>
          <a:xfrm>
            <a:off x="320040" y="548640"/>
            <a:ext cx="11521440" cy="502920"/>
          </a:xfrm>
          <a:prstGeom prst="rect">
            <a:avLst/>
          </a:prstGeom>
          <a:noFill/>
          <a:ln/>
        </p:spPr>
        <p:txBody>
          <a:bodyPr wrap="square" rtlCol="0" anchor="ctr"/>
          <a:lstStyle/>
          <a:p>
            <a:pPr marL="0" indent="0" algn="l">
              <a:buNone/>
            </a:pPr>
            <a:r>
              <a:rPr lang="en-US" sz="2600" b="1" dirty="0">
                <a:solidFill>
                  <a:srgbClr val="1A2B3C"/>
                </a:solidFill>
                <a:latin typeface="Cambria" pitchFamily="34" charset="0"/>
                <a:ea typeface="Cambria" pitchFamily="34" charset="-122"/>
                <a:cs typeface="Cambria" pitchFamily="34" charset="-120"/>
              </a:rPr>
              <a:t>Potential Research Directions Using OUC-CGE</a:t>
            </a:r>
            <a:endParaRPr lang="en-US" sz="2600" dirty="0"/>
          </a:p>
        </p:txBody>
      </p:sp>
      <p:sp>
        <p:nvSpPr>
          <p:cNvPr id="5" name="Shape 3"/>
          <p:cNvSpPr/>
          <p:nvPr/>
        </p:nvSpPr>
        <p:spPr>
          <a:xfrm>
            <a:off x="320040" y="1115568"/>
            <a:ext cx="11521440" cy="0"/>
          </a:xfrm>
          <a:prstGeom prst="line">
            <a:avLst/>
          </a:prstGeom>
          <a:noFill/>
          <a:ln w="19050">
            <a:solidFill>
              <a:srgbClr val="2B9FD9"/>
            </a:solidFill>
            <a:prstDash val="solid"/>
          </a:ln>
        </p:spPr>
      </p:sp>
      <p:sp>
        <p:nvSpPr>
          <p:cNvPr id="6" name="Shape 4"/>
          <p:cNvSpPr/>
          <p:nvPr/>
        </p:nvSpPr>
        <p:spPr>
          <a:xfrm>
            <a:off x="320040" y="1298448"/>
            <a:ext cx="3566160" cy="2304288"/>
          </a:xfrm>
          <a:prstGeom prst="rect">
            <a:avLst/>
          </a:prstGeom>
          <a:solidFill>
            <a:srgbClr val="FFFFFF"/>
          </a:solidFill>
          <a:ln w="12700">
            <a:solidFill>
              <a:srgbClr val="1B6CA8"/>
            </a:solidFill>
            <a:prstDash val="solid"/>
          </a:ln>
        </p:spPr>
      </p:sp>
      <p:sp>
        <p:nvSpPr>
          <p:cNvPr id="7" name="Shape 5"/>
          <p:cNvSpPr/>
          <p:nvPr/>
        </p:nvSpPr>
        <p:spPr>
          <a:xfrm>
            <a:off x="320040" y="1298448"/>
            <a:ext cx="3566160" cy="329184"/>
          </a:xfrm>
          <a:prstGeom prst="rect">
            <a:avLst/>
          </a:prstGeom>
          <a:solidFill>
            <a:srgbClr val="1B6CA8"/>
          </a:solidFill>
          <a:ln w="12700">
            <a:solidFill>
              <a:srgbClr val="1B6CA8"/>
            </a:solidFill>
            <a:prstDash val="solid"/>
          </a:ln>
        </p:spPr>
      </p:sp>
      <p:sp>
        <p:nvSpPr>
          <p:cNvPr id="8" name="Text 6"/>
          <p:cNvSpPr/>
          <p:nvPr/>
        </p:nvSpPr>
        <p:spPr>
          <a:xfrm>
            <a:off x="393192" y="1298448"/>
            <a:ext cx="3419856" cy="329184"/>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FD1  ·  Addresses: G1, G3</a:t>
            </a:r>
            <a:endParaRPr lang="en-US" sz="900" dirty="0"/>
          </a:p>
        </p:txBody>
      </p:sp>
      <p:sp>
        <p:nvSpPr>
          <p:cNvPr id="9" name="Text 7"/>
          <p:cNvSpPr/>
          <p:nvPr/>
        </p:nvSpPr>
        <p:spPr>
          <a:xfrm>
            <a:off x="411480" y="1664208"/>
            <a:ext cx="3383280" cy="457200"/>
          </a:xfrm>
          <a:prstGeom prst="rect">
            <a:avLst/>
          </a:prstGeom>
          <a:noFill/>
          <a:ln/>
        </p:spPr>
        <p:txBody>
          <a:bodyPr wrap="square" rtlCol="0" anchor="ctr"/>
          <a:lstStyle/>
          <a:p>
            <a:pPr marL="0" indent="0">
              <a:buNone/>
            </a:pPr>
            <a:r>
              <a:rPr lang="en-US" sz="1150" b="1" dirty="0">
                <a:solidFill>
                  <a:srgbClr val="1B6CA8"/>
                </a:solidFill>
                <a:latin typeface="Cambria" pitchFamily="34" charset="0"/>
                <a:ea typeface="Cambria" pitchFamily="34" charset="-122"/>
                <a:cs typeface="Cambria" pitchFamily="34" charset="-120"/>
              </a:rPr>
              <a:t>Vision Transformers for Group Dynamics</a:t>
            </a:r>
            <a:endParaRPr lang="en-US" sz="1150" dirty="0"/>
          </a:p>
        </p:txBody>
      </p:sp>
      <p:sp>
        <p:nvSpPr>
          <p:cNvPr id="10" name="Text 8"/>
          <p:cNvSpPr/>
          <p:nvPr/>
        </p:nvSpPr>
        <p:spPr>
          <a:xfrm>
            <a:off x="411480" y="2139696"/>
            <a:ext cx="3383280" cy="1389888"/>
          </a:xfrm>
          <a:prstGeom prst="rect">
            <a:avLst/>
          </a:prstGeom>
          <a:noFill/>
          <a:ln/>
        </p:spPr>
        <p:txBody>
          <a:bodyPr wrap="square" rtlCol="0" anchor="ctr"/>
          <a:lstStyle/>
          <a:p>
            <a:pPr marL="0" indent="0">
              <a:buNone/>
            </a:pPr>
            <a:r>
              <a:rPr lang="en-US" sz="1000" dirty="0">
                <a:solidFill>
                  <a:srgbClr val="1A2B3C"/>
                </a:solidFill>
                <a:latin typeface="Calibri" pitchFamily="34" charset="0"/>
                <a:ea typeface="Calibri" pitchFamily="34" charset="-122"/>
                <a:cs typeface="Calibri" pitchFamily="34" charset="-120"/>
              </a:rPr>
              <a:t>Apply Video Swin / TimeSformer to OUC-CGE. Long-range global attention enables modeling of cross-student co-attention patterns — impossible for CNNs. Expected: accuracy beyond current I3D baseline (94.3%).</a:t>
            </a:r>
            <a:endParaRPr lang="en-US" sz="1000" dirty="0"/>
          </a:p>
        </p:txBody>
      </p:sp>
      <p:sp>
        <p:nvSpPr>
          <p:cNvPr id="11" name="Shape 9"/>
          <p:cNvSpPr/>
          <p:nvPr/>
        </p:nvSpPr>
        <p:spPr>
          <a:xfrm>
            <a:off x="4251960" y="1298448"/>
            <a:ext cx="3566160" cy="2304288"/>
          </a:xfrm>
          <a:prstGeom prst="rect">
            <a:avLst/>
          </a:prstGeom>
          <a:solidFill>
            <a:srgbClr val="FFFFFF"/>
          </a:solidFill>
          <a:ln w="12700">
            <a:solidFill>
              <a:srgbClr val="C0392B"/>
            </a:solidFill>
            <a:prstDash val="solid"/>
          </a:ln>
        </p:spPr>
      </p:sp>
      <p:sp>
        <p:nvSpPr>
          <p:cNvPr id="12" name="Shape 10"/>
          <p:cNvSpPr/>
          <p:nvPr/>
        </p:nvSpPr>
        <p:spPr>
          <a:xfrm>
            <a:off x="4251960" y="1298448"/>
            <a:ext cx="3566160" cy="329184"/>
          </a:xfrm>
          <a:prstGeom prst="rect">
            <a:avLst/>
          </a:prstGeom>
          <a:solidFill>
            <a:srgbClr val="C0392B"/>
          </a:solidFill>
          <a:ln w="12700">
            <a:solidFill>
              <a:srgbClr val="C0392B"/>
            </a:solidFill>
            <a:prstDash val="solid"/>
          </a:ln>
        </p:spPr>
      </p:sp>
      <p:sp>
        <p:nvSpPr>
          <p:cNvPr id="13" name="Text 11"/>
          <p:cNvSpPr/>
          <p:nvPr/>
        </p:nvSpPr>
        <p:spPr>
          <a:xfrm>
            <a:off x="4325112" y="1298448"/>
            <a:ext cx="3419856" cy="329184"/>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FD2  ·  Addresses: G1</a:t>
            </a:r>
            <a:endParaRPr lang="en-US" sz="900" dirty="0"/>
          </a:p>
        </p:txBody>
      </p:sp>
      <p:sp>
        <p:nvSpPr>
          <p:cNvPr id="14" name="Text 12"/>
          <p:cNvSpPr/>
          <p:nvPr/>
        </p:nvSpPr>
        <p:spPr>
          <a:xfrm>
            <a:off x="4343400" y="1664208"/>
            <a:ext cx="3383280" cy="457200"/>
          </a:xfrm>
          <a:prstGeom prst="rect">
            <a:avLst/>
          </a:prstGeom>
          <a:noFill/>
          <a:ln/>
        </p:spPr>
        <p:txBody>
          <a:bodyPr wrap="square" rtlCol="0" anchor="ctr"/>
          <a:lstStyle/>
          <a:p>
            <a:pPr marL="0" indent="0">
              <a:buNone/>
            </a:pPr>
            <a:r>
              <a:rPr lang="en-US" sz="1150" b="1" dirty="0">
                <a:solidFill>
                  <a:srgbClr val="C0392B"/>
                </a:solidFill>
                <a:latin typeface="Cambria" pitchFamily="34" charset="0"/>
                <a:ea typeface="Cambria" pitchFamily="34" charset="-122"/>
                <a:cs typeface="Cambria" pitchFamily="34" charset="-120"/>
              </a:rPr>
              <a:t>Graph-Based Explainable Group Models</a:t>
            </a:r>
            <a:endParaRPr lang="en-US" sz="1150" dirty="0"/>
          </a:p>
        </p:txBody>
      </p:sp>
      <p:sp>
        <p:nvSpPr>
          <p:cNvPr id="15" name="Text 13"/>
          <p:cNvSpPr/>
          <p:nvPr/>
        </p:nvSpPr>
        <p:spPr>
          <a:xfrm>
            <a:off x="4343400" y="2139696"/>
            <a:ext cx="3383280" cy="1389888"/>
          </a:xfrm>
          <a:prstGeom prst="rect">
            <a:avLst/>
          </a:prstGeom>
          <a:noFill/>
          <a:ln/>
        </p:spPr>
        <p:txBody>
          <a:bodyPr wrap="square" rtlCol="0" anchor="ctr"/>
          <a:lstStyle/>
          <a:p>
            <a:pPr marL="0" indent="0">
              <a:buNone/>
            </a:pPr>
            <a:r>
              <a:rPr lang="en-US" sz="1000" dirty="0">
                <a:solidFill>
                  <a:srgbClr val="1A2B3C"/>
                </a:solidFill>
                <a:latin typeface="Calibri" pitchFamily="34" charset="0"/>
                <a:ea typeface="Calibri" pitchFamily="34" charset="-122"/>
                <a:cs typeface="Calibri" pitchFamily="34" charset="-120"/>
              </a:rPr>
              <a:t>Build Spatial-Temporal GCNs on OUC-CGE: treat each student as a node; visual interaction (gaze, posture alignment) as dynamic edges. Outputs an interpretable sociogram showing engagement flow through the group.</a:t>
            </a:r>
            <a:endParaRPr lang="en-US" sz="1000" dirty="0"/>
          </a:p>
        </p:txBody>
      </p:sp>
      <p:sp>
        <p:nvSpPr>
          <p:cNvPr id="16" name="Shape 14"/>
          <p:cNvSpPr/>
          <p:nvPr/>
        </p:nvSpPr>
        <p:spPr>
          <a:xfrm>
            <a:off x="8183880" y="1298448"/>
            <a:ext cx="3566160" cy="2304288"/>
          </a:xfrm>
          <a:prstGeom prst="rect">
            <a:avLst/>
          </a:prstGeom>
          <a:solidFill>
            <a:srgbClr val="FFFFFF"/>
          </a:solidFill>
          <a:ln w="12700">
            <a:solidFill>
              <a:srgbClr val="F4A811"/>
            </a:solidFill>
            <a:prstDash val="solid"/>
          </a:ln>
        </p:spPr>
      </p:sp>
      <p:sp>
        <p:nvSpPr>
          <p:cNvPr id="17" name="Shape 15"/>
          <p:cNvSpPr/>
          <p:nvPr/>
        </p:nvSpPr>
        <p:spPr>
          <a:xfrm>
            <a:off x="8183880" y="1298448"/>
            <a:ext cx="3566160" cy="329184"/>
          </a:xfrm>
          <a:prstGeom prst="rect">
            <a:avLst/>
          </a:prstGeom>
          <a:solidFill>
            <a:srgbClr val="F4A811"/>
          </a:solidFill>
          <a:ln w="12700">
            <a:solidFill>
              <a:srgbClr val="F4A811"/>
            </a:solidFill>
            <a:prstDash val="solid"/>
          </a:ln>
        </p:spPr>
      </p:sp>
      <p:sp>
        <p:nvSpPr>
          <p:cNvPr id="18" name="Text 16"/>
          <p:cNvSpPr/>
          <p:nvPr/>
        </p:nvSpPr>
        <p:spPr>
          <a:xfrm>
            <a:off x="8257032" y="1298448"/>
            <a:ext cx="3419856" cy="329184"/>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FD3  ·  Addresses: G4</a:t>
            </a:r>
            <a:endParaRPr lang="en-US" sz="900" dirty="0"/>
          </a:p>
        </p:txBody>
      </p:sp>
      <p:sp>
        <p:nvSpPr>
          <p:cNvPr id="19" name="Text 17"/>
          <p:cNvSpPr/>
          <p:nvPr/>
        </p:nvSpPr>
        <p:spPr>
          <a:xfrm>
            <a:off x="8275320" y="1664208"/>
            <a:ext cx="3383280" cy="457200"/>
          </a:xfrm>
          <a:prstGeom prst="rect">
            <a:avLst/>
          </a:prstGeom>
          <a:noFill/>
          <a:ln/>
        </p:spPr>
        <p:txBody>
          <a:bodyPr wrap="square" rtlCol="0" anchor="ctr"/>
          <a:lstStyle/>
          <a:p>
            <a:pPr marL="0" indent="0">
              <a:buNone/>
            </a:pPr>
            <a:r>
              <a:rPr lang="en-US" sz="1150" b="1" dirty="0">
                <a:solidFill>
                  <a:srgbClr val="F4A811"/>
                </a:solidFill>
                <a:latin typeface="Cambria" pitchFamily="34" charset="0"/>
                <a:ea typeface="Cambria" pitchFamily="34" charset="-122"/>
                <a:cs typeface="Cambria" pitchFamily="34" charset="-120"/>
              </a:rPr>
              <a:t>Temporal Attention &amp; Rapid Event Detection</a:t>
            </a:r>
            <a:endParaRPr lang="en-US" sz="1150" dirty="0"/>
          </a:p>
        </p:txBody>
      </p:sp>
      <p:sp>
        <p:nvSpPr>
          <p:cNvPr id="20" name="Text 18"/>
          <p:cNvSpPr/>
          <p:nvPr/>
        </p:nvSpPr>
        <p:spPr>
          <a:xfrm>
            <a:off x="8275320" y="2139696"/>
            <a:ext cx="3383280" cy="1389888"/>
          </a:xfrm>
          <a:prstGeom prst="rect">
            <a:avLst/>
          </a:prstGeom>
          <a:noFill/>
          <a:ln/>
        </p:spPr>
        <p:txBody>
          <a:bodyPr wrap="square" rtlCol="0" anchor="ctr"/>
          <a:lstStyle/>
          <a:p>
            <a:pPr marL="0" indent="0">
              <a:buNone/>
            </a:pPr>
            <a:r>
              <a:rPr lang="en-US" sz="1000" dirty="0">
                <a:solidFill>
                  <a:srgbClr val="1A2B3C"/>
                </a:solidFill>
                <a:latin typeface="Calibri" pitchFamily="34" charset="0"/>
                <a:ea typeface="Calibri" pitchFamily="34" charset="-122"/>
                <a:cs typeface="Calibri" pitchFamily="34" charset="-120"/>
              </a:rPr>
              <a:t>Lightweight temporal attention modules (e.g., shifted-window attention) for real-time inference. Target: sustained &gt;10 FPS on embedded GPU hardware without sacrificing temporal modeling of engagement transitions.</a:t>
            </a:r>
            <a:endParaRPr lang="en-US" sz="1000" dirty="0"/>
          </a:p>
        </p:txBody>
      </p:sp>
      <p:sp>
        <p:nvSpPr>
          <p:cNvPr id="21" name="Shape 19"/>
          <p:cNvSpPr/>
          <p:nvPr/>
        </p:nvSpPr>
        <p:spPr>
          <a:xfrm>
            <a:off x="320040" y="3785616"/>
            <a:ext cx="3566160" cy="2304288"/>
          </a:xfrm>
          <a:prstGeom prst="rect">
            <a:avLst/>
          </a:prstGeom>
          <a:solidFill>
            <a:srgbClr val="FFFFFF"/>
          </a:solidFill>
          <a:ln w="12700">
            <a:solidFill>
              <a:srgbClr val="2B9FD9"/>
            </a:solidFill>
            <a:prstDash val="solid"/>
          </a:ln>
        </p:spPr>
      </p:sp>
      <p:sp>
        <p:nvSpPr>
          <p:cNvPr id="22" name="Shape 20"/>
          <p:cNvSpPr/>
          <p:nvPr/>
        </p:nvSpPr>
        <p:spPr>
          <a:xfrm>
            <a:off x="320040" y="3785616"/>
            <a:ext cx="3566160" cy="329184"/>
          </a:xfrm>
          <a:prstGeom prst="rect">
            <a:avLst/>
          </a:prstGeom>
          <a:solidFill>
            <a:srgbClr val="2B9FD9"/>
          </a:solidFill>
          <a:ln w="12700">
            <a:solidFill>
              <a:srgbClr val="2B9FD9"/>
            </a:solidFill>
            <a:prstDash val="solid"/>
          </a:ln>
        </p:spPr>
      </p:sp>
      <p:sp>
        <p:nvSpPr>
          <p:cNvPr id="23" name="Text 21"/>
          <p:cNvSpPr/>
          <p:nvPr/>
        </p:nvSpPr>
        <p:spPr>
          <a:xfrm>
            <a:off x="393192" y="3785616"/>
            <a:ext cx="3419856" cy="329184"/>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FD4  ·  Addresses: G2</a:t>
            </a:r>
            <a:endParaRPr lang="en-US" sz="900" dirty="0"/>
          </a:p>
        </p:txBody>
      </p:sp>
      <p:sp>
        <p:nvSpPr>
          <p:cNvPr id="24" name="Text 22"/>
          <p:cNvSpPr/>
          <p:nvPr/>
        </p:nvSpPr>
        <p:spPr>
          <a:xfrm>
            <a:off x="411480" y="4151376"/>
            <a:ext cx="3383280" cy="457200"/>
          </a:xfrm>
          <a:prstGeom prst="rect">
            <a:avLst/>
          </a:prstGeom>
          <a:noFill/>
          <a:ln/>
        </p:spPr>
        <p:txBody>
          <a:bodyPr wrap="square" rtlCol="0" anchor="ctr"/>
          <a:lstStyle/>
          <a:p>
            <a:pPr marL="0" indent="0">
              <a:buNone/>
            </a:pPr>
            <a:r>
              <a:rPr lang="en-US" sz="1150" b="1" dirty="0">
                <a:solidFill>
                  <a:srgbClr val="2B9FD9"/>
                </a:solidFill>
                <a:latin typeface="Cambria" pitchFamily="34" charset="0"/>
                <a:ea typeface="Cambria" pitchFamily="34" charset="-122"/>
                <a:cs typeface="Cambria" pitchFamily="34" charset="-120"/>
              </a:rPr>
              <a:t>Multimodal Learning (Audio Extension of OUC-CGE)</a:t>
            </a:r>
            <a:endParaRPr lang="en-US" sz="1150" dirty="0"/>
          </a:p>
        </p:txBody>
      </p:sp>
      <p:sp>
        <p:nvSpPr>
          <p:cNvPr id="25" name="Text 23"/>
          <p:cNvSpPr/>
          <p:nvPr/>
        </p:nvSpPr>
        <p:spPr>
          <a:xfrm>
            <a:off x="411480" y="4626864"/>
            <a:ext cx="3383280" cy="1389888"/>
          </a:xfrm>
          <a:prstGeom prst="rect">
            <a:avLst/>
          </a:prstGeom>
          <a:noFill/>
          <a:ln/>
        </p:spPr>
        <p:txBody>
          <a:bodyPr wrap="square" rtlCol="0" anchor="ctr"/>
          <a:lstStyle/>
          <a:p>
            <a:pPr marL="0" indent="0">
              <a:buNone/>
            </a:pPr>
            <a:r>
              <a:rPr lang="en-US" sz="1000" dirty="0">
                <a:solidFill>
                  <a:srgbClr val="1A2B3C"/>
                </a:solidFill>
                <a:latin typeface="Calibri" pitchFamily="34" charset="0"/>
                <a:ea typeface="Calibri" pitchFamily="34" charset="-122"/>
                <a:cs typeface="Calibri" pitchFamily="34" charset="-120"/>
              </a:rPr>
              <a:t>Augment OUC-CGE with synchronized ambient audio. Apply hierarchical cross-modal transformers (cf. MFT by Zhao et al., 2025) to correlate group discussion intensity with visual attention, achieving early-fusion multimodality.</a:t>
            </a:r>
            <a:endParaRPr lang="en-US" sz="1000" dirty="0"/>
          </a:p>
        </p:txBody>
      </p:sp>
      <p:sp>
        <p:nvSpPr>
          <p:cNvPr id="26" name="Shape 24"/>
          <p:cNvSpPr/>
          <p:nvPr/>
        </p:nvSpPr>
        <p:spPr>
          <a:xfrm>
            <a:off x="4251960" y="3785616"/>
            <a:ext cx="3566160" cy="2304288"/>
          </a:xfrm>
          <a:prstGeom prst="rect">
            <a:avLst/>
          </a:prstGeom>
          <a:solidFill>
            <a:srgbClr val="FFFFFF"/>
          </a:solidFill>
          <a:ln w="12700">
            <a:solidFill>
              <a:srgbClr val="7A8FA6"/>
            </a:solidFill>
            <a:prstDash val="solid"/>
          </a:ln>
        </p:spPr>
      </p:sp>
      <p:sp>
        <p:nvSpPr>
          <p:cNvPr id="27" name="Shape 25"/>
          <p:cNvSpPr/>
          <p:nvPr/>
        </p:nvSpPr>
        <p:spPr>
          <a:xfrm>
            <a:off x="4251960" y="3785616"/>
            <a:ext cx="3566160" cy="329184"/>
          </a:xfrm>
          <a:prstGeom prst="rect">
            <a:avLst/>
          </a:prstGeom>
          <a:solidFill>
            <a:srgbClr val="7A8FA6"/>
          </a:solidFill>
          <a:ln w="12700">
            <a:solidFill>
              <a:srgbClr val="7A8FA6"/>
            </a:solidFill>
            <a:prstDash val="solid"/>
          </a:ln>
        </p:spPr>
      </p:sp>
      <p:sp>
        <p:nvSpPr>
          <p:cNvPr id="28" name="Text 26"/>
          <p:cNvSpPr/>
          <p:nvPr/>
        </p:nvSpPr>
        <p:spPr>
          <a:xfrm>
            <a:off x="4325112" y="3785616"/>
            <a:ext cx="3419856" cy="329184"/>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FD5  ·  Addresses: G5</a:t>
            </a:r>
            <a:endParaRPr lang="en-US" sz="900" dirty="0"/>
          </a:p>
        </p:txBody>
      </p:sp>
      <p:sp>
        <p:nvSpPr>
          <p:cNvPr id="29" name="Text 27"/>
          <p:cNvSpPr/>
          <p:nvPr/>
        </p:nvSpPr>
        <p:spPr>
          <a:xfrm>
            <a:off x="4343400" y="4151376"/>
            <a:ext cx="3383280" cy="457200"/>
          </a:xfrm>
          <a:prstGeom prst="rect">
            <a:avLst/>
          </a:prstGeom>
          <a:noFill/>
          <a:ln/>
        </p:spPr>
        <p:txBody>
          <a:bodyPr wrap="square" rtlCol="0" anchor="ctr"/>
          <a:lstStyle/>
          <a:p>
            <a:pPr marL="0" indent="0">
              <a:buNone/>
            </a:pPr>
            <a:r>
              <a:rPr lang="en-US" sz="1150" b="1" dirty="0">
                <a:solidFill>
                  <a:srgbClr val="7A8FA6"/>
                </a:solidFill>
                <a:latin typeface="Cambria" pitchFamily="34" charset="0"/>
                <a:ea typeface="Cambria" pitchFamily="34" charset="-122"/>
                <a:cs typeface="Cambria" pitchFamily="34" charset="-120"/>
              </a:rPr>
              <a:t>Self-Supervised Pre-Training on Unannotated Video</a:t>
            </a:r>
            <a:endParaRPr lang="en-US" sz="1150" dirty="0"/>
          </a:p>
        </p:txBody>
      </p:sp>
      <p:sp>
        <p:nvSpPr>
          <p:cNvPr id="30" name="Text 28"/>
          <p:cNvSpPr/>
          <p:nvPr/>
        </p:nvSpPr>
        <p:spPr>
          <a:xfrm>
            <a:off x="4343400" y="4626864"/>
            <a:ext cx="3383280" cy="1389888"/>
          </a:xfrm>
          <a:prstGeom prst="rect">
            <a:avLst/>
          </a:prstGeom>
          <a:noFill/>
          <a:ln/>
        </p:spPr>
        <p:txBody>
          <a:bodyPr wrap="square" rtlCol="0" anchor="ctr"/>
          <a:lstStyle/>
          <a:p>
            <a:pPr marL="0" indent="0">
              <a:buNone/>
            </a:pPr>
            <a:r>
              <a:rPr lang="en-US" sz="1000" dirty="0">
                <a:solidFill>
                  <a:srgbClr val="1A2B3C"/>
                </a:solidFill>
                <a:latin typeface="Calibri" pitchFamily="34" charset="0"/>
                <a:ea typeface="Calibri" pitchFamily="34" charset="-122"/>
                <a:cs typeface="Calibri" pitchFamily="34" charset="-120"/>
              </a:rPr>
              <a:t>Apply Masked Video Autoencoders to the unannotated portions of OUC-CGE. By masking students within a group, the model learns engagement priors from visible peers — drastically reducing annotation cost.</a:t>
            </a:r>
            <a:endParaRPr lang="en-US" sz="1000" dirty="0"/>
          </a:p>
        </p:txBody>
      </p:sp>
      <p:sp>
        <p:nvSpPr>
          <p:cNvPr id="31" name="Shape 29"/>
          <p:cNvSpPr/>
          <p:nvPr/>
        </p:nvSpPr>
        <p:spPr>
          <a:xfrm>
            <a:off x="8183880" y="3785616"/>
            <a:ext cx="3566160" cy="2304288"/>
          </a:xfrm>
          <a:prstGeom prst="rect">
            <a:avLst/>
          </a:prstGeom>
          <a:solidFill>
            <a:srgbClr val="FFFFFF"/>
          </a:solidFill>
          <a:ln w="12700">
            <a:solidFill>
              <a:srgbClr val="1A7A4A"/>
            </a:solidFill>
            <a:prstDash val="solid"/>
          </a:ln>
        </p:spPr>
      </p:sp>
      <p:sp>
        <p:nvSpPr>
          <p:cNvPr id="32" name="Shape 30"/>
          <p:cNvSpPr/>
          <p:nvPr/>
        </p:nvSpPr>
        <p:spPr>
          <a:xfrm>
            <a:off x="8183880" y="3785616"/>
            <a:ext cx="3566160" cy="329184"/>
          </a:xfrm>
          <a:prstGeom prst="rect">
            <a:avLst/>
          </a:prstGeom>
          <a:solidFill>
            <a:srgbClr val="1A7A4A"/>
          </a:solidFill>
          <a:ln w="12700">
            <a:solidFill>
              <a:srgbClr val="1A7A4A"/>
            </a:solidFill>
            <a:prstDash val="solid"/>
          </a:ln>
        </p:spPr>
      </p:sp>
      <p:sp>
        <p:nvSpPr>
          <p:cNvPr id="33" name="Text 31"/>
          <p:cNvSpPr/>
          <p:nvPr/>
        </p:nvSpPr>
        <p:spPr>
          <a:xfrm>
            <a:off x="8257032" y="3785616"/>
            <a:ext cx="3419856" cy="329184"/>
          </a:xfrm>
          <a:prstGeom prst="rect">
            <a:avLst/>
          </a:prstGeom>
          <a:noFill/>
          <a:ln/>
        </p:spPr>
        <p:txBody>
          <a:bodyPr wrap="square"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FD6  ·  Addresses: G1, G6</a:t>
            </a:r>
            <a:endParaRPr lang="en-US" sz="900" dirty="0"/>
          </a:p>
        </p:txBody>
      </p:sp>
      <p:sp>
        <p:nvSpPr>
          <p:cNvPr id="34" name="Text 32"/>
          <p:cNvSpPr/>
          <p:nvPr/>
        </p:nvSpPr>
        <p:spPr>
          <a:xfrm>
            <a:off x="8275320" y="4151376"/>
            <a:ext cx="3383280" cy="457200"/>
          </a:xfrm>
          <a:prstGeom prst="rect">
            <a:avLst/>
          </a:prstGeom>
          <a:noFill/>
          <a:ln/>
        </p:spPr>
        <p:txBody>
          <a:bodyPr wrap="square" rtlCol="0" anchor="ctr"/>
          <a:lstStyle/>
          <a:p>
            <a:pPr marL="0" indent="0">
              <a:buNone/>
            </a:pPr>
            <a:r>
              <a:rPr lang="en-US" sz="1150" b="1" dirty="0">
                <a:solidFill>
                  <a:srgbClr val="1A7A4A"/>
                </a:solidFill>
                <a:latin typeface="Cambria" pitchFamily="34" charset="0"/>
                <a:ea typeface="Cambria" pitchFamily="34" charset="-122"/>
                <a:cs typeface="Cambria" pitchFamily="34" charset="-120"/>
              </a:rPr>
              <a:t>Explainable AI &amp; Educator-Facing Dashboards</a:t>
            </a:r>
            <a:endParaRPr lang="en-US" sz="1150" dirty="0"/>
          </a:p>
        </p:txBody>
      </p:sp>
      <p:sp>
        <p:nvSpPr>
          <p:cNvPr id="35" name="Text 33"/>
          <p:cNvSpPr/>
          <p:nvPr/>
        </p:nvSpPr>
        <p:spPr>
          <a:xfrm>
            <a:off x="8275320" y="4626864"/>
            <a:ext cx="3383280" cy="1389888"/>
          </a:xfrm>
          <a:prstGeom prst="rect">
            <a:avLst/>
          </a:prstGeom>
          <a:noFill/>
          <a:ln/>
        </p:spPr>
        <p:txBody>
          <a:bodyPr wrap="square" rtlCol="0" anchor="ctr"/>
          <a:lstStyle/>
          <a:p>
            <a:pPr marL="0" indent="0">
              <a:buNone/>
            </a:pPr>
            <a:r>
              <a:rPr lang="en-US" sz="1000" dirty="0">
                <a:solidFill>
                  <a:srgbClr val="1A2B3C"/>
                </a:solidFill>
                <a:latin typeface="Calibri" pitchFamily="34" charset="0"/>
                <a:ea typeface="Calibri" pitchFamily="34" charset="-122"/>
                <a:cs typeface="Calibri" pitchFamily="34" charset="-120"/>
              </a:rPr>
              <a:t>Develop XAI output layers producing human-readable behavioral explanations (cf. EED framework). Combine with student-level personalisation loops to account for inter-subject expressiveness variance.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201168"/>
            <a:ext cx="1828800" cy="256032"/>
          </a:xfrm>
          <a:prstGeom prst="rect">
            <a:avLst/>
          </a:prstGeom>
          <a:solidFill>
            <a:srgbClr val="2B9FD9"/>
          </a:solidFill>
          <a:ln w="12700">
            <a:solidFill>
              <a:srgbClr val="2B9FD9"/>
            </a:solidFill>
            <a:prstDash val="solid"/>
          </a:ln>
        </p:spPr>
      </p:sp>
      <p:sp>
        <p:nvSpPr>
          <p:cNvPr id="3" name="Text 1"/>
          <p:cNvSpPr/>
          <p:nvPr/>
        </p:nvSpPr>
        <p:spPr>
          <a:xfrm>
            <a:off x="320040" y="201168"/>
            <a:ext cx="1828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PROPOSED WORKFLOW</a:t>
            </a:r>
            <a:endParaRPr lang="en-US" sz="800" dirty="0"/>
          </a:p>
        </p:txBody>
      </p:sp>
      <p:sp>
        <p:nvSpPr>
          <p:cNvPr id="4" name="Text 2"/>
          <p:cNvSpPr/>
          <p:nvPr/>
        </p:nvSpPr>
        <p:spPr>
          <a:xfrm>
            <a:off x="320040" y="548640"/>
            <a:ext cx="11521440" cy="502920"/>
          </a:xfrm>
          <a:prstGeom prst="rect">
            <a:avLst/>
          </a:prstGeom>
          <a:noFill/>
          <a:ln/>
        </p:spPr>
        <p:txBody>
          <a:bodyPr wrap="square" rtlCol="0" anchor="ctr"/>
          <a:lstStyle/>
          <a:p>
            <a:pPr marL="0" indent="0" algn="l">
              <a:buNone/>
            </a:pPr>
            <a:r>
              <a:rPr lang="en-US" sz="2600" b="1" dirty="0">
                <a:solidFill>
                  <a:srgbClr val="1A2B3C"/>
                </a:solidFill>
                <a:latin typeface="Cambria" pitchFamily="34" charset="0"/>
                <a:ea typeface="Cambria" pitchFamily="34" charset="-122"/>
                <a:cs typeface="Cambria" pitchFamily="34" charset="-120"/>
              </a:rPr>
              <a:t>Proposed Research Pipeline for OUC-CGE Engagement Recognition</a:t>
            </a:r>
            <a:endParaRPr lang="en-US" sz="2600" dirty="0"/>
          </a:p>
        </p:txBody>
      </p:sp>
      <p:sp>
        <p:nvSpPr>
          <p:cNvPr id="5" name="Shape 3"/>
          <p:cNvSpPr/>
          <p:nvPr/>
        </p:nvSpPr>
        <p:spPr>
          <a:xfrm>
            <a:off x="320040" y="1115568"/>
            <a:ext cx="11521440" cy="0"/>
          </a:xfrm>
          <a:prstGeom prst="line">
            <a:avLst/>
          </a:prstGeom>
          <a:noFill/>
          <a:ln w="19050">
            <a:solidFill>
              <a:srgbClr val="2B9FD9"/>
            </a:solidFill>
            <a:prstDash val="solid"/>
          </a:ln>
        </p:spPr>
      </p:sp>
      <p:sp>
        <p:nvSpPr>
          <p:cNvPr id="6" name="Shape 4"/>
          <p:cNvSpPr/>
          <p:nvPr/>
        </p:nvSpPr>
        <p:spPr>
          <a:xfrm>
            <a:off x="320040" y="1417320"/>
            <a:ext cx="1645920" cy="2377440"/>
          </a:xfrm>
          <a:prstGeom prst="rect">
            <a:avLst/>
          </a:prstGeom>
          <a:solidFill>
            <a:srgbClr val="FFFFFF"/>
          </a:solidFill>
          <a:ln w="19050">
            <a:solidFill>
              <a:srgbClr val="1B6CA8"/>
            </a:solidFill>
            <a:prstDash val="solid"/>
          </a:ln>
        </p:spPr>
      </p:sp>
      <p:sp>
        <p:nvSpPr>
          <p:cNvPr id="7" name="Shape 5"/>
          <p:cNvSpPr/>
          <p:nvPr/>
        </p:nvSpPr>
        <p:spPr>
          <a:xfrm>
            <a:off x="320040" y="1417320"/>
            <a:ext cx="1645920" cy="457200"/>
          </a:xfrm>
          <a:prstGeom prst="rect">
            <a:avLst/>
          </a:prstGeom>
          <a:solidFill>
            <a:srgbClr val="1B6CA8"/>
          </a:solidFill>
          <a:ln w="12700">
            <a:solidFill>
              <a:srgbClr val="1B6CA8"/>
            </a:solidFill>
            <a:prstDash val="solid"/>
          </a:ln>
        </p:spPr>
      </p:sp>
      <p:sp>
        <p:nvSpPr>
          <p:cNvPr id="8" name="Text 6"/>
          <p:cNvSpPr/>
          <p:nvPr/>
        </p:nvSpPr>
        <p:spPr>
          <a:xfrm>
            <a:off x="320040" y="1417320"/>
            <a:ext cx="164592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Stage 1</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DATA</a:t>
            </a:r>
            <a:endParaRPr lang="en-US" sz="950" dirty="0"/>
          </a:p>
        </p:txBody>
      </p:sp>
      <p:sp>
        <p:nvSpPr>
          <p:cNvPr id="9" name="Text 7"/>
          <p:cNvSpPr/>
          <p:nvPr/>
        </p:nvSpPr>
        <p:spPr>
          <a:xfrm>
            <a:off x="393192" y="1947672"/>
            <a:ext cx="1499616" cy="1755648"/>
          </a:xfrm>
          <a:prstGeom prst="rect">
            <a:avLst/>
          </a:prstGeom>
          <a:noFill/>
          <a:ln/>
        </p:spPr>
        <p:txBody>
          <a:bodyPr wrap="square" rtlCol="0" anchor="t"/>
          <a:lstStyle/>
          <a:p>
            <a:pPr marL="0" indent="0" algn="ctr">
              <a:buNone/>
            </a:pPr>
            <a:r>
              <a:rPr lang="en-US" sz="1000" dirty="0">
                <a:solidFill>
                  <a:srgbClr val="1A2B3C"/>
                </a:solidFill>
                <a:latin typeface="Calibri" pitchFamily="34" charset="0"/>
                <a:ea typeface="Calibri" pitchFamily="34" charset="-122"/>
                <a:cs typeface="Calibri" pitchFamily="34" charset="-120"/>
              </a:rPr>
              <a:t>OUC-CGE</a:t>
            </a:r>
            <a:endParaRPr lang="en-US" sz="1000" dirty="0"/>
          </a:p>
          <a:p>
            <a:pPr marL="0" indent="0" algn="ctr">
              <a:buNone/>
            </a:pPr>
            <a:r>
              <a:rPr lang="en-US" sz="1000" dirty="0">
                <a:solidFill>
                  <a:srgbClr val="1A2B3C"/>
                </a:solidFill>
                <a:latin typeface="Calibri" pitchFamily="34" charset="0"/>
                <a:ea typeface="Calibri" pitchFamily="34" charset="-122"/>
                <a:cs typeface="Calibri" pitchFamily="34" charset="-120"/>
              </a:rPr>
              <a:t>10-sec clips</a:t>
            </a:r>
            <a:endParaRPr lang="en-US" sz="1000" dirty="0"/>
          </a:p>
          <a:p>
            <a:pPr marL="0" indent="0" algn="ctr">
              <a:buNone/>
            </a:pPr>
            <a:r>
              <a:rPr lang="en-US" sz="1000" dirty="0">
                <a:solidFill>
                  <a:srgbClr val="1A2B3C"/>
                </a:solidFill>
                <a:latin typeface="Calibri" pitchFamily="34" charset="0"/>
                <a:ea typeface="Calibri" pitchFamily="34" charset="-122"/>
                <a:cs typeface="Calibri" pitchFamily="34" charset="-120"/>
              </a:rPr>
              <a:t>1280×720 @ 30fps</a:t>
            </a:r>
            <a:endParaRPr lang="en-US" sz="1000" dirty="0"/>
          </a:p>
        </p:txBody>
      </p:sp>
      <p:sp>
        <p:nvSpPr>
          <p:cNvPr id="10" name="Shape 8"/>
          <p:cNvSpPr/>
          <p:nvPr/>
        </p:nvSpPr>
        <p:spPr>
          <a:xfrm>
            <a:off x="1965960" y="2532888"/>
            <a:ext cx="274320" cy="146304"/>
          </a:xfrm>
          <a:prstGeom prst="rect">
            <a:avLst/>
          </a:prstGeom>
          <a:solidFill>
            <a:srgbClr val="1B6CA8"/>
          </a:solidFill>
          <a:ln w="12700">
            <a:solidFill>
              <a:srgbClr val="1B6CA8"/>
            </a:solidFill>
            <a:prstDash val="solid"/>
          </a:ln>
        </p:spPr>
      </p:sp>
      <p:sp>
        <p:nvSpPr>
          <p:cNvPr id="11" name="Shape 9"/>
          <p:cNvSpPr/>
          <p:nvPr/>
        </p:nvSpPr>
        <p:spPr>
          <a:xfrm>
            <a:off x="2167128" y="2468880"/>
            <a:ext cx="109728" cy="274320"/>
          </a:xfrm>
          <a:prstGeom prst="rect">
            <a:avLst/>
          </a:prstGeom>
          <a:solidFill>
            <a:srgbClr val="1B6CA8"/>
          </a:solidFill>
          <a:ln w="12700">
            <a:solidFill>
              <a:srgbClr val="1B6CA8"/>
            </a:solidFill>
            <a:prstDash val="solid"/>
          </a:ln>
        </p:spPr>
      </p:sp>
      <p:sp>
        <p:nvSpPr>
          <p:cNvPr id="12" name="Shape 10"/>
          <p:cNvSpPr/>
          <p:nvPr/>
        </p:nvSpPr>
        <p:spPr>
          <a:xfrm>
            <a:off x="2240280" y="1417320"/>
            <a:ext cx="1645920" cy="2377440"/>
          </a:xfrm>
          <a:prstGeom prst="rect">
            <a:avLst/>
          </a:prstGeom>
          <a:solidFill>
            <a:srgbClr val="FFFFFF"/>
          </a:solidFill>
          <a:ln w="19050">
            <a:solidFill>
              <a:srgbClr val="2B9FD9"/>
            </a:solidFill>
            <a:prstDash val="solid"/>
          </a:ln>
        </p:spPr>
      </p:sp>
      <p:sp>
        <p:nvSpPr>
          <p:cNvPr id="13" name="Shape 11"/>
          <p:cNvSpPr/>
          <p:nvPr/>
        </p:nvSpPr>
        <p:spPr>
          <a:xfrm>
            <a:off x="2240280" y="1417320"/>
            <a:ext cx="1645920" cy="457200"/>
          </a:xfrm>
          <a:prstGeom prst="rect">
            <a:avLst/>
          </a:prstGeom>
          <a:solidFill>
            <a:srgbClr val="2B9FD9"/>
          </a:solidFill>
          <a:ln w="12700">
            <a:solidFill>
              <a:srgbClr val="2B9FD9"/>
            </a:solidFill>
            <a:prstDash val="solid"/>
          </a:ln>
        </p:spPr>
      </p:sp>
      <p:sp>
        <p:nvSpPr>
          <p:cNvPr id="14" name="Text 12"/>
          <p:cNvSpPr/>
          <p:nvPr/>
        </p:nvSpPr>
        <p:spPr>
          <a:xfrm>
            <a:off x="2240280" y="1417320"/>
            <a:ext cx="164592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Stage 2</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PREPROC.</a:t>
            </a:r>
            <a:endParaRPr lang="en-US" sz="950" dirty="0"/>
          </a:p>
        </p:txBody>
      </p:sp>
      <p:sp>
        <p:nvSpPr>
          <p:cNvPr id="15" name="Text 13"/>
          <p:cNvSpPr/>
          <p:nvPr/>
        </p:nvSpPr>
        <p:spPr>
          <a:xfrm>
            <a:off x="2313432" y="1947672"/>
            <a:ext cx="1499616" cy="1755648"/>
          </a:xfrm>
          <a:prstGeom prst="rect">
            <a:avLst/>
          </a:prstGeom>
          <a:noFill/>
          <a:ln/>
        </p:spPr>
        <p:txBody>
          <a:bodyPr wrap="square" rtlCol="0" anchor="t"/>
          <a:lstStyle/>
          <a:p>
            <a:pPr marL="0" indent="0" algn="ctr">
              <a:buNone/>
            </a:pPr>
            <a:r>
              <a:rPr lang="en-US" sz="1000" dirty="0">
                <a:solidFill>
                  <a:srgbClr val="1A2B3C"/>
                </a:solidFill>
                <a:latin typeface="Calibri" pitchFamily="34" charset="0"/>
                <a:ea typeface="Calibri" pitchFamily="34" charset="-122"/>
                <a:cs typeface="Calibri" pitchFamily="34" charset="-120"/>
              </a:rPr>
              <a:t>Frame sampling</a:t>
            </a:r>
            <a:endParaRPr lang="en-US" sz="1000" dirty="0"/>
          </a:p>
          <a:p>
            <a:pPr marL="0" indent="0" algn="ctr">
              <a:buNone/>
            </a:pPr>
            <a:r>
              <a:rPr lang="en-US" sz="1000" dirty="0">
                <a:solidFill>
                  <a:srgbClr val="1A2B3C"/>
                </a:solidFill>
                <a:latin typeface="Calibri" pitchFamily="34" charset="0"/>
                <a:ea typeface="Calibri" pitchFamily="34" charset="-122"/>
                <a:cs typeface="Calibri" pitchFamily="34" charset="-120"/>
              </a:rPr>
              <a:t>Augmentation</a:t>
            </a:r>
            <a:endParaRPr lang="en-US" sz="1000" dirty="0"/>
          </a:p>
          <a:p>
            <a:pPr marL="0" indent="0" algn="ctr">
              <a:buNone/>
            </a:pPr>
            <a:r>
              <a:rPr lang="en-US" sz="1000" dirty="0">
                <a:solidFill>
                  <a:srgbClr val="1A2B3C"/>
                </a:solidFill>
                <a:latin typeface="Calibri" pitchFamily="34" charset="0"/>
                <a:ea typeface="Calibri" pitchFamily="34" charset="-122"/>
                <a:cs typeface="Calibri" pitchFamily="34" charset="-120"/>
              </a:rPr>
              <a:t>Student detection (YOLO)</a:t>
            </a:r>
            <a:endParaRPr lang="en-US" sz="1000" dirty="0"/>
          </a:p>
        </p:txBody>
      </p:sp>
      <p:sp>
        <p:nvSpPr>
          <p:cNvPr id="16" name="Shape 14"/>
          <p:cNvSpPr/>
          <p:nvPr/>
        </p:nvSpPr>
        <p:spPr>
          <a:xfrm>
            <a:off x="3886200" y="2532888"/>
            <a:ext cx="274320" cy="146304"/>
          </a:xfrm>
          <a:prstGeom prst="rect">
            <a:avLst/>
          </a:prstGeom>
          <a:solidFill>
            <a:srgbClr val="2B9FD9"/>
          </a:solidFill>
          <a:ln w="12700">
            <a:solidFill>
              <a:srgbClr val="2B9FD9"/>
            </a:solidFill>
            <a:prstDash val="solid"/>
          </a:ln>
        </p:spPr>
      </p:sp>
      <p:sp>
        <p:nvSpPr>
          <p:cNvPr id="17" name="Shape 15"/>
          <p:cNvSpPr/>
          <p:nvPr/>
        </p:nvSpPr>
        <p:spPr>
          <a:xfrm>
            <a:off x="4087368" y="2468880"/>
            <a:ext cx="109728" cy="274320"/>
          </a:xfrm>
          <a:prstGeom prst="rect">
            <a:avLst/>
          </a:prstGeom>
          <a:solidFill>
            <a:srgbClr val="2B9FD9"/>
          </a:solidFill>
          <a:ln w="12700">
            <a:solidFill>
              <a:srgbClr val="2B9FD9"/>
            </a:solidFill>
            <a:prstDash val="solid"/>
          </a:ln>
        </p:spPr>
      </p:sp>
      <p:sp>
        <p:nvSpPr>
          <p:cNvPr id="18" name="Shape 16"/>
          <p:cNvSpPr/>
          <p:nvPr/>
        </p:nvSpPr>
        <p:spPr>
          <a:xfrm>
            <a:off x="4160520" y="1417320"/>
            <a:ext cx="1645920" cy="2377440"/>
          </a:xfrm>
          <a:prstGeom prst="rect">
            <a:avLst/>
          </a:prstGeom>
          <a:solidFill>
            <a:srgbClr val="FFFFFF"/>
          </a:solidFill>
          <a:ln w="19050">
            <a:solidFill>
              <a:srgbClr val="F4A811"/>
            </a:solidFill>
            <a:prstDash val="solid"/>
          </a:ln>
        </p:spPr>
      </p:sp>
      <p:sp>
        <p:nvSpPr>
          <p:cNvPr id="19" name="Shape 17"/>
          <p:cNvSpPr/>
          <p:nvPr/>
        </p:nvSpPr>
        <p:spPr>
          <a:xfrm>
            <a:off x="4160520" y="1417320"/>
            <a:ext cx="1645920" cy="457200"/>
          </a:xfrm>
          <a:prstGeom prst="rect">
            <a:avLst/>
          </a:prstGeom>
          <a:solidFill>
            <a:srgbClr val="F4A811"/>
          </a:solidFill>
          <a:ln w="12700">
            <a:solidFill>
              <a:srgbClr val="F4A811"/>
            </a:solidFill>
            <a:prstDash val="solid"/>
          </a:ln>
        </p:spPr>
      </p:sp>
      <p:sp>
        <p:nvSpPr>
          <p:cNvPr id="20" name="Text 18"/>
          <p:cNvSpPr/>
          <p:nvPr/>
        </p:nvSpPr>
        <p:spPr>
          <a:xfrm>
            <a:off x="4160520" y="1417320"/>
            <a:ext cx="164592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Stage 3</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FEATURES</a:t>
            </a:r>
            <a:endParaRPr lang="en-US" sz="950" dirty="0"/>
          </a:p>
        </p:txBody>
      </p:sp>
      <p:sp>
        <p:nvSpPr>
          <p:cNvPr id="21" name="Text 19"/>
          <p:cNvSpPr/>
          <p:nvPr/>
        </p:nvSpPr>
        <p:spPr>
          <a:xfrm>
            <a:off x="4233672" y="1947672"/>
            <a:ext cx="1499616" cy="1755648"/>
          </a:xfrm>
          <a:prstGeom prst="rect">
            <a:avLst/>
          </a:prstGeom>
          <a:noFill/>
          <a:ln/>
        </p:spPr>
        <p:txBody>
          <a:bodyPr wrap="square" rtlCol="0" anchor="t"/>
          <a:lstStyle/>
          <a:p>
            <a:pPr marL="0" indent="0" algn="ctr">
              <a:buNone/>
            </a:pPr>
            <a:r>
              <a:rPr lang="en-US" sz="1000" dirty="0">
                <a:solidFill>
                  <a:srgbClr val="1A2B3C"/>
                </a:solidFill>
                <a:latin typeface="Calibri" pitchFamily="34" charset="0"/>
                <a:ea typeface="Calibri" pitchFamily="34" charset="-122"/>
                <a:cs typeface="Calibri" pitchFamily="34" charset="-120"/>
              </a:rPr>
              <a:t>Spatial: ResNet/ViT</a:t>
            </a:r>
            <a:endParaRPr lang="en-US" sz="1000" dirty="0"/>
          </a:p>
          <a:p>
            <a:pPr marL="0" indent="0" algn="ctr">
              <a:buNone/>
            </a:pPr>
            <a:r>
              <a:rPr lang="en-US" sz="1000" dirty="0">
                <a:solidFill>
                  <a:srgbClr val="1A2B3C"/>
                </a:solidFill>
                <a:latin typeface="Calibri" pitchFamily="34" charset="0"/>
                <a:ea typeface="Calibri" pitchFamily="34" charset="-122"/>
                <a:cs typeface="Calibri" pitchFamily="34" charset="-120"/>
              </a:rPr>
              <a:t>Temporal: 3D-Conv / Swin</a:t>
            </a:r>
            <a:endParaRPr lang="en-US" sz="1000" dirty="0"/>
          </a:p>
          <a:p>
            <a:pPr marL="0" indent="0" algn="ctr">
              <a:buNone/>
            </a:pPr>
            <a:r>
              <a:rPr lang="en-US" sz="1000" dirty="0">
                <a:solidFill>
                  <a:srgbClr val="1A2B3C"/>
                </a:solidFill>
                <a:latin typeface="Calibri" pitchFamily="34" charset="0"/>
                <a:ea typeface="Calibri" pitchFamily="34" charset="-122"/>
                <a:cs typeface="Calibri" pitchFamily="34" charset="-120"/>
              </a:rPr>
              <a:t>Optional: Audio MFT</a:t>
            </a:r>
            <a:endParaRPr lang="en-US" sz="1000" dirty="0"/>
          </a:p>
        </p:txBody>
      </p:sp>
      <p:sp>
        <p:nvSpPr>
          <p:cNvPr id="22" name="Shape 20"/>
          <p:cNvSpPr/>
          <p:nvPr/>
        </p:nvSpPr>
        <p:spPr>
          <a:xfrm>
            <a:off x="5806440" y="2532888"/>
            <a:ext cx="274320" cy="146304"/>
          </a:xfrm>
          <a:prstGeom prst="rect">
            <a:avLst/>
          </a:prstGeom>
          <a:solidFill>
            <a:srgbClr val="F4A811"/>
          </a:solidFill>
          <a:ln w="12700">
            <a:solidFill>
              <a:srgbClr val="F4A811"/>
            </a:solidFill>
            <a:prstDash val="solid"/>
          </a:ln>
        </p:spPr>
      </p:sp>
      <p:sp>
        <p:nvSpPr>
          <p:cNvPr id="23" name="Shape 21"/>
          <p:cNvSpPr/>
          <p:nvPr/>
        </p:nvSpPr>
        <p:spPr>
          <a:xfrm>
            <a:off x="6007608" y="2468880"/>
            <a:ext cx="109728" cy="274320"/>
          </a:xfrm>
          <a:prstGeom prst="rect">
            <a:avLst/>
          </a:prstGeom>
          <a:solidFill>
            <a:srgbClr val="F4A811"/>
          </a:solidFill>
          <a:ln w="12700">
            <a:solidFill>
              <a:srgbClr val="F4A811"/>
            </a:solidFill>
            <a:prstDash val="solid"/>
          </a:ln>
        </p:spPr>
      </p:sp>
      <p:sp>
        <p:nvSpPr>
          <p:cNvPr id="24" name="Shape 22"/>
          <p:cNvSpPr/>
          <p:nvPr/>
        </p:nvSpPr>
        <p:spPr>
          <a:xfrm>
            <a:off x="6080760" y="1417320"/>
            <a:ext cx="1645920" cy="2377440"/>
          </a:xfrm>
          <a:prstGeom prst="rect">
            <a:avLst/>
          </a:prstGeom>
          <a:solidFill>
            <a:srgbClr val="FFFFFF"/>
          </a:solidFill>
          <a:ln w="19050">
            <a:solidFill>
              <a:srgbClr val="C0392B"/>
            </a:solidFill>
            <a:prstDash val="solid"/>
          </a:ln>
        </p:spPr>
      </p:sp>
      <p:sp>
        <p:nvSpPr>
          <p:cNvPr id="25" name="Shape 23"/>
          <p:cNvSpPr/>
          <p:nvPr/>
        </p:nvSpPr>
        <p:spPr>
          <a:xfrm>
            <a:off x="6080760" y="1417320"/>
            <a:ext cx="1645920" cy="457200"/>
          </a:xfrm>
          <a:prstGeom prst="rect">
            <a:avLst/>
          </a:prstGeom>
          <a:solidFill>
            <a:srgbClr val="C0392B"/>
          </a:solidFill>
          <a:ln w="12700">
            <a:solidFill>
              <a:srgbClr val="C0392B"/>
            </a:solidFill>
            <a:prstDash val="solid"/>
          </a:ln>
        </p:spPr>
      </p:sp>
      <p:sp>
        <p:nvSpPr>
          <p:cNvPr id="26" name="Text 24"/>
          <p:cNvSpPr/>
          <p:nvPr/>
        </p:nvSpPr>
        <p:spPr>
          <a:xfrm>
            <a:off x="6080760" y="1417320"/>
            <a:ext cx="164592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Stage 4</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MODEL</a:t>
            </a:r>
            <a:endParaRPr lang="en-US" sz="950" dirty="0"/>
          </a:p>
        </p:txBody>
      </p:sp>
      <p:sp>
        <p:nvSpPr>
          <p:cNvPr id="27" name="Text 25"/>
          <p:cNvSpPr/>
          <p:nvPr/>
        </p:nvSpPr>
        <p:spPr>
          <a:xfrm>
            <a:off x="6153912" y="1947672"/>
            <a:ext cx="1499616" cy="1755648"/>
          </a:xfrm>
          <a:prstGeom prst="rect">
            <a:avLst/>
          </a:prstGeom>
          <a:noFill/>
          <a:ln/>
        </p:spPr>
        <p:txBody>
          <a:bodyPr wrap="square" rtlCol="0" anchor="t"/>
          <a:lstStyle/>
          <a:p>
            <a:pPr marL="0" indent="0" algn="ctr">
              <a:buNone/>
            </a:pPr>
            <a:r>
              <a:rPr lang="en-US" sz="1000" dirty="0">
                <a:solidFill>
                  <a:srgbClr val="1A2B3C"/>
                </a:solidFill>
                <a:latin typeface="Calibri" pitchFamily="34" charset="0"/>
                <a:ea typeface="Calibri" pitchFamily="34" charset="-122"/>
                <a:cs typeface="Calibri" pitchFamily="34" charset="-120"/>
              </a:rPr>
              <a:t>Spatiotemporal</a:t>
            </a:r>
            <a:endParaRPr lang="en-US" sz="1000" dirty="0"/>
          </a:p>
          <a:p>
            <a:pPr marL="0" indent="0" algn="ctr">
              <a:buNone/>
            </a:pPr>
            <a:r>
              <a:rPr lang="en-US" sz="1000" dirty="0">
                <a:solidFill>
                  <a:srgbClr val="1A2B3C"/>
                </a:solidFill>
                <a:latin typeface="Calibri" pitchFamily="34" charset="0"/>
                <a:ea typeface="Calibri" pitchFamily="34" charset="-122"/>
                <a:cs typeface="Calibri" pitchFamily="34" charset="-120"/>
              </a:rPr>
              <a:t>Transformer</a:t>
            </a:r>
            <a:endParaRPr lang="en-US" sz="1000" dirty="0"/>
          </a:p>
          <a:p>
            <a:pPr marL="0" indent="0" algn="ctr">
              <a:buNone/>
            </a:pPr>
            <a:r>
              <a:rPr lang="en-US" sz="1000" dirty="0">
                <a:solidFill>
                  <a:srgbClr val="1A2B3C"/>
                </a:solidFill>
                <a:latin typeface="Calibri" pitchFamily="34" charset="0"/>
                <a:ea typeface="Calibri" pitchFamily="34" charset="-122"/>
                <a:cs typeface="Calibri" pitchFamily="34" charset="-120"/>
              </a:rPr>
              <a:t>+ XAI Layer</a:t>
            </a:r>
            <a:endParaRPr lang="en-US" sz="1000" dirty="0"/>
          </a:p>
        </p:txBody>
      </p:sp>
      <p:sp>
        <p:nvSpPr>
          <p:cNvPr id="28" name="Shape 26"/>
          <p:cNvSpPr/>
          <p:nvPr/>
        </p:nvSpPr>
        <p:spPr>
          <a:xfrm>
            <a:off x="7726680" y="2532888"/>
            <a:ext cx="274320" cy="146304"/>
          </a:xfrm>
          <a:prstGeom prst="rect">
            <a:avLst/>
          </a:prstGeom>
          <a:solidFill>
            <a:srgbClr val="C0392B"/>
          </a:solidFill>
          <a:ln w="12700">
            <a:solidFill>
              <a:srgbClr val="C0392B"/>
            </a:solidFill>
            <a:prstDash val="solid"/>
          </a:ln>
        </p:spPr>
      </p:sp>
      <p:sp>
        <p:nvSpPr>
          <p:cNvPr id="29" name="Shape 27"/>
          <p:cNvSpPr/>
          <p:nvPr/>
        </p:nvSpPr>
        <p:spPr>
          <a:xfrm>
            <a:off x="7927848" y="2468880"/>
            <a:ext cx="109728" cy="274320"/>
          </a:xfrm>
          <a:prstGeom prst="rect">
            <a:avLst/>
          </a:prstGeom>
          <a:solidFill>
            <a:srgbClr val="C0392B"/>
          </a:solidFill>
          <a:ln w="12700">
            <a:solidFill>
              <a:srgbClr val="C0392B"/>
            </a:solidFill>
            <a:prstDash val="solid"/>
          </a:ln>
        </p:spPr>
      </p:sp>
      <p:sp>
        <p:nvSpPr>
          <p:cNvPr id="30" name="Shape 28"/>
          <p:cNvSpPr/>
          <p:nvPr/>
        </p:nvSpPr>
        <p:spPr>
          <a:xfrm>
            <a:off x="8001000" y="1417320"/>
            <a:ext cx="1645920" cy="2377440"/>
          </a:xfrm>
          <a:prstGeom prst="rect">
            <a:avLst/>
          </a:prstGeom>
          <a:solidFill>
            <a:srgbClr val="FFFFFF"/>
          </a:solidFill>
          <a:ln w="19050">
            <a:solidFill>
              <a:srgbClr val="1A7A4A"/>
            </a:solidFill>
            <a:prstDash val="solid"/>
          </a:ln>
        </p:spPr>
      </p:sp>
      <p:sp>
        <p:nvSpPr>
          <p:cNvPr id="31" name="Shape 29"/>
          <p:cNvSpPr/>
          <p:nvPr/>
        </p:nvSpPr>
        <p:spPr>
          <a:xfrm>
            <a:off x="8001000" y="1417320"/>
            <a:ext cx="1645920" cy="457200"/>
          </a:xfrm>
          <a:prstGeom prst="rect">
            <a:avLst/>
          </a:prstGeom>
          <a:solidFill>
            <a:srgbClr val="1A7A4A"/>
          </a:solidFill>
          <a:ln w="12700">
            <a:solidFill>
              <a:srgbClr val="1A7A4A"/>
            </a:solidFill>
            <a:prstDash val="solid"/>
          </a:ln>
        </p:spPr>
      </p:sp>
      <p:sp>
        <p:nvSpPr>
          <p:cNvPr id="32" name="Text 30"/>
          <p:cNvSpPr/>
          <p:nvPr/>
        </p:nvSpPr>
        <p:spPr>
          <a:xfrm>
            <a:off x="8001000" y="1417320"/>
            <a:ext cx="164592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Stage 5</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OUTPUT</a:t>
            </a:r>
            <a:endParaRPr lang="en-US" sz="950" dirty="0"/>
          </a:p>
        </p:txBody>
      </p:sp>
      <p:sp>
        <p:nvSpPr>
          <p:cNvPr id="33" name="Text 31"/>
          <p:cNvSpPr/>
          <p:nvPr/>
        </p:nvSpPr>
        <p:spPr>
          <a:xfrm>
            <a:off x="8074152" y="1947672"/>
            <a:ext cx="1499616" cy="1755648"/>
          </a:xfrm>
          <a:prstGeom prst="rect">
            <a:avLst/>
          </a:prstGeom>
          <a:noFill/>
          <a:ln/>
        </p:spPr>
        <p:txBody>
          <a:bodyPr wrap="square" rtlCol="0" anchor="t"/>
          <a:lstStyle/>
          <a:p>
            <a:pPr marL="0" indent="0" algn="ctr">
              <a:buNone/>
            </a:pPr>
            <a:r>
              <a:rPr lang="en-US" sz="1000" dirty="0">
                <a:solidFill>
                  <a:srgbClr val="1A2B3C"/>
                </a:solidFill>
                <a:latin typeface="Calibri" pitchFamily="34" charset="0"/>
                <a:ea typeface="Calibri" pitchFamily="34" charset="-122"/>
                <a:cs typeface="Calibri" pitchFamily="34" charset="-120"/>
              </a:rPr>
              <a:t>3-Class Engagement</a:t>
            </a:r>
            <a:endParaRPr lang="en-US" sz="1000" dirty="0"/>
          </a:p>
          <a:p>
            <a:pPr marL="0" indent="0" algn="ctr">
              <a:buNone/>
            </a:pPr>
            <a:r>
              <a:rPr lang="en-US" sz="1000" dirty="0">
                <a:solidFill>
                  <a:srgbClr val="1A2B3C"/>
                </a:solidFill>
                <a:latin typeface="Calibri" pitchFamily="34" charset="0"/>
                <a:ea typeface="Calibri" pitchFamily="34" charset="-122"/>
                <a:cs typeface="Calibri" pitchFamily="34" charset="-120"/>
              </a:rPr>
              <a:t>High / Med / Low</a:t>
            </a:r>
            <a:endParaRPr lang="en-US" sz="1000" dirty="0"/>
          </a:p>
          <a:p>
            <a:pPr marL="0" indent="0" algn="ctr">
              <a:buNone/>
            </a:pPr>
            <a:r>
              <a:rPr lang="en-US" sz="1000" dirty="0">
                <a:solidFill>
                  <a:srgbClr val="1A2B3C"/>
                </a:solidFill>
                <a:latin typeface="Calibri" pitchFamily="34" charset="0"/>
                <a:ea typeface="Calibri" pitchFamily="34" charset="-122"/>
                <a:cs typeface="Calibri" pitchFamily="34" charset="-120"/>
              </a:rPr>
              <a:t>Explainability Map</a:t>
            </a:r>
            <a:endParaRPr lang="en-US" sz="1000" dirty="0"/>
          </a:p>
        </p:txBody>
      </p:sp>
      <p:sp>
        <p:nvSpPr>
          <p:cNvPr id="34" name="Shape 32"/>
          <p:cNvSpPr/>
          <p:nvPr/>
        </p:nvSpPr>
        <p:spPr>
          <a:xfrm>
            <a:off x="9646920" y="2532888"/>
            <a:ext cx="274320" cy="146304"/>
          </a:xfrm>
          <a:prstGeom prst="rect">
            <a:avLst/>
          </a:prstGeom>
          <a:solidFill>
            <a:srgbClr val="1A7A4A"/>
          </a:solidFill>
          <a:ln w="12700">
            <a:solidFill>
              <a:srgbClr val="1A7A4A"/>
            </a:solidFill>
            <a:prstDash val="solid"/>
          </a:ln>
        </p:spPr>
      </p:sp>
      <p:sp>
        <p:nvSpPr>
          <p:cNvPr id="35" name="Shape 33"/>
          <p:cNvSpPr/>
          <p:nvPr/>
        </p:nvSpPr>
        <p:spPr>
          <a:xfrm>
            <a:off x="9848088" y="2468880"/>
            <a:ext cx="109728" cy="274320"/>
          </a:xfrm>
          <a:prstGeom prst="rect">
            <a:avLst/>
          </a:prstGeom>
          <a:solidFill>
            <a:srgbClr val="1A7A4A"/>
          </a:solidFill>
          <a:ln w="12700">
            <a:solidFill>
              <a:srgbClr val="1A7A4A"/>
            </a:solidFill>
            <a:prstDash val="solid"/>
          </a:ln>
        </p:spPr>
      </p:sp>
      <p:sp>
        <p:nvSpPr>
          <p:cNvPr id="36" name="Shape 34"/>
          <p:cNvSpPr/>
          <p:nvPr/>
        </p:nvSpPr>
        <p:spPr>
          <a:xfrm>
            <a:off x="9921240" y="1417320"/>
            <a:ext cx="1645920" cy="2377440"/>
          </a:xfrm>
          <a:prstGeom prst="rect">
            <a:avLst/>
          </a:prstGeom>
          <a:solidFill>
            <a:srgbClr val="FFFFFF"/>
          </a:solidFill>
          <a:ln w="19050">
            <a:solidFill>
              <a:srgbClr val="7A8FA6"/>
            </a:solidFill>
            <a:prstDash val="solid"/>
          </a:ln>
        </p:spPr>
      </p:sp>
      <p:sp>
        <p:nvSpPr>
          <p:cNvPr id="37" name="Shape 35"/>
          <p:cNvSpPr/>
          <p:nvPr/>
        </p:nvSpPr>
        <p:spPr>
          <a:xfrm>
            <a:off x="9921240" y="1417320"/>
            <a:ext cx="1645920" cy="457200"/>
          </a:xfrm>
          <a:prstGeom prst="rect">
            <a:avLst/>
          </a:prstGeom>
          <a:solidFill>
            <a:srgbClr val="7A8FA6"/>
          </a:solidFill>
          <a:ln w="12700">
            <a:solidFill>
              <a:srgbClr val="7A8FA6"/>
            </a:solidFill>
            <a:prstDash val="solid"/>
          </a:ln>
        </p:spPr>
      </p:sp>
      <p:sp>
        <p:nvSpPr>
          <p:cNvPr id="38" name="Text 36"/>
          <p:cNvSpPr/>
          <p:nvPr/>
        </p:nvSpPr>
        <p:spPr>
          <a:xfrm>
            <a:off x="9921240" y="1417320"/>
            <a:ext cx="164592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Stage 6</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EVAL</a:t>
            </a:r>
            <a:endParaRPr lang="en-US" sz="950" dirty="0"/>
          </a:p>
        </p:txBody>
      </p:sp>
      <p:sp>
        <p:nvSpPr>
          <p:cNvPr id="39" name="Text 37"/>
          <p:cNvSpPr/>
          <p:nvPr/>
        </p:nvSpPr>
        <p:spPr>
          <a:xfrm>
            <a:off x="9994392" y="1947672"/>
            <a:ext cx="1499616" cy="1755648"/>
          </a:xfrm>
          <a:prstGeom prst="rect">
            <a:avLst/>
          </a:prstGeom>
          <a:noFill/>
          <a:ln/>
        </p:spPr>
        <p:txBody>
          <a:bodyPr wrap="square" rtlCol="0" anchor="t"/>
          <a:lstStyle/>
          <a:p>
            <a:pPr marL="0" indent="0" algn="ctr">
              <a:buNone/>
            </a:pPr>
            <a:r>
              <a:rPr lang="en-US" sz="1000" dirty="0">
                <a:solidFill>
                  <a:srgbClr val="1A2B3C"/>
                </a:solidFill>
                <a:latin typeface="Calibri" pitchFamily="34" charset="0"/>
                <a:ea typeface="Calibri" pitchFamily="34" charset="-122"/>
                <a:cs typeface="Calibri" pitchFamily="34" charset="-120"/>
              </a:rPr>
              <a:t>Acc / F1 / AUC</a:t>
            </a:r>
            <a:endParaRPr lang="en-US" sz="1000" dirty="0"/>
          </a:p>
          <a:p>
            <a:pPr marL="0" indent="0" algn="ctr">
              <a:buNone/>
            </a:pPr>
            <a:r>
              <a:rPr lang="en-US" sz="1000" dirty="0">
                <a:solidFill>
                  <a:srgbClr val="1A2B3C"/>
                </a:solidFill>
                <a:latin typeface="Calibri" pitchFamily="34" charset="0"/>
                <a:ea typeface="Calibri" pitchFamily="34" charset="-122"/>
                <a:cs typeface="Calibri" pitchFamily="34" charset="-120"/>
              </a:rPr>
              <a:t>QWK / mAP</a:t>
            </a:r>
            <a:endParaRPr lang="en-US" sz="1000" dirty="0"/>
          </a:p>
          <a:p>
            <a:pPr marL="0" indent="0" algn="ctr">
              <a:buNone/>
            </a:pPr>
            <a:r>
              <a:rPr lang="en-US" sz="1000" dirty="0">
                <a:solidFill>
                  <a:srgbClr val="1A2B3C"/>
                </a:solidFill>
                <a:latin typeface="Calibri" pitchFamily="34" charset="0"/>
                <a:ea typeface="Calibri" pitchFamily="34" charset="-122"/>
                <a:cs typeface="Calibri" pitchFamily="34" charset="-120"/>
              </a:rPr>
              <a:t>vs. Baselines</a:t>
            </a:r>
            <a:endParaRPr lang="en-US" sz="1000" dirty="0"/>
          </a:p>
        </p:txBody>
      </p:sp>
      <p:sp>
        <p:nvSpPr>
          <p:cNvPr id="40" name="Shape 38"/>
          <p:cNvSpPr/>
          <p:nvPr/>
        </p:nvSpPr>
        <p:spPr>
          <a:xfrm>
            <a:off x="320040" y="4023360"/>
            <a:ext cx="11521440" cy="0"/>
          </a:xfrm>
          <a:prstGeom prst="line">
            <a:avLst/>
          </a:prstGeom>
          <a:noFill/>
          <a:ln w="10160">
            <a:solidFill>
              <a:srgbClr val="7A8FA6"/>
            </a:solidFill>
            <a:prstDash val="dash"/>
          </a:ln>
        </p:spPr>
      </p:sp>
      <p:sp>
        <p:nvSpPr>
          <p:cNvPr id="41" name="Text 39"/>
          <p:cNvSpPr/>
          <p:nvPr/>
        </p:nvSpPr>
        <p:spPr>
          <a:xfrm>
            <a:off x="320040" y="4069080"/>
            <a:ext cx="3657600" cy="256032"/>
          </a:xfrm>
          <a:prstGeom prst="rect">
            <a:avLst/>
          </a:prstGeom>
          <a:noFill/>
          <a:ln/>
        </p:spPr>
        <p:txBody>
          <a:bodyPr wrap="square" rtlCol="0" anchor="ctr"/>
          <a:lstStyle/>
          <a:p>
            <a:pPr marL="0" indent="0">
              <a:buNone/>
            </a:pPr>
            <a:r>
              <a:rPr lang="en-US" sz="850" b="1" i="1" kern="0" spc="100" dirty="0">
                <a:solidFill>
                  <a:srgbClr val="7A8FA6"/>
                </a:solidFill>
                <a:latin typeface="Calibri" pitchFamily="34" charset="0"/>
                <a:ea typeface="Calibri" pitchFamily="34" charset="-122"/>
                <a:cs typeface="Calibri" pitchFamily="34" charset="-120"/>
              </a:rPr>
              <a:t>ITERATIVE REFINEMENT LOOP</a:t>
            </a:r>
            <a:endParaRPr lang="en-US" sz="850" dirty="0"/>
          </a:p>
        </p:txBody>
      </p:sp>
      <p:sp>
        <p:nvSpPr>
          <p:cNvPr id="42" name="Shape 40"/>
          <p:cNvSpPr/>
          <p:nvPr/>
        </p:nvSpPr>
        <p:spPr>
          <a:xfrm>
            <a:off x="320040" y="4389120"/>
            <a:ext cx="3566160" cy="2194560"/>
          </a:xfrm>
          <a:prstGeom prst="rect">
            <a:avLst/>
          </a:prstGeom>
          <a:solidFill>
            <a:srgbClr val="EFF4FA"/>
          </a:solidFill>
          <a:ln w="8890">
            <a:solidFill>
              <a:srgbClr val="1B6CA8"/>
            </a:solidFill>
            <a:prstDash val="solid"/>
          </a:ln>
        </p:spPr>
      </p:sp>
      <p:sp>
        <p:nvSpPr>
          <p:cNvPr id="43" name="Text 41"/>
          <p:cNvSpPr/>
          <p:nvPr/>
        </p:nvSpPr>
        <p:spPr>
          <a:xfrm>
            <a:off x="411480" y="4453128"/>
            <a:ext cx="3383280" cy="292608"/>
          </a:xfrm>
          <a:prstGeom prst="rect">
            <a:avLst/>
          </a:prstGeom>
          <a:noFill/>
          <a:ln/>
        </p:spPr>
        <p:txBody>
          <a:bodyPr wrap="square" rtlCol="0" anchor="ctr"/>
          <a:lstStyle/>
          <a:p>
            <a:pPr marL="0" indent="0">
              <a:buNone/>
            </a:pPr>
            <a:r>
              <a:rPr lang="en-US" sz="1100" b="1" dirty="0">
                <a:solidFill>
                  <a:srgbClr val="1B6CA8"/>
                </a:solidFill>
                <a:latin typeface="Cambria" pitchFamily="34" charset="0"/>
                <a:ea typeface="Cambria" pitchFamily="34" charset="-122"/>
                <a:cs typeface="Cambria" pitchFamily="34" charset="-120"/>
              </a:rPr>
              <a:t>Key Decision: Model Selection</a:t>
            </a:r>
            <a:endParaRPr lang="en-US" sz="1100" dirty="0"/>
          </a:p>
        </p:txBody>
      </p:sp>
      <p:sp>
        <p:nvSpPr>
          <p:cNvPr id="44" name="Text 42"/>
          <p:cNvSpPr/>
          <p:nvPr/>
        </p:nvSpPr>
        <p:spPr>
          <a:xfrm>
            <a:off x="411480" y="4773168"/>
            <a:ext cx="3383280" cy="1691640"/>
          </a:xfrm>
          <a:prstGeom prst="rect">
            <a:avLst/>
          </a:prstGeom>
          <a:noFill/>
          <a:ln/>
        </p:spPr>
        <p:txBody>
          <a:bodyPr wrap="square" rtlCol="0" anchor="ctr"/>
          <a:lstStyle/>
          <a:p>
            <a:pPr marL="0" indent="0">
              <a:buNone/>
            </a:pPr>
            <a:r>
              <a:rPr lang="en-US" sz="1000" dirty="0">
                <a:solidFill>
                  <a:srgbClr val="1A2B3C"/>
                </a:solidFill>
                <a:latin typeface="Calibri" pitchFamily="34" charset="0"/>
                <a:ea typeface="Calibri" pitchFamily="34" charset="-122"/>
                <a:cs typeface="Calibri" pitchFamily="34" charset="-120"/>
              </a:rPr>
              <a:t>Compare Video Swin Transformer vs. SlowFast vs. DenseAttNet. Use ablation studies to isolate contribution of temporal attention mechanisms.</a:t>
            </a:r>
            <a:endParaRPr lang="en-US" sz="1000" dirty="0"/>
          </a:p>
        </p:txBody>
      </p:sp>
      <p:sp>
        <p:nvSpPr>
          <p:cNvPr id="45" name="Shape 43"/>
          <p:cNvSpPr/>
          <p:nvPr/>
        </p:nvSpPr>
        <p:spPr>
          <a:xfrm>
            <a:off x="4206240" y="4389120"/>
            <a:ext cx="3840480" cy="2194560"/>
          </a:xfrm>
          <a:prstGeom prst="rect">
            <a:avLst/>
          </a:prstGeom>
          <a:solidFill>
            <a:srgbClr val="EFF4FA"/>
          </a:solidFill>
          <a:ln w="8890">
            <a:solidFill>
              <a:srgbClr val="F4A811"/>
            </a:solidFill>
            <a:prstDash val="solid"/>
          </a:ln>
        </p:spPr>
      </p:sp>
      <p:sp>
        <p:nvSpPr>
          <p:cNvPr id="46" name="Text 44"/>
          <p:cNvSpPr/>
          <p:nvPr/>
        </p:nvSpPr>
        <p:spPr>
          <a:xfrm>
            <a:off x="4297680" y="4453128"/>
            <a:ext cx="3657600" cy="292608"/>
          </a:xfrm>
          <a:prstGeom prst="rect">
            <a:avLst/>
          </a:prstGeom>
          <a:noFill/>
          <a:ln/>
        </p:spPr>
        <p:txBody>
          <a:bodyPr wrap="square" rtlCol="0" anchor="ctr"/>
          <a:lstStyle/>
          <a:p>
            <a:pPr marL="0" indent="0">
              <a:buNone/>
            </a:pPr>
            <a:r>
              <a:rPr lang="en-US" sz="1100" b="1" dirty="0">
                <a:solidFill>
                  <a:srgbClr val="F4A811"/>
                </a:solidFill>
                <a:latin typeface="Cambria" pitchFamily="34" charset="0"/>
                <a:ea typeface="Cambria" pitchFamily="34" charset="-122"/>
                <a:cs typeface="Cambria" pitchFamily="34" charset="-120"/>
              </a:rPr>
              <a:t>XAI Integration</a:t>
            </a:r>
            <a:endParaRPr lang="en-US" sz="1100" dirty="0"/>
          </a:p>
        </p:txBody>
      </p:sp>
      <p:sp>
        <p:nvSpPr>
          <p:cNvPr id="47" name="Text 45"/>
          <p:cNvSpPr/>
          <p:nvPr/>
        </p:nvSpPr>
        <p:spPr>
          <a:xfrm>
            <a:off x="4297680" y="4773168"/>
            <a:ext cx="3657600" cy="1691640"/>
          </a:xfrm>
          <a:prstGeom prst="rect">
            <a:avLst/>
          </a:prstGeom>
          <a:noFill/>
          <a:ln/>
        </p:spPr>
        <p:txBody>
          <a:bodyPr wrap="square" rtlCol="0" anchor="ctr"/>
          <a:lstStyle/>
          <a:p>
            <a:pPr marL="0" indent="0">
              <a:buNone/>
            </a:pPr>
            <a:r>
              <a:rPr lang="en-US" sz="1000" dirty="0">
                <a:solidFill>
                  <a:srgbClr val="1A2B3C"/>
                </a:solidFill>
                <a:latin typeface="Calibri" pitchFamily="34" charset="0"/>
                <a:ea typeface="Calibri" pitchFamily="34" charset="-122"/>
                <a:cs typeface="Calibri" pitchFamily="34" charset="-120"/>
              </a:rPr>
              <a:t>GradCAM++ attention visualisation on group clips. Evidence Decomposition module to output interpretable interaction relations (cf. Nie &amp; Wang, 2026).</a:t>
            </a:r>
            <a:endParaRPr lang="en-US" sz="1000" dirty="0"/>
          </a:p>
        </p:txBody>
      </p:sp>
      <p:sp>
        <p:nvSpPr>
          <p:cNvPr id="48" name="Shape 46"/>
          <p:cNvSpPr/>
          <p:nvPr/>
        </p:nvSpPr>
        <p:spPr>
          <a:xfrm>
            <a:off x="8321040" y="4389120"/>
            <a:ext cx="3657600" cy="2194560"/>
          </a:xfrm>
          <a:prstGeom prst="rect">
            <a:avLst/>
          </a:prstGeom>
          <a:solidFill>
            <a:srgbClr val="EFF4FA"/>
          </a:solidFill>
          <a:ln w="8890">
            <a:solidFill>
              <a:srgbClr val="1A7A4A"/>
            </a:solidFill>
            <a:prstDash val="solid"/>
          </a:ln>
        </p:spPr>
      </p:sp>
      <p:sp>
        <p:nvSpPr>
          <p:cNvPr id="49" name="Text 47"/>
          <p:cNvSpPr/>
          <p:nvPr/>
        </p:nvSpPr>
        <p:spPr>
          <a:xfrm>
            <a:off x="8412480" y="4453128"/>
            <a:ext cx="3474720" cy="292608"/>
          </a:xfrm>
          <a:prstGeom prst="rect">
            <a:avLst/>
          </a:prstGeom>
          <a:noFill/>
          <a:ln/>
        </p:spPr>
        <p:txBody>
          <a:bodyPr wrap="square" rtlCol="0" anchor="ctr"/>
          <a:lstStyle/>
          <a:p>
            <a:pPr marL="0" indent="0">
              <a:buNone/>
            </a:pPr>
            <a:r>
              <a:rPr lang="en-US" sz="1100" b="1" dirty="0">
                <a:solidFill>
                  <a:srgbClr val="1A7A4A"/>
                </a:solidFill>
                <a:latin typeface="Cambria" pitchFamily="34" charset="0"/>
                <a:ea typeface="Cambria" pitchFamily="34" charset="-122"/>
                <a:cs typeface="Cambria" pitchFamily="34" charset="-120"/>
              </a:rPr>
              <a:t>Evaluation Protocol</a:t>
            </a:r>
            <a:endParaRPr lang="en-US" sz="1100" dirty="0"/>
          </a:p>
        </p:txBody>
      </p:sp>
      <p:sp>
        <p:nvSpPr>
          <p:cNvPr id="50" name="Text 48"/>
          <p:cNvSpPr/>
          <p:nvPr/>
        </p:nvSpPr>
        <p:spPr>
          <a:xfrm>
            <a:off x="8412480" y="4773168"/>
            <a:ext cx="3474720" cy="1691640"/>
          </a:xfrm>
          <a:prstGeom prst="rect">
            <a:avLst/>
          </a:prstGeom>
          <a:noFill/>
          <a:ln/>
        </p:spPr>
        <p:txBody>
          <a:bodyPr wrap="square" rtlCol="0" anchor="ctr"/>
          <a:lstStyle/>
          <a:p>
            <a:pPr marL="0" indent="0">
              <a:buNone/>
            </a:pPr>
            <a:r>
              <a:rPr lang="en-US" sz="1000" dirty="0">
                <a:solidFill>
                  <a:srgbClr val="1A2B3C"/>
                </a:solidFill>
                <a:latin typeface="Calibri" pitchFamily="34" charset="0"/>
                <a:ea typeface="Calibri" pitchFamily="34" charset="-122"/>
                <a:cs typeface="Calibri" pitchFamily="34" charset="-120"/>
              </a:rPr>
              <a:t>Official train/val/test splits of OUC-CGE. Metrics: Accuracy, Macro-F1, QWK, AUC. Compare against all published baselines.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F35"/>
        </a:solidFill>
        <a:effectLst/>
      </p:bgPr>
    </p:bg>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F0A500"/>
          </a:solidFill>
          <a:ln w="12700">
            <a:solidFill>
              <a:srgbClr val="F0A500"/>
            </a:solidFill>
            <a:prstDash val="solid"/>
          </a:ln>
        </p:spPr>
      </p:sp>
      <p:sp>
        <p:nvSpPr>
          <p:cNvPr id="3" name="Text 1"/>
          <p:cNvSpPr/>
          <p:nvPr/>
        </p:nvSpPr>
        <p:spPr>
          <a:xfrm>
            <a:off x="731520" y="1828800"/>
            <a:ext cx="10728960" cy="1706880"/>
          </a:xfrm>
          <a:prstGeom prst="rect">
            <a:avLst/>
          </a:prstGeom>
          <a:noFill/>
          <a:ln/>
        </p:spPr>
        <p:txBody>
          <a:bodyPr wrap="square" rtlCol="0" anchor="ctr"/>
          <a:lstStyle/>
          <a:p>
            <a:pPr defTabSz="1219170"/>
            <a:r>
              <a:rPr lang="en-US" sz="4800" b="1" dirty="0">
                <a:solidFill>
                  <a:srgbClr val="FFFFFF"/>
                </a:solidFill>
                <a:latin typeface="Calibri" pitchFamily="34" charset="0"/>
                <a:ea typeface="Calibri" pitchFamily="34" charset="-122"/>
                <a:cs typeface="Calibri" pitchFamily="34" charset="-120"/>
              </a:rPr>
              <a:t>SECTION 1</a:t>
            </a:r>
            <a:endParaRPr lang="en-US" sz="4800" dirty="0">
              <a:solidFill>
                <a:prstClr val="black"/>
              </a:solidFill>
              <a:latin typeface="Calibri" panose="020F0502020204030204"/>
            </a:endParaRPr>
          </a:p>
          <a:p>
            <a:pPr defTabSz="1219170"/>
            <a:r>
              <a:rPr lang="en-US" sz="4800" b="1" dirty="0">
                <a:solidFill>
                  <a:srgbClr val="FFFFFF"/>
                </a:solidFill>
                <a:latin typeface="Calibri" pitchFamily="34" charset="0"/>
                <a:ea typeface="Calibri" pitchFamily="34" charset="-122"/>
                <a:cs typeface="Calibri" pitchFamily="34" charset="-120"/>
              </a:rPr>
              <a:t>OUC-CGE Focused Literature Review</a:t>
            </a:r>
            <a:endParaRPr lang="en-US" sz="4800" dirty="0">
              <a:solidFill>
                <a:prstClr val="black"/>
              </a:solidFill>
              <a:latin typeface="Calibri" panose="020F0502020204030204"/>
            </a:endParaRPr>
          </a:p>
        </p:txBody>
      </p:sp>
      <p:sp>
        <p:nvSpPr>
          <p:cNvPr id="4" name="Shape 2"/>
          <p:cNvSpPr/>
          <p:nvPr/>
        </p:nvSpPr>
        <p:spPr>
          <a:xfrm>
            <a:off x="731520" y="3779520"/>
            <a:ext cx="10728960" cy="60960"/>
          </a:xfrm>
          <a:prstGeom prst="rect">
            <a:avLst/>
          </a:prstGeom>
          <a:solidFill>
            <a:srgbClr val="F0A500"/>
          </a:solidFill>
          <a:ln w="12700">
            <a:solidFill>
              <a:srgbClr val="F0A500"/>
            </a:solidFill>
            <a:prstDash val="solid"/>
          </a:ln>
        </p:spPr>
      </p:sp>
      <p:sp>
        <p:nvSpPr>
          <p:cNvPr id="5" name="Text 3"/>
          <p:cNvSpPr/>
          <p:nvPr/>
        </p:nvSpPr>
        <p:spPr>
          <a:xfrm>
            <a:off x="731520" y="4023360"/>
            <a:ext cx="10728960" cy="731520"/>
          </a:xfrm>
          <a:prstGeom prst="rect">
            <a:avLst/>
          </a:prstGeom>
          <a:noFill/>
          <a:ln/>
        </p:spPr>
        <p:txBody>
          <a:bodyPr wrap="square" rtlCol="0" anchor="ctr"/>
          <a:lstStyle/>
          <a:p>
            <a:pPr defTabSz="1219170"/>
            <a:r>
              <a:rPr lang="en-US" sz="2267" dirty="0">
                <a:solidFill>
                  <a:srgbClr val="4FB3CE"/>
                </a:solidFill>
                <a:latin typeface="Calibri" pitchFamily="34" charset="0"/>
                <a:ea typeface="Calibri" pitchFamily="34" charset="-122"/>
                <a:cs typeface="Calibri" pitchFamily="34" charset="-120"/>
              </a:rPr>
              <a:t>Papers That Directly Use and Analyse the OUC-CGE Dataset</a:t>
            </a:r>
            <a:endParaRPr lang="en-US" sz="2267" dirty="0">
              <a:solidFill>
                <a:prstClr val="black"/>
              </a:solidFill>
              <a:latin typeface="Calibri" panose="020F0502020204030204"/>
            </a:endParaRPr>
          </a:p>
        </p:txBody>
      </p:sp>
    </p:spTree>
    <p:extLst>
      <p:ext uri="{BB962C8B-B14F-4D97-AF65-F5344CB8AC3E}">
        <p14:creationId xmlns:p14="http://schemas.microsoft.com/office/powerpoint/2010/main" val="1991301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219456"/>
            <a:ext cx="2438400" cy="341376"/>
          </a:xfrm>
          <a:prstGeom prst="rect">
            <a:avLst/>
          </a:prstGeom>
          <a:solidFill>
            <a:srgbClr val="2E86AB"/>
          </a:solidFill>
          <a:ln w="12700">
            <a:solidFill>
              <a:srgbClr val="2E86AB"/>
            </a:solidFill>
            <a:prstDash val="solid"/>
          </a:ln>
        </p:spPr>
      </p:sp>
      <p:sp>
        <p:nvSpPr>
          <p:cNvPr id="3" name="Text 1"/>
          <p:cNvSpPr/>
          <p:nvPr/>
        </p:nvSpPr>
        <p:spPr>
          <a:xfrm>
            <a:off x="548640" y="219456"/>
            <a:ext cx="2438400" cy="341376"/>
          </a:xfrm>
          <a:prstGeom prst="rect">
            <a:avLst/>
          </a:prstGeom>
          <a:noFill/>
          <a:ln/>
        </p:spPr>
        <p:txBody>
          <a:bodyPr wrap="square" lIns="0" tIns="0" rIns="0" bIns="0" rtlCol="0" anchor="ctr"/>
          <a:lstStyle/>
          <a:p>
            <a:pPr algn="ctr"/>
            <a:r>
              <a:rPr lang="en-US" sz="1000" b="1" kern="0" spc="267" dirty="0">
                <a:solidFill>
                  <a:srgbClr val="FFFFFF"/>
                </a:solidFill>
                <a:latin typeface="Calibri" pitchFamily="34" charset="0"/>
                <a:ea typeface="Calibri" pitchFamily="34" charset="-122"/>
                <a:cs typeface="Calibri" pitchFamily="34" charset="-120"/>
              </a:rPr>
              <a:t>OUC-CGE LITERATURE</a:t>
            </a:r>
            <a:endParaRPr lang="en-US" sz="1000" dirty="0"/>
          </a:p>
        </p:txBody>
      </p:sp>
      <p:sp>
        <p:nvSpPr>
          <p:cNvPr id="4" name="Text 2"/>
          <p:cNvSpPr/>
          <p:nvPr/>
        </p:nvSpPr>
        <p:spPr>
          <a:xfrm>
            <a:off x="548640" y="670560"/>
            <a:ext cx="11094720" cy="914400"/>
          </a:xfrm>
          <a:prstGeom prst="rect">
            <a:avLst/>
          </a:prstGeom>
          <a:noFill/>
          <a:ln/>
        </p:spPr>
        <p:txBody>
          <a:bodyPr wrap="square" rtlCol="0" anchor="b"/>
          <a:lstStyle/>
          <a:p>
            <a:r>
              <a:rPr lang="en-US" sz="3467" b="1" dirty="0">
                <a:solidFill>
                  <a:srgbClr val="0D1F35"/>
                </a:solidFill>
                <a:latin typeface="Calibri" pitchFamily="34" charset="0"/>
                <a:ea typeface="Calibri" pitchFamily="34" charset="-122"/>
                <a:cs typeface="Calibri" pitchFamily="34" charset="-120"/>
              </a:rPr>
              <a:t>Papers Using OUC-CGE: Methods &amp; Results</a:t>
            </a:r>
            <a:endParaRPr lang="en-US" sz="3467" dirty="0"/>
          </a:p>
        </p:txBody>
      </p:sp>
      <p:sp>
        <p:nvSpPr>
          <p:cNvPr id="5" name="Shape 3"/>
          <p:cNvSpPr/>
          <p:nvPr/>
        </p:nvSpPr>
        <p:spPr>
          <a:xfrm>
            <a:off x="548640" y="1645920"/>
            <a:ext cx="11094720" cy="36576"/>
          </a:xfrm>
          <a:prstGeom prst="rect">
            <a:avLst/>
          </a:prstGeom>
          <a:solidFill>
            <a:srgbClr val="2E86AB"/>
          </a:solidFill>
          <a:ln w="12700">
            <a:solidFill>
              <a:srgbClr val="2E86AB"/>
            </a:solidFill>
            <a:prstDash val="solid"/>
          </a:ln>
        </p:spPr>
      </p:sp>
      <p:graphicFrame>
        <p:nvGraphicFramePr>
          <p:cNvPr id="6" name="Table 0"/>
          <p:cNvGraphicFramePr>
            <a:graphicFrameLocks noGrp="1"/>
          </p:cNvGraphicFramePr>
          <p:nvPr/>
        </p:nvGraphicFramePr>
        <p:xfrm>
          <a:off x="548640" y="1767840"/>
          <a:ext cx="11094720" cy="3215640"/>
        </p:xfrm>
        <a:graphic>
          <a:graphicData uri="http://schemas.openxmlformats.org/drawingml/2006/table">
            <a:tbl>
              <a:tblPr/>
              <a:tblGrid>
                <a:gridCol w="1402080">
                  <a:extLst>
                    <a:ext uri="{9D8B030D-6E8A-4147-A177-3AD203B41FA5}">
                      <a16:colId xmlns:a16="http://schemas.microsoft.com/office/drawing/2014/main" val="20000"/>
                    </a:ext>
                  </a:extLst>
                </a:gridCol>
                <a:gridCol w="1767840">
                  <a:extLst>
                    <a:ext uri="{9D8B030D-6E8A-4147-A177-3AD203B41FA5}">
                      <a16:colId xmlns:a16="http://schemas.microsoft.com/office/drawing/2014/main" val="20001"/>
                    </a:ext>
                  </a:extLst>
                </a:gridCol>
                <a:gridCol w="18897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34112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gridCol w="1645920">
                  <a:extLst>
                    <a:ext uri="{9D8B030D-6E8A-4147-A177-3AD203B41FA5}">
                      <a16:colId xmlns:a16="http://schemas.microsoft.com/office/drawing/2014/main" val="20006"/>
                    </a:ext>
                  </a:extLst>
                </a:gridCol>
              </a:tblGrid>
              <a:tr h="67056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Paper / Year</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solidFill>
                      <a:srgbClr val="0D1F3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Objective</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solidFill>
                      <a:srgbClr val="0D1F3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Method / Model</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solidFill>
                      <a:srgbClr val="0D1F3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Dataset Usage</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solidFill>
                      <a:srgbClr val="0D1F3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Eval Metrics</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solidFill>
                      <a:srgbClr val="0D1F3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Results</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solidFill>
                      <a:srgbClr val="0D1F3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Contribution</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solidFill>
                      <a:srgbClr val="0D1F35"/>
                    </a:solidFill>
                  </a:tcPr>
                </a:tc>
                <a:extLst>
                  <a:ext uri="{0D108BD9-81ED-4DB2-BD59-A6C34878D82A}">
                    <a16:rowId xmlns:a16="http://schemas.microsoft.com/office/drawing/2014/main" val="10000"/>
                  </a:ext>
                </a:extLst>
              </a:tr>
              <a:tr h="772160">
                <a:tc>
                  <a:txBody>
                    <a:bodyPr/>
                    <a:lstStyle/>
                    <a:p>
                      <a:pPr marL="0" indent="0">
                        <a:buNone/>
                      </a:pPr>
                      <a:r>
                        <a:rPr lang="en-US" sz="1100" b="1" dirty="0">
                          <a:solidFill>
                            <a:srgbClr val="2E86AB"/>
                          </a:solidFill>
                          <a:latin typeface="Calibri" pitchFamily="34" charset="0"/>
                          <a:ea typeface="Calibri" pitchFamily="34" charset="-122"/>
                          <a:cs typeface="Calibri" pitchFamily="34" charset="-120"/>
                        </a:rPr>
                        <a:t>Lu et al.</a:t>
                      </a:r>
                      <a:endParaRPr lang="en-US" sz="1100" dirty="0">
                        <a:latin typeface="Calibri" charset="0"/>
                        <a:ea typeface="Calibri" charset="0"/>
                        <a:cs typeface="Calibri" charset="0"/>
                      </a:endParaRPr>
                    </a:p>
                    <a:p>
                      <a:pPr marL="0" indent="0">
                        <a:buNone/>
                      </a:pPr>
                      <a:r>
                        <a:rPr lang="en-US" sz="1100" b="1" dirty="0">
                          <a:solidFill>
                            <a:srgbClr val="2E86AB"/>
                          </a:solidFill>
                          <a:latin typeface="Calibri" pitchFamily="34" charset="0"/>
                          <a:ea typeface="Calibri" pitchFamily="34" charset="-122"/>
                          <a:cs typeface="Calibri" pitchFamily="34" charset="-120"/>
                        </a:rPr>
                        <a:t>2025</a:t>
                      </a:r>
                      <a:endParaRPr lang="en-US" sz="1100" dirty="0">
                        <a:latin typeface="Calibri" charset="0"/>
                        <a:ea typeface="Calibri" charset="0"/>
                        <a:cs typeface="Calibri" charset="0"/>
                      </a:endParaRPr>
                    </a:p>
                    <a:p>
                      <a:pPr marL="0" indent="0">
                        <a:buNone/>
                      </a:pPr>
                      <a:r>
                        <a:rPr lang="en-US" sz="1100" b="1" dirty="0">
                          <a:solidFill>
                            <a:srgbClr val="2E86AB"/>
                          </a:solidFill>
                          <a:latin typeface="Calibri" pitchFamily="34" charset="0"/>
                          <a:ea typeface="Calibri" pitchFamily="34" charset="-122"/>
                          <a:cs typeface="Calibri" pitchFamily="34" charset="-120"/>
                        </a:rPr>
                        <a:t>(Sci. Data, Nature)</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Introduce OUC-CGE &amp; establish baselines</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SlowFast, I3D, C2D, C3D</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Full dataset; official train/val/test split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Accuracy, AUC, QWK</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Acc 94.3% (I3D)</a:t>
                      </a:r>
                      <a:endParaRPr lang="en-US" sz="1100" dirty="0">
                        <a:latin typeface="Calibri" charset="0"/>
                        <a:ea typeface="Calibri" charset="0"/>
                        <a:cs typeface="Calibri" charset="0"/>
                      </a:endParaRPr>
                    </a:p>
                    <a:p>
                      <a:pPr marL="0" indent="0">
                        <a:buNone/>
                      </a:pPr>
                      <a:r>
                        <a:rPr lang="en-US" sz="1100" dirty="0">
                          <a:solidFill>
                            <a:srgbClr val="2C3E50"/>
                          </a:solidFill>
                          <a:latin typeface="Calibri" pitchFamily="34" charset="0"/>
                          <a:ea typeface="Calibri" pitchFamily="34" charset="-122"/>
                          <a:cs typeface="Calibri" pitchFamily="34" charset="-120"/>
                        </a:rPr>
                        <a:t>AUC 99.1%</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First publicly available authentic classroom group engagement dataset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01"/>
                  </a:ext>
                </a:extLst>
              </a:tr>
              <a:tr h="772160">
                <a:tc>
                  <a:txBody>
                    <a:bodyPr/>
                    <a:lstStyle/>
                    <a:p>
                      <a:pPr marL="0" indent="0">
                        <a:buNone/>
                      </a:pPr>
                      <a:r>
                        <a:rPr lang="en-US" sz="1100" b="1" dirty="0">
                          <a:solidFill>
                            <a:srgbClr val="2E86AB"/>
                          </a:solidFill>
                          <a:latin typeface="Calibri" pitchFamily="34" charset="0"/>
                          <a:ea typeface="Calibri" pitchFamily="34" charset="-122"/>
                          <a:cs typeface="Calibri" pitchFamily="34" charset="-120"/>
                        </a:rPr>
                        <a:t>Nie &amp; Wang</a:t>
                      </a:r>
                      <a:endParaRPr lang="en-US" sz="1100" dirty="0">
                        <a:latin typeface="Calibri" charset="0"/>
                        <a:ea typeface="Calibri" charset="0"/>
                        <a:cs typeface="Calibri" charset="0"/>
                      </a:endParaRPr>
                    </a:p>
                    <a:p>
                      <a:pPr marL="0" indent="0">
                        <a:buNone/>
                      </a:pPr>
                      <a:r>
                        <a:rPr lang="en-US" sz="1100" b="1" dirty="0">
                          <a:solidFill>
                            <a:srgbClr val="2E86AB"/>
                          </a:solidFill>
                          <a:latin typeface="Calibri" pitchFamily="34" charset="0"/>
                          <a:ea typeface="Calibri" pitchFamily="34" charset="-122"/>
                          <a:cs typeface="Calibri" pitchFamily="34" charset="-120"/>
                        </a:rPr>
                        <a:t>2026</a:t>
                      </a:r>
                      <a:endParaRPr lang="en-US" sz="1100" dirty="0">
                        <a:latin typeface="Calibri" charset="0"/>
                        <a:ea typeface="Calibri" charset="0"/>
                        <a:cs typeface="Calibri" charset="0"/>
                      </a:endParaRPr>
                    </a:p>
                    <a:p>
                      <a:pPr marL="0" indent="0">
                        <a:buNone/>
                      </a:pPr>
                      <a:r>
                        <a:rPr lang="en-US" sz="1100" b="1" dirty="0">
                          <a:solidFill>
                            <a:srgbClr val="2E86AB"/>
                          </a:solidFill>
                          <a:latin typeface="Calibri" pitchFamily="34" charset="0"/>
                          <a:ea typeface="Calibri" pitchFamily="34" charset="-122"/>
                          <a:cs typeface="Calibri" pitchFamily="34" charset="-120"/>
                        </a:rPr>
                        <a:t>(IEEE Access)</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Improve accuracy via evidence decomposition + XAI</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Video Swin Transformer + EED Framework</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OUC-CGE full dataset; same splits as Lu et al.</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Accuracy, QWK, Explainability</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Acc 98.5%</a:t>
                      </a:r>
                      <a:endParaRPr lang="en-US" sz="1100" dirty="0">
                        <a:latin typeface="Calibri" charset="0"/>
                        <a:ea typeface="Calibri" charset="0"/>
                        <a:cs typeface="Calibri" charset="0"/>
                      </a:endParaRPr>
                    </a:p>
                    <a:p>
                      <a:pPr marL="0" indent="0">
                        <a:buNone/>
                      </a:pPr>
                      <a:r>
                        <a:rPr lang="en-US" sz="1100" dirty="0">
                          <a:solidFill>
                            <a:srgbClr val="2C3E50"/>
                          </a:solidFill>
                          <a:latin typeface="Calibri" pitchFamily="34" charset="0"/>
                          <a:ea typeface="Calibri" pitchFamily="34" charset="-122"/>
                          <a:cs typeface="Calibri" pitchFamily="34" charset="-120"/>
                        </a:rPr>
                        <a:t>QWK 0.984</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First XAI-integrated model on OUC-CGE; EED generates interpretable interaction relations</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02"/>
                  </a:ext>
                </a:extLst>
              </a:tr>
              <a:tr h="934720">
                <a:tc>
                  <a:txBody>
                    <a:bodyPr/>
                    <a:lstStyle/>
                    <a:p>
                      <a:pPr marL="0" indent="0">
                        <a:buNone/>
                      </a:pPr>
                      <a:r>
                        <a:rPr lang="en-US" sz="1100" b="1" dirty="0">
                          <a:solidFill>
                            <a:srgbClr val="2E86AB"/>
                          </a:solidFill>
                          <a:latin typeface="Calibri" pitchFamily="34" charset="0"/>
                          <a:ea typeface="Calibri" pitchFamily="34" charset="-122"/>
                          <a:cs typeface="Calibri" pitchFamily="34" charset="-120"/>
                        </a:rPr>
                        <a:t>Tran et al.</a:t>
                      </a:r>
                      <a:endParaRPr lang="en-US" sz="1100" dirty="0">
                        <a:latin typeface="Calibri" charset="0"/>
                        <a:ea typeface="Calibri" charset="0"/>
                        <a:cs typeface="Calibri" charset="0"/>
                      </a:endParaRPr>
                    </a:p>
                    <a:p>
                      <a:pPr marL="0" indent="0">
                        <a:buNone/>
                      </a:pPr>
                      <a:r>
                        <a:rPr lang="en-US" sz="1100" b="1" dirty="0">
                          <a:solidFill>
                            <a:srgbClr val="2E86AB"/>
                          </a:solidFill>
                          <a:latin typeface="Calibri" pitchFamily="34" charset="0"/>
                          <a:ea typeface="Calibri" pitchFamily="34" charset="-122"/>
                          <a:cs typeface="Calibri" pitchFamily="34" charset="-120"/>
                        </a:rPr>
                        <a:t>2026</a:t>
                      </a:r>
                      <a:endParaRPr lang="en-US" sz="1100" dirty="0">
                        <a:latin typeface="Calibri" charset="0"/>
                        <a:ea typeface="Calibri" charset="0"/>
                        <a:cs typeface="Calibri" charset="0"/>
                      </a:endParaRPr>
                    </a:p>
                    <a:p>
                      <a:pPr marL="0" indent="0">
                        <a:buNone/>
                      </a:pPr>
                      <a:r>
                        <a:rPr lang="en-US" sz="1100" b="1" dirty="0">
                          <a:solidFill>
                            <a:srgbClr val="2E86AB"/>
                          </a:solidFill>
                          <a:latin typeface="Calibri" pitchFamily="34" charset="0"/>
                          <a:ea typeface="Calibri" pitchFamily="34" charset="-122"/>
                          <a:cs typeface="Calibri" pitchFamily="34" charset="-120"/>
                        </a:rPr>
                        <a:t>(WACV 2026)</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Extend to individual + group labels; multimodal</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CORE-Net (ordinal-aware multimodal fusion)</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OUC-CGE as baseline benchmark; introduces COLER dataset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Accuracy, QWK, F1</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Acc 89.63%</a:t>
                      </a:r>
                      <a:endParaRPr lang="en-US" sz="1100" dirty="0">
                        <a:latin typeface="Calibri" charset="0"/>
                        <a:ea typeface="Calibri" charset="0"/>
                        <a:cs typeface="Calibri" charset="0"/>
                      </a:endParaRPr>
                    </a:p>
                    <a:p>
                      <a:pPr marL="0" indent="0">
                        <a:buNone/>
                      </a:pPr>
                      <a:r>
                        <a:rPr lang="en-US" sz="1100" dirty="0">
                          <a:solidFill>
                            <a:srgbClr val="2C3E50"/>
                          </a:solidFill>
                          <a:latin typeface="Calibri" pitchFamily="34" charset="0"/>
                          <a:ea typeface="Calibri" pitchFamily="34" charset="-122"/>
                          <a:cs typeface="Calibri" pitchFamily="34" charset="-120"/>
                        </a:rPr>
                        <a:t>QWK 0.948</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Ordinal-aware multimodal fusion; individual + group labels — builds directly on OUC-CGE gaps</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548640" y="6437376"/>
            <a:ext cx="11094720" cy="341376"/>
          </a:xfrm>
          <a:prstGeom prst="rect">
            <a:avLst/>
          </a:prstGeom>
          <a:noFill/>
          <a:ln/>
        </p:spPr>
        <p:txBody>
          <a:bodyPr wrap="square" rtlCol="0" anchor="ctr"/>
          <a:lstStyle/>
          <a:p>
            <a:r>
              <a:rPr lang="en-US" sz="1133" i="1" dirty="0">
                <a:solidFill>
                  <a:srgbClr val="2E86AB"/>
                </a:solidFill>
                <a:latin typeface="Calibri" pitchFamily="34" charset="0"/>
                <a:ea typeface="Calibri" pitchFamily="34" charset="-122"/>
                <a:cs typeface="Calibri" pitchFamily="34" charset="-120"/>
              </a:rPr>
              <a:t>★  Only three published papers directly benchmark on OUC-CGE — confirming the dataset's novelty and the open research space.</a:t>
            </a:r>
            <a:endParaRPr lang="en-US" sz="1133" dirty="0"/>
          </a:p>
        </p:txBody>
      </p:sp>
    </p:spTree>
    <p:extLst>
      <p:ext uri="{BB962C8B-B14F-4D97-AF65-F5344CB8AC3E}">
        <p14:creationId xmlns:p14="http://schemas.microsoft.com/office/powerpoint/2010/main" val="13772236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EF0F3"/>
        </a:solidFill>
        <a:effectLst/>
      </p:bgPr>
    </p:bg>
    <p:spTree>
      <p:nvGrpSpPr>
        <p:cNvPr id="1" name=""/>
        <p:cNvGrpSpPr/>
        <p:nvPr/>
      </p:nvGrpSpPr>
      <p:grpSpPr>
        <a:xfrm>
          <a:off x="0" y="0"/>
          <a:ext cx="0" cy="0"/>
          <a:chOff x="0" y="0"/>
          <a:chExt cx="0" cy="0"/>
        </a:xfrm>
      </p:grpSpPr>
      <p:sp>
        <p:nvSpPr>
          <p:cNvPr id="2" name="Shape 0"/>
          <p:cNvSpPr/>
          <p:nvPr/>
        </p:nvSpPr>
        <p:spPr>
          <a:xfrm>
            <a:off x="548640" y="219456"/>
            <a:ext cx="2438400" cy="341376"/>
          </a:xfrm>
          <a:prstGeom prst="rect">
            <a:avLst/>
          </a:prstGeom>
          <a:solidFill>
            <a:srgbClr val="2E86AB"/>
          </a:solidFill>
          <a:ln w="12700">
            <a:solidFill>
              <a:srgbClr val="2E86AB"/>
            </a:solidFill>
            <a:prstDash val="solid"/>
          </a:ln>
        </p:spPr>
      </p:sp>
      <p:sp>
        <p:nvSpPr>
          <p:cNvPr id="3" name="Text 1"/>
          <p:cNvSpPr/>
          <p:nvPr/>
        </p:nvSpPr>
        <p:spPr>
          <a:xfrm>
            <a:off x="548640" y="219456"/>
            <a:ext cx="2438400" cy="341376"/>
          </a:xfrm>
          <a:prstGeom prst="rect">
            <a:avLst/>
          </a:prstGeom>
          <a:noFill/>
          <a:ln/>
        </p:spPr>
        <p:txBody>
          <a:bodyPr wrap="square" lIns="0" tIns="0" rIns="0" bIns="0" rtlCol="0" anchor="ctr"/>
          <a:lstStyle/>
          <a:p>
            <a:pPr algn="ctr" defTabSz="1219170"/>
            <a:r>
              <a:rPr lang="en-US" sz="1000" b="1" kern="0" spc="267" dirty="0">
                <a:solidFill>
                  <a:srgbClr val="FFFFFF"/>
                </a:solidFill>
                <a:latin typeface="Calibri" pitchFamily="34" charset="0"/>
                <a:ea typeface="Calibri" pitchFamily="34" charset="-122"/>
                <a:cs typeface="Calibri" pitchFamily="34" charset="-120"/>
              </a:rPr>
              <a:t>OUC-CGE LITERATURE</a:t>
            </a:r>
            <a:endParaRPr lang="en-US" sz="1000" dirty="0">
              <a:solidFill>
                <a:prstClr val="black"/>
              </a:solidFill>
              <a:latin typeface="Calibri" panose="020F0502020204030204"/>
            </a:endParaRPr>
          </a:p>
        </p:txBody>
      </p:sp>
      <p:sp>
        <p:nvSpPr>
          <p:cNvPr id="4" name="Text 2"/>
          <p:cNvSpPr/>
          <p:nvPr/>
        </p:nvSpPr>
        <p:spPr>
          <a:xfrm>
            <a:off x="548640" y="670560"/>
            <a:ext cx="11094720" cy="914400"/>
          </a:xfrm>
          <a:prstGeom prst="rect">
            <a:avLst/>
          </a:prstGeom>
          <a:noFill/>
          <a:ln/>
        </p:spPr>
        <p:txBody>
          <a:bodyPr wrap="square" rtlCol="0" anchor="b"/>
          <a:lstStyle/>
          <a:p>
            <a:pPr defTabSz="1219170"/>
            <a:r>
              <a:rPr lang="en-US" sz="3467" b="1" dirty="0">
                <a:solidFill>
                  <a:srgbClr val="0D1F35"/>
                </a:solidFill>
                <a:latin typeface="Calibri" pitchFamily="34" charset="0"/>
                <a:ea typeface="Calibri" pitchFamily="34" charset="-122"/>
                <a:cs typeface="Calibri" pitchFamily="34" charset="-120"/>
              </a:rPr>
              <a:t>Research Gap Analysis Across OUC-CGE Papers</a:t>
            </a:r>
            <a:endParaRPr lang="en-US" sz="3467" dirty="0">
              <a:solidFill>
                <a:prstClr val="black"/>
              </a:solidFill>
              <a:latin typeface="Calibri" panose="020F0502020204030204"/>
            </a:endParaRPr>
          </a:p>
        </p:txBody>
      </p:sp>
      <p:sp>
        <p:nvSpPr>
          <p:cNvPr id="5" name="Shape 3"/>
          <p:cNvSpPr/>
          <p:nvPr/>
        </p:nvSpPr>
        <p:spPr>
          <a:xfrm>
            <a:off x="548640" y="1645920"/>
            <a:ext cx="11094720" cy="36576"/>
          </a:xfrm>
          <a:prstGeom prst="rect">
            <a:avLst/>
          </a:prstGeom>
          <a:solidFill>
            <a:srgbClr val="2E86AB"/>
          </a:solidFill>
          <a:ln w="12700">
            <a:solidFill>
              <a:srgbClr val="2E86AB"/>
            </a:solidFill>
            <a:prstDash val="solid"/>
          </a:ln>
        </p:spPr>
      </p:sp>
      <p:sp>
        <p:nvSpPr>
          <p:cNvPr id="6" name="Text 4"/>
          <p:cNvSpPr/>
          <p:nvPr/>
        </p:nvSpPr>
        <p:spPr>
          <a:xfrm>
            <a:off x="548640" y="1731264"/>
            <a:ext cx="11094720" cy="365760"/>
          </a:xfrm>
          <a:prstGeom prst="rect">
            <a:avLst/>
          </a:prstGeom>
          <a:noFill/>
          <a:ln/>
        </p:spPr>
        <p:txBody>
          <a:bodyPr wrap="square" rtlCol="0" anchor="ctr"/>
          <a:lstStyle/>
          <a:p>
            <a:pPr defTabSz="1219170"/>
            <a:r>
              <a:rPr lang="en-US" sz="1400" i="1" dirty="0">
                <a:solidFill>
                  <a:srgbClr val="64748B"/>
                </a:solidFill>
                <a:latin typeface="Calibri" pitchFamily="34" charset="0"/>
                <a:ea typeface="Calibri" pitchFamily="34" charset="-122"/>
                <a:cs typeface="Calibri" pitchFamily="34" charset="-120"/>
              </a:rPr>
              <a:t>What has been tested — and what remains open:</a:t>
            </a:r>
            <a:endParaRPr lang="en-US" sz="1400" dirty="0">
              <a:solidFill>
                <a:prstClr val="black"/>
              </a:solidFill>
              <a:latin typeface="Calibri" panose="020F0502020204030204"/>
            </a:endParaRPr>
          </a:p>
        </p:txBody>
      </p:sp>
      <p:graphicFrame>
        <p:nvGraphicFramePr>
          <p:cNvPr id="7" name="Table 0"/>
          <p:cNvGraphicFramePr>
            <a:graphicFrameLocks noGrp="1"/>
          </p:cNvGraphicFramePr>
          <p:nvPr/>
        </p:nvGraphicFramePr>
        <p:xfrm>
          <a:off x="548640" y="2133600"/>
          <a:ext cx="11094720" cy="4267200"/>
        </p:xfrm>
        <a:graphic>
          <a:graphicData uri="http://schemas.openxmlformats.org/drawingml/2006/table">
            <a:tbl>
              <a:tblPr/>
              <a:tblGrid>
                <a:gridCol w="2804160">
                  <a:extLst>
                    <a:ext uri="{9D8B030D-6E8A-4147-A177-3AD203B41FA5}">
                      <a16:colId xmlns:a16="http://schemas.microsoft.com/office/drawing/2014/main" val="20000"/>
                    </a:ext>
                  </a:extLst>
                </a:gridCol>
                <a:gridCol w="1950720">
                  <a:extLst>
                    <a:ext uri="{9D8B030D-6E8A-4147-A177-3AD203B41FA5}">
                      <a16:colId xmlns:a16="http://schemas.microsoft.com/office/drawing/2014/main" val="20001"/>
                    </a:ext>
                  </a:extLst>
                </a:gridCol>
                <a:gridCol w="1950720">
                  <a:extLst>
                    <a:ext uri="{9D8B030D-6E8A-4147-A177-3AD203B41FA5}">
                      <a16:colId xmlns:a16="http://schemas.microsoft.com/office/drawing/2014/main" val="20002"/>
                    </a:ext>
                  </a:extLst>
                </a:gridCol>
                <a:gridCol w="2255520">
                  <a:extLst>
                    <a:ext uri="{9D8B030D-6E8A-4147-A177-3AD203B41FA5}">
                      <a16:colId xmlns:a16="http://schemas.microsoft.com/office/drawing/2014/main" val="20003"/>
                    </a:ext>
                  </a:extLst>
                </a:gridCol>
                <a:gridCol w="2133600">
                  <a:extLst>
                    <a:ext uri="{9D8B030D-6E8A-4147-A177-3AD203B41FA5}">
                      <a16:colId xmlns:a16="http://schemas.microsoft.com/office/drawing/2014/main" val="20004"/>
                    </a:ext>
                  </a:extLst>
                </a:gridCol>
              </a:tblGrid>
              <a:tr h="42672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Capability / Feature</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solidFill>
                      <a:srgbClr val="0D1F3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Lu et al. 2025</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solidFill>
                      <a:srgbClr val="0D1F3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Nie &amp; Wang 2026</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solidFill>
                      <a:srgbClr val="0D1F3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Tran et al. 2026 (COLER)</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solidFill>
                      <a:srgbClr val="0D1F3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Still Open?</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solidFill>
                      <a:srgbClr val="0D1F35"/>
                    </a:solidFill>
                  </a:tcPr>
                </a:tc>
                <a:extLst>
                  <a:ext uri="{0D108BD9-81ED-4DB2-BD59-A6C34878D82A}">
                    <a16:rowId xmlns:a16="http://schemas.microsoft.com/office/drawing/2014/main" val="10000"/>
                  </a:ext>
                </a:extLst>
              </a:tr>
              <a:tr h="426720">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3D CNN Baseline</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1A7A4A"/>
                          </a:solidFill>
                          <a:latin typeface="Calibri" pitchFamily="34" charset="0"/>
                          <a:ea typeface="Calibri" pitchFamily="34" charset="-122"/>
                          <a:cs typeface="Calibri" pitchFamily="34" charset="-120"/>
                        </a:rPr>
                        <a:t>✓ Established</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B03030"/>
                          </a:solidFill>
                          <a:latin typeface="Calibri" pitchFamily="34" charset="0"/>
                          <a:ea typeface="Calibri" pitchFamily="34" charset="-122"/>
                          <a:cs typeface="Calibri" pitchFamily="34" charset="-120"/>
                        </a:rPr>
                        <a:t>— (uses Transformer)</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B03030"/>
                          </a:solidFill>
                          <a:latin typeface="Calibri" pitchFamily="34" charset="0"/>
                          <a:ea typeface="Calibri" pitchFamily="34" charset="-122"/>
                          <a:cs typeface="Calibri" pitchFamily="34" charset="-120"/>
                        </a:rPr>
                        <a:t>— (CORE-Net)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B03030"/>
                          </a:solidFill>
                          <a:latin typeface="Calibri" pitchFamily="34" charset="0"/>
                          <a:ea typeface="Calibri" pitchFamily="34" charset="-122"/>
                          <a:cs typeface="Calibri" pitchFamily="34" charset="-120"/>
                        </a:rPr>
                        <a:t>Closed</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01"/>
                  </a:ext>
                </a:extLst>
              </a:tr>
              <a:tr h="426720">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Vision Transformer</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B0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1A7A4A"/>
                          </a:solidFill>
                          <a:latin typeface="Calibri" pitchFamily="34" charset="0"/>
                          <a:ea typeface="Calibri" pitchFamily="34" charset="-122"/>
                          <a:cs typeface="Calibri" pitchFamily="34" charset="-120"/>
                        </a:rPr>
                        <a:t>✓ Video Swin</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Partial (CORE-Net)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Partially open</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02"/>
                  </a:ext>
                </a:extLst>
              </a:tr>
              <a:tr h="426720">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XAI / Explainability</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B0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1A7A4A"/>
                          </a:solidFill>
                          <a:latin typeface="Calibri" pitchFamily="34" charset="0"/>
                          <a:ea typeface="Calibri" pitchFamily="34" charset="-122"/>
                          <a:cs typeface="Calibri" pitchFamily="34" charset="-120"/>
                        </a:rPr>
                        <a:t>✓ EED module</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B0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1A7A4A"/>
                          </a:solidFill>
                          <a:latin typeface="Calibri" pitchFamily="34" charset="0"/>
                          <a:ea typeface="Calibri" pitchFamily="34" charset="-122"/>
                          <a:cs typeface="Calibri" pitchFamily="34" charset="-120"/>
                        </a:rPr>
                        <a:t>✓ OPEN</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03"/>
                  </a:ext>
                </a:extLst>
              </a:tr>
              <a:tr h="426720">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Individual Labels</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B0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B0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1A7A4A"/>
                          </a:solidFill>
                          <a:latin typeface="Calibri" pitchFamily="34" charset="0"/>
                          <a:ea typeface="Calibri" pitchFamily="34" charset="-122"/>
                          <a:cs typeface="Calibri" pitchFamily="34" charset="-120"/>
                        </a:rPr>
                        <a:t>✓ COLER dataset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1A7A4A"/>
                          </a:solidFill>
                          <a:latin typeface="Calibri" pitchFamily="34" charset="0"/>
                          <a:ea typeface="Calibri" pitchFamily="34" charset="-122"/>
                          <a:cs typeface="Calibri" pitchFamily="34" charset="-120"/>
                        </a:rPr>
                        <a:t>✓ OPEN on OUC-CGE</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04"/>
                  </a:ext>
                </a:extLst>
              </a:tr>
              <a:tr h="426720">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Multimodal (Audio+Visual)</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B0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B0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1A7A4A"/>
                          </a:solidFill>
                          <a:latin typeface="Calibri" pitchFamily="34" charset="0"/>
                          <a:ea typeface="Calibri" pitchFamily="34" charset="-122"/>
                          <a:cs typeface="Calibri" pitchFamily="34" charset="-120"/>
                        </a:rPr>
                        <a:t>✓ Audio+Visual</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1A7A4A"/>
                          </a:solidFill>
                          <a:latin typeface="Calibri" pitchFamily="34" charset="0"/>
                          <a:ea typeface="Calibri" pitchFamily="34" charset="-122"/>
                          <a:cs typeface="Calibri" pitchFamily="34" charset="-120"/>
                        </a:rPr>
                        <a:t>✓ OPEN on OUC-CGE</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05"/>
                  </a:ext>
                </a:extLst>
              </a:tr>
              <a:tr h="426720">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Temporal Attention</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B0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Partial (Swin)</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1A7A4A"/>
                          </a:solidFill>
                          <a:latin typeface="Calibri" pitchFamily="34" charset="0"/>
                          <a:ea typeface="Calibri" pitchFamily="34" charset="-122"/>
                          <a:cs typeface="Calibri" pitchFamily="34" charset="-120"/>
                        </a:rPr>
                        <a:t>✓ OPEN</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06"/>
                  </a:ext>
                </a:extLst>
              </a:tr>
              <a:tr h="426720">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Edge / Real-time Inference</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B0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B0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B0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1A7A4A"/>
                          </a:solidFill>
                          <a:latin typeface="Calibri" pitchFamily="34" charset="0"/>
                          <a:ea typeface="Calibri" pitchFamily="34" charset="-122"/>
                          <a:cs typeface="Calibri" pitchFamily="34" charset="-120"/>
                        </a:rPr>
                        <a:t>✓ OPEN</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07"/>
                  </a:ext>
                </a:extLst>
              </a:tr>
              <a:tr h="426720">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Self-Supervised Pre-training</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B0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B0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B0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1A7A4A"/>
                          </a:solidFill>
                          <a:latin typeface="Calibri" pitchFamily="34" charset="0"/>
                          <a:ea typeface="Calibri" pitchFamily="34" charset="-122"/>
                          <a:cs typeface="Calibri" pitchFamily="34" charset="-120"/>
                        </a:rPr>
                        <a:t>✓ OPEN</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08"/>
                  </a:ext>
                </a:extLst>
              </a:tr>
              <a:tr h="426720">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Generalisation / Cross-dataset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B0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B0303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1A7A4A"/>
                          </a:solidFill>
                          <a:latin typeface="Calibri" pitchFamily="34" charset="0"/>
                          <a:ea typeface="Calibri" pitchFamily="34" charset="-122"/>
                          <a:cs typeface="Calibri" pitchFamily="34" charset="-120"/>
                        </a:rPr>
                        <a:t>✓ OPEN</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8" name="Text 5"/>
          <p:cNvSpPr/>
          <p:nvPr/>
        </p:nvSpPr>
        <p:spPr>
          <a:xfrm>
            <a:off x="548640" y="6498336"/>
            <a:ext cx="11094720" cy="268224"/>
          </a:xfrm>
          <a:prstGeom prst="rect">
            <a:avLst/>
          </a:prstGeom>
          <a:noFill/>
          <a:ln/>
        </p:spPr>
        <p:txBody>
          <a:bodyPr wrap="square" rtlCol="0" anchor="ctr"/>
          <a:lstStyle/>
          <a:p>
            <a:pPr defTabSz="1219170"/>
            <a:r>
              <a:rPr lang="en-US" sz="1067" i="1" dirty="0">
                <a:solidFill>
                  <a:srgbClr val="64748B"/>
                </a:solidFill>
                <a:latin typeface="Calibri" pitchFamily="34" charset="0"/>
                <a:ea typeface="Calibri" pitchFamily="34" charset="-122"/>
                <a:cs typeface="Calibri" pitchFamily="34" charset="-120"/>
              </a:rPr>
              <a:t>Key finding: Only XAI has seen partial attention (Nie &amp; Wang, 2026). Multimodal, self-supervised, and edge deployment directions on OUC-CGE remain entirely unexplored.</a:t>
            </a:r>
            <a:endParaRPr lang="en-US" sz="1067" dirty="0">
              <a:solidFill>
                <a:prstClr val="black"/>
              </a:solidFill>
              <a:latin typeface="Calibri" panose="020F0502020204030204"/>
            </a:endParaRPr>
          </a:p>
        </p:txBody>
      </p:sp>
    </p:spTree>
    <p:extLst>
      <p:ext uri="{BB962C8B-B14F-4D97-AF65-F5344CB8AC3E}">
        <p14:creationId xmlns:p14="http://schemas.microsoft.com/office/powerpoint/2010/main" val="11314924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F35"/>
        </a:solidFill>
        <a:effectLst/>
      </p:bgPr>
    </p:bg>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F0A500"/>
          </a:solidFill>
          <a:ln w="12700">
            <a:solidFill>
              <a:srgbClr val="F0A500"/>
            </a:solidFill>
            <a:prstDash val="solid"/>
          </a:ln>
        </p:spPr>
      </p:sp>
      <p:sp>
        <p:nvSpPr>
          <p:cNvPr id="3" name="Text 1"/>
          <p:cNvSpPr/>
          <p:nvPr/>
        </p:nvSpPr>
        <p:spPr>
          <a:xfrm>
            <a:off x="731520" y="1828800"/>
            <a:ext cx="10728960" cy="1706880"/>
          </a:xfrm>
          <a:prstGeom prst="rect">
            <a:avLst/>
          </a:prstGeom>
          <a:noFill/>
          <a:ln/>
        </p:spPr>
        <p:txBody>
          <a:bodyPr wrap="square" rtlCol="0" anchor="ctr"/>
          <a:lstStyle/>
          <a:p>
            <a:pPr defTabSz="1219170"/>
            <a:r>
              <a:rPr lang="en-US" sz="4800" b="1" dirty="0">
                <a:solidFill>
                  <a:srgbClr val="FFFFFF"/>
                </a:solidFill>
                <a:latin typeface="Calibri" pitchFamily="34" charset="0"/>
                <a:ea typeface="Calibri" pitchFamily="34" charset="-122"/>
                <a:cs typeface="Calibri" pitchFamily="34" charset="-120"/>
              </a:rPr>
              <a:t>SECTION 2</a:t>
            </a:r>
            <a:endParaRPr lang="en-US" sz="4800" dirty="0">
              <a:solidFill>
                <a:prstClr val="black"/>
              </a:solidFill>
              <a:latin typeface="Calibri" panose="020F0502020204030204"/>
            </a:endParaRPr>
          </a:p>
          <a:p>
            <a:pPr defTabSz="1219170"/>
            <a:r>
              <a:rPr lang="en-US" sz="4800" b="1" dirty="0">
                <a:solidFill>
                  <a:srgbClr val="FFFFFF"/>
                </a:solidFill>
                <a:latin typeface="Calibri" pitchFamily="34" charset="0"/>
                <a:ea typeface="Calibri" pitchFamily="34" charset="-122"/>
                <a:cs typeface="Calibri" pitchFamily="34" charset="-120"/>
              </a:rPr>
              <a:t>Dataset Comparison Analysis</a:t>
            </a:r>
            <a:endParaRPr lang="en-US" sz="4800" dirty="0">
              <a:solidFill>
                <a:prstClr val="black"/>
              </a:solidFill>
              <a:latin typeface="Calibri" panose="020F0502020204030204"/>
            </a:endParaRPr>
          </a:p>
        </p:txBody>
      </p:sp>
      <p:sp>
        <p:nvSpPr>
          <p:cNvPr id="4" name="Shape 2"/>
          <p:cNvSpPr/>
          <p:nvPr/>
        </p:nvSpPr>
        <p:spPr>
          <a:xfrm>
            <a:off x="731520" y="3779520"/>
            <a:ext cx="10728960" cy="60960"/>
          </a:xfrm>
          <a:prstGeom prst="rect">
            <a:avLst/>
          </a:prstGeom>
          <a:solidFill>
            <a:srgbClr val="F0A500"/>
          </a:solidFill>
          <a:ln w="12700">
            <a:solidFill>
              <a:srgbClr val="F0A500"/>
            </a:solidFill>
            <a:prstDash val="solid"/>
          </a:ln>
        </p:spPr>
      </p:sp>
      <p:sp>
        <p:nvSpPr>
          <p:cNvPr id="5" name="Text 3"/>
          <p:cNvSpPr/>
          <p:nvPr/>
        </p:nvSpPr>
        <p:spPr>
          <a:xfrm>
            <a:off x="731520" y="4023360"/>
            <a:ext cx="10728960" cy="731520"/>
          </a:xfrm>
          <a:prstGeom prst="rect">
            <a:avLst/>
          </a:prstGeom>
          <a:noFill/>
          <a:ln/>
        </p:spPr>
        <p:txBody>
          <a:bodyPr wrap="square" rtlCol="0" anchor="ctr"/>
          <a:lstStyle/>
          <a:p>
            <a:pPr defTabSz="1219170"/>
            <a:r>
              <a:rPr lang="en-US" sz="2267" dirty="0">
                <a:solidFill>
                  <a:srgbClr val="4FB3CE"/>
                </a:solidFill>
                <a:latin typeface="Calibri" pitchFamily="34" charset="0"/>
                <a:ea typeface="Calibri" pitchFamily="34" charset="-122"/>
                <a:cs typeface="Calibri" pitchFamily="34" charset="-120"/>
              </a:rPr>
              <a:t>OUC-CGE vs GAViD vs COLER (Tran, WACV 2026)</a:t>
            </a:r>
            <a:endParaRPr lang="en-US" sz="2267" dirty="0">
              <a:solidFill>
                <a:prstClr val="black"/>
              </a:solidFill>
              <a:latin typeface="Calibri" panose="020F0502020204030204"/>
            </a:endParaRPr>
          </a:p>
        </p:txBody>
      </p:sp>
    </p:spTree>
    <p:extLst>
      <p:ext uri="{BB962C8B-B14F-4D97-AF65-F5344CB8AC3E}">
        <p14:creationId xmlns:p14="http://schemas.microsoft.com/office/powerpoint/2010/main" val="31238162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EF0F3"/>
        </a:solidFill>
        <a:effectLst/>
      </p:bgPr>
    </p:bg>
    <p:spTree>
      <p:nvGrpSpPr>
        <p:cNvPr id="1" name=""/>
        <p:cNvGrpSpPr/>
        <p:nvPr/>
      </p:nvGrpSpPr>
      <p:grpSpPr>
        <a:xfrm>
          <a:off x="0" y="0"/>
          <a:ext cx="0" cy="0"/>
          <a:chOff x="0" y="0"/>
          <a:chExt cx="0" cy="0"/>
        </a:xfrm>
      </p:grpSpPr>
      <p:sp>
        <p:nvSpPr>
          <p:cNvPr id="2" name="Shape 0"/>
          <p:cNvSpPr/>
          <p:nvPr/>
        </p:nvSpPr>
        <p:spPr>
          <a:xfrm>
            <a:off x="548640" y="219456"/>
            <a:ext cx="2438400" cy="341376"/>
          </a:xfrm>
          <a:prstGeom prst="rect">
            <a:avLst/>
          </a:prstGeom>
          <a:solidFill>
            <a:srgbClr val="2E86AB"/>
          </a:solidFill>
          <a:ln w="12700">
            <a:solidFill>
              <a:srgbClr val="2E86AB"/>
            </a:solidFill>
            <a:prstDash val="solid"/>
          </a:ln>
        </p:spPr>
      </p:sp>
      <p:sp>
        <p:nvSpPr>
          <p:cNvPr id="3" name="Text 1"/>
          <p:cNvSpPr/>
          <p:nvPr/>
        </p:nvSpPr>
        <p:spPr>
          <a:xfrm>
            <a:off x="548640" y="219456"/>
            <a:ext cx="2438400" cy="341376"/>
          </a:xfrm>
          <a:prstGeom prst="rect">
            <a:avLst/>
          </a:prstGeom>
          <a:noFill/>
          <a:ln/>
        </p:spPr>
        <p:txBody>
          <a:bodyPr wrap="square" lIns="0" tIns="0" rIns="0" bIns="0" rtlCol="0" anchor="ctr"/>
          <a:lstStyle/>
          <a:p>
            <a:pPr algn="ctr" defTabSz="1219170"/>
            <a:r>
              <a:rPr lang="en-US" sz="1000" b="1" kern="0" spc="267" dirty="0">
                <a:solidFill>
                  <a:srgbClr val="FFFFFF"/>
                </a:solidFill>
                <a:latin typeface="Calibri" pitchFamily="34" charset="0"/>
                <a:ea typeface="Calibri" pitchFamily="34" charset="-122"/>
                <a:cs typeface="Calibri" pitchFamily="34" charset="-120"/>
              </a:rPr>
              <a:t>DATASET COMPARISON</a:t>
            </a:r>
            <a:endParaRPr lang="en-US" sz="1000" dirty="0">
              <a:solidFill>
                <a:prstClr val="black"/>
              </a:solidFill>
              <a:latin typeface="Calibri" panose="020F0502020204030204"/>
            </a:endParaRPr>
          </a:p>
        </p:txBody>
      </p:sp>
      <p:sp>
        <p:nvSpPr>
          <p:cNvPr id="4" name="Text 2"/>
          <p:cNvSpPr/>
          <p:nvPr/>
        </p:nvSpPr>
        <p:spPr>
          <a:xfrm>
            <a:off x="548640" y="670560"/>
            <a:ext cx="11094720" cy="914400"/>
          </a:xfrm>
          <a:prstGeom prst="rect">
            <a:avLst/>
          </a:prstGeom>
          <a:noFill/>
          <a:ln/>
        </p:spPr>
        <p:txBody>
          <a:bodyPr wrap="square" rtlCol="0" anchor="b"/>
          <a:lstStyle/>
          <a:p>
            <a:pPr defTabSz="1219170"/>
            <a:r>
              <a:rPr lang="en-US" sz="3467" b="1" dirty="0">
                <a:solidFill>
                  <a:srgbClr val="0D1F35"/>
                </a:solidFill>
                <a:latin typeface="Calibri" pitchFamily="34" charset="0"/>
                <a:ea typeface="Calibri" pitchFamily="34" charset="-122"/>
                <a:cs typeface="Calibri" pitchFamily="34" charset="-120"/>
              </a:rPr>
              <a:t>Dataset Comparison: Core Properties</a:t>
            </a:r>
            <a:endParaRPr lang="en-US" sz="3467" dirty="0">
              <a:solidFill>
                <a:prstClr val="black"/>
              </a:solidFill>
              <a:latin typeface="Calibri" panose="020F0502020204030204"/>
            </a:endParaRPr>
          </a:p>
        </p:txBody>
      </p:sp>
      <p:sp>
        <p:nvSpPr>
          <p:cNvPr id="5" name="Shape 3"/>
          <p:cNvSpPr/>
          <p:nvPr/>
        </p:nvSpPr>
        <p:spPr>
          <a:xfrm>
            <a:off x="548640" y="1645920"/>
            <a:ext cx="11094720" cy="36576"/>
          </a:xfrm>
          <a:prstGeom prst="rect">
            <a:avLst/>
          </a:prstGeom>
          <a:solidFill>
            <a:srgbClr val="2E86AB"/>
          </a:solidFill>
          <a:ln w="12700">
            <a:solidFill>
              <a:srgbClr val="2E86AB"/>
            </a:solidFill>
            <a:prstDash val="solid"/>
          </a:ln>
        </p:spPr>
      </p:sp>
      <p:graphicFrame>
        <p:nvGraphicFramePr>
          <p:cNvPr id="6" name="Table 0"/>
          <p:cNvGraphicFramePr>
            <a:graphicFrameLocks noGrp="1"/>
          </p:cNvGraphicFramePr>
          <p:nvPr/>
        </p:nvGraphicFramePr>
        <p:xfrm>
          <a:off x="548640" y="1767840"/>
          <a:ext cx="11094720" cy="4535424"/>
        </p:xfrm>
        <a:graphic>
          <a:graphicData uri="http://schemas.openxmlformats.org/drawingml/2006/table">
            <a:tbl>
              <a:tblPr/>
              <a:tblGrid>
                <a:gridCol w="23164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804160">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tblGrid>
              <a:tr h="377952">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solidFill>
                      <a:srgbClr val="0D1F3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OUC-CGE</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solidFill>
                      <a:srgbClr val="0D1F3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GAViD</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solidFill>
                      <a:srgbClr val="0D1F3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COLER / Tran 2026</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solidFill>
                      <a:srgbClr val="0D1F35"/>
                    </a:solidFill>
                  </a:tcPr>
                </a:tc>
                <a:extLst>
                  <a:ext uri="{0D108BD9-81ED-4DB2-BD59-A6C34878D82A}">
                    <a16:rowId xmlns:a16="http://schemas.microsoft.com/office/drawing/2014/main" val="10000"/>
                  </a:ext>
                </a:extLst>
              </a:tr>
              <a:tr h="377952">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2E86AB"/>
                          </a:solidFill>
                          <a:latin typeface="Calibri" pitchFamily="34" charset="0"/>
                          <a:ea typeface="Calibri" pitchFamily="34" charset="-122"/>
                          <a:cs typeface="Calibri" pitchFamily="34" charset="-120"/>
                        </a:rPr>
                        <a:t>Classroom group engagement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64748B"/>
                          </a:solidFill>
                          <a:latin typeface="Calibri" pitchFamily="34" charset="0"/>
                          <a:ea typeface="Calibri" pitchFamily="34" charset="-122"/>
                          <a:cs typeface="Calibri" pitchFamily="34" charset="-120"/>
                        </a:rPr>
                        <a:t>General group affect (in-the-wild)</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2E86AB"/>
                          </a:solidFill>
                          <a:latin typeface="Calibri" pitchFamily="34" charset="0"/>
                          <a:ea typeface="Calibri" pitchFamily="34" charset="-122"/>
                          <a:cs typeface="Calibri" pitchFamily="34" charset="-120"/>
                        </a:rPr>
                        <a:t>Classroom collaborative engagement</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01"/>
                  </a:ext>
                </a:extLst>
              </a:tr>
              <a:tr h="377952">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Number of Clips</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2E86AB"/>
                          </a:solidFill>
                          <a:latin typeface="Calibri" pitchFamily="34" charset="0"/>
                          <a:ea typeface="Calibri" pitchFamily="34" charset="-122"/>
                          <a:cs typeface="Calibri" pitchFamily="34" charset="-120"/>
                        </a:rPr>
                        <a:t>7,705 ✓</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64748B"/>
                          </a:solidFill>
                          <a:latin typeface="Calibri" pitchFamily="34" charset="0"/>
                          <a:ea typeface="Calibri" pitchFamily="34" charset="-122"/>
                          <a:cs typeface="Calibri" pitchFamily="34" charset="-120"/>
                        </a:rPr>
                        <a:t>5,091</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64748B"/>
                          </a:solidFill>
                          <a:latin typeface="Calibri" pitchFamily="34" charset="0"/>
                          <a:ea typeface="Calibri" pitchFamily="34" charset="-122"/>
                          <a:cs typeface="Calibri" pitchFamily="34" charset="-120"/>
                        </a:rPr>
                        <a:t>Not fully disclosed</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02"/>
                  </a:ext>
                </a:extLst>
              </a:tr>
              <a:tr h="377952">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Clip Duration</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2E86AB"/>
                          </a:solidFill>
                          <a:latin typeface="Calibri" pitchFamily="34" charset="0"/>
                          <a:ea typeface="Calibri" pitchFamily="34" charset="-122"/>
                          <a:cs typeface="Calibri" pitchFamily="34" charset="-120"/>
                        </a:rPr>
                        <a:t>~10 sec ✓ (longer)</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64748B"/>
                          </a:solidFill>
                          <a:latin typeface="Calibri" pitchFamily="34" charset="0"/>
                          <a:ea typeface="Calibri" pitchFamily="34" charset="-122"/>
                          <a:cs typeface="Calibri" pitchFamily="34" charset="-120"/>
                        </a:rPr>
                        <a:t>~5 sec</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64748B"/>
                          </a:solidFill>
                          <a:latin typeface="Calibri" pitchFamily="34" charset="0"/>
                          <a:ea typeface="Calibri" pitchFamily="34" charset="-122"/>
                          <a:cs typeface="Calibri" pitchFamily="34" charset="-120"/>
                        </a:rPr>
                        <a:t>Not specified</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03"/>
                  </a:ext>
                </a:extLst>
              </a:tr>
              <a:tr h="377952">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Setting</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2E86AB"/>
                          </a:solidFill>
                          <a:latin typeface="Calibri" pitchFamily="34" charset="0"/>
                          <a:ea typeface="Calibri" pitchFamily="34" charset="-122"/>
                          <a:cs typeface="Calibri" pitchFamily="34" charset="-120"/>
                        </a:rPr>
                        <a:t>Authentic classroom ✓</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64748B"/>
                          </a:solidFill>
                          <a:latin typeface="Calibri" pitchFamily="34" charset="0"/>
                          <a:ea typeface="Calibri" pitchFamily="34" charset="-122"/>
                          <a:cs typeface="Calibri" pitchFamily="34" charset="-120"/>
                        </a:rPr>
                        <a:t>YouTube (non-educational)</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2E86AB"/>
                          </a:solidFill>
                          <a:latin typeface="Calibri" pitchFamily="34" charset="0"/>
                          <a:ea typeface="Calibri" pitchFamily="34" charset="-122"/>
                          <a:cs typeface="Calibri" pitchFamily="34" charset="-120"/>
                        </a:rPr>
                        <a:t>Authentic classroom ✓</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04"/>
                  </a:ext>
                </a:extLst>
              </a:tr>
              <a:tr h="377952">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Modalities</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64748B"/>
                          </a:solidFill>
                          <a:latin typeface="Calibri" pitchFamily="34" charset="0"/>
                          <a:ea typeface="Calibri" pitchFamily="34" charset="-122"/>
                          <a:cs typeface="Calibri" pitchFamily="34" charset="-120"/>
                        </a:rPr>
                        <a:t>Visual only</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2E86AB"/>
                          </a:solidFill>
                          <a:latin typeface="Calibri" pitchFamily="34" charset="0"/>
                          <a:ea typeface="Calibri" pitchFamily="34" charset="-122"/>
                          <a:cs typeface="Calibri" pitchFamily="34" charset="-120"/>
                        </a:rPr>
                        <a:t>Visual + Audio + Context ✓</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2E86AB"/>
                          </a:solidFill>
                          <a:latin typeface="Calibri" pitchFamily="34" charset="0"/>
                          <a:ea typeface="Calibri" pitchFamily="34" charset="-122"/>
                          <a:cs typeface="Calibri" pitchFamily="34" charset="-120"/>
                        </a:rPr>
                        <a:t>Visual + Audio ✓</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05"/>
                  </a:ext>
                </a:extLst>
              </a:tr>
              <a:tr h="377952">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Label Type</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2E86AB"/>
                          </a:solidFill>
                          <a:latin typeface="Calibri" pitchFamily="34" charset="0"/>
                          <a:ea typeface="Calibri" pitchFamily="34" charset="-122"/>
                          <a:cs typeface="Calibri" pitchFamily="34" charset="-120"/>
                        </a:rPr>
                        <a:t>Ordinal: Low/Med/High</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64748B"/>
                          </a:solidFill>
                          <a:latin typeface="Calibri" pitchFamily="34" charset="0"/>
                          <a:ea typeface="Calibri" pitchFamily="34" charset="-122"/>
                          <a:cs typeface="Calibri" pitchFamily="34" charset="-120"/>
                        </a:rPr>
                        <a:t>Valence + 5 discrete emotions</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2E86AB"/>
                          </a:solidFill>
                          <a:latin typeface="Calibri" pitchFamily="34" charset="0"/>
                          <a:ea typeface="Calibri" pitchFamily="34" charset="-122"/>
                          <a:cs typeface="Calibri" pitchFamily="34" charset="-120"/>
                        </a:rPr>
                        <a:t>Ordinal (like OUC-CGE)</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06"/>
                  </a:ext>
                </a:extLst>
              </a:tr>
              <a:tr h="377952">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Individual Labels</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64748B"/>
                          </a:solidFill>
                          <a:latin typeface="Calibri" pitchFamily="34" charset="0"/>
                          <a:ea typeface="Calibri" pitchFamily="34" charset="-122"/>
                          <a:cs typeface="Calibri" pitchFamily="34" charset="-120"/>
                        </a:rPr>
                        <a:t>✗ Group only</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64748B"/>
                          </a:solidFill>
                          <a:latin typeface="Calibri" pitchFamily="34" charset="0"/>
                          <a:ea typeface="Calibri" pitchFamily="34" charset="-122"/>
                          <a:cs typeface="Calibri" pitchFamily="34" charset="-120"/>
                        </a:rPr>
                        <a:t>✗ Group only</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2E86AB"/>
                          </a:solidFill>
                          <a:latin typeface="Calibri" pitchFamily="34" charset="0"/>
                          <a:ea typeface="Calibri" pitchFamily="34" charset="-122"/>
                          <a:cs typeface="Calibri" pitchFamily="34" charset="-120"/>
                        </a:rPr>
                        <a:t>✓ Both individual + group</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07"/>
                  </a:ext>
                </a:extLst>
              </a:tr>
              <a:tr h="377952">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Context Metadata</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64748B"/>
                          </a:solidFill>
                          <a:latin typeface="Calibri" pitchFamily="34" charset="0"/>
                          <a:ea typeface="Calibri" pitchFamily="34" charset="-122"/>
                          <a:cs typeface="Calibri" pitchFamily="34" charset="-120"/>
                        </a:rPr>
                        <a:t>Classroom context only</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2E86AB"/>
                          </a:solidFill>
                          <a:latin typeface="Calibri" pitchFamily="34" charset="0"/>
                          <a:ea typeface="Calibri" pitchFamily="34" charset="-122"/>
                          <a:cs typeface="Calibri" pitchFamily="34" charset="-120"/>
                        </a:rPr>
                        <a:t>LLM-generated + verified ✓</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2E86AB"/>
                          </a:solidFill>
                          <a:latin typeface="Calibri" pitchFamily="34" charset="0"/>
                          <a:ea typeface="Calibri" pitchFamily="34" charset="-122"/>
                          <a:cs typeface="Calibri" pitchFamily="34" charset="-120"/>
                        </a:rPr>
                        <a:t>Rich multi-level annotations</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08"/>
                  </a:ext>
                </a:extLst>
              </a:tr>
              <a:tr h="377952">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Participants</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64748B"/>
                          </a:solidFill>
                          <a:latin typeface="Calibri" pitchFamily="34" charset="0"/>
                          <a:ea typeface="Calibri" pitchFamily="34" charset="-122"/>
                          <a:cs typeface="Calibri" pitchFamily="34" charset="-120"/>
                        </a:rPr>
                        <a:t>17 students (small)</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2E86AB"/>
                          </a:solidFill>
                          <a:latin typeface="Calibri" pitchFamily="34" charset="0"/>
                          <a:ea typeface="Calibri" pitchFamily="34" charset="-122"/>
                          <a:cs typeface="Calibri" pitchFamily="34" charset="-120"/>
                        </a:rPr>
                        <a:t>321 YouTube videos</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2E86AB"/>
                          </a:solidFill>
                          <a:latin typeface="Calibri" pitchFamily="34" charset="0"/>
                          <a:ea typeface="Calibri" pitchFamily="34" charset="-122"/>
                          <a:cs typeface="Calibri" pitchFamily="34" charset="-120"/>
                        </a:rPr>
                        <a:t>Larger (not fully specified)</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09"/>
                  </a:ext>
                </a:extLst>
              </a:tr>
              <a:tr h="377952">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Open Access</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2E86AB"/>
                          </a:solidFill>
                          <a:latin typeface="Calibri" pitchFamily="34" charset="0"/>
                          <a:ea typeface="Calibri" pitchFamily="34" charset="-122"/>
                          <a:cs typeface="Calibri" pitchFamily="34" charset="-120"/>
                        </a:rPr>
                        <a:t>✓ Public (OSF)</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2E86AB"/>
                          </a:solidFill>
                          <a:latin typeface="Calibri" pitchFamily="34" charset="0"/>
                          <a:ea typeface="Calibri" pitchFamily="34" charset="-122"/>
                          <a:cs typeface="Calibri" pitchFamily="34" charset="-120"/>
                        </a:rPr>
                        <a:t>✓ Public (arXiv)</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64748B"/>
                          </a:solidFill>
                          <a:latin typeface="Calibri" pitchFamily="34" charset="0"/>
                          <a:ea typeface="Calibri" pitchFamily="34" charset="-122"/>
                          <a:cs typeface="Calibri" pitchFamily="34" charset="-120"/>
                        </a:rPr>
                        <a:t>⚠ Limited (new paper)</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10"/>
                  </a:ext>
                </a:extLst>
              </a:tr>
              <a:tr h="377952">
                <a:tc>
                  <a:txBody>
                    <a:bodyPr/>
                    <a:lstStyle/>
                    <a:p>
                      <a:pPr marL="0" indent="0">
                        <a:buNone/>
                      </a:pPr>
                      <a:r>
                        <a:rPr lang="en-US" sz="1100" dirty="0">
                          <a:solidFill>
                            <a:srgbClr val="2C3E50"/>
                          </a:solidFill>
                          <a:latin typeface="Calibri" pitchFamily="34" charset="0"/>
                          <a:ea typeface="Calibri" pitchFamily="34" charset="-122"/>
                          <a:cs typeface="Calibri" pitchFamily="34" charset="-120"/>
                        </a:rPr>
                        <a:t>Best Use Case</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2E86AB"/>
                          </a:solidFill>
                          <a:latin typeface="Calibri" pitchFamily="34" charset="0"/>
                          <a:ea typeface="Calibri" pitchFamily="34" charset="-122"/>
                          <a:cs typeface="Calibri" pitchFamily="34" charset="-120"/>
                        </a:rPr>
                        <a:t>Educational AI</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dirty="0">
                          <a:solidFill>
                            <a:srgbClr val="64748B"/>
                          </a:solidFill>
                          <a:latin typeface="Calibri" pitchFamily="34" charset="0"/>
                          <a:ea typeface="Calibri" pitchFamily="34" charset="-122"/>
                          <a:cs typeface="Calibri" pitchFamily="34" charset="-120"/>
                        </a:rPr>
                        <a:t>General affect recognition</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tc>
                  <a:txBody>
                    <a:bodyPr/>
                    <a:lstStyle/>
                    <a:p>
                      <a:pPr marL="0" indent="0">
                        <a:buNone/>
                      </a:pPr>
                      <a:r>
                        <a:rPr lang="en-US" sz="1100" b="1" dirty="0">
                          <a:solidFill>
                            <a:srgbClr val="2E86AB"/>
                          </a:solidFill>
                          <a:latin typeface="Calibri" pitchFamily="34" charset="0"/>
                          <a:ea typeface="Calibri" pitchFamily="34" charset="-122"/>
                          <a:cs typeface="Calibri" pitchFamily="34" charset="-120"/>
                        </a:rPr>
                        <a:t>Educational AI + Individual analysis</a:t>
                      </a:r>
                      <a:endParaRPr lang="en-US" sz="1100" dirty="0">
                        <a:latin typeface="Calibri" charset="0"/>
                        <a:ea typeface="Calibri" charset="0"/>
                        <a:cs typeface="Calibri" charset="0"/>
                      </a:endParaRPr>
                    </a:p>
                  </a:txBody>
                  <a:tcPr marL="121920" marR="121920" marT="60960" marB="60960" anchor="ctr">
                    <a:lnL w="6350" cap="flat" cmpd="sng" algn="ctr">
                      <a:solidFill>
                        <a:srgbClr val="C5CDD6"/>
                      </a:solidFill>
                      <a:prstDash val="solid"/>
                      <a:round/>
                      <a:headEnd type="none" w="med" len="med"/>
                      <a:tailEnd type="none" w="med" len="med"/>
                    </a:lnL>
                    <a:lnR w="6350" cap="flat" cmpd="sng" algn="ctr">
                      <a:solidFill>
                        <a:srgbClr val="C5CDD6"/>
                      </a:solidFill>
                      <a:prstDash val="solid"/>
                      <a:round/>
                      <a:headEnd type="none" w="med" len="med"/>
                      <a:tailEnd type="none" w="med" len="med"/>
                    </a:lnR>
                    <a:lnT w="6350" cap="flat" cmpd="sng" algn="ctr">
                      <a:solidFill>
                        <a:srgbClr val="C5CDD6"/>
                      </a:solidFill>
                      <a:prstDash val="solid"/>
                      <a:round/>
                      <a:headEnd type="none" w="med" len="med"/>
                      <a:tailEnd type="none" w="med" len="med"/>
                    </a:lnT>
                    <a:lnB w="6350" cap="flat" cmpd="sng" algn="ctr">
                      <a:solidFill>
                        <a:srgbClr val="C5CDD6"/>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7" name="Text 4"/>
          <p:cNvSpPr/>
          <p:nvPr/>
        </p:nvSpPr>
        <p:spPr>
          <a:xfrm>
            <a:off x="548640" y="6559296"/>
            <a:ext cx="11094720" cy="243840"/>
          </a:xfrm>
          <a:prstGeom prst="rect">
            <a:avLst/>
          </a:prstGeom>
          <a:noFill/>
          <a:ln/>
        </p:spPr>
        <p:txBody>
          <a:bodyPr wrap="square" rtlCol="0" anchor="ctr"/>
          <a:lstStyle/>
          <a:p>
            <a:pPr defTabSz="1219170"/>
            <a:r>
              <a:rPr lang="en-US" sz="1040" i="1" dirty="0">
                <a:solidFill>
                  <a:srgbClr val="2E86AB"/>
                </a:solidFill>
                <a:latin typeface="Calibri" pitchFamily="34" charset="0"/>
                <a:ea typeface="Calibri" pitchFamily="34" charset="-122"/>
                <a:cs typeface="Calibri" pitchFamily="34" charset="-120"/>
              </a:rPr>
              <a:t>★  OUC-CGE leads in clip count and educational specificity. GAViD leads in modalities. COLER (Tran 2026) builds on OUC-CGE strengths while adding individual labels.</a:t>
            </a:r>
            <a:endParaRPr lang="en-US" sz="1040" dirty="0">
              <a:solidFill>
                <a:prstClr val="black"/>
              </a:solidFill>
              <a:latin typeface="Calibri" panose="020F0502020204030204"/>
            </a:endParaRPr>
          </a:p>
        </p:txBody>
      </p:sp>
    </p:spTree>
    <p:extLst>
      <p:ext uri="{BB962C8B-B14F-4D97-AF65-F5344CB8AC3E}">
        <p14:creationId xmlns:p14="http://schemas.microsoft.com/office/powerpoint/2010/main" val="2490335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EF0F3"/>
        </a:solidFill>
        <a:effectLst/>
      </p:bgPr>
    </p:bg>
    <p:spTree>
      <p:nvGrpSpPr>
        <p:cNvPr id="1" name=""/>
        <p:cNvGrpSpPr/>
        <p:nvPr/>
      </p:nvGrpSpPr>
      <p:grpSpPr>
        <a:xfrm>
          <a:off x="0" y="0"/>
          <a:ext cx="0" cy="0"/>
          <a:chOff x="0" y="0"/>
          <a:chExt cx="0" cy="0"/>
        </a:xfrm>
      </p:grpSpPr>
      <p:sp>
        <p:nvSpPr>
          <p:cNvPr id="2" name="Shape 0"/>
          <p:cNvSpPr/>
          <p:nvPr/>
        </p:nvSpPr>
        <p:spPr>
          <a:xfrm>
            <a:off x="548640" y="219456"/>
            <a:ext cx="2438400" cy="341376"/>
          </a:xfrm>
          <a:prstGeom prst="rect">
            <a:avLst/>
          </a:prstGeom>
          <a:solidFill>
            <a:srgbClr val="2E86AB"/>
          </a:solidFill>
          <a:ln w="12700">
            <a:solidFill>
              <a:srgbClr val="2E86AB"/>
            </a:solidFill>
            <a:prstDash val="solid"/>
          </a:ln>
        </p:spPr>
      </p:sp>
      <p:sp>
        <p:nvSpPr>
          <p:cNvPr id="3" name="Text 1"/>
          <p:cNvSpPr/>
          <p:nvPr/>
        </p:nvSpPr>
        <p:spPr>
          <a:xfrm>
            <a:off x="548640" y="219456"/>
            <a:ext cx="2438400" cy="341376"/>
          </a:xfrm>
          <a:prstGeom prst="rect">
            <a:avLst/>
          </a:prstGeom>
          <a:noFill/>
          <a:ln/>
        </p:spPr>
        <p:txBody>
          <a:bodyPr wrap="square" lIns="0" tIns="0" rIns="0" bIns="0" rtlCol="0" anchor="ctr"/>
          <a:lstStyle/>
          <a:p>
            <a:pPr algn="ctr" defTabSz="1219170"/>
            <a:r>
              <a:rPr lang="en-US" sz="1000" b="1" kern="0" spc="267" dirty="0">
                <a:solidFill>
                  <a:srgbClr val="FFFFFF"/>
                </a:solidFill>
                <a:latin typeface="Calibri" pitchFamily="34" charset="0"/>
                <a:ea typeface="Calibri" pitchFamily="34" charset="-122"/>
                <a:cs typeface="Calibri" pitchFamily="34" charset="-120"/>
              </a:rPr>
              <a:t>DATASET COMPARISON</a:t>
            </a:r>
            <a:endParaRPr lang="en-US" sz="1000" dirty="0">
              <a:solidFill>
                <a:prstClr val="black"/>
              </a:solidFill>
              <a:latin typeface="Calibri" panose="020F0502020204030204"/>
            </a:endParaRPr>
          </a:p>
        </p:txBody>
      </p:sp>
      <p:sp>
        <p:nvSpPr>
          <p:cNvPr id="4" name="Text 2"/>
          <p:cNvSpPr/>
          <p:nvPr/>
        </p:nvSpPr>
        <p:spPr>
          <a:xfrm>
            <a:off x="548640" y="670560"/>
            <a:ext cx="11094720" cy="914400"/>
          </a:xfrm>
          <a:prstGeom prst="rect">
            <a:avLst/>
          </a:prstGeom>
          <a:noFill/>
          <a:ln/>
        </p:spPr>
        <p:txBody>
          <a:bodyPr wrap="square" rtlCol="0" anchor="b"/>
          <a:lstStyle/>
          <a:p>
            <a:pPr defTabSz="1219170"/>
            <a:r>
              <a:rPr lang="en-US" sz="3467" b="1" dirty="0">
                <a:solidFill>
                  <a:srgbClr val="0D1F35"/>
                </a:solidFill>
                <a:latin typeface="Calibri" pitchFamily="34" charset="0"/>
                <a:ea typeface="Calibri" pitchFamily="34" charset="-122"/>
                <a:cs typeface="Calibri" pitchFamily="34" charset="-120"/>
              </a:rPr>
              <a:t>Strengths &amp; Limitations by Dataset</a:t>
            </a:r>
            <a:endParaRPr lang="en-US" sz="3467" dirty="0">
              <a:solidFill>
                <a:prstClr val="black"/>
              </a:solidFill>
              <a:latin typeface="Calibri" panose="020F0502020204030204"/>
            </a:endParaRPr>
          </a:p>
        </p:txBody>
      </p:sp>
      <p:sp>
        <p:nvSpPr>
          <p:cNvPr id="5" name="Shape 3"/>
          <p:cNvSpPr/>
          <p:nvPr/>
        </p:nvSpPr>
        <p:spPr>
          <a:xfrm>
            <a:off x="548640" y="1645920"/>
            <a:ext cx="11094720" cy="36576"/>
          </a:xfrm>
          <a:prstGeom prst="rect">
            <a:avLst/>
          </a:prstGeom>
          <a:solidFill>
            <a:srgbClr val="2E86AB"/>
          </a:solidFill>
          <a:ln w="12700">
            <a:solidFill>
              <a:srgbClr val="2E86AB"/>
            </a:solidFill>
            <a:prstDash val="solid"/>
          </a:ln>
        </p:spPr>
      </p:sp>
      <p:sp>
        <p:nvSpPr>
          <p:cNvPr id="6" name="Text 4"/>
          <p:cNvSpPr/>
          <p:nvPr/>
        </p:nvSpPr>
        <p:spPr>
          <a:xfrm>
            <a:off x="548640" y="2170176"/>
            <a:ext cx="3535680" cy="4389120"/>
          </a:xfrm>
          <a:prstGeom prst="rect">
            <a:avLst/>
          </a:prstGeom>
          <a:noFill/>
          <a:ln/>
        </p:spPr>
        <p:txBody>
          <a:bodyPr wrap="square" rtlCol="0" anchor="t"/>
          <a:lstStyle/>
          <a:p>
            <a:pPr defTabSz="1219170"/>
            <a:r>
              <a:rPr lang="en-US" sz="1067" b="1" dirty="0">
                <a:solidFill>
                  <a:srgbClr val="1A7A4A"/>
                </a:solidFill>
                <a:latin typeface="Calibri" pitchFamily="34" charset="0"/>
                <a:ea typeface="Calibri" pitchFamily="34" charset="-122"/>
                <a:cs typeface="Calibri" pitchFamily="34" charset="-120"/>
              </a:rPr>
              <a:t>✓ </a:t>
            </a:r>
            <a:r>
              <a:rPr lang="en-US" sz="1067" dirty="0">
                <a:solidFill>
                  <a:srgbClr val="2C3E50"/>
                </a:solidFill>
                <a:latin typeface="Calibri" pitchFamily="34" charset="0"/>
                <a:ea typeface="Calibri" pitchFamily="34" charset="-122"/>
                <a:cs typeface="Calibri" pitchFamily="34" charset="-120"/>
              </a:rPr>
              <a:t>First dedicated classroom group engagement benchmark
</a:t>
            </a:r>
            <a:r>
              <a:rPr lang="en-US" sz="1067" b="1" dirty="0">
                <a:solidFill>
                  <a:srgbClr val="1A7A4A"/>
                </a:solidFill>
                <a:latin typeface="Calibri" pitchFamily="34" charset="0"/>
                <a:ea typeface="Calibri" pitchFamily="34" charset="-122"/>
                <a:cs typeface="Calibri" pitchFamily="34" charset="-120"/>
              </a:rPr>
              <a:t>✓ </a:t>
            </a:r>
            <a:r>
              <a:rPr lang="en-US" sz="1067" dirty="0">
                <a:solidFill>
                  <a:srgbClr val="2C3E50"/>
                </a:solidFill>
                <a:latin typeface="Calibri" pitchFamily="34" charset="0"/>
                <a:ea typeface="Calibri" pitchFamily="34" charset="-122"/>
                <a:cs typeface="Calibri" pitchFamily="34" charset="-120"/>
              </a:rPr>
              <a:t>Ordinal labels match educational theory
</a:t>
            </a:r>
            <a:r>
              <a:rPr lang="en-US" sz="1067" b="1" dirty="0">
                <a:solidFill>
                  <a:srgbClr val="1A7A4A"/>
                </a:solidFill>
                <a:latin typeface="Calibri" pitchFamily="34" charset="0"/>
                <a:ea typeface="Calibri" pitchFamily="34" charset="-122"/>
                <a:cs typeface="Calibri" pitchFamily="34" charset="-120"/>
              </a:rPr>
              <a:t>✓ </a:t>
            </a:r>
            <a:r>
              <a:rPr lang="en-US" sz="1067" dirty="0">
                <a:solidFill>
                  <a:srgbClr val="2C3E50"/>
                </a:solidFill>
                <a:latin typeface="Calibri" pitchFamily="34" charset="0"/>
                <a:ea typeface="Calibri" pitchFamily="34" charset="-122"/>
                <a:cs typeface="Calibri" pitchFamily="34" charset="-120"/>
              </a:rPr>
              <a:t>10-sec clips — better temporal context
</a:t>
            </a:r>
            <a:r>
              <a:rPr lang="en-US" sz="1067" b="1" dirty="0">
                <a:solidFill>
                  <a:srgbClr val="1A7A4A"/>
                </a:solidFill>
                <a:latin typeface="Calibri" pitchFamily="34" charset="0"/>
                <a:ea typeface="Calibri" pitchFamily="34" charset="-122"/>
                <a:cs typeface="Calibri" pitchFamily="34" charset="-120"/>
              </a:rPr>
              <a:t>✓ </a:t>
            </a:r>
            <a:r>
              <a:rPr lang="en-US" sz="1067" dirty="0">
                <a:solidFill>
                  <a:srgbClr val="2C3E50"/>
                </a:solidFill>
                <a:latin typeface="Calibri" pitchFamily="34" charset="0"/>
                <a:ea typeface="Calibri" pitchFamily="34" charset="-122"/>
                <a:cs typeface="Calibri" pitchFamily="34" charset="-120"/>
              </a:rPr>
              <a:t>Pedagogically validated + privacy-friendly
</a:t>
            </a:r>
            <a:r>
              <a:rPr lang="en-US" sz="1067" b="1" dirty="0">
                <a:solidFill>
                  <a:srgbClr val="1A7A4A"/>
                </a:solidFill>
                <a:latin typeface="Calibri" pitchFamily="34" charset="0"/>
                <a:ea typeface="Calibri" pitchFamily="34" charset="-122"/>
                <a:cs typeface="Calibri" pitchFamily="34" charset="-120"/>
              </a:rPr>
              <a:t>✓ </a:t>
            </a:r>
            <a:r>
              <a:rPr lang="en-US" sz="1067" dirty="0">
                <a:solidFill>
                  <a:srgbClr val="2C3E50"/>
                </a:solidFill>
                <a:latin typeface="Calibri" pitchFamily="34" charset="0"/>
                <a:ea typeface="Calibri" pitchFamily="34" charset="-122"/>
                <a:cs typeface="Calibri" pitchFamily="34" charset="-120"/>
              </a:rPr>
              <a:t>Publicly open (OSF) with academic license
</a:t>
            </a:r>
            <a:r>
              <a:rPr lang="en-US" sz="1067" b="1" dirty="0">
                <a:solidFill>
                  <a:srgbClr val="B03030"/>
                </a:solidFill>
                <a:latin typeface="Calibri" pitchFamily="34" charset="0"/>
                <a:ea typeface="Calibri" pitchFamily="34" charset="-122"/>
                <a:cs typeface="Calibri" pitchFamily="34" charset="-120"/>
              </a:rPr>
              <a:t>✗ </a:t>
            </a:r>
            <a:r>
              <a:rPr lang="en-US" sz="1067" dirty="0">
                <a:solidFill>
                  <a:srgbClr val="2C3E50"/>
                </a:solidFill>
                <a:latin typeface="Calibri" pitchFamily="34" charset="0"/>
                <a:ea typeface="Calibri" pitchFamily="34" charset="-122"/>
                <a:cs typeface="Calibri" pitchFamily="34" charset="-120"/>
              </a:rPr>
              <a:t>Only 17 students — limited diversity
</a:t>
            </a:r>
            <a:r>
              <a:rPr lang="en-US" sz="1067" b="1" dirty="0">
                <a:solidFill>
                  <a:srgbClr val="B03030"/>
                </a:solidFill>
                <a:latin typeface="Calibri" pitchFamily="34" charset="0"/>
                <a:ea typeface="Calibri" pitchFamily="34" charset="-122"/>
                <a:cs typeface="Calibri" pitchFamily="34" charset="-120"/>
              </a:rPr>
              <a:t>✗ </a:t>
            </a:r>
            <a:r>
              <a:rPr lang="en-US" sz="1067" dirty="0">
                <a:solidFill>
                  <a:srgbClr val="2C3E50"/>
                </a:solidFill>
                <a:latin typeface="Calibri" pitchFamily="34" charset="0"/>
                <a:ea typeface="Calibri" pitchFamily="34" charset="-122"/>
                <a:cs typeface="Calibri" pitchFamily="34" charset="-120"/>
              </a:rPr>
              <a:t>Visual only — no audio modality
</a:t>
            </a:r>
            <a:r>
              <a:rPr lang="en-US" sz="1067" b="1" dirty="0">
                <a:solidFill>
                  <a:srgbClr val="B03030"/>
                </a:solidFill>
                <a:latin typeface="Calibri" pitchFamily="34" charset="0"/>
                <a:ea typeface="Calibri" pitchFamily="34" charset="-122"/>
                <a:cs typeface="Calibri" pitchFamily="34" charset="-120"/>
              </a:rPr>
              <a:t>✗ </a:t>
            </a:r>
            <a:r>
              <a:rPr lang="en-US" sz="1067" dirty="0">
                <a:solidFill>
                  <a:srgbClr val="2C3E50"/>
                </a:solidFill>
                <a:latin typeface="Calibri" pitchFamily="34" charset="0"/>
                <a:ea typeface="Calibri" pitchFamily="34" charset="-122"/>
                <a:cs typeface="Calibri" pitchFamily="34" charset="-120"/>
              </a:rPr>
              <a:t>Group-level labels only</a:t>
            </a:r>
            <a:endParaRPr lang="en-US" sz="1067" dirty="0">
              <a:solidFill>
                <a:prstClr val="black"/>
              </a:solidFill>
              <a:latin typeface="Calibri" panose="020F0502020204030204"/>
            </a:endParaRPr>
          </a:p>
        </p:txBody>
      </p:sp>
      <p:sp>
        <p:nvSpPr>
          <p:cNvPr id="7" name="Text 5"/>
          <p:cNvSpPr/>
          <p:nvPr/>
        </p:nvSpPr>
        <p:spPr>
          <a:xfrm>
            <a:off x="4328160" y="2170176"/>
            <a:ext cx="3535680" cy="4389120"/>
          </a:xfrm>
          <a:prstGeom prst="rect">
            <a:avLst/>
          </a:prstGeom>
          <a:noFill/>
          <a:ln/>
        </p:spPr>
        <p:txBody>
          <a:bodyPr wrap="square" rtlCol="0" anchor="t"/>
          <a:lstStyle/>
          <a:p>
            <a:pPr defTabSz="1219170"/>
            <a:r>
              <a:rPr lang="en-US" sz="1067" b="1" dirty="0">
                <a:solidFill>
                  <a:srgbClr val="1A7A4A"/>
                </a:solidFill>
                <a:latin typeface="Calibri" pitchFamily="34" charset="0"/>
                <a:ea typeface="Calibri" pitchFamily="34" charset="-122"/>
                <a:cs typeface="Calibri" pitchFamily="34" charset="-120"/>
              </a:rPr>
              <a:t>✓ </a:t>
            </a:r>
            <a:r>
              <a:rPr lang="en-US" sz="1067" dirty="0">
                <a:solidFill>
                  <a:srgbClr val="2C3E50"/>
                </a:solidFill>
                <a:latin typeface="Calibri" pitchFamily="34" charset="0"/>
                <a:ea typeface="Calibri" pitchFamily="34" charset="-122"/>
                <a:cs typeface="Calibri" pitchFamily="34" charset="-120"/>
              </a:rPr>
              <a:t>Multimodal: Video + Audio + Context ✓
</a:t>
            </a:r>
            <a:r>
              <a:rPr lang="en-US" sz="1067" b="1" dirty="0">
                <a:solidFill>
                  <a:srgbClr val="1A7A4A"/>
                </a:solidFill>
                <a:latin typeface="Calibri" pitchFamily="34" charset="0"/>
                <a:ea typeface="Calibri" pitchFamily="34" charset="-122"/>
                <a:cs typeface="Calibri" pitchFamily="34" charset="-120"/>
              </a:rPr>
              <a:t>✓ </a:t>
            </a:r>
            <a:r>
              <a:rPr lang="en-US" sz="1067" dirty="0">
                <a:solidFill>
                  <a:srgbClr val="2C3E50"/>
                </a:solidFill>
                <a:latin typeface="Calibri" pitchFamily="34" charset="0"/>
                <a:ea typeface="Calibri" pitchFamily="34" charset="-122"/>
                <a:cs typeface="Calibri" pitchFamily="34" charset="-120"/>
              </a:rPr>
              <a:t>Rich: valence + 5 emotions + interaction type
</a:t>
            </a:r>
            <a:r>
              <a:rPr lang="en-US" sz="1067" b="1" dirty="0">
                <a:solidFill>
                  <a:srgbClr val="1A7A4A"/>
                </a:solidFill>
                <a:latin typeface="Calibri" pitchFamily="34" charset="0"/>
                <a:ea typeface="Calibri" pitchFamily="34" charset="-122"/>
                <a:cs typeface="Calibri" pitchFamily="34" charset="-120"/>
              </a:rPr>
              <a:t>✓ </a:t>
            </a:r>
            <a:r>
              <a:rPr lang="en-US" sz="1067" dirty="0">
                <a:solidFill>
                  <a:srgbClr val="2C3E50"/>
                </a:solidFill>
                <a:latin typeface="Calibri" pitchFamily="34" charset="0"/>
                <a:ea typeface="Calibri" pitchFamily="34" charset="-122"/>
                <a:cs typeface="Calibri" pitchFamily="34" charset="-120"/>
              </a:rPr>
              <a:t>High inter-annotator agreement (κ=0.72)
</a:t>
            </a:r>
            <a:r>
              <a:rPr lang="en-US" sz="1067" b="1" dirty="0">
                <a:solidFill>
                  <a:srgbClr val="1A7A4A"/>
                </a:solidFill>
                <a:latin typeface="Calibri" pitchFamily="34" charset="0"/>
                <a:ea typeface="Calibri" pitchFamily="34" charset="-122"/>
                <a:cs typeface="Calibri" pitchFamily="34" charset="-120"/>
              </a:rPr>
              <a:t>✓ </a:t>
            </a:r>
            <a:r>
              <a:rPr lang="en-US" sz="1067" dirty="0">
                <a:solidFill>
                  <a:srgbClr val="2C3E50"/>
                </a:solidFill>
                <a:latin typeface="Calibri" pitchFamily="34" charset="0"/>
                <a:ea typeface="Calibri" pitchFamily="34" charset="-122"/>
                <a:cs typeface="Calibri" pitchFamily="34" charset="-120"/>
              </a:rPr>
              <a:t>Broad generalisability (in-the-wild)
</a:t>
            </a:r>
            <a:r>
              <a:rPr lang="en-US" sz="1067" b="1" dirty="0">
                <a:solidFill>
                  <a:srgbClr val="B03030"/>
                </a:solidFill>
                <a:latin typeface="Calibri" pitchFamily="34" charset="0"/>
                <a:ea typeface="Calibri" pitchFamily="34" charset="-122"/>
                <a:cs typeface="Calibri" pitchFamily="34" charset="-120"/>
              </a:rPr>
              <a:t>✗ </a:t>
            </a:r>
            <a:r>
              <a:rPr lang="en-US" sz="1067" dirty="0">
                <a:solidFill>
                  <a:srgbClr val="2C3E50"/>
                </a:solidFill>
                <a:latin typeface="Calibri" pitchFamily="34" charset="0"/>
                <a:ea typeface="Calibri" pitchFamily="34" charset="-122"/>
                <a:cs typeface="Calibri" pitchFamily="34" charset="-120"/>
              </a:rPr>
              <a:t>Not educational — YouTube videos
</a:t>
            </a:r>
            <a:r>
              <a:rPr lang="en-US" sz="1067" b="1" dirty="0">
                <a:solidFill>
                  <a:srgbClr val="B03030"/>
                </a:solidFill>
                <a:latin typeface="Calibri" pitchFamily="34" charset="0"/>
                <a:ea typeface="Calibri" pitchFamily="34" charset="-122"/>
                <a:cs typeface="Calibri" pitchFamily="34" charset="-120"/>
              </a:rPr>
              <a:t>✗ </a:t>
            </a:r>
            <a:r>
              <a:rPr lang="en-US" sz="1067" dirty="0">
                <a:solidFill>
                  <a:srgbClr val="2C3E50"/>
                </a:solidFill>
                <a:latin typeface="Calibri" pitchFamily="34" charset="0"/>
                <a:ea typeface="Calibri" pitchFamily="34" charset="-122"/>
                <a:cs typeface="Calibri" pitchFamily="34" charset="-120"/>
              </a:rPr>
              <a:t>Severe class imbalance (Happy: 2428 vs Fear: 56)
</a:t>
            </a:r>
            <a:r>
              <a:rPr lang="en-US" sz="1067" b="1" dirty="0">
                <a:solidFill>
                  <a:srgbClr val="B03030"/>
                </a:solidFill>
                <a:latin typeface="Calibri" pitchFamily="34" charset="0"/>
                <a:ea typeface="Calibri" pitchFamily="34" charset="-122"/>
                <a:cs typeface="Calibri" pitchFamily="34" charset="-120"/>
              </a:rPr>
              <a:t>✗ </a:t>
            </a:r>
            <a:r>
              <a:rPr lang="en-US" sz="1067" dirty="0">
                <a:solidFill>
                  <a:srgbClr val="2C3E50"/>
                </a:solidFill>
                <a:latin typeface="Calibri" pitchFamily="34" charset="0"/>
                <a:ea typeface="Calibri" pitchFamily="34" charset="-122"/>
                <a:cs typeface="Calibri" pitchFamily="34" charset="-120"/>
              </a:rPr>
              <a:t>Shorter 5-sec clips; LLM context not ground-truth</a:t>
            </a:r>
            <a:endParaRPr lang="en-US" sz="1067" dirty="0">
              <a:solidFill>
                <a:prstClr val="black"/>
              </a:solidFill>
              <a:latin typeface="Calibri" panose="020F0502020204030204"/>
            </a:endParaRPr>
          </a:p>
        </p:txBody>
      </p:sp>
      <p:sp>
        <p:nvSpPr>
          <p:cNvPr id="8" name="Text 6"/>
          <p:cNvSpPr/>
          <p:nvPr/>
        </p:nvSpPr>
        <p:spPr>
          <a:xfrm>
            <a:off x="8107680" y="2170176"/>
            <a:ext cx="3535680" cy="4389120"/>
          </a:xfrm>
          <a:prstGeom prst="rect">
            <a:avLst/>
          </a:prstGeom>
          <a:noFill/>
          <a:ln/>
        </p:spPr>
        <p:txBody>
          <a:bodyPr wrap="square" rtlCol="0" anchor="t"/>
          <a:lstStyle/>
          <a:p>
            <a:pPr defTabSz="1219170"/>
            <a:r>
              <a:rPr lang="en-US" sz="1067" b="1" dirty="0">
                <a:solidFill>
                  <a:srgbClr val="1A7A4A"/>
                </a:solidFill>
                <a:latin typeface="Calibri" pitchFamily="34" charset="0"/>
                <a:ea typeface="Calibri" pitchFamily="34" charset="-122"/>
                <a:cs typeface="Calibri" pitchFamily="34" charset="-120"/>
              </a:rPr>
              <a:t>✓ </a:t>
            </a:r>
            <a:r>
              <a:rPr lang="en-US" sz="1067" dirty="0">
                <a:solidFill>
                  <a:srgbClr val="2C3E50"/>
                </a:solidFill>
                <a:latin typeface="Calibri" pitchFamily="34" charset="0"/>
                <a:ea typeface="Calibri" pitchFamily="34" charset="-122"/>
                <a:cs typeface="Calibri" pitchFamily="34" charset="-120"/>
              </a:rPr>
              <a:t>Both individual + group labels (rare!)
</a:t>
            </a:r>
            <a:r>
              <a:rPr lang="en-US" sz="1067" b="1" dirty="0">
                <a:solidFill>
                  <a:srgbClr val="1A7A4A"/>
                </a:solidFill>
                <a:latin typeface="Calibri" pitchFamily="34" charset="0"/>
                <a:ea typeface="Calibri" pitchFamily="34" charset="-122"/>
                <a:cs typeface="Calibri" pitchFamily="34" charset="-120"/>
              </a:rPr>
              <a:t>✓ </a:t>
            </a:r>
            <a:r>
              <a:rPr lang="en-US" sz="1067" dirty="0">
                <a:solidFill>
                  <a:srgbClr val="2C3E50"/>
                </a:solidFill>
                <a:latin typeface="Calibri" pitchFamily="34" charset="0"/>
                <a:ea typeface="Calibri" pitchFamily="34" charset="-122"/>
                <a:cs typeface="Calibri" pitchFamily="34" charset="-120"/>
              </a:rPr>
              <a:t>Multimodal (audio + visual)
</a:t>
            </a:r>
            <a:r>
              <a:rPr lang="en-US" sz="1067" b="1" dirty="0">
                <a:solidFill>
                  <a:srgbClr val="1A7A4A"/>
                </a:solidFill>
                <a:latin typeface="Calibri" pitchFamily="34" charset="0"/>
                <a:ea typeface="Calibri" pitchFamily="34" charset="-122"/>
                <a:cs typeface="Calibri" pitchFamily="34" charset="-120"/>
              </a:rPr>
              <a:t>✓ </a:t>
            </a:r>
            <a:r>
              <a:rPr lang="en-US" sz="1067" dirty="0">
                <a:solidFill>
                  <a:srgbClr val="2C3E50"/>
                </a:solidFill>
                <a:latin typeface="Calibri" pitchFamily="34" charset="0"/>
                <a:ea typeface="Calibri" pitchFamily="34" charset="-122"/>
                <a:cs typeface="Calibri" pitchFamily="34" charset="-120"/>
              </a:rPr>
              <a:t>Classroom-specific like OUC-CGE
</a:t>
            </a:r>
            <a:r>
              <a:rPr lang="en-US" sz="1067" b="1" dirty="0">
                <a:solidFill>
                  <a:srgbClr val="1A7A4A"/>
                </a:solidFill>
                <a:latin typeface="Calibri" pitchFamily="34" charset="0"/>
                <a:ea typeface="Calibri" pitchFamily="34" charset="-122"/>
                <a:cs typeface="Calibri" pitchFamily="34" charset="-120"/>
              </a:rPr>
              <a:t>✓ </a:t>
            </a:r>
            <a:r>
              <a:rPr lang="en-US" sz="1067" dirty="0">
                <a:solidFill>
                  <a:srgbClr val="2C3E50"/>
                </a:solidFill>
                <a:latin typeface="Calibri" pitchFamily="34" charset="0"/>
                <a:ea typeface="Calibri" pitchFamily="34" charset="-122"/>
                <a:cs typeface="Calibri" pitchFamily="34" charset="-120"/>
              </a:rPr>
              <a:t>Ordinal supervision — 89.63% Acc, QWK 0.948
</a:t>
            </a:r>
            <a:r>
              <a:rPr lang="en-US" sz="1067" b="1" dirty="0">
                <a:solidFill>
                  <a:srgbClr val="B03030"/>
                </a:solidFill>
                <a:latin typeface="Calibri" pitchFamily="34" charset="0"/>
                <a:ea typeface="Calibri" pitchFamily="34" charset="-122"/>
                <a:cs typeface="Calibri" pitchFamily="34" charset="-120"/>
              </a:rPr>
              <a:t>✗ </a:t>
            </a:r>
            <a:r>
              <a:rPr lang="en-US" sz="1067" dirty="0">
                <a:solidFill>
                  <a:srgbClr val="2C3E50"/>
                </a:solidFill>
                <a:latin typeface="Calibri" pitchFamily="34" charset="0"/>
                <a:ea typeface="Calibri" pitchFamily="34" charset="-122"/>
                <a:cs typeface="Calibri" pitchFamily="34" charset="-120"/>
              </a:rPr>
              <a:t>Dataset details not fully public (new paper)
</a:t>
            </a:r>
            <a:r>
              <a:rPr lang="en-US" sz="1067" b="1" dirty="0">
                <a:solidFill>
                  <a:srgbClr val="B03030"/>
                </a:solidFill>
                <a:latin typeface="Calibri" pitchFamily="34" charset="0"/>
                <a:ea typeface="Calibri" pitchFamily="34" charset="-122"/>
                <a:cs typeface="Calibri" pitchFamily="34" charset="-120"/>
              </a:rPr>
              <a:t>✗ </a:t>
            </a:r>
            <a:r>
              <a:rPr lang="en-US" sz="1067" dirty="0">
                <a:solidFill>
                  <a:srgbClr val="2C3E50"/>
                </a:solidFill>
                <a:latin typeface="Calibri" pitchFamily="34" charset="0"/>
                <a:ea typeface="Calibri" pitchFamily="34" charset="-122"/>
                <a:cs typeface="Calibri" pitchFamily="34" charset="-120"/>
              </a:rPr>
              <a:t>Restricted access vs. OUC-CGE</a:t>
            </a:r>
            <a:endParaRPr lang="en-US" sz="1067" dirty="0">
              <a:solidFill>
                <a:prstClr val="black"/>
              </a:solidFill>
              <a:latin typeface="Calibri" panose="020F0502020204030204"/>
            </a:endParaRPr>
          </a:p>
        </p:txBody>
      </p:sp>
      <p:sp>
        <p:nvSpPr>
          <p:cNvPr id="9" name="Shape 7"/>
          <p:cNvSpPr/>
          <p:nvPr/>
        </p:nvSpPr>
        <p:spPr>
          <a:xfrm>
            <a:off x="548640" y="1767840"/>
            <a:ext cx="3535680" cy="365760"/>
          </a:xfrm>
          <a:prstGeom prst="rect">
            <a:avLst/>
          </a:prstGeom>
          <a:solidFill>
            <a:srgbClr val="2E86AB"/>
          </a:solidFill>
          <a:ln w="12700">
            <a:solidFill>
              <a:srgbClr val="2E86AB"/>
            </a:solidFill>
            <a:prstDash val="solid"/>
          </a:ln>
        </p:spPr>
      </p:sp>
      <p:sp>
        <p:nvSpPr>
          <p:cNvPr id="10" name="Text 8"/>
          <p:cNvSpPr/>
          <p:nvPr/>
        </p:nvSpPr>
        <p:spPr>
          <a:xfrm>
            <a:off x="548640" y="1767840"/>
            <a:ext cx="3535680" cy="365760"/>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OUC-CGE</a:t>
            </a:r>
            <a:endParaRPr lang="en-US" sz="1333" dirty="0">
              <a:solidFill>
                <a:prstClr val="black"/>
              </a:solidFill>
              <a:latin typeface="Calibri" panose="020F0502020204030204"/>
            </a:endParaRPr>
          </a:p>
        </p:txBody>
      </p:sp>
      <p:sp>
        <p:nvSpPr>
          <p:cNvPr id="11" name="Shape 9"/>
          <p:cNvSpPr/>
          <p:nvPr/>
        </p:nvSpPr>
        <p:spPr>
          <a:xfrm>
            <a:off x="4328160" y="1767840"/>
            <a:ext cx="3535680" cy="365760"/>
          </a:xfrm>
          <a:prstGeom prst="rect">
            <a:avLst/>
          </a:prstGeom>
          <a:solidFill>
            <a:srgbClr val="E67E22"/>
          </a:solidFill>
          <a:ln w="12700">
            <a:solidFill>
              <a:srgbClr val="E67E22"/>
            </a:solidFill>
            <a:prstDash val="solid"/>
          </a:ln>
        </p:spPr>
      </p:sp>
      <p:sp>
        <p:nvSpPr>
          <p:cNvPr id="12" name="Text 10"/>
          <p:cNvSpPr/>
          <p:nvPr/>
        </p:nvSpPr>
        <p:spPr>
          <a:xfrm>
            <a:off x="4328160" y="1767840"/>
            <a:ext cx="3535680" cy="365760"/>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GAViD</a:t>
            </a:r>
            <a:endParaRPr lang="en-US" sz="1333" dirty="0">
              <a:solidFill>
                <a:prstClr val="black"/>
              </a:solidFill>
              <a:latin typeface="Calibri" panose="020F0502020204030204"/>
            </a:endParaRPr>
          </a:p>
        </p:txBody>
      </p:sp>
      <p:sp>
        <p:nvSpPr>
          <p:cNvPr id="13" name="Shape 11"/>
          <p:cNvSpPr/>
          <p:nvPr/>
        </p:nvSpPr>
        <p:spPr>
          <a:xfrm>
            <a:off x="8107680" y="1767840"/>
            <a:ext cx="3535680" cy="365760"/>
          </a:xfrm>
          <a:prstGeom prst="rect">
            <a:avLst/>
          </a:prstGeom>
          <a:solidFill>
            <a:srgbClr val="C0392B"/>
          </a:solidFill>
          <a:ln w="12700">
            <a:solidFill>
              <a:srgbClr val="C0392B"/>
            </a:solidFill>
            <a:prstDash val="solid"/>
          </a:ln>
        </p:spPr>
      </p:sp>
      <p:sp>
        <p:nvSpPr>
          <p:cNvPr id="14" name="Text 12"/>
          <p:cNvSpPr/>
          <p:nvPr/>
        </p:nvSpPr>
        <p:spPr>
          <a:xfrm>
            <a:off x="8107680" y="1767840"/>
            <a:ext cx="3535680" cy="365760"/>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COLER / Tran 2026</a:t>
            </a:r>
            <a:endParaRPr lang="en-US" sz="1333" dirty="0">
              <a:solidFill>
                <a:prstClr val="black"/>
              </a:solidFill>
              <a:latin typeface="Calibri" panose="020F0502020204030204"/>
            </a:endParaRPr>
          </a:p>
        </p:txBody>
      </p:sp>
    </p:spTree>
    <p:extLst>
      <p:ext uri="{BB962C8B-B14F-4D97-AF65-F5344CB8AC3E}">
        <p14:creationId xmlns:p14="http://schemas.microsoft.com/office/powerpoint/2010/main" val="2503744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1F35"/>
        </a:solidFill>
        <a:effectLst/>
      </p:bgPr>
    </p:bg>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F0A500"/>
          </a:solidFill>
          <a:ln w="12700">
            <a:solidFill>
              <a:srgbClr val="F0A500"/>
            </a:solidFill>
            <a:prstDash val="solid"/>
          </a:ln>
        </p:spPr>
      </p:sp>
      <p:sp>
        <p:nvSpPr>
          <p:cNvPr id="3" name="Text 1"/>
          <p:cNvSpPr/>
          <p:nvPr/>
        </p:nvSpPr>
        <p:spPr>
          <a:xfrm>
            <a:off x="731520" y="1828800"/>
            <a:ext cx="10728960" cy="1706880"/>
          </a:xfrm>
          <a:prstGeom prst="rect">
            <a:avLst/>
          </a:prstGeom>
          <a:noFill/>
          <a:ln/>
        </p:spPr>
        <p:txBody>
          <a:bodyPr wrap="square" rtlCol="0" anchor="ctr"/>
          <a:lstStyle/>
          <a:p>
            <a:pPr defTabSz="1219170"/>
            <a:r>
              <a:rPr lang="en-US" sz="4800" b="1" dirty="0">
                <a:solidFill>
                  <a:srgbClr val="FFFFFF"/>
                </a:solidFill>
                <a:latin typeface="Calibri" pitchFamily="34" charset="0"/>
                <a:ea typeface="Calibri" pitchFamily="34" charset="-122"/>
                <a:cs typeface="Calibri" pitchFamily="34" charset="-120"/>
              </a:rPr>
              <a:t>SECTION 3</a:t>
            </a:r>
            <a:endParaRPr lang="en-US" sz="4800" dirty="0">
              <a:solidFill>
                <a:prstClr val="black"/>
              </a:solidFill>
              <a:latin typeface="Calibri" panose="020F0502020204030204"/>
            </a:endParaRPr>
          </a:p>
          <a:p>
            <a:pPr defTabSz="1219170"/>
            <a:r>
              <a:rPr lang="en-US" sz="4800" b="1" dirty="0">
                <a:solidFill>
                  <a:srgbClr val="FFFFFF"/>
                </a:solidFill>
                <a:latin typeface="Calibri" pitchFamily="34" charset="0"/>
                <a:ea typeface="Calibri" pitchFamily="34" charset="-122"/>
                <a:cs typeface="Calibri" pitchFamily="34" charset="-120"/>
              </a:rPr>
              <a:t>Research Positioning</a:t>
            </a:r>
            <a:endParaRPr lang="en-US" sz="4800" dirty="0">
              <a:solidFill>
                <a:prstClr val="black"/>
              </a:solidFill>
              <a:latin typeface="Calibri" panose="020F0502020204030204"/>
            </a:endParaRPr>
          </a:p>
        </p:txBody>
      </p:sp>
      <p:sp>
        <p:nvSpPr>
          <p:cNvPr id="4" name="Shape 2"/>
          <p:cNvSpPr/>
          <p:nvPr/>
        </p:nvSpPr>
        <p:spPr>
          <a:xfrm>
            <a:off x="731520" y="3779520"/>
            <a:ext cx="10728960" cy="60960"/>
          </a:xfrm>
          <a:prstGeom prst="rect">
            <a:avLst/>
          </a:prstGeom>
          <a:solidFill>
            <a:srgbClr val="F0A500"/>
          </a:solidFill>
          <a:ln w="12700">
            <a:solidFill>
              <a:srgbClr val="F0A500"/>
            </a:solidFill>
            <a:prstDash val="solid"/>
          </a:ln>
        </p:spPr>
      </p:sp>
      <p:sp>
        <p:nvSpPr>
          <p:cNvPr id="5" name="Text 3"/>
          <p:cNvSpPr/>
          <p:nvPr/>
        </p:nvSpPr>
        <p:spPr>
          <a:xfrm>
            <a:off x="731520" y="4023360"/>
            <a:ext cx="10728960" cy="731520"/>
          </a:xfrm>
          <a:prstGeom prst="rect">
            <a:avLst/>
          </a:prstGeom>
          <a:noFill/>
          <a:ln/>
        </p:spPr>
        <p:txBody>
          <a:bodyPr wrap="square" rtlCol="0" anchor="ctr"/>
          <a:lstStyle/>
          <a:p>
            <a:pPr defTabSz="1219170"/>
            <a:r>
              <a:rPr lang="en-US" sz="2267" dirty="0">
                <a:solidFill>
                  <a:srgbClr val="4FB3CE"/>
                </a:solidFill>
                <a:latin typeface="Calibri" pitchFamily="34" charset="0"/>
                <a:ea typeface="Calibri" pitchFamily="34" charset="-122"/>
                <a:cs typeface="Calibri" pitchFamily="34" charset="-120"/>
              </a:rPr>
              <a:t>Why OUC-CGE Is Selected — and Where Research Opportunities Lie</a:t>
            </a:r>
            <a:endParaRPr lang="en-US" sz="2267" dirty="0">
              <a:solidFill>
                <a:prstClr val="black"/>
              </a:solidFill>
              <a:latin typeface="Calibri" panose="020F0502020204030204"/>
            </a:endParaRPr>
          </a:p>
        </p:txBody>
      </p:sp>
    </p:spTree>
    <p:extLst>
      <p:ext uri="{BB962C8B-B14F-4D97-AF65-F5344CB8AC3E}">
        <p14:creationId xmlns:p14="http://schemas.microsoft.com/office/powerpoint/2010/main" val="3549756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EF0F3"/>
        </a:solidFill>
        <a:effectLst/>
      </p:bgPr>
    </p:bg>
    <p:spTree>
      <p:nvGrpSpPr>
        <p:cNvPr id="1" name=""/>
        <p:cNvGrpSpPr/>
        <p:nvPr/>
      </p:nvGrpSpPr>
      <p:grpSpPr>
        <a:xfrm>
          <a:off x="0" y="0"/>
          <a:ext cx="0" cy="0"/>
          <a:chOff x="0" y="0"/>
          <a:chExt cx="0" cy="0"/>
        </a:xfrm>
      </p:grpSpPr>
      <p:sp>
        <p:nvSpPr>
          <p:cNvPr id="2" name="Shape 0"/>
          <p:cNvSpPr/>
          <p:nvPr/>
        </p:nvSpPr>
        <p:spPr>
          <a:xfrm>
            <a:off x="548640" y="219456"/>
            <a:ext cx="2438400" cy="341376"/>
          </a:xfrm>
          <a:prstGeom prst="rect">
            <a:avLst/>
          </a:prstGeom>
          <a:solidFill>
            <a:srgbClr val="2E86AB"/>
          </a:solidFill>
          <a:ln w="12700">
            <a:solidFill>
              <a:srgbClr val="2E86AB"/>
            </a:solidFill>
            <a:prstDash val="solid"/>
          </a:ln>
        </p:spPr>
      </p:sp>
      <p:sp>
        <p:nvSpPr>
          <p:cNvPr id="3" name="Text 1"/>
          <p:cNvSpPr/>
          <p:nvPr/>
        </p:nvSpPr>
        <p:spPr>
          <a:xfrm>
            <a:off x="548640" y="219456"/>
            <a:ext cx="2438400" cy="341376"/>
          </a:xfrm>
          <a:prstGeom prst="rect">
            <a:avLst/>
          </a:prstGeom>
          <a:noFill/>
          <a:ln/>
        </p:spPr>
        <p:txBody>
          <a:bodyPr wrap="square" lIns="0" tIns="0" rIns="0" bIns="0" rtlCol="0" anchor="ctr"/>
          <a:lstStyle/>
          <a:p>
            <a:pPr algn="ctr" defTabSz="1219170"/>
            <a:r>
              <a:rPr lang="en-US" sz="1000" b="1" kern="0" spc="267" dirty="0">
                <a:solidFill>
                  <a:srgbClr val="FFFFFF"/>
                </a:solidFill>
                <a:latin typeface="Calibri" pitchFamily="34" charset="0"/>
                <a:ea typeface="Calibri" pitchFamily="34" charset="-122"/>
                <a:cs typeface="Calibri" pitchFamily="34" charset="-120"/>
              </a:rPr>
              <a:t>RESEARCH POSITIONING</a:t>
            </a:r>
            <a:endParaRPr lang="en-US" sz="1000" dirty="0">
              <a:solidFill>
                <a:prstClr val="black"/>
              </a:solidFill>
              <a:latin typeface="Calibri" panose="020F0502020204030204"/>
            </a:endParaRPr>
          </a:p>
        </p:txBody>
      </p:sp>
      <p:sp>
        <p:nvSpPr>
          <p:cNvPr id="4" name="Text 2"/>
          <p:cNvSpPr/>
          <p:nvPr/>
        </p:nvSpPr>
        <p:spPr>
          <a:xfrm>
            <a:off x="548640" y="670560"/>
            <a:ext cx="11094720" cy="914400"/>
          </a:xfrm>
          <a:prstGeom prst="rect">
            <a:avLst/>
          </a:prstGeom>
          <a:noFill/>
          <a:ln/>
        </p:spPr>
        <p:txBody>
          <a:bodyPr wrap="square" rtlCol="0" anchor="b"/>
          <a:lstStyle/>
          <a:p>
            <a:pPr defTabSz="1219170"/>
            <a:r>
              <a:rPr lang="en-US" sz="3467" b="1" dirty="0">
                <a:solidFill>
                  <a:srgbClr val="0D1F35"/>
                </a:solidFill>
                <a:latin typeface="Calibri" pitchFamily="34" charset="0"/>
                <a:ea typeface="Calibri" pitchFamily="34" charset="-122"/>
                <a:cs typeface="Calibri" pitchFamily="34" charset="-120"/>
              </a:rPr>
              <a:t>Why OUC-CGE Is Selected for This Research</a:t>
            </a:r>
            <a:endParaRPr lang="en-US" sz="3467" dirty="0">
              <a:solidFill>
                <a:prstClr val="black"/>
              </a:solidFill>
              <a:latin typeface="Calibri" panose="020F0502020204030204"/>
            </a:endParaRPr>
          </a:p>
        </p:txBody>
      </p:sp>
      <p:sp>
        <p:nvSpPr>
          <p:cNvPr id="5" name="Shape 3"/>
          <p:cNvSpPr/>
          <p:nvPr/>
        </p:nvSpPr>
        <p:spPr>
          <a:xfrm>
            <a:off x="548640" y="1645920"/>
            <a:ext cx="11094720" cy="36576"/>
          </a:xfrm>
          <a:prstGeom prst="rect">
            <a:avLst/>
          </a:prstGeom>
          <a:solidFill>
            <a:srgbClr val="2E86AB"/>
          </a:solidFill>
          <a:ln w="12700">
            <a:solidFill>
              <a:srgbClr val="2E86AB"/>
            </a:solidFill>
            <a:prstDash val="solid"/>
          </a:ln>
        </p:spPr>
      </p:sp>
      <p:sp>
        <p:nvSpPr>
          <p:cNvPr id="6" name="Shape 4"/>
          <p:cNvSpPr/>
          <p:nvPr/>
        </p:nvSpPr>
        <p:spPr>
          <a:xfrm>
            <a:off x="548640" y="1804416"/>
            <a:ext cx="5425440" cy="365760"/>
          </a:xfrm>
          <a:prstGeom prst="rect">
            <a:avLst/>
          </a:prstGeom>
          <a:solidFill>
            <a:srgbClr val="1A7A4A"/>
          </a:solidFill>
          <a:ln w="12700">
            <a:solidFill>
              <a:srgbClr val="1A7A4A"/>
            </a:solidFill>
            <a:prstDash val="solid"/>
          </a:ln>
        </p:spPr>
      </p:sp>
      <p:sp>
        <p:nvSpPr>
          <p:cNvPr id="7" name="Text 5"/>
          <p:cNvSpPr/>
          <p:nvPr/>
        </p:nvSpPr>
        <p:spPr>
          <a:xfrm>
            <a:off x="548640" y="1804416"/>
            <a:ext cx="5425440" cy="365760"/>
          </a:xfrm>
          <a:prstGeom prst="rect">
            <a:avLst/>
          </a:prstGeom>
          <a:noFill/>
          <a:ln/>
        </p:spPr>
        <p:txBody>
          <a:bodyPr wrap="square" lIns="0" tIns="0" rIns="0" bIns="0" rtlCol="0" anchor="ctr"/>
          <a:lstStyle/>
          <a:p>
            <a:pPr algn="ctr" defTabSz="1219170"/>
            <a:r>
              <a:rPr lang="en-US" sz="1267" b="1" dirty="0">
                <a:solidFill>
                  <a:srgbClr val="FFFFFF"/>
                </a:solidFill>
                <a:latin typeface="Calibri" pitchFamily="34" charset="0"/>
                <a:ea typeface="Calibri" pitchFamily="34" charset="-122"/>
                <a:cs typeface="Calibri" pitchFamily="34" charset="-120"/>
              </a:rPr>
              <a:t>STRENGTHS</a:t>
            </a:r>
            <a:endParaRPr lang="en-US" sz="1267" dirty="0">
              <a:solidFill>
                <a:prstClr val="black"/>
              </a:solidFill>
              <a:latin typeface="Calibri" panose="020F0502020204030204"/>
            </a:endParaRPr>
          </a:p>
        </p:txBody>
      </p:sp>
      <p:sp>
        <p:nvSpPr>
          <p:cNvPr id="8" name="Shape 6"/>
          <p:cNvSpPr/>
          <p:nvPr/>
        </p:nvSpPr>
        <p:spPr>
          <a:xfrm>
            <a:off x="6217920" y="1804416"/>
            <a:ext cx="5425440" cy="365760"/>
          </a:xfrm>
          <a:prstGeom prst="rect">
            <a:avLst/>
          </a:prstGeom>
          <a:solidFill>
            <a:srgbClr val="B03030"/>
          </a:solidFill>
          <a:ln w="12700">
            <a:solidFill>
              <a:srgbClr val="B03030"/>
            </a:solidFill>
            <a:prstDash val="solid"/>
          </a:ln>
        </p:spPr>
      </p:sp>
      <p:sp>
        <p:nvSpPr>
          <p:cNvPr id="9" name="Text 7"/>
          <p:cNvSpPr/>
          <p:nvPr/>
        </p:nvSpPr>
        <p:spPr>
          <a:xfrm>
            <a:off x="6217920" y="1804416"/>
            <a:ext cx="5425440" cy="365760"/>
          </a:xfrm>
          <a:prstGeom prst="rect">
            <a:avLst/>
          </a:prstGeom>
          <a:noFill/>
          <a:ln/>
        </p:spPr>
        <p:txBody>
          <a:bodyPr wrap="square" lIns="0" tIns="0" rIns="0" bIns="0" rtlCol="0" anchor="ctr"/>
          <a:lstStyle/>
          <a:p>
            <a:pPr algn="ctr" defTabSz="1219170"/>
            <a:r>
              <a:rPr lang="en-US" sz="1267" b="1" dirty="0">
                <a:solidFill>
                  <a:srgbClr val="FFFFFF"/>
                </a:solidFill>
                <a:latin typeface="Calibri" pitchFamily="34" charset="0"/>
                <a:ea typeface="Calibri" pitchFamily="34" charset="-122"/>
                <a:cs typeface="Calibri" pitchFamily="34" charset="-120"/>
              </a:rPr>
              <a:t>KNOWN LIMITATIONS</a:t>
            </a:r>
            <a:endParaRPr lang="en-US" sz="1267" dirty="0">
              <a:solidFill>
                <a:prstClr val="black"/>
              </a:solidFill>
              <a:latin typeface="Calibri" panose="020F0502020204030204"/>
            </a:endParaRPr>
          </a:p>
        </p:txBody>
      </p:sp>
      <p:sp>
        <p:nvSpPr>
          <p:cNvPr id="10" name="Shape 8"/>
          <p:cNvSpPr/>
          <p:nvPr/>
        </p:nvSpPr>
        <p:spPr>
          <a:xfrm>
            <a:off x="548640" y="2255520"/>
            <a:ext cx="73152" cy="585216"/>
          </a:xfrm>
          <a:prstGeom prst="rect">
            <a:avLst/>
          </a:prstGeom>
          <a:solidFill>
            <a:srgbClr val="1A7A4A"/>
          </a:solidFill>
          <a:ln w="12700">
            <a:solidFill>
              <a:srgbClr val="1A7A4A"/>
            </a:solidFill>
            <a:prstDash val="solid"/>
          </a:ln>
        </p:spPr>
      </p:sp>
      <p:sp>
        <p:nvSpPr>
          <p:cNvPr id="11" name="Text 9"/>
          <p:cNvSpPr/>
          <p:nvPr/>
        </p:nvSpPr>
        <p:spPr>
          <a:xfrm>
            <a:off x="707136" y="2255520"/>
            <a:ext cx="5181600" cy="585216"/>
          </a:xfrm>
          <a:prstGeom prst="rect">
            <a:avLst/>
          </a:prstGeom>
          <a:noFill/>
          <a:ln/>
        </p:spPr>
        <p:txBody>
          <a:bodyPr wrap="square" rtlCol="0" anchor="t"/>
          <a:lstStyle/>
          <a:p>
            <a:pPr defTabSz="1219170"/>
            <a:r>
              <a:rPr lang="en-US" sz="1133" b="1" dirty="0">
                <a:solidFill>
                  <a:srgbClr val="0D1F35"/>
                </a:solidFill>
                <a:latin typeface="Calibri" pitchFamily="34" charset="0"/>
                <a:ea typeface="Calibri" pitchFamily="34" charset="-122"/>
                <a:cs typeface="Calibri" pitchFamily="34" charset="-120"/>
              </a:rPr>
              <a:t>Classroom-Specific Design
</a:t>
            </a:r>
            <a:r>
              <a:rPr lang="en-US" sz="1000" dirty="0">
                <a:solidFill>
                  <a:srgbClr val="2C3E50"/>
                </a:solidFill>
                <a:latin typeface="Calibri" pitchFamily="34" charset="0"/>
                <a:ea typeface="Calibri" pitchFamily="34" charset="-122"/>
                <a:cs typeface="Calibri" pitchFamily="34" charset="-120"/>
              </a:rPr>
              <a:t>Only publicly available dataset capturing authentic multi-student group dynamics in a real classroom — not curated YouTube or lab videos.</a:t>
            </a:r>
            <a:endParaRPr lang="en-US" sz="1133" dirty="0">
              <a:solidFill>
                <a:prstClr val="black"/>
              </a:solidFill>
              <a:latin typeface="Calibri" panose="020F0502020204030204"/>
            </a:endParaRPr>
          </a:p>
        </p:txBody>
      </p:sp>
      <p:sp>
        <p:nvSpPr>
          <p:cNvPr id="12" name="Shape 10"/>
          <p:cNvSpPr/>
          <p:nvPr/>
        </p:nvSpPr>
        <p:spPr>
          <a:xfrm>
            <a:off x="548640" y="2913888"/>
            <a:ext cx="73152" cy="585216"/>
          </a:xfrm>
          <a:prstGeom prst="rect">
            <a:avLst/>
          </a:prstGeom>
          <a:solidFill>
            <a:srgbClr val="1A7A4A"/>
          </a:solidFill>
          <a:ln w="12700">
            <a:solidFill>
              <a:srgbClr val="1A7A4A"/>
            </a:solidFill>
            <a:prstDash val="solid"/>
          </a:ln>
        </p:spPr>
      </p:sp>
      <p:sp>
        <p:nvSpPr>
          <p:cNvPr id="13" name="Text 11"/>
          <p:cNvSpPr/>
          <p:nvPr/>
        </p:nvSpPr>
        <p:spPr>
          <a:xfrm>
            <a:off x="707136" y="2913888"/>
            <a:ext cx="5181600" cy="585216"/>
          </a:xfrm>
          <a:prstGeom prst="rect">
            <a:avLst/>
          </a:prstGeom>
          <a:noFill/>
          <a:ln/>
        </p:spPr>
        <p:txBody>
          <a:bodyPr wrap="square" rtlCol="0" anchor="t"/>
          <a:lstStyle/>
          <a:p>
            <a:pPr defTabSz="1219170"/>
            <a:r>
              <a:rPr lang="en-US" sz="1133" b="1" dirty="0">
                <a:solidFill>
                  <a:srgbClr val="0D1F35"/>
                </a:solidFill>
                <a:latin typeface="Calibri" pitchFamily="34" charset="0"/>
                <a:ea typeface="Calibri" pitchFamily="34" charset="-122"/>
                <a:cs typeface="Calibri" pitchFamily="34" charset="-120"/>
              </a:rPr>
              <a:t>Ordinal Engagement Labels
</a:t>
            </a:r>
            <a:r>
              <a:rPr lang="en-US" sz="1000" dirty="0">
                <a:solidFill>
                  <a:srgbClr val="2C3E50"/>
                </a:solidFill>
                <a:latin typeface="Calibri" pitchFamily="34" charset="0"/>
                <a:ea typeface="Calibri" pitchFamily="34" charset="-122"/>
                <a:cs typeface="Calibri" pitchFamily="34" charset="-120"/>
              </a:rPr>
              <a:t>Low / Medium / High labels capture nuance absent in binary or categorical systems, directly aligned with educational theory.</a:t>
            </a:r>
            <a:endParaRPr lang="en-US" sz="1133" dirty="0">
              <a:solidFill>
                <a:prstClr val="black"/>
              </a:solidFill>
              <a:latin typeface="Calibri" panose="020F0502020204030204"/>
            </a:endParaRPr>
          </a:p>
        </p:txBody>
      </p:sp>
      <p:sp>
        <p:nvSpPr>
          <p:cNvPr id="14" name="Shape 12"/>
          <p:cNvSpPr/>
          <p:nvPr/>
        </p:nvSpPr>
        <p:spPr>
          <a:xfrm>
            <a:off x="548640" y="3572256"/>
            <a:ext cx="73152" cy="585216"/>
          </a:xfrm>
          <a:prstGeom prst="rect">
            <a:avLst/>
          </a:prstGeom>
          <a:solidFill>
            <a:srgbClr val="1A7A4A"/>
          </a:solidFill>
          <a:ln w="12700">
            <a:solidFill>
              <a:srgbClr val="1A7A4A"/>
            </a:solidFill>
            <a:prstDash val="solid"/>
          </a:ln>
        </p:spPr>
      </p:sp>
      <p:sp>
        <p:nvSpPr>
          <p:cNvPr id="15" name="Text 13"/>
          <p:cNvSpPr/>
          <p:nvPr/>
        </p:nvSpPr>
        <p:spPr>
          <a:xfrm>
            <a:off x="707136" y="3572256"/>
            <a:ext cx="5181600" cy="585216"/>
          </a:xfrm>
          <a:prstGeom prst="rect">
            <a:avLst/>
          </a:prstGeom>
          <a:noFill/>
          <a:ln/>
        </p:spPr>
        <p:txBody>
          <a:bodyPr wrap="square" rtlCol="0" anchor="t"/>
          <a:lstStyle/>
          <a:p>
            <a:pPr defTabSz="1219170"/>
            <a:r>
              <a:rPr lang="en-US" sz="1133" b="1" dirty="0">
                <a:solidFill>
                  <a:srgbClr val="0D1F35"/>
                </a:solidFill>
                <a:latin typeface="Calibri" pitchFamily="34" charset="0"/>
                <a:ea typeface="Calibri" pitchFamily="34" charset="-122"/>
                <a:cs typeface="Calibri" pitchFamily="34" charset="-120"/>
              </a:rPr>
              <a:t>Pedagogically Validated
</a:t>
            </a:r>
            <a:r>
              <a:rPr lang="en-US" sz="1000" dirty="0">
                <a:solidFill>
                  <a:srgbClr val="2C3E50"/>
                </a:solidFill>
                <a:latin typeface="Calibri" pitchFamily="34" charset="0"/>
                <a:ea typeface="Calibri" pitchFamily="34" charset="-122"/>
                <a:cs typeface="Calibri" pitchFamily="34" charset="-120"/>
              </a:rPr>
              <a:t>Jointly validated by computer vision researchers and pedagogy experts — ensuring labels reflect genuine educational constructs.</a:t>
            </a:r>
            <a:endParaRPr lang="en-US" sz="1133" dirty="0">
              <a:solidFill>
                <a:prstClr val="black"/>
              </a:solidFill>
              <a:latin typeface="Calibri" panose="020F0502020204030204"/>
            </a:endParaRPr>
          </a:p>
        </p:txBody>
      </p:sp>
      <p:sp>
        <p:nvSpPr>
          <p:cNvPr id="16" name="Shape 14"/>
          <p:cNvSpPr/>
          <p:nvPr/>
        </p:nvSpPr>
        <p:spPr>
          <a:xfrm>
            <a:off x="548640" y="4230624"/>
            <a:ext cx="73152" cy="585216"/>
          </a:xfrm>
          <a:prstGeom prst="rect">
            <a:avLst/>
          </a:prstGeom>
          <a:solidFill>
            <a:srgbClr val="1A7A4A"/>
          </a:solidFill>
          <a:ln w="12700">
            <a:solidFill>
              <a:srgbClr val="1A7A4A"/>
            </a:solidFill>
            <a:prstDash val="solid"/>
          </a:ln>
        </p:spPr>
      </p:sp>
      <p:sp>
        <p:nvSpPr>
          <p:cNvPr id="17" name="Text 15"/>
          <p:cNvSpPr/>
          <p:nvPr/>
        </p:nvSpPr>
        <p:spPr>
          <a:xfrm>
            <a:off x="707136" y="4230624"/>
            <a:ext cx="5181600" cy="585216"/>
          </a:xfrm>
          <a:prstGeom prst="rect">
            <a:avLst/>
          </a:prstGeom>
          <a:noFill/>
          <a:ln/>
        </p:spPr>
        <p:txBody>
          <a:bodyPr wrap="square" rtlCol="0" anchor="t"/>
          <a:lstStyle/>
          <a:p>
            <a:pPr defTabSz="1219170"/>
            <a:r>
              <a:rPr lang="en-US" sz="1133" b="1" dirty="0">
                <a:solidFill>
                  <a:srgbClr val="0D1F35"/>
                </a:solidFill>
                <a:latin typeface="Calibri" pitchFamily="34" charset="0"/>
                <a:ea typeface="Calibri" pitchFamily="34" charset="-122"/>
                <a:cs typeface="Calibri" pitchFamily="34" charset="-120"/>
              </a:rPr>
              <a:t>Privacy-Friendly Visual Setup
</a:t>
            </a:r>
            <a:r>
              <a:rPr lang="en-US" sz="1000" dirty="0">
                <a:solidFill>
                  <a:srgbClr val="2C3E50"/>
                </a:solidFill>
                <a:latin typeface="Calibri" pitchFamily="34" charset="0"/>
                <a:ea typeface="Calibri" pitchFamily="34" charset="-122"/>
                <a:cs typeface="Calibri" pitchFamily="34" charset="-120"/>
              </a:rPr>
              <a:t>RGB-only (no audio recording) simplifies ethical approval and aligns with school privacy policies.</a:t>
            </a:r>
            <a:endParaRPr lang="en-US" sz="1133" dirty="0">
              <a:solidFill>
                <a:prstClr val="black"/>
              </a:solidFill>
              <a:latin typeface="Calibri" panose="020F0502020204030204"/>
            </a:endParaRPr>
          </a:p>
        </p:txBody>
      </p:sp>
      <p:sp>
        <p:nvSpPr>
          <p:cNvPr id="18" name="Shape 16"/>
          <p:cNvSpPr/>
          <p:nvPr/>
        </p:nvSpPr>
        <p:spPr>
          <a:xfrm>
            <a:off x="548640" y="4888992"/>
            <a:ext cx="73152" cy="585216"/>
          </a:xfrm>
          <a:prstGeom prst="rect">
            <a:avLst/>
          </a:prstGeom>
          <a:solidFill>
            <a:srgbClr val="1A7A4A"/>
          </a:solidFill>
          <a:ln w="12700">
            <a:solidFill>
              <a:srgbClr val="1A7A4A"/>
            </a:solidFill>
            <a:prstDash val="solid"/>
          </a:ln>
        </p:spPr>
      </p:sp>
      <p:sp>
        <p:nvSpPr>
          <p:cNvPr id="19" name="Text 17"/>
          <p:cNvSpPr/>
          <p:nvPr/>
        </p:nvSpPr>
        <p:spPr>
          <a:xfrm>
            <a:off x="707136" y="4888992"/>
            <a:ext cx="5181600" cy="585216"/>
          </a:xfrm>
          <a:prstGeom prst="rect">
            <a:avLst/>
          </a:prstGeom>
          <a:noFill/>
          <a:ln/>
        </p:spPr>
        <p:txBody>
          <a:bodyPr wrap="square" rtlCol="0" anchor="t"/>
          <a:lstStyle/>
          <a:p>
            <a:pPr defTabSz="1219170"/>
            <a:r>
              <a:rPr lang="en-US" sz="1133" b="1" dirty="0">
                <a:solidFill>
                  <a:srgbClr val="0D1F35"/>
                </a:solidFill>
                <a:latin typeface="Calibri" pitchFamily="34" charset="0"/>
                <a:ea typeface="Calibri" pitchFamily="34" charset="-122"/>
                <a:cs typeface="Calibri" pitchFamily="34" charset="-120"/>
              </a:rPr>
              <a:t>Longer Clip Duration
</a:t>
            </a:r>
            <a:r>
              <a:rPr lang="en-US" sz="1000" dirty="0">
                <a:solidFill>
                  <a:srgbClr val="2C3E50"/>
                </a:solidFill>
                <a:latin typeface="Calibri" pitchFamily="34" charset="0"/>
                <a:ea typeface="Calibri" pitchFamily="34" charset="-122"/>
                <a:cs typeface="Calibri" pitchFamily="34" charset="-120"/>
              </a:rPr>
              <a:t>~10-second clips vs 5-second (GAViD) provide richer temporal context for modelling sustained engagement transitions.</a:t>
            </a:r>
            <a:endParaRPr lang="en-US" sz="1133" dirty="0">
              <a:solidFill>
                <a:prstClr val="black"/>
              </a:solidFill>
              <a:latin typeface="Calibri" panose="020F0502020204030204"/>
            </a:endParaRPr>
          </a:p>
        </p:txBody>
      </p:sp>
      <p:sp>
        <p:nvSpPr>
          <p:cNvPr id="20" name="Shape 18"/>
          <p:cNvSpPr/>
          <p:nvPr/>
        </p:nvSpPr>
        <p:spPr>
          <a:xfrm>
            <a:off x="548640" y="5547360"/>
            <a:ext cx="73152" cy="585216"/>
          </a:xfrm>
          <a:prstGeom prst="rect">
            <a:avLst/>
          </a:prstGeom>
          <a:solidFill>
            <a:srgbClr val="1A7A4A"/>
          </a:solidFill>
          <a:ln w="12700">
            <a:solidFill>
              <a:srgbClr val="1A7A4A"/>
            </a:solidFill>
            <a:prstDash val="solid"/>
          </a:ln>
        </p:spPr>
      </p:sp>
      <p:sp>
        <p:nvSpPr>
          <p:cNvPr id="21" name="Text 19"/>
          <p:cNvSpPr/>
          <p:nvPr/>
        </p:nvSpPr>
        <p:spPr>
          <a:xfrm>
            <a:off x="707136" y="5547360"/>
            <a:ext cx="5181600" cy="585216"/>
          </a:xfrm>
          <a:prstGeom prst="rect">
            <a:avLst/>
          </a:prstGeom>
          <a:noFill/>
          <a:ln/>
        </p:spPr>
        <p:txBody>
          <a:bodyPr wrap="square" rtlCol="0" anchor="t"/>
          <a:lstStyle/>
          <a:p>
            <a:pPr defTabSz="1219170"/>
            <a:r>
              <a:rPr lang="en-US" sz="1133" b="1" dirty="0">
                <a:solidFill>
                  <a:srgbClr val="0D1F35"/>
                </a:solidFill>
                <a:latin typeface="Calibri" pitchFamily="34" charset="0"/>
                <a:ea typeface="Calibri" pitchFamily="34" charset="-122"/>
                <a:cs typeface="Calibri" pitchFamily="34" charset="-120"/>
              </a:rPr>
              <a:t>Open Access (OSF)
</a:t>
            </a:r>
            <a:r>
              <a:rPr lang="en-US" sz="1000" dirty="0">
                <a:solidFill>
                  <a:srgbClr val="2C3E50"/>
                </a:solidFill>
                <a:latin typeface="Calibri" pitchFamily="34" charset="0"/>
                <a:ea typeface="Calibri" pitchFamily="34" charset="-122"/>
                <a:cs typeface="Calibri" pitchFamily="34" charset="-120"/>
              </a:rPr>
              <a:t>Freely available with a clear academic licence — enabling reproducible benchmarking and community adoption.</a:t>
            </a:r>
            <a:endParaRPr lang="en-US" sz="1133" dirty="0">
              <a:solidFill>
                <a:prstClr val="black"/>
              </a:solidFill>
              <a:latin typeface="Calibri" panose="020F0502020204030204"/>
            </a:endParaRPr>
          </a:p>
        </p:txBody>
      </p:sp>
      <p:sp>
        <p:nvSpPr>
          <p:cNvPr id="22" name="Shape 20"/>
          <p:cNvSpPr/>
          <p:nvPr/>
        </p:nvSpPr>
        <p:spPr>
          <a:xfrm>
            <a:off x="6217920" y="2255520"/>
            <a:ext cx="73152" cy="682752"/>
          </a:xfrm>
          <a:prstGeom prst="rect">
            <a:avLst/>
          </a:prstGeom>
          <a:solidFill>
            <a:srgbClr val="B03030"/>
          </a:solidFill>
          <a:ln w="12700">
            <a:solidFill>
              <a:srgbClr val="B03030"/>
            </a:solidFill>
            <a:prstDash val="solid"/>
          </a:ln>
        </p:spPr>
      </p:sp>
      <p:sp>
        <p:nvSpPr>
          <p:cNvPr id="23" name="Text 21"/>
          <p:cNvSpPr/>
          <p:nvPr/>
        </p:nvSpPr>
        <p:spPr>
          <a:xfrm>
            <a:off x="6376416" y="2255520"/>
            <a:ext cx="5181600" cy="682752"/>
          </a:xfrm>
          <a:prstGeom prst="rect">
            <a:avLst/>
          </a:prstGeom>
          <a:noFill/>
          <a:ln/>
        </p:spPr>
        <p:txBody>
          <a:bodyPr wrap="square" rtlCol="0" anchor="t"/>
          <a:lstStyle/>
          <a:p>
            <a:pPr defTabSz="1219170"/>
            <a:r>
              <a:rPr lang="en-US" sz="1133" b="1" dirty="0">
                <a:solidFill>
                  <a:srgbClr val="0D1F35"/>
                </a:solidFill>
                <a:latin typeface="Calibri" pitchFamily="34" charset="0"/>
                <a:ea typeface="Calibri" pitchFamily="34" charset="-122"/>
                <a:cs typeface="Calibri" pitchFamily="34" charset="-120"/>
              </a:rPr>
              <a:t>Small Participant Diversity
</a:t>
            </a:r>
            <a:r>
              <a:rPr lang="en-US" sz="1000" dirty="0">
                <a:solidFill>
                  <a:srgbClr val="2C3E50"/>
                </a:solidFill>
                <a:latin typeface="Calibri" pitchFamily="34" charset="0"/>
                <a:ea typeface="Calibri" pitchFamily="34" charset="-122"/>
                <a:cs typeface="Calibri" pitchFamily="34" charset="-120"/>
              </a:rPr>
              <a:t>Only 17 students (16 female, 1 male) — limited demographic and cultural diversity may bias model generalisability.</a:t>
            </a:r>
            <a:endParaRPr lang="en-US" sz="1133" dirty="0">
              <a:solidFill>
                <a:prstClr val="black"/>
              </a:solidFill>
              <a:latin typeface="Calibri" panose="020F0502020204030204"/>
            </a:endParaRPr>
          </a:p>
        </p:txBody>
      </p:sp>
      <p:sp>
        <p:nvSpPr>
          <p:cNvPr id="24" name="Shape 22"/>
          <p:cNvSpPr/>
          <p:nvPr/>
        </p:nvSpPr>
        <p:spPr>
          <a:xfrm>
            <a:off x="6217920" y="3035808"/>
            <a:ext cx="73152" cy="682752"/>
          </a:xfrm>
          <a:prstGeom prst="rect">
            <a:avLst/>
          </a:prstGeom>
          <a:solidFill>
            <a:srgbClr val="B03030"/>
          </a:solidFill>
          <a:ln w="12700">
            <a:solidFill>
              <a:srgbClr val="B03030"/>
            </a:solidFill>
            <a:prstDash val="solid"/>
          </a:ln>
        </p:spPr>
      </p:sp>
      <p:sp>
        <p:nvSpPr>
          <p:cNvPr id="25" name="Text 23"/>
          <p:cNvSpPr/>
          <p:nvPr/>
        </p:nvSpPr>
        <p:spPr>
          <a:xfrm>
            <a:off x="6376416" y="3035808"/>
            <a:ext cx="5181600" cy="682752"/>
          </a:xfrm>
          <a:prstGeom prst="rect">
            <a:avLst/>
          </a:prstGeom>
          <a:noFill/>
          <a:ln/>
        </p:spPr>
        <p:txBody>
          <a:bodyPr wrap="square" rtlCol="0" anchor="t"/>
          <a:lstStyle/>
          <a:p>
            <a:pPr defTabSz="1219170"/>
            <a:r>
              <a:rPr lang="en-US" sz="1133" b="1" dirty="0">
                <a:solidFill>
                  <a:srgbClr val="0D1F35"/>
                </a:solidFill>
                <a:latin typeface="Calibri" pitchFamily="34" charset="0"/>
                <a:ea typeface="Calibri" pitchFamily="34" charset="-122"/>
                <a:cs typeface="Calibri" pitchFamily="34" charset="-120"/>
              </a:rPr>
              <a:t>No Audio Modality
</a:t>
            </a:r>
            <a:r>
              <a:rPr lang="en-US" sz="1000" dirty="0">
                <a:solidFill>
                  <a:srgbClr val="2C3E50"/>
                </a:solidFill>
                <a:latin typeface="Calibri" pitchFamily="34" charset="0"/>
                <a:ea typeface="Calibri" pitchFamily="34" charset="-122"/>
                <a:cs typeface="Calibri" pitchFamily="34" charset="-120"/>
              </a:rPr>
              <a:t>Acoustic cues (peer discussion, teacher cadence) are absent, constraining multimodal fusion research without augmentation.</a:t>
            </a:r>
            <a:endParaRPr lang="en-US" sz="1133" dirty="0">
              <a:solidFill>
                <a:prstClr val="black"/>
              </a:solidFill>
              <a:latin typeface="Calibri" panose="020F0502020204030204"/>
            </a:endParaRPr>
          </a:p>
        </p:txBody>
      </p:sp>
      <p:sp>
        <p:nvSpPr>
          <p:cNvPr id="26" name="Shape 24"/>
          <p:cNvSpPr/>
          <p:nvPr/>
        </p:nvSpPr>
        <p:spPr>
          <a:xfrm>
            <a:off x="6217920" y="3816096"/>
            <a:ext cx="73152" cy="682752"/>
          </a:xfrm>
          <a:prstGeom prst="rect">
            <a:avLst/>
          </a:prstGeom>
          <a:solidFill>
            <a:srgbClr val="B03030"/>
          </a:solidFill>
          <a:ln w="12700">
            <a:solidFill>
              <a:srgbClr val="B03030"/>
            </a:solidFill>
            <a:prstDash val="solid"/>
          </a:ln>
        </p:spPr>
      </p:sp>
      <p:sp>
        <p:nvSpPr>
          <p:cNvPr id="27" name="Text 25"/>
          <p:cNvSpPr/>
          <p:nvPr/>
        </p:nvSpPr>
        <p:spPr>
          <a:xfrm>
            <a:off x="6376416" y="3816096"/>
            <a:ext cx="5181600" cy="682752"/>
          </a:xfrm>
          <a:prstGeom prst="rect">
            <a:avLst/>
          </a:prstGeom>
          <a:noFill/>
          <a:ln/>
        </p:spPr>
        <p:txBody>
          <a:bodyPr wrap="square" rtlCol="0" anchor="t"/>
          <a:lstStyle/>
          <a:p>
            <a:pPr defTabSz="1219170"/>
            <a:r>
              <a:rPr lang="en-US" sz="1133" b="1" dirty="0">
                <a:solidFill>
                  <a:srgbClr val="0D1F35"/>
                </a:solidFill>
                <a:latin typeface="Calibri" pitchFamily="34" charset="0"/>
                <a:ea typeface="Calibri" pitchFamily="34" charset="-122"/>
                <a:cs typeface="Calibri" pitchFamily="34" charset="-120"/>
              </a:rPr>
              <a:t>Group-Level Labels Only
</a:t>
            </a:r>
            <a:r>
              <a:rPr lang="en-US" sz="1000" dirty="0">
                <a:solidFill>
                  <a:srgbClr val="2C3E50"/>
                </a:solidFill>
                <a:latin typeface="Calibri" pitchFamily="34" charset="0"/>
                <a:ea typeface="Calibri" pitchFamily="34" charset="-122"/>
                <a:cs typeface="Calibri" pitchFamily="34" charset="-120"/>
              </a:rPr>
              <a:t>No individual student engagement labels — cannot directly train per-student models without additional annotation effort.</a:t>
            </a:r>
            <a:endParaRPr lang="en-US" sz="1133" dirty="0">
              <a:solidFill>
                <a:prstClr val="black"/>
              </a:solidFill>
              <a:latin typeface="Calibri" panose="020F0502020204030204"/>
            </a:endParaRPr>
          </a:p>
        </p:txBody>
      </p:sp>
      <p:sp>
        <p:nvSpPr>
          <p:cNvPr id="28" name="Shape 26"/>
          <p:cNvSpPr/>
          <p:nvPr/>
        </p:nvSpPr>
        <p:spPr>
          <a:xfrm>
            <a:off x="6217920" y="4596384"/>
            <a:ext cx="73152" cy="682752"/>
          </a:xfrm>
          <a:prstGeom prst="rect">
            <a:avLst/>
          </a:prstGeom>
          <a:solidFill>
            <a:srgbClr val="B03030"/>
          </a:solidFill>
          <a:ln w="12700">
            <a:solidFill>
              <a:srgbClr val="B03030"/>
            </a:solidFill>
            <a:prstDash val="solid"/>
          </a:ln>
        </p:spPr>
      </p:sp>
      <p:sp>
        <p:nvSpPr>
          <p:cNvPr id="29" name="Text 27"/>
          <p:cNvSpPr/>
          <p:nvPr/>
        </p:nvSpPr>
        <p:spPr>
          <a:xfrm>
            <a:off x="6376416" y="4596384"/>
            <a:ext cx="5181600" cy="682752"/>
          </a:xfrm>
          <a:prstGeom prst="rect">
            <a:avLst/>
          </a:prstGeom>
          <a:noFill/>
          <a:ln/>
        </p:spPr>
        <p:txBody>
          <a:bodyPr wrap="square" rtlCol="0" anchor="t"/>
          <a:lstStyle/>
          <a:p>
            <a:pPr defTabSz="1219170"/>
            <a:r>
              <a:rPr lang="en-US" sz="1133" b="1" dirty="0">
                <a:solidFill>
                  <a:srgbClr val="0D1F35"/>
                </a:solidFill>
                <a:latin typeface="Calibri" pitchFamily="34" charset="0"/>
                <a:ea typeface="Calibri" pitchFamily="34" charset="-122"/>
                <a:cs typeface="Calibri" pitchFamily="34" charset="-120"/>
              </a:rPr>
              <a:t>No Discrete Emotion Labels
</a:t>
            </a:r>
            <a:r>
              <a:rPr lang="en-US" sz="1000" dirty="0">
                <a:solidFill>
                  <a:srgbClr val="2C3E50"/>
                </a:solidFill>
                <a:latin typeface="Calibri" pitchFamily="34" charset="0"/>
                <a:ea typeface="Calibri" pitchFamily="34" charset="-122"/>
                <a:cs typeface="Calibri" pitchFamily="34" charset="-120"/>
              </a:rPr>
              <a:t>Does not capture discrete emotional states (happy, frustrated, bored) that may correlate with engagement levels.</a:t>
            </a:r>
            <a:endParaRPr lang="en-US" sz="1133" dirty="0">
              <a:solidFill>
                <a:prstClr val="black"/>
              </a:solidFill>
              <a:latin typeface="Calibri" panose="020F0502020204030204"/>
            </a:endParaRPr>
          </a:p>
        </p:txBody>
      </p:sp>
      <p:sp>
        <p:nvSpPr>
          <p:cNvPr id="30" name="Text 28"/>
          <p:cNvSpPr/>
          <p:nvPr/>
        </p:nvSpPr>
        <p:spPr>
          <a:xfrm>
            <a:off x="548640" y="6498336"/>
            <a:ext cx="11094720" cy="304800"/>
          </a:xfrm>
          <a:prstGeom prst="rect">
            <a:avLst/>
          </a:prstGeom>
          <a:noFill/>
          <a:ln/>
        </p:spPr>
        <p:txBody>
          <a:bodyPr wrap="square" rtlCol="0" anchor="ctr"/>
          <a:lstStyle/>
          <a:p>
            <a:pPr defTabSz="1219170"/>
            <a:r>
              <a:rPr lang="en-US" sz="1133" i="1" dirty="0">
                <a:solidFill>
                  <a:srgbClr val="2E86AB"/>
                </a:solidFill>
                <a:latin typeface="Calibri" pitchFamily="34" charset="0"/>
                <a:ea typeface="Calibri" pitchFamily="34" charset="-122"/>
                <a:cs typeface="Calibri" pitchFamily="34" charset="-120"/>
              </a:rPr>
              <a:t>Despite its limitations, OUC-CGE remains the gold standard for classroom group engagement recognition — and its gaps define the research agenda.</a:t>
            </a:r>
            <a:endParaRPr lang="en-US" sz="1133" dirty="0">
              <a:solidFill>
                <a:prstClr val="black"/>
              </a:solidFill>
              <a:latin typeface="Calibri" panose="020F0502020204030204"/>
            </a:endParaRPr>
          </a:p>
        </p:txBody>
      </p:sp>
    </p:spTree>
    <p:extLst>
      <p:ext uri="{BB962C8B-B14F-4D97-AF65-F5344CB8AC3E}">
        <p14:creationId xmlns:p14="http://schemas.microsoft.com/office/powerpoint/2010/main" val="1054507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F4A811"/>
          </a:solidFill>
          <a:ln w="12700">
            <a:solidFill>
              <a:srgbClr val="F4A811"/>
            </a:solidFill>
            <a:prstDash val="solid"/>
          </a:ln>
        </p:spPr>
      </p:sp>
      <p:sp>
        <p:nvSpPr>
          <p:cNvPr id="3" name="Text 1"/>
          <p:cNvSpPr/>
          <p:nvPr/>
        </p:nvSpPr>
        <p:spPr>
          <a:xfrm>
            <a:off x="502920" y="274320"/>
            <a:ext cx="11338560"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4" name="Text 2"/>
          <p:cNvSpPr/>
          <p:nvPr/>
        </p:nvSpPr>
        <p:spPr>
          <a:xfrm>
            <a:off x="502920" y="896112"/>
            <a:ext cx="11338560" cy="365760"/>
          </a:xfrm>
          <a:prstGeom prst="rect">
            <a:avLst/>
          </a:prstGeom>
          <a:noFill/>
          <a:ln/>
        </p:spPr>
        <p:txBody>
          <a:bodyPr wrap="square" rtlCol="0" anchor="ctr"/>
          <a:lstStyle/>
          <a:p>
            <a:pPr marL="0" indent="0">
              <a:buNone/>
            </a:pPr>
            <a:r>
              <a:rPr lang="en-US" sz="1500" i="1" dirty="0">
                <a:solidFill>
                  <a:srgbClr val="2B9FD9"/>
                </a:solidFill>
                <a:latin typeface="Cambria" pitchFamily="34" charset="0"/>
                <a:ea typeface="Cambria" pitchFamily="34" charset="-122"/>
                <a:cs typeface="Cambria" pitchFamily="34" charset="-120"/>
              </a:rPr>
              <a:t>Why OUC-CGE and This Research Direction Are Valuable</a:t>
            </a:r>
            <a:endParaRPr lang="en-US" sz="1500" dirty="0"/>
          </a:p>
        </p:txBody>
      </p:sp>
      <p:sp>
        <p:nvSpPr>
          <p:cNvPr id="5" name="Shape 3"/>
          <p:cNvSpPr/>
          <p:nvPr/>
        </p:nvSpPr>
        <p:spPr>
          <a:xfrm>
            <a:off x="502920" y="1335024"/>
            <a:ext cx="11247120" cy="0"/>
          </a:xfrm>
          <a:prstGeom prst="line">
            <a:avLst/>
          </a:prstGeom>
          <a:noFill/>
          <a:ln w="12700">
            <a:solidFill>
              <a:srgbClr val="1B6CA8"/>
            </a:solidFill>
            <a:prstDash val="solid"/>
          </a:ln>
        </p:spPr>
      </p:sp>
      <p:sp>
        <p:nvSpPr>
          <p:cNvPr id="6" name="Shape 4"/>
          <p:cNvSpPr/>
          <p:nvPr/>
        </p:nvSpPr>
        <p:spPr>
          <a:xfrm>
            <a:off x="502920" y="1481328"/>
            <a:ext cx="5486400" cy="1417320"/>
          </a:xfrm>
          <a:prstGeom prst="rect">
            <a:avLst/>
          </a:prstGeom>
          <a:solidFill>
            <a:srgbClr val="0F2840"/>
          </a:solidFill>
          <a:ln w="7620">
            <a:solidFill>
              <a:srgbClr val="333333"/>
            </a:solidFill>
            <a:prstDash val="solid"/>
          </a:ln>
        </p:spPr>
      </p:sp>
      <p:sp>
        <p:nvSpPr>
          <p:cNvPr id="7" name="Shape 5"/>
          <p:cNvSpPr/>
          <p:nvPr/>
        </p:nvSpPr>
        <p:spPr>
          <a:xfrm>
            <a:off x="502920" y="1481328"/>
            <a:ext cx="457200" cy="1417320"/>
          </a:xfrm>
          <a:prstGeom prst="rect">
            <a:avLst/>
          </a:prstGeom>
          <a:solidFill>
            <a:srgbClr val="1B6CA8"/>
          </a:solidFill>
          <a:ln w="12700">
            <a:solidFill>
              <a:srgbClr val="1B6CA8"/>
            </a:solidFill>
            <a:prstDash val="solid"/>
          </a:ln>
        </p:spPr>
      </p:sp>
      <p:sp>
        <p:nvSpPr>
          <p:cNvPr id="8" name="Text 6"/>
          <p:cNvSpPr/>
          <p:nvPr/>
        </p:nvSpPr>
        <p:spPr>
          <a:xfrm>
            <a:off x="502920" y="1481328"/>
            <a:ext cx="457200" cy="1417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01</a:t>
            </a:r>
            <a:endParaRPr lang="en-US" sz="1200" dirty="0"/>
          </a:p>
        </p:txBody>
      </p:sp>
      <p:sp>
        <p:nvSpPr>
          <p:cNvPr id="9" name="Text 7"/>
          <p:cNvSpPr/>
          <p:nvPr/>
        </p:nvSpPr>
        <p:spPr>
          <a:xfrm>
            <a:off x="1051560" y="1554480"/>
            <a:ext cx="4846320" cy="292608"/>
          </a:xfrm>
          <a:prstGeom prst="rect">
            <a:avLst/>
          </a:prstGeom>
          <a:noFill/>
          <a:ln/>
        </p:spPr>
        <p:txBody>
          <a:bodyPr wrap="square" rtlCol="0" anchor="ctr"/>
          <a:lstStyle/>
          <a:p>
            <a:pPr marL="0" indent="0">
              <a:buNone/>
            </a:pPr>
            <a:r>
              <a:rPr lang="en-US" sz="1150" b="1" dirty="0">
                <a:solidFill>
                  <a:srgbClr val="F4A811"/>
                </a:solidFill>
                <a:latin typeface="Cambria" pitchFamily="34" charset="0"/>
                <a:ea typeface="Cambria" pitchFamily="34" charset="-122"/>
                <a:cs typeface="Cambria" pitchFamily="34" charset="-120"/>
              </a:rPr>
              <a:t>First Authentic Group Engagement Dataset</a:t>
            </a:r>
            <a:endParaRPr lang="en-US" sz="1150" dirty="0"/>
          </a:p>
        </p:txBody>
      </p:sp>
      <p:sp>
        <p:nvSpPr>
          <p:cNvPr id="10" name="Text 8"/>
          <p:cNvSpPr/>
          <p:nvPr/>
        </p:nvSpPr>
        <p:spPr>
          <a:xfrm>
            <a:off x="1051560" y="1874520"/>
            <a:ext cx="4846320" cy="914400"/>
          </a:xfrm>
          <a:prstGeom prst="rect">
            <a:avLst/>
          </a:prstGeom>
          <a:noFill/>
          <a:ln/>
        </p:spPr>
        <p:txBody>
          <a:bodyPr wrap="square" rtlCol="0" anchor="ctr"/>
          <a:lstStyle/>
          <a:p>
            <a:pPr marL="0" indent="0">
              <a:buNone/>
            </a:pPr>
            <a:r>
              <a:rPr lang="en-US" sz="1000" dirty="0">
                <a:solidFill>
                  <a:srgbClr val="D8E8F8"/>
                </a:solidFill>
                <a:latin typeface="Calibri" pitchFamily="34" charset="0"/>
                <a:ea typeface="Calibri" pitchFamily="34" charset="-122"/>
                <a:cs typeface="Calibri" pitchFamily="34" charset="-120"/>
              </a:rPr>
              <a:t>OUC-CGE is the only publicly available dataset capturing real multi-student classroom dynamics. It establishes the research infrastructure for socially-embedded engagement AI.</a:t>
            </a:r>
            <a:endParaRPr lang="en-US" sz="1000" dirty="0"/>
          </a:p>
        </p:txBody>
      </p:sp>
      <p:sp>
        <p:nvSpPr>
          <p:cNvPr id="11" name="Shape 9"/>
          <p:cNvSpPr/>
          <p:nvPr/>
        </p:nvSpPr>
        <p:spPr>
          <a:xfrm>
            <a:off x="502920" y="3054096"/>
            <a:ext cx="5486400" cy="1417320"/>
          </a:xfrm>
          <a:prstGeom prst="rect">
            <a:avLst/>
          </a:prstGeom>
          <a:solidFill>
            <a:srgbClr val="0F2840"/>
          </a:solidFill>
          <a:ln w="7620">
            <a:solidFill>
              <a:srgbClr val="333333"/>
            </a:solidFill>
            <a:prstDash val="solid"/>
          </a:ln>
        </p:spPr>
      </p:sp>
      <p:sp>
        <p:nvSpPr>
          <p:cNvPr id="12" name="Shape 10"/>
          <p:cNvSpPr/>
          <p:nvPr/>
        </p:nvSpPr>
        <p:spPr>
          <a:xfrm>
            <a:off x="502920" y="3054096"/>
            <a:ext cx="457200" cy="1417320"/>
          </a:xfrm>
          <a:prstGeom prst="rect">
            <a:avLst/>
          </a:prstGeom>
          <a:solidFill>
            <a:srgbClr val="1B6CA8"/>
          </a:solidFill>
          <a:ln w="12700">
            <a:solidFill>
              <a:srgbClr val="1B6CA8"/>
            </a:solidFill>
            <a:prstDash val="solid"/>
          </a:ln>
        </p:spPr>
      </p:sp>
      <p:sp>
        <p:nvSpPr>
          <p:cNvPr id="13" name="Text 11"/>
          <p:cNvSpPr/>
          <p:nvPr/>
        </p:nvSpPr>
        <p:spPr>
          <a:xfrm>
            <a:off x="502920" y="3054096"/>
            <a:ext cx="457200" cy="1417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02</a:t>
            </a:r>
            <a:endParaRPr lang="en-US" sz="1200" dirty="0"/>
          </a:p>
        </p:txBody>
      </p:sp>
      <p:sp>
        <p:nvSpPr>
          <p:cNvPr id="14" name="Text 12"/>
          <p:cNvSpPr/>
          <p:nvPr/>
        </p:nvSpPr>
        <p:spPr>
          <a:xfrm>
            <a:off x="1051560" y="3127248"/>
            <a:ext cx="4846320" cy="292608"/>
          </a:xfrm>
          <a:prstGeom prst="rect">
            <a:avLst/>
          </a:prstGeom>
          <a:noFill/>
          <a:ln/>
        </p:spPr>
        <p:txBody>
          <a:bodyPr wrap="square" rtlCol="0" anchor="ctr"/>
          <a:lstStyle/>
          <a:p>
            <a:pPr marL="0" indent="0">
              <a:buNone/>
            </a:pPr>
            <a:r>
              <a:rPr lang="en-US" sz="1150" b="1" dirty="0">
                <a:solidFill>
                  <a:srgbClr val="F4A811"/>
                </a:solidFill>
                <a:latin typeface="Cambria" pitchFamily="34" charset="0"/>
                <a:ea typeface="Cambria" pitchFamily="34" charset="-122"/>
                <a:cs typeface="Cambria" pitchFamily="34" charset="-120"/>
              </a:rPr>
              <a:t>Strong, Reproducible Baselines</a:t>
            </a:r>
            <a:endParaRPr lang="en-US" sz="1150" dirty="0"/>
          </a:p>
        </p:txBody>
      </p:sp>
      <p:sp>
        <p:nvSpPr>
          <p:cNvPr id="15" name="Text 13"/>
          <p:cNvSpPr/>
          <p:nvPr/>
        </p:nvSpPr>
        <p:spPr>
          <a:xfrm>
            <a:off x="1051560" y="3447288"/>
            <a:ext cx="4846320" cy="914400"/>
          </a:xfrm>
          <a:prstGeom prst="rect">
            <a:avLst/>
          </a:prstGeom>
          <a:noFill/>
          <a:ln/>
        </p:spPr>
        <p:txBody>
          <a:bodyPr wrap="square" rtlCol="0" anchor="ctr"/>
          <a:lstStyle/>
          <a:p>
            <a:pPr marL="0" indent="0">
              <a:buNone/>
            </a:pPr>
            <a:r>
              <a:rPr lang="en-US" sz="1000" dirty="0">
                <a:solidFill>
                  <a:srgbClr val="D8E8F8"/>
                </a:solidFill>
                <a:latin typeface="Calibri" pitchFamily="34" charset="0"/>
                <a:ea typeface="Calibri" pitchFamily="34" charset="-122"/>
                <a:cs typeface="Calibri" pitchFamily="34" charset="-120"/>
              </a:rPr>
              <a:t>Established SlowFast (93.2%), I3D (94.3%), and EED/Video Swin (98.5%) baselines provide clear, quantifiable targets. The performance headroom justifies novel architectural proposals.</a:t>
            </a:r>
            <a:endParaRPr lang="en-US" sz="1000" dirty="0"/>
          </a:p>
        </p:txBody>
      </p:sp>
      <p:sp>
        <p:nvSpPr>
          <p:cNvPr id="16" name="Shape 14"/>
          <p:cNvSpPr/>
          <p:nvPr/>
        </p:nvSpPr>
        <p:spPr>
          <a:xfrm>
            <a:off x="502920" y="4626864"/>
            <a:ext cx="5486400" cy="1417320"/>
          </a:xfrm>
          <a:prstGeom prst="rect">
            <a:avLst/>
          </a:prstGeom>
          <a:solidFill>
            <a:srgbClr val="0F2840"/>
          </a:solidFill>
          <a:ln w="7620">
            <a:solidFill>
              <a:srgbClr val="333333"/>
            </a:solidFill>
            <a:prstDash val="solid"/>
          </a:ln>
        </p:spPr>
      </p:sp>
      <p:sp>
        <p:nvSpPr>
          <p:cNvPr id="17" name="Shape 15"/>
          <p:cNvSpPr/>
          <p:nvPr/>
        </p:nvSpPr>
        <p:spPr>
          <a:xfrm>
            <a:off x="502920" y="4626864"/>
            <a:ext cx="457200" cy="1417320"/>
          </a:xfrm>
          <a:prstGeom prst="rect">
            <a:avLst/>
          </a:prstGeom>
          <a:solidFill>
            <a:srgbClr val="1B6CA8"/>
          </a:solidFill>
          <a:ln w="12700">
            <a:solidFill>
              <a:srgbClr val="1B6CA8"/>
            </a:solidFill>
            <a:prstDash val="solid"/>
          </a:ln>
        </p:spPr>
      </p:sp>
      <p:sp>
        <p:nvSpPr>
          <p:cNvPr id="18" name="Text 16"/>
          <p:cNvSpPr/>
          <p:nvPr/>
        </p:nvSpPr>
        <p:spPr>
          <a:xfrm>
            <a:off x="502920" y="4626864"/>
            <a:ext cx="457200" cy="1417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03</a:t>
            </a:r>
            <a:endParaRPr lang="en-US" sz="1200" dirty="0"/>
          </a:p>
        </p:txBody>
      </p:sp>
      <p:sp>
        <p:nvSpPr>
          <p:cNvPr id="19" name="Text 17"/>
          <p:cNvSpPr/>
          <p:nvPr/>
        </p:nvSpPr>
        <p:spPr>
          <a:xfrm>
            <a:off x="1051560" y="4700016"/>
            <a:ext cx="4846320" cy="292608"/>
          </a:xfrm>
          <a:prstGeom prst="rect">
            <a:avLst/>
          </a:prstGeom>
          <a:noFill/>
          <a:ln/>
        </p:spPr>
        <p:txBody>
          <a:bodyPr wrap="square" rtlCol="0" anchor="ctr"/>
          <a:lstStyle/>
          <a:p>
            <a:pPr marL="0" indent="0">
              <a:buNone/>
            </a:pPr>
            <a:r>
              <a:rPr lang="en-US" sz="1150" b="1" dirty="0">
                <a:solidFill>
                  <a:srgbClr val="F4A811"/>
                </a:solidFill>
                <a:latin typeface="Cambria" pitchFamily="34" charset="0"/>
                <a:ea typeface="Cambria" pitchFamily="34" charset="-122"/>
                <a:cs typeface="Cambria" pitchFamily="34" charset="-120"/>
              </a:rPr>
              <a:t>Aligned with Field Trajectory</a:t>
            </a:r>
            <a:endParaRPr lang="en-US" sz="1150" dirty="0"/>
          </a:p>
        </p:txBody>
      </p:sp>
      <p:sp>
        <p:nvSpPr>
          <p:cNvPr id="20" name="Text 18"/>
          <p:cNvSpPr/>
          <p:nvPr/>
        </p:nvSpPr>
        <p:spPr>
          <a:xfrm>
            <a:off x="1051560" y="5020056"/>
            <a:ext cx="4846320" cy="914400"/>
          </a:xfrm>
          <a:prstGeom prst="rect">
            <a:avLst/>
          </a:prstGeom>
          <a:noFill/>
          <a:ln/>
        </p:spPr>
        <p:txBody>
          <a:bodyPr wrap="square" rtlCol="0" anchor="ctr"/>
          <a:lstStyle/>
          <a:p>
            <a:pPr marL="0" indent="0">
              <a:buNone/>
            </a:pPr>
            <a:r>
              <a:rPr lang="en-US" sz="1000" dirty="0">
                <a:solidFill>
                  <a:srgbClr val="D8E8F8"/>
                </a:solidFill>
                <a:latin typeface="Calibri" pitchFamily="34" charset="0"/>
                <a:ea typeface="Calibri" pitchFamily="34" charset="-122"/>
                <a:cs typeface="Calibri" pitchFamily="34" charset="-120"/>
              </a:rPr>
              <a:t>The literature unambiguously trends toward Vision Transformers, XAI, and multimodal fusion. OUC-CGE is the ideal substrate for all three — group complexity demands global attention, explainability, and audio-visual fusion.</a:t>
            </a:r>
            <a:endParaRPr lang="en-US" sz="1000" dirty="0"/>
          </a:p>
        </p:txBody>
      </p:sp>
      <p:sp>
        <p:nvSpPr>
          <p:cNvPr id="21" name="Shape 19"/>
          <p:cNvSpPr/>
          <p:nvPr/>
        </p:nvSpPr>
        <p:spPr>
          <a:xfrm>
            <a:off x="6446520" y="1481328"/>
            <a:ext cx="5486400" cy="1417320"/>
          </a:xfrm>
          <a:prstGeom prst="rect">
            <a:avLst/>
          </a:prstGeom>
          <a:solidFill>
            <a:srgbClr val="0F2840"/>
          </a:solidFill>
          <a:ln w="7620">
            <a:solidFill>
              <a:srgbClr val="333333"/>
            </a:solidFill>
            <a:prstDash val="solid"/>
          </a:ln>
        </p:spPr>
      </p:sp>
      <p:sp>
        <p:nvSpPr>
          <p:cNvPr id="22" name="Shape 20"/>
          <p:cNvSpPr/>
          <p:nvPr/>
        </p:nvSpPr>
        <p:spPr>
          <a:xfrm>
            <a:off x="6446520" y="1481328"/>
            <a:ext cx="457200" cy="1417320"/>
          </a:xfrm>
          <a:prstGeom prst="rect">
            <a:avLst/>
          </a:prstGeom>
          <a:solidFill>
            <a:srgbClr val="1B6CA8"/>
          </a:solidFill>
          <a:ln w="12700">
            <a:solidFill>
              <a:srgbClr val="1B6CA8"/>
            </a:solidFill>
            <a:prstDash val="solid"/>
          </a:ln>
        </p:spPr>
      </p:sp>
      <p:sp>
        <p:nvSpPr>
          <p:cNvPr id="23" name="Text 21"/>
          <p:cNvSpPr/>
          <p:nvPr/>
        </p:nvSpPr>
        <p:spPr>
          <a:xfrm>
            <a:off x="6446520" y="1481328"/>
            <a:ext cx="457200" cy="1417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04</a:t>
            </a:r>
            <a:endParaRPr lang="en-US" sz="1200" dirty="0"/>
          </a:p>
        </p:txBody>
      </p:sp>
      <p:sp>
        <p:nvSpPr>
          <p:cNvPr id="24" name="Text 22"/>
          <p:cNvSpPr/>
          <p:nvPr/>
        </p:nvSpPr>
        <p:spPr>
          <a:xfrm>
            <a:off x="6995160" y="1554480"/>
            <a:ext cx="4846320" cy="292608"/>
          </a:xfrm>
          <a:prstGeom prst="rect">
            <a:avLst/>
          </a:prstGeom>
          <a:noFill/>
          <a:ln/>
        </p:spPr>
        <p:txBody>
          <a:bodyPr wrap="square" rtlCol="0" anchor="ctr"/>
          <a:lstStyle/>
          <a:p>
            <a:pPr marL="0" indent="0">
              <a:buNone/>
            </a:pPr>
            <a:r>
              <a:rPr lang="en-US" sz="1150" b="1" dirty="0">
                <a:solidFill>
                  <a:srgbClr val="F4A811"/>
                </a:solidFill>
                <a:latin typeface="Cambria" pitchFamily="34" charset="0"/>
                <a:ea typeface="Cambria" pitchFamily="34" charset="-122"/>
                <a:cs typeface="Cambria" pitchFamily="34" charset="-120"/>
              </a:rPr>
              <a:t>Identified Gaps Create Clear Research Agenda</a:t>
            </a:r>
            <a:endParaRPr lang="en-US" sz="1150" dirty="0"/>
          </a:p>
        </p:txBody>
      </p:sp>
      <p:sp>
        <p:nvSpPr>
          <p:cNvPr id="25" name="Text 23"/>
          <p:cNvSpPr/>
          <p:nvPr/>
        </p:nvSpPr>
        <p:spPr>
          <a:xfrm>
            <a:off x="6995160" y="1874520"/>
            <a:ext cx="4846320" cy="914400"/>
          </a:xfrm>
          <a:prstGeom prst="rect">
            <a:avLst/>
          </a:prstGeom>
          <a:noFill/>
          <a:ln/>
        </p:spPr>
        <p:txBody>
          <a:bodyPr wrap="square" rtlCol="0" anchor="ctr"/>
          <a:lstStyle/>
          <a:p>
            <a:pPr marL="0" indent="0">
              <a:buNone/>
            </a:pPr>
            <a:r>
              <a:rPr lang="en-US" sz="1000" dirty="0">
                <a:solidFill>
                  <a:srgbClr val="D8E8F8"/>
                </a:solidFill>
                <a:latin typeface="Calibri" pitchFamily="34" charset="0"/>
                <a:ea typeface="Calibri" pitchFamily="34" charset="-122"/>
                <a:cs typeface="Calibri" pitchFamily="34" charset="-120"/>
              </a:rPr>
              <a:t>Six measurable research gaps (explainability, edge deployment, multimodal fusion, annotation cost, personalisation, group transfer) provide a structured PhD/MSc-level research programme.</a:t>
            </a:r>
            <a:endParaRPr lang="en-US" sz="1000" dirty="0"/>
          </a:p>
        </p:txBody>
      </p:sp>
      <p:sp>
        <p:nvSpPr>
          <p:cNvPr id="26" name="Shape 24"/>
          <p:cNvSpPr/>
          <p:nvPr/>
        </p:nvSpPr>
        <p:spPr>
          <a:xfrm>
            <a:off x="6446520" y="3054096"/>
            <a:ext cx="5486400" cy="1417320"/>
          </a:xfrm>
          <a:prstGeom prst="rect">
            <a:avLst/>
          </a:prstGeom>
          <a:solidFill>
            <a:srgbClr val="0F2840"/>
          </a:solidFill>
          <a:ln w="7620">
            <a:solidFill>
              <a:srgbClr val="333333"/>
            </a:solidFill>
            <a:prstDash val="solid"/>
          </a:ln>
        </p:spPr>
      </p:sp>
      <p:sp>
        <p:nvSpPr>
          <p:cNvPr id="27" name="Shape 25"/>
          <p:cNvSpPr/>
          <p:nvPr/>
        </p:nvSpPr>
        <p:spPr>
          <a:xfrm>
            <a:off x="6446520" y="3054096"/>
            <a:ext cx="457200" cy="1417320"/>
          </a:xfrm>
          <a:prstGeom prst="rect">
            <a:avLst/>
          </a:prstGeom>
          <a:solidFill>
            <a:srgbClr val="1B6CA8"/>
          </a:solidFill>
          <a:ln w="12700">
            <a:solidFill>
              <a:srgbClr val="1B6CA8"/>
            </a:solidFill>
            <a:prstDash val="solid"/>
          </a:ln>
        </p:spPr>
      </p:sp>
      <p:sp>
        <p:nvSpPr>
          <p:cNvPr id="28" name="Text 26"/>
          <p:cNvSpPr/>
          <p:nvPr/>
        </p:nvSpPr>
        <p:spPr>
          <a:xfrm>
            <a:off x="6446520" y="3054096"/>
            <a:ext cx="457200" cy="1417320"/>
          </a:xfrm>
          <a:prstGeom prst="rect">
            <a:avLst/>
          </a:prstGeom>
          <a:noFill/>
          <a:ln/>
        </p:spPr>
        <p:txBody>
          <a:bodyPr wrap="square" lIns="0" tIns="0" rIns="0" bIns="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05</a:t>
            </a:r>
            <a:endParaRPr lang="en-US" sz="1200" dirty="0"/>
          </a:p>
        </p:txBody>
      </p:sp>
      <p:sp>
        <p:nvSpPr>
          <p:cNvPr id="29" name="Text 27"/>
          <p:cNvSpPr/>
          <p:nvPr/>
        </p:nvSpPr>
        <p:spPr>
          <a:xfrm>
            <a:off x="6995160" y="3127248"/>
            <a:ext cx="4846320" cy="292608"/>
          </a:xfrm>
          <a:prstGeom prst="rect">
            <a:avLst/>
          </a:prstGeom>
          <a:noFill/>
          <a:ln/>
        </p:spPr>
        <p:txBody>
          <a:bodyPr wrap="square" rtlCol="0" anchor="ctr"/>
          <a:lstStyle/>
          <a:p>
            <a:pPr marL="0" indent="0">
              <a:buNone/>
            </a:pPr>
            <a:r>
              <a:rPr lang="en-US" sz="1150" b="1" dirty="0">
                <a:solidFill>
                  <a:srgbClr val="F4A811"/>
                </a:solidFill>
                <a:latin typeface="Cambria" pitchFamily="34" charset="0"/>
                <a:ea typeface="Cambria" pitchFamily="34" charset="-122"/>
                <a:cs typeface="Cambria" pitchFamily="34" charset="-120"/>
              </a:rPr>
              <a:t>Real-World Educational Impact</a:t>
            </a:r>
            <a:endParaRPr lang="en-US" sz="1150" dirty="0"/>
          </a:p>
        </p:txBody>
      </p:sp>
      <p:sp>
        <p:nvSpPr>
          <p:cNvPr id="30" name="Text 28"/>
          <p:cNvSpPr/>
          <p:nvPr/>
        </p:nvSpPr>
        <p:spPr>
          <a:xfrm>
            <a:off x="6995160" y="3447288"/>
            <a:ext cx="4846320" cy="914400"/>
          </a:xfrm>
          <a:prstGeom prst="rect">
            <a:avLst/>
          </a:prstGeom>
          <a:noFill/>
          <a:ln/>
        </p:spPr>
        <p:txBody>
          <a:bodyPr wrap="square" rtlCol="0" anchor="ctr"/>
          <a:lstStyle/>
          <a:p>
            <a:pPr marL="0" indent="0">
              <a:buNone/>
            </a:pPr>
            <a:r>
              <a:rPr lang="en-US" sz="1000" dirty="0">
                <a:solidFill>
                  <a:srgbClr val="D8E8F8"/>
                </a:solidFill>
                <a:latin typeface="Calibri" pitchFamily="34" charset="0"/>
                <a:ea typeface="Calibri" pitchFamily="34" charset="-122"/>
                <a:cs typeface="Calibri" pitchFamily="34" charset="-120"/>
              </a:rPr>
              <a:t>Automated, non-intrusive, explainable group engagement recognition enables scalable formative feedback, supporting teachers in large classrooms where manual observation is infeasible.</a:t>
            </a:r>
            <a:endParaRPr lang="en-US" sz="1000" dirty="0"/>
          </a:p>
        </p:txBody>
      </p:sp>
      <p:sp>
        <p:nvSpPr>
          <p:cNvPr id="31" name="Text 29"/>
          <p:cNvSpPr/>
          <p:nvPr/>
        </p:nvSpPr>
        <p:spPr>
          <a:xfrm>
            <a:off x="502920" y="6510528"/>
            <a:ext cx="11338560" cy="274320"/>
          </a:xfrm>
          <a:prstGeom prst="rect">
            <a:avLst/>
          </a:prstGeom>
          <a:noFill/>
          <a:ln/>
        </p:spPr>
        <p:txBody>
          <a:bodyPr wrap="square" rtlCol="0" anchor="ctr"/>
          <a:lstStyle/>
          <a:p>
            <a:pPr marL="0" indent="0">
              <a:buNone/>
            </a:pPr>
            <a:r>
              <a:rPr lang="en-US" sz="750" i="1" dirty="0">
                <a:solidFill>
                  <a:srgbClr val="7A8FA6"/>
                </a:solidFill>
                <a:latin typeface="Calibri" pitchFamily="34" charset="0"/>
                <a:ea typeface="Calibri" pitchFamily="34" charset="-122"/>
                <a:cs typeface="Calibri" pitchFamily="34" charset="-120"/>
              </a:rPr>
              <a:t>Lu et al. (2025) · Nie &amp; Wang (2026) · Mehta et al. (2022) · Zhang et al. (2024) · Zhao et al. (2025) · Das &amp; Dev (2025) · Sumer et al. (2023) · Xie et al. (2025) · Qin et al. (2025) · Hu et al. (2022)</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4666</Words>
  <Application>Microsoft Office PowerPoint</Application>
  <PresentationFormat>Widescreen</PresentationFormat>
  <Paragraphs>691</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Video-based Engagement Recognition and OUC-CGE Dataset Analysis</dc:title>
  <dc:subject>PptxGenJS Presentation</dc:subject>
  <dc:creator>Research Presentation</dc:creator>
  <cp:lastModifiedBy>Koppesh P</cp:lastModifiedBy>
  <cp:revision>2</cp:revision>
  <dcterms:created xsi:type="dcterms:W3CDTF">2026-06-04T05:09:11Z</dcterms:created>
  <dcterms:modified xsi:type="dcterms:W3CDTF">2026-06-05T04:15:50Z</dcterms:modified>
</cp:coreProperties>
</file>