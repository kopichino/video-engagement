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3849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a complete progress update on my cross-dataset video engagement recognition project — a project that bridges two structurally very different classroom datasets from China and Vietnam. I'll walk through the motivation, the engineering infrastructure I've built, the baseline results, and where this is headed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today. I'll start with why this research matters, then move through the datasets themselves, the baseline model, the engineering work involved in unifying two very different data formats, the architecture of the pipeline I built, and finish with validation results, contributions, and where I'd like your input on next steps.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engagement is one of the clearest signals we have of learning effectiveness, and deep learning lets us observe it automatically at scale. But there's a catch: models trained on one classroom's video almost always degrade when applied to a different classroom, because of differences in camera angle, lighting, culture, and even how engagement itself is annotated. That's called domain shift, and it's the central problem this project addresses — can we build something that survives moving from one classroom environment to a completely different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guided this work: first, get a properly cross-validated baseline on OUC-CGE, since the original paper only used a single train-test split. Second, actually unify OUC-CGE and COLER into one label taxonomy despite very different granularities. Third, and this took the bulk of the engineering effort, build reusable infrastructure rather than one-off scripts. And fourth, use that infrastructure to actually measure — numerically — how much accuracy is lost when a model crosses from one dataset to the other.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gap in prior work. Almost every published engagement-recognition paper trains and tests on a single dataset, reports a high accuracy number, and stops there — they never check whether that number holds up on a different classroom. This project is explicitly designed to close that gap: train on each dataset separately, then cross-test with zero fine-tuning, so we get an honest measurement of the domain-shift penalty instead of an inflated single-domain number.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OUC-CGE and COLER couldn't be more different in structure. OUC-CGE is raw MP4 video of the whole classroom, labeled at the group level into three classes. COLER is the opposite in almost every dimension — individual student crops, four classes, and a five-level nested folder hierarchy combining RGB frames, facial emotion crops, and skeleton pose CSVs. Getting these two into one training pipeline was the core engineering challenge of this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could unify these datasets, I had to fully audit COLER's structure, and it was messier than expected — six distinct categories of issues, from a single capitalization mismatch in one of eleven directory locations, to fourteen genuinely empty student folders, to pose CSVs with thirteen duplicate rows in a row. Every one of these was caught and handled programmatically in the preprocessing layer, without ever touching the raw files on disk — which matters both for reproducibility and for not accidentally corrupting the source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completed OUC-CGE baseline — SlowFast with a ResNet-50 backbone, five-fold stratified cross-validation, on an RTX 4060 laptop GPU. Averaged across folds: 55.2% accuracy, 54.2% macro-F1, and a QWK of 0.398. I want to flag that before this run, we caught a real bug — a Unicode path issue was silently skipping 41% of the training clips — and fixing it was what got us to complete, valid ingestion across all 7,439 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full engineering audit of the framework, I found and fixed three real bugs before they could silently corrupt results. One was a Windows console crash from a Unicode star symbol in logging. One was a subtle PyTorch DataLoader issue where integer metadata was being turned into tensors and breaking evaluation. And one was simply modernizing deprecated AMP mixed-precision API calls. None of these are glamorous, but each one would have blocked or corrupted training if left unresolved.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infrastructure — a four-layer pipeline. Raw data comes in at Layer 1, gets parsed and standardized into one manifest at Layer 2, gets sampled into a unified frame-level representation at Layer 3, and finally feeds a full PyTorch training and evaluation framework at Layer 4. Every arrow on this diagram is a real, working handoff between Python modules — this isn't a conceptual diagram, it's the actual as-built architecture.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is intentionally simple and read-only: it just ingests the two raw sources. OUC-CGE's 7,439 clips are OpenCV-validated on the way in, with 75 corrupted files caught and excluded. COLER's 18,546 files are traversed across their full five-level folder hierarchy. Nothing is transformed yet — this layer's only job is validated intake.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2 is where the real standardization happens. Two dataset-specific parsers feed into one configurable label mapper, and a manifest builder ties it all together into a single 5-fold stratified unified_manifest.csv with 7,989 samples. The label mapping itself is entirely JSON-configured, not hardcoded — so High absorbs COLER's Engaged and Very Engaged classes without touching any Python logic.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3 turns clips and multi-modal directories into a single flat, frame-level table that any model architecture can consume. There are five configurable sampling strategies depending on what an experiment needs, from a single midpoint frame up to N randomly sampled frames. The output is unified_frame_dataset.csv — 6,875 samples with a consistent schema across both datasets, including per-fold train/val splits generated automatically.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4 is the actual PyTorch training framework — six components working together: a Trainer with AMP and gradient clipping, an Evaluator, a metrics calculator computing everything from accuracy to QWK to ROC AUC, a checkpoint manager with auto-resume, a fully YAML-driven config system, and a model factory for building ResNet-50 classifiers with configurable freezing. This is designed to be reused well beyond this one project.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infrastructure in place, Experiment A defines four reproducible evaluation settings, each controlled by its own YAML config. Settings 1 and 2 are within-domain baselines — train and test on the same dataset. Settings 3 and 4 are the actual novel contribution: take a checkpoint trained on one dataset and evaluate it directly on the other, with zero fine-tuning, to get an honest number for the domain-shift penalty.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of this pipeline's output, I ran a full end-to-end validation audit — and it passed cleanly. Zero duplicate IDs across nearly 8,000 clip samples, zero duplicate image paths, zero missing files across almost 15,000 existence checks, zero corrupted images, zero label mismatches, and zero JSON metadata errors. This gives me confidence that any results coming out of Experiment A reflect the model, not a silent data bug.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quick look at how the codebase itself is organized, since reproducibility matters for a professor review. Configs are fully separated from code, the core cross_dataset package holds all the pipeline logic in six sub-packages, all generated artifacts live under data/ without ever touching raw files, and train.py / evaluate.py are the only two entry points needed to reproduce any run.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this together into contributions: on the research side, this is the first cross-dataset study connecting OUC-CGE and COLER. On the engineering side, the pipeline is fully auditable and never mutates raw data. On the framework side, adding a new dataset in the future would just mean a new JSON label config, not new training code. And all six sub-packages are independently testable and reusable outside this specific project.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immediately next is actually running Experiment A's four settings to completion and getting real transfer numbers. After that, Experiment B moves to video-level 3D CNNs like SlowFast or X3D instead of single frames, and Experiment C explores joint training with a shared backbone and dataset-specific heads. Longer term, I want fine-tuning curves that show how much target-domain data is actually needed to close the transfer gap.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Phase 1 is complete, and the cross-dataset infrastructure and Experiment A framework are fully built and validated with zero integrity errors. The main open question now is sequencing — I'd like your input on whether to push forward and complete Experiment A's runs before starting on video-level transfer, and whether this framework itself might be worth positioning as a standalone contribution.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8595360" y="640080"/>
            <a:ext cx="3474720" cy="3474720"/>
          </a:xfrm>
          <a:prstGeom prst="ellipse">
            <a:avLst/>
          </a:prstGeom>
          <a:solidFill>
            <a:srgbClr val="0A4C7A">
              <a:alpha val="75000"/>
            </a:srgbClr>
          </a:solidFill>
          <a:ln/>
        </p:spPr>
      </p:sp>
      <p:sp>
        <p:nvSpPr>
          <p:cNvPr id="3" name="Shape 1"/>
          <p:cNvSpPr/>
          <p:nvPr/>
        </p:nvSpPr>
        <p:spPr>
          <a:xfrm>
            <a:off x="9966960" y="1828800"/>
            <a:ext cx="2743200" cy="2743200"/>
          </a:xfrm>
          <a:prstGeom prst="ellipse">
            <a:avLst/>
          </a:prstGeom>
          <a:solidFill>
            <a:srgbClr val="1C7293">
              <a:alpha val="90000"/>
            </a:srgbClr>
          </a:solidFill>
          <a:ln/>
        </p:spPr>
      </p:sp>
      <p:sp>
        <p:nvSpPr>
          <p:cNvPr id="4" name="Text 2"/>
          <p:cNvSpPr/>
          <p:nvPr/>
        </p:nvSpPr>
        <p:spPr>
          <a:xfrm>
            <a:off x="640080" y="2148840"/>
            <a:ext cx="8778240" cy="1463040"/>
          </a:xfrm>
          <a:prstGeom prst="rect">
            <a:avLst/>
          </a:prstGeom>
          <a:noFill/>
          <a:ln/>
        </p:spPr>
        <p:txBody>
          <a:bodyPr wrap="square" lIns="0" tIns="0" rIns="0" bIns="0" rtlCol="0" anchor="ctr"/>
          <a:lstStyle/>
          <a:p>
            <a:pPr marL="0" indent="0">
              <a:lnSpc>
                <a:spcPts val="3900"/>
              </a:lnSpc>
              <a:buNone/>
            </a:pPr>
            <a:r>
              <a:rPr lang="en-US" sz="3400" b="1" dirty="0">
                <a:solidFill>
                  <a:srgbClr val="FFFFFF"/>
                </a:solidFill>
                <a:latin typeface="Cambria" pitchFamily="34" charset="0"/>
                <a:ea typeface="Cambria" pitchFamily="34" charset="-122"/>
                <a:cs typeface="Cambria" pitchFamily="34" charset="-120"/>
              </a:rPr>
              <a:t>CROSS-DATASET VIDEO ENGAGEMENT RECOGNITION</a:t>
            </a:r>
            <a:endParaRPr lang="en-US" sz="3400" dirty="0"/>
          </a:p>
        </p:txBody>
      </p:sp>
      <p:sp>
        <p:nvSpPr>
          <p:cNvPr id="5" name="Text 3"/>
          <p:cNvSpPr/>
          <p:nvPr/>
        </p:nvSpPr>
        <p:spPr>
          <a:xfrm>
            <a:off x="640080" y="3566160"/>
            <a:ext cx="8503920" cy="548640"/>
          </a:xfrm>
          <a:prstGeom prst="rect">
            <a:avLst/>
          </a:prstGeom>
          <a:noFill/>
          <a:ln/>
        </p:spPr>
        <p:txBody>
          <a:bodyPr wrap="square" lIns="0" tIns="0" rIns="0" bIns="0" rtlCol="0" anchor="ctr"/>
          <a:lstStyle/>
          <a:p>
            <a:pPr marL="0" indent="0">
              <a:buNone/>
            </a:pPr>
            <a:r>
              <a:rPr lang="en-US" sz="1700" i="1" dirty="0">
                <a:solidFill>
                  <a:srgbClr val="C7D6E3"/>
                </a:solidFill>
                <a:latin typeface="Calibri" pitchFamily="34" charset="0"/>
                <a:ea typeface="Calibri" pitchFamily="34" charset="-122"/>
                <a:cs typeface="Calibri" pitchFamily="34" charset="-120"/>
              </a:rPr>
              <a:t>A Unified Pipeline for Domain-Transfer Research Across Classroom Datasets</a:t>
            </a:r>
            <a:endParaRPr lang="en-US" sz="1700" dirty="0"/>
          </a:p>
        </p:txBody>
      </p:sp>
      <p:sp>
        <p:nvSpPr>
          <p:cNvPr id="6" name="Shape 4"/>
          <p:cNvSpPr/>
          <p:nvPr/>
        </p:nvSpPr>
        <p:spPr>
          <a:xfrm>
            <a:off x="640080" y="4251960"/>
            <a:ext cx="2011680" cy="0"/>
          </a:xfrm>
          <a:prstGeom prst="line">
            <a:avLst/>
          </a:prstGeom>
          <a:noFill/>
          <a:ln w="25400">
            <a:solidFill>
              <a:srgbClr val="E0A030"/>
            </a:solidFill>
            <a:prstDash val="solid"/>
          </a:ln>
        </p:spPr>
      </p:sp>
      <p:sp>
        <p:nvSpPr>
          <p:cNvPr id="7" name="Text 5"/>
          <p:cNvSpPr/>
          <p:nvPr/>
        </p:nvSpPr>
        <p:spPr>
          <a:xfrm>
            <a:off x="640080" y="4434840"/>
            <a:ext cx="5486400" cy="685800"/>
          </a:xfrm>
          <a:prstGeom prst="rect">
            <a:avLst/>
          </a:prstGeom>
          <a:noFill/>
          <a:ln/>
        </p:spPr>
        <p:txBody>
          <a:bodyPr wrap="square" lIns="0" tIns="0" rIns="0" bIns="0" rtlCol="0" anchor="ctr"/>
          <a:lstStyle/>
          <a:p>
            <a:pPr marL="0" indent="0">
              <a:lnSpc>
                <a:spcPct val="130000"/>
              </a:lnSpc>
              <a:buNone/>
            </a:pPr>
            <a:r>
              <a:rPr lang="en-US" sz="1500" b="1" dirty="0">
                <a:solidFill>
                  <a:srgbClr val="FFFFFF"/>
                </a:solidFill>
                <a:latin typeface="Calibri" pitchFamily="34" charset="0"/>
                <a:ea typeface="Calibri" pitchFamily="34" charset="-122"/>
                <a:cs typeface="Calibri" pitchFamily="34" charset="-120"/>
              </a:rPr>
              <a:t>Koppesh</a:t>
            </a:r>
            <a:endParaRPr lang="en-US" sz="1500" dirty="0"/>
          </a:p>
        </p:txBody>
      </p:sp>
      <p:sp>
        <p:nvSpPr>
          <p:cNvPr id="8" name="Text 6"/>
          <p:cNvSpPr/>
          <p:nvPr/>
        </p:nvSpPr>
        <p:spPr>
          <a:xfrm>
            <a:off x="640080" y="6080760"/>
            <a:ext cx="5486400" cy="365760"/>
          </a:xfrm>
          <a:prstGeom prst="rect">
            <a:avLst/>
          </a:prstGeom>
          <a:noFill/>
          <a:ln/>
        </p:spPr>
        <p:txBody>
          <a:bodyPr wrap="square" lIns="0" tIns="0" rIns="0" bIns="0" rtlCol="0" anchor="ctr"/>
          <a:lstStyle/>
          <a:p>
            <a:pPr marL="0" indent="0">
              <a:buNone/>
            </a:pPr>
            <a:r>
              <a:rPr lang="en-US" sz="1150" dirty="0">
                <a:solidFill>
                  <a:srgbClr val="8FA8BE"/>
                </a:solidFill>
                <a:latin typeface="Calibri" pitchFamily="34" charset="0"/>
                <a:ea typeface="Calibri" pitchFamily="34" charset="-122"/>
                <a:cs typeface="Calibri" pitchFamily="34" charset="-120"/>
              </a:rPr>
              <a:t>August 2, 2026  ·  Repository: E:\Video_Engagement</a:t>
            </a:r>
            <a:endParaRPr lang="en-US" sz="1150" dirty="0"/>
          </a:p>
        </p:txBody>
      </p:sp>
      <p:sp>
        <p:nvSpPr>
          <p:cNvPr id="9" name="Text 7"/>
          <p:cNvSpPr/>
          <p:nvPr/>
        </p:nvSpPr>
        <p:spPr>
          <a:xfrm>
            <a:off x="640080" y="5897880"/>
            <a:ext cx="8412480" cy="365760"/>
          </a:xfrm>
          <a:prstGeom prst="rect">
            <a:avLst/>
          </a:prstGeom>
          <a:noFill/>
          <a:ln/>
        </p:spPr>
        <p:txBody>
          <a:bodyPr wrap="square" lIns="0" tIns="0" rIns="0" bIns="0" rtlCol="0" anchor="ctr"/>
          <a:lstStyle/>
          <a:p>
            <a:pPr marL="0" indent="0">
              <a:buNone/>
            </a:pPr>
            <a:r>
              <a:rPr lang="en-US" sz="1050" b="1" kern="0" spc="100" dirty="0">
                <a:solidFill>
                  <a:srgbClr val="E0A030"/>
                </a:solidFill>
                <a:latin typeface="Calibri" pitchFamily="34" charset="0"/>
                <a:ea typeface="Calibri" pitchFamily="34" charset="-122"/>
                <a:cs typeface="Calibri" pitchFamily="34" charset="-120"/>
              </a:rPr>
              <a:t>STATUS: PHASE 1 COMPLETE → CROSS-DATASET INFRASTRUCTURE + EXPERIMENT A FRAMEWORK IMPLEMENTED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What We'll Cover Today</a:t>
            </a:r>
            <a:endParaRPr lang="en-US" sz="2800" dirty="0"/>
          </a:p>
        </p:txBody>
      </p:sp>
      <p:sp>
        <p:nvSpPr>
          <p:cNvPr id="4" name="Shape 2"/>
          <p:cNvSpPr/>
          <p:nvPr/>
        </p:nvSpPr>
        <p:spPr>
          <a:xfrm>
            <a:off x="548640" y="1508760"/>
            <a:ext cx="5394960" cy="777240"/>
          </a:xfrm>
          <a:prstGeom prst="roundRect">
            <a:avLst>
              <a:gd name="adj" fmla="val 9412"/>
            </a:avLst>
          </a:prstGeom>
          <a:solidFill>
            <a:srgbClr val="F5F7F9"/>
          </a:solidFill>
          <a:ln/>
        </p:spPr>
      </p:sp>
      <p:sp>
        <p:nvSpPr>
          <p:cNvPr id="5" name="Shape 3"/>
          <p:cNvSpPr/>
          <p:nvPr/>
        </p:nvSpPr>
        <p:spPr>
          <a:xfrm>
            <a:off x="713232" y="1696212"/>
            <a:ext cx="402336" cy="402336"/>
          </a:xfrm>
          <a:prstGeom prst="ellipse">
            <a:avLst/>
          </a:prstGeom>
          <a:solidFill>
            <a:srgbClr val="0A4C7A"/>
          </a:solidFill>
          <a:ln/>
        </p:spPr>
      </p:sp>
      <p:sp>
        <p:nvSpPr>
          <p:cNvPr id="6" name="Text 4"/>
          <p:cNvSpPr/>
          <p:nvPr/>
        </p:nvSpPr>
        <p:spPr>
          <a:xfrm>
            <a:off x="713232" y="16962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1</a:t>
            </a:r>
            <a:endParaRPr lang="en-US" sz="1056" dirty="0"/>
          </a:p>
        </p:txBody>
      </p:sp>
      <p:sp>
        <p:nvSpPr>
          <p:cNvPr id="7" name="Text 5"/>
          <p:cNvSpPr/>
          <p:nvPr/>
        </p:nvSpPr>
        <p:spPr>
          <a:xfrm>
            <a:off x="1280160" y="15087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Motivation &amp; the domain-shift problem</a:t>
            </a:r>
            <a:endParaRPr lang="en-US" sz="1350" dirty="0"/>
          </a:p>
        </p:txBody>
      </p:sp>
      <p:sp>
        <p:nvSpPr>
          <p:cNvPr id="8" name="Shape 6"/>
          <p:cNvSpPr/>
          <p:nvPr/>
        </p:nvSpPr>
        <p:spPr>
          <a:xfrm>
            <a:off x="548640" y="2423160"/>
            <a:ext cx="5394960" cy="777240"/>
          </a:xfrm>
          <a:prstGeom prst="roundRect">
            <a:avLst>
              <a:gd name="adj" fmla="val 9412"/>
            </a:avLst>
          </a:prstGeom>
          <a:solidFill>
            <a:srgbClr val="F5F7F9"/>
          </a:solidFill>
          <a:ln/>
        </p:spPr>
      </p:sp>
      <p:sp>
        <p:nvSpPr>
          <p:cNvPr id="9" name="Shape 7"/>
          <p:cNvSpPr/>
          <p:nvPr/>
        </p:nvSpPr>
        <p:spPr>
          <a:xfrm>
            <a:off x="713232" y="2610612"/>
            <a:ext cx="402336" cy="402336"/>
          </a:xfrm>
          <a:prstGeom prst="ellipse">
            <a:avLst/>
          </a:prstGeom>
          <a:solidFill>
            <a:srgbClr val="0A4C7A"/>
          </a:solidFill>
          <a:ln/>
        </p:spPr>
      </p:sp>
      <p:sp>
        <p:nvSpPr>
          <p:cNvPr id="10" name="Text 8"/>
          <p:cNvSpPr/>
          <p:nvPr/>
        </p:nvSpPr>
        <p:spPr>
          <a:xfrm>
            <a:off x="713232" y="26106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2</a:t>
            </a:r>
            <a:endParaRPr lang="en-US" sz="1056" dirty="0"/>
          </a:p>
        </p:txBody>
      </p:sp>
      <p:sp>
        <p:nvSpPr>
          <p:cNvPr id="11" name="Text 9"/>
          <p:cNvSpPr/>
          <p:nvPr/>
        </p:nvSpPr>
        <p:spPr>
          <a:xfrm>
            <a:off x="1280160" y="24231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Research objectives</a:t>
            </a:r>
            <a:endParaRPr lang="en-US" sz="1350" dirty="0"/>
          </a:p>
        </p:txBody>
      </p:sp>
      <p:sp>
        <p:nvSpPr>
          <p:cNvPr id="12" name="Shape 10"/>
          <p:cNvSpPr/>
          <p:nvPr/>
        </p:nvSpPr>
        <p:spPr>
          <a:xfrm>
            <a:off x="548640" y="3337560"/>
            <a:ext cx="5394960" cy="777240"/>
          </a:xfrm>
          <a:prstGeom prst="roundRect">
            <a:avLst>
              <a:gd name="adj" fmla="val 9412"/>
            </a:avLst>
          </a:prstGeom>
          <a:solidFill>
            <a:srgbClr val="F5F7F9"/>
          </a:solidFill>
          <a:ln/>
        </p:spPr>
      </p:sp>
      <p:sp>
        <p:nvSpPr>
          <p:cNvPr id="13" name="Shape 11"/>
          <p:cNvSpPr/>
          <p:nvPr/>
        </p:nvSpPr>
        <p:spPr>
          <a:xfrm>
            <a:off x="713232" y="3525012"/>
            <a:ext cx="402336" cy="402336"/>
          </a:xfrm>
          <a:prstGeom prst="ellipse">
            <a:avLst/>
          </a:prstGeom>
          <a:solidFill>
            <a:srgbClr val="0A4C7A"/>
          </a:solidFill>
          <a:ln/>
        </p:spPr>
      </p:sp>
      <p:sp>
        <p:nvSpPr>
          <p:cNvPr id="14" name="Text 12"/>
          <p:cNvSpPr/>
          <p:nvPr/>
        </p:nvSpPr>
        <p:spPr>
          <a:xfrm>
            <a:off x="713232" y="35250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3</a:t>
            </a:r>
            <a:endParaRPr lang="en-US" sz="1056" dirty="0"/>
          </a:p>
        </p:txBody>
      </p:sp>
      <p:sp>
        <p:nvSpPr>
          <p:cNvPr id="15" name="Text 13"/>
          <p:cNvSpPr/>
          <p:nvPr/>
        </p:nvSpPr>
        <p:spPr>
          <a:xfrm>
            <a:off x="1280160" y="33375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Why single-dataset models fail</a:t>
            </a:r>
            <a:endParaRPr lang="en-US" sz="1350" dirty="0"/>
          </a:p>
        </p:txBody>
      </p:sp>
      <p:sp>
        <p:nvSpPr>
          <p:cNvPr id="16" name="Shape 14"/>
          <p:cNvSpPr/>
          <p:nvPr/>
        </p:nvSpPr>
        <p:spPr>
          <a:xfrm>
            <a:off x="548640" y="4251960"/>
            <a:ext cx="5394960" cy="777240"/>
          </a:xfrm>
          <a:prstGeom prst="roundRect">
            <a:avLst>
              <a:gd name="adj" fmla="val 9412"/>
            </a:avLst>
          </a:prstGeom>
          <a:solidFill>
            <a:srgbClr val="F5F7F9"/>
          </a:solidFill>
          <a:ln/>
        </p:spPr>
      </p:sp>
      <p:sp>
        <p:nvSpPr>
          <p:cNvPr id="17" name="Shape 15"/>
          <p:cNvSpPr/>
          <p:nvPr/>
        </p:nvSpPr>
        <p:spPr>
          <a:xfrm>
            <a:off x="713232" y="4439412"/>
            <a:ext cx="402336" cy="402336"/>
          </a:xfrm>
          <a:prstGeom prst="ellipse">
            <a:avLst/>
          </a:prstGeom>
          <a:solidFill>
            <a:srgbClr val="0A4C7A"/>
          </a:solidFill>
          <a:ln/>
        </p:spPr>
      </p:sp>
      <p:sp>
        <p:nvSpPr>
          <p:cNvPr id="18" name="Text 16"/>
          <p:cNvSpPr/>
          <p:nvPr/>
        </p:nvSpPr>
        <p:spPr>
          <a:xfrm>
            <a:off x="713232" y="44394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4</a:t>
            </a:r>
            <a:endParaRPr lang="en-US" sz="1056" dirty="0"/>
          </a:p>
        </p:txBody>
      </p:sp>
      <p:sp>
        <p:nvSpPr>
          <p:cNvPr id="19" name="Text 17"/>
          <p:cNvSpPr/>
          <p:nvPr/>
        </p:nvSpPr>
        <p:spPr>
          <a:xfrm>
            <a:off x="1280160" y="42519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OUC-CGE &amp; COLER dataset overview</a:t>
            </a:r>
            <a:endParaRPr lang="en-US" sz="1350" dirty="0"/>
          </a:p>
        </p:txBody>
      </p:sp>
      <p:sp>
        <p:nvSpPr>
          <p:cNvPr id="20" name="Shape 18"/>
          <p:cNvSpPr/>
          <p:nvPr/>
        </p:nvSpPr>
        <p:spPr>
          <a:xfrm>
            <a:off x="548640" y="5166360"/>
            <a:ext cx="5394960" cy="777240"/>
          </a:xfrm>
          <a:prstGeom prst="roundRect">
            <a:avLst>
              <a:gd name="adj" fmla="val 9412"/>
            </a:avLst>
          </a:prstGeom>
          <a:solidFill>
            <a:srgbClr val="F5F7F9"/>
          </a:solidFill>
          <a:ln/>
        </p:spPr>
      </p:sp>
      <p:sp>
        <p:nvSpPr>
          <p:cNvPr id="21" name="Shape 19"/>
          <p:cNvSpPr/>
          <p:nvPr/>
        </p:nvSpPr>
        <p:spPr>
          <a:xfrm>
            <a:off x="713232" y="5353812"/>
            <a:ext cx="402336" cy="402336"/>
          </a:xfrm>
          <a:prstGeom prst="ellipse">
            <a:avLst/>
          </a:prstGeom>
          <a:solidFill>
            <a:srgbClr val="0A4C7A"/>
          </a:solidFill>
          <a:ln/>
        </p:spPr>
      </p:sp>
      <p:sp>
        <p:nvSpPr>
          <p:cNvPr id="22" name="Text 20"/>
          <p:cNvSpPr/>
          <p:nvPr/>
        </p:nvSpPr>
        <p:spPr>
          <a:xfrm>
            <a:off x="713232" y="53538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5</a:t>
            </a:r>
            <a:endParaRPr lang="en-US" sz="1056" dirty="0"/>
          </a:p>
        </p:txBody>
      </p:sp>
      <p:sp>
        <p:nvSpPr>
          <p:cNvPr id="23" name="Text 21"/>
          <p:cNvSpPr/>
          <p:nvPr/>
        </p:nvSpPr>
        <p:spPr>
          <a:xfrm>
            <a:off x="1280160" y="51663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Dataset challenges uncovered</a:t>
            </a:r>
            <a:endParaRPr lang="en-US" sz="1350" dirty="0"/>
          </a:p>
        </p:txBody>
      </p:sp>
      <p:sp>
        <p:nvSpPr>
          <p:cNvPr id="24" name="Shape 22"/>
          <p:cNvSpPr/>
          <p:nvPr/>
        </p:nvSpPr>
        <p:spPr>
          <a:xfrm>
            <a:off x="6309360" y="1508760"/>
            <a:ext cx="5394960" cy="777240"/>
          </a:xfrm>
          <a:prstGeom prst="roundRect">
            <a:avLst>
              <a:gd name="adj" fmla="val 9412"/>
            </a:avLst>
          </a:prstGeom>
          <a:solidFill>
            <a:srgbClr val="F5F7F9"/>
          </a:solidFill>
          <a:ln/>
        </p:spPr>
      </p:sp>
      <p:sp>
        <p:nvSpPr>
          <p:cNvPr id="25" name="Shape 23"/>
          <p:cNvSpPr/>
          <p:nvPr/>
        </p:nvSpPr>
        <p:spPr>
          <a:xfrm>
            <a:off x="6473952" y="1696212"/>
            <a:ext cx="402336" cy="402336"/>
          </a:xfrm>
          <a:prstGeom prst="ellipse">
            <a:avLst/>
          </a:prstGeom>
          <a:solidFill>
            <a:srgbClr val="1C7293"/>
          </a:solidFill>
          <a:ln/>
        </p:spPr>
      </p:sp>
      <p:sp>
        <p:nvSpPr>
          <p:cNvPr id="26" name="Text 24"/>
          <p:cNvSpPr/>
          <p:nvPr/>
        </p:nvSpPr>
        <p:spPr>
          <a:xfrm>
            <a:off x="6473952" y="16962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6</a:t>
            </a:r>
            <a:endParaRPr lang="en-US" sz="1056" dirty="0"/>
          </a:p>
        </p:txBody>
      </p:sp>
      <p:sp>
        <p:nvSpPr>
          <p:cNvPr id="27" name="Text 25"/>
          <p:cNvSpPr/>
          <p:nvPr/>
        </p:nvSpPr>
        <p:spPr>
          <a:xfrm>
            <a:off x="7040880" y="15087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OUC-CGE baseline results</a:t>
            </a:r>
            <a:endParaRPr lang="en-US" sz="1350" dirty="0"/>
          </a:p>
        </p:txBody>
      </p:sp>
      <p:sp>
        <p:nvSpPr>
          <p:cNvPr id="28" name="Shape 26"/>
          <p:cNvSpPr/>
          <p:nvPr/>
        </p:nvSpPr>
        <p:spPr>
          <a:xfrm>
            <a:off x="6309360" y="2423160"/>
            <a:ext cx="5394960" cy="777240"/>
          </a:xfrm>
          <a:prstGeom prst="roundRect">
            <a:avLst>
              <a:gd name="adj" fmla="val 9412"/>
            </a:avLst>
          </a:prstGeom>
          <a:solidFill>
            <a:srgbClr val="F5F7F9"/>
          </a:solidFill>
          <a:ln/>
        </p:spPr>
      </p:sp>
      <p:sp>
        <p:nvSpPr>
          <p:cNvPr id="29" name="Shape 27"/>
          <p:cNvSpPr/>
          <p:nvPr/>
        </p:nvSpPr>
        <p:spPr>
          <a:xfrm>
            <a:off x="6473952" y="2610612"/>
            <a:ext cx="402336" cy="402336"/>
          </a:xfrm>
          <a:prstGeom prst="ellipse">
            <a:avLst/>
          </a:prstGeom>
          <a:solidFill>
            <a:srgbClr val="1C7293"/>
          </a:solidFill>
          <a:ln/>
        </p:spPr>
      </p:sp>
      <p:sp>
        <p:nvSpPr>
          <p:cNvPr id="30" name="Text 28"/>
          <p:cNvSpPr/>
          <p:nvPr/>
        </p:nvSpPr>
        <p:spPr>
          <a:xfrm>
            <a:off x="6473952" y="26106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7</a:t>
            </a:r>
            <a:endParaRPr lang="en-US" sz="1056" dirty="0"/>
          </a:p>
        </p:txBody>
      </p:sp>
      <p:sp>
        <p:nvSpPr>
          <p:cNvPr id="31" name="Text 29"/>
          <p:cNvSpPr/>
          <p:nvPr/>
        </p:nvSpPr>
        <p:spPr>
          <a:xfrm>
            <a:off x="7040880" y="24231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Engineering issues found &amp; resolved</a:t>
            </a:r>
            <a:endParaRPr lang="en-US" sz="1350" dirty="0"/>
          </a:p>
        </p:txBody>
      </p:sp>
      <p:sp>
        <p:nvSpPr>
          <p:cNvPr id="32" name="Shape 30"/>
          <p:cNvSpPr/>
          <p:nvPr/>
        </p:nvSpPr>
        <p:spPr>
          <a:xfrm>
            <a:off x="6309360" y="3337560"/>
            <a:ext cx="5394960" cy="777240"/>
          </a:xfrm>
          <a:prstGeom prst="roundRect">
            <a:avLst>
              <a:gd name="adj" fmla="val 9412"/>
            </a:avLst>
          </a:prstGeom>
          <a:solidFill>
            <a:srgbClr val="F5F7F9"/>
          </a:solidFill>
          <a:ln/>
        </p:spPr>
      </p:sp>
      <p:sp>
        <p:nvSpPr>
          <p:cNvPr id="33" name="Shape 31"/>
          <p:cNvSpPr/>
          <p:nvPr/>
        </p:nvSpPr>
        <p:spPr>
          <a:xfrm>
            <a:off x="6473952" y="3525012"/>
            <a:ext cx="402336" cy="402336"/>
          </a:xfrm>
          <a:prstGeom prst="ellipse">
            <a:avLst/>
          </a:prstGeom>
          <a:solidFill>
            <a:srgbClr val="1C7293"/>
          </a:solidFill>
          <a:ln/>
        </p:spPr>
      </p:sp>
      <p:sp>
        <p:nvSpPr>
          <p:cNvPr id="34" name="Text 32"/>
          <p:cNvSpPr/>
          <p:nvPr/>
        </p:nvSpPr>
        <p:spPr>
          <a:xfrm>
            <a:off x="6473952" y="35250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8</a:t>
            </a:r>
            <a:endParaRPr lang="en-US" sz="1056" dirty="0"/>
          </a:p>
        </p:txBody>
      </p:sp>
      <p:sp>
        <p:nvSpPr>
          <p:cNvPr id="35" name="Text 33"/>
          <p:cNvSpPr/>
          <p:nvPr/>
        </p:nvSpPr>
        <p:spPr>
          <a:xfrm>
            <a:off x="7040880" y="33375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The 4-layer cross-dataset pipeline</a:t>
            </a:r>
            <a:endParaRPr lang="en-US" sz="1350" dirty="0"/>
          </a:p>
        </p:txBody>
      </p:sp>
      <p:sp>
        <p:nvSpPr>
          <p:cNvPr id="36" name="Shape 34"/>
          <p:cNvSpPr/>
          <p:nvPr/>
        </p:nvSpPr>
        <p:spPr>
          <a:xfrm>
            <a:off x="6309360" y="4251960"/>
            <a:ext cx="5394960" cy="777240"/>
          </a:xfrm>
          <a:prstGeom prst="roundRect">
            <a:avLst>
              <a:gd name="adj" fmla="val 9412"/>
            </a:avLst>
          </a:prstGeom>
          <a:solidFill>
            <a:srgbClr val="F5F7F9"/>
          </a:solidFill>
          <a:ln/>
        </p:spPr>
      </p:sp>
      <p:sp>
        <p:nvSpPr>
          <p:cNvPr id="37" name="Shape 35"/>
          <p:cNvSpPr/>
          <p:nvPr/>
        </p:nvSpPr>
        <p:spPr>
          <a:xfrm>
            <a:off x="6473952" y="4439412"/>
            <a:ext cx="402336" cy="402336"/>
          </a:xfrm>
          <a:prstGeom prst="ellipse">
            <a:avLst/>
          </a:prstGeom>
          <a:solidFill>
            <a:srgbClr val="1C7293"/>
          </a:solidFill>
          <a:ln/>
        </p:spPr>
      </p:sp>
      <p:sp>
        <p:nvSpPr>
          <p:cNvPr id="38" name="Text 36"/>
          <p:cNvSpPr/>
          <p:nvPr/>
        </p:nvSpPr>
        <p:spPr>
          <a:xfrm>
            <a:off x="6473952" y="44394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9</a:t>
            </a:r>
            <a:endParaRPr lang="en-US" sz="1056" dirty="0"/>
          </a:p>
        </p:txBody>
      </p:sp>
      <p:sp>
        <p:nvSpPr>
          <p:cNvPr id="39" name="Text 37"/>
          <p:cNvSpPr/>
          <p:nvPr/>
        </p:nvSpPr>
        <p:spPr>
          <a:xfrm>
            <a:off x="7040880" y="42519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Experiment A framework &amp; validation</a:t>
            </a:r>
            <a:endParaRPr lang="en-US" sz="1350" dirty="0"/>
          </a:p>
        </p:txBody>
      </p:sp>
      <p:sp>
        <p:nvSpPr>
          <p:cNvPr id="40" name="Shape 38"/>
          <p:cNvSpPr/>
          <p:nvPr/>
        </p:nvSpPr>
        <p:spPr>
          <a:xfrm>
            <a:off x="6309360" y="5166360"/>
            <a:ext cx="5394960" cy="777240"/>
          </a:xfrm>
          <a:prstGeom prst="roundRect">
            <a:avLst>
              <a:gd name="adj" fmla="val 9412"/>
            </a:avLst>
          </a:prstGeom>
          <a:solidFill>
            <a:srgbClr val="F5F7F9"/>
          </a:solidFill>
          <a:ln/>
        </p:spPr>
      </p:sp>
      <p:sp>
        <p:nvSpPr>
          <p:cNvPr id="41" name="Shape 39"/>
          <p:cNvSpPr/>
          <p:nvPr/>
        </p:nvSpPr>
        <p:spPr>
          <a:xfrm>
            <a:off x="6473952" y="5353812"/>
            <a:ext cx="402336" cy="402336"/>
          </a:xfrm>
          <a:prstGeom prst="ellipse">
            <a:avLst/>
          </a:prstGeom>
          <a:solidFill>
            <a:srgbClr val="1C7293"/>
          </a:solidFill>
          <a:ln/>
        </p:spPr>
      </p:sp>
      <p:sp>
        <p:nvSpPr>
          <p:cNvPr id="42" name="Text 40"/>
          <p:cNvSpPr/>
          <p:nvPr/>
        </p:nvSpPr>
        <p:spPr>
          <a:xfrm>
            <a:off x="6473952" y="5353812"/>
            <a:ext cx="402336" cy="402336"/>
          </a:xfrm>
          <a:prstGeom prst="rect">
            <a:avLst/>
          </a:prstGeom>
          <a:noFill/>
          <a:ln/>
        </p:spPr>
        <p:txBody>
          <a:bodyPr wrap="square" lIns="0" tIns="0" rIns="0" bIns="0" rtlCol="0" anchor="ctr"/>
          <a:lstStyle/>
          <a:p>
            <a:pPr marL="0" indent="0" algn="ctr">
              <a:buNone/>
            </a:pPr>
            <a:r>
              <a:rPr lang="en-US" sz="1056" b="1" dirty="0">
                <a:solidFill>
                  <a:srgbClr val="FFFFFF"/>
                </a:solidFill>
                <a:latin typeface="Calibri" pitchFamily="34" charset="0"/>
                <a:ea typeface="Calibri" pitchFamily="34" charset="-122"/>
                <a:cs typeface="Calibri" pitchFamily="34" charset="-120"/>
              </a:rPr>
              <a:t>10</a:t>
            </a:r>
            <a:endParaRPr lang="en-US" sz="1056" dirty="0"/>
          </a:p>
        </p:txBody>
      </p:sp>
      <p:sp>
        <p:nvSpPr>
          <p:cNvPr id="43" name="Text 41"/>
          <p:cNvSpPr/>
          <p:nvPr/>
        </p:nvSpPr>
        <p:spPr>
          <a:xfrm>
            <a:off x="7040880" y="5166360"/>
            <a:ext cx="4480560" cy="77724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Contributions, future work &amp; discussion</a:t>
            </a:r>
            <a:endParaRPr lang="en-US" sz="1350" dirty="0"/>
          </a:p>
        </p:txBody>
      </p:sp>
      <p:sp>
        <p:nvSpPr>
          <p:cNvPr id="44" name="Text 42"/>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RESEARCH MOTIVATION</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Why Classroom Engagement Recognition Matters</a:t>
            </a:r>
            <a:endParaRPr lang="en-US" sz="2800" dirty="0"/>
          </a:p>
        </p:txBody>
      </p:sp>
      <p:sp>
        <p:nvSpPr>
          <p:cNvPr id="4" name="Text 2"/>
          <p:cNvSpPr/>
          <p:nvPr/>
        </p:nvSpPr>
        <p:spPr>
          <a:xfrm>
            <a:off x="548640" y="1508760"/>
            <a:ext cx="5394960" cy="2926080"/>
          </a:xfrm>
          <a:prstGeom prst="rect">
            <a:avLst/>
          </a:prstGeom>
          <a:noFill/>
          <a:ln/>
        </p:spPr>
        <p:txBody>
          <a:bodyPr wrap="square" lIns="0" tIns="0" rIns="0" bIns="0" rtlCol="0" anchor="t"/>
          <a:lstStyle/>
          <a:p>
            <a:pPr marL="203200" indent="-203200">
              <a:spcAft>
                <a:spcPts val="1400"/>
              </a:spcAft>
              <a:buSzPct val="100000"/>
              <a:buChar char="•"/>
            </a:pPr>
            <a:r>
              <a:rPr lang="en-US" sz="1450" dirty="0">
                <a:solidFill>
                  <a:srgbClr val="26333D"/>
                </a:solidFill>
                <a:latin typeface="Calibri" pitchFamily="34" charset="0"/>
                <a:ea typeface="Calibri" pitchFamily="34" charset="-122"/>
                <a:cs typeface="Calibri" pitchFamily="34" charset="-120"/>
              </a:rPr>
              <a:t>Student engagement — attentiveness, participation, or disinterest — is a key indicator of learning effectiveness</a:t>
            </a:r>
            <a:endParaRPr lang="en-US" sz="1450" dirty="0"/>
          </a:p>
          <a:p>
            <a:pPr marL="203200" indent="-203200">
              <a:spcAft>
                <a:spcPts val="1400"/>
              </a:spcAft>
              <a:buSzPct val="100000"/>
              <a:buChar char="•"/>
            </a:pPr>
            <a:r>
              <a:rPr lang="en-US" sz="1450" dirty="0">
                <a:solidFill>
                  <a:srgbClr val="26333D"/>
                </a:solidFill>
                <a:latin typeface="Calibri" pitchFamily="34" charset="0"/>
                <a:ea typeface="Calibri" pitchFamily="34" charset="-122"/>
                <a:cs typeface="Calibri" pitchFamily="34" charset="-120"/>
              </a:rPr>
              <a:t>Deep learning can automate engagement observation at scale, replacing manual classroom review</a:t>
            </a:r>
            <a:endParaRPr lang="en-US" sz="1450" dirty="0"/>
          </a:p>
          <a:p>
            <a:pPr marL="203200" indent="-203200">
              <a:spcAft>
                <a:spcPts val="1400"/>
              </a:spcAft>
              <a:buSzPct val="100000"/>
              <a:buChar char="•"/>
            </a:pPr>
            <a:r>
              <a:rPr lang="en-US" sz="1450" dirty="0">
                <a:solidFill>
                  <a:srgbClr val="26333D"/>
                </a:solidFill>
                <a:latin typeface="Calibri" pitchFamily="34" charset="0"/>
                <a:ea typeface="Calibri" pitchFamily="34" charset="-122"/>
                <a:cs typeface="Calibri" pitchFamily="34" charset="-120"/>
              </a:rPr>
              <a:t>But models trained on one classroom often fail on another, due to camera angle, lighting, culture, seating, and annotation differences — a problem known as domain shift</a:t>
            </a:r>
            <a:endParaRPr lang="en-US" sz="1450" dirty="0"/>
          </a:p>
        </p:txBody>
      </p:sp>
      <p:sp>
        <p:nvSpPr>
          <p:cNvPr id="5" name="Shape 3"/>
          <p:cNvSpPr/>
          <p:nvPr/>
        </p:nvSpPr>
        <p:spPr>
          <a:xfrm>
            <a:off x="548640" y="4526280"/>
            <a:ext cx="5394960" cy="1417320"/>
          </a:xfrm>
          <a:prstGeom prst="roundRect">
            <a:avLst>
              <a:gd name="adj" fmla="val 6452"/>
            </a:avLst>
          </a:prstGeom>
          <a:solidFill>
            <a:srgbClr val="17233D"/>
          </a:solidFill>
          <a:ln/>
        </p:spPr>
      </p:sp>
      <p:sp>
        <p:nvSpPr>
          <p:cNvPr id="6" name="Text 4"/>
          <p:cNvSpPr/>
          <p:nvPr/>
        </p:nvSpPr>
        <p:spPr>
          <a:xfrm>
            <a:off x="777240" y="4663440"/>
            <a:ext cx="4937760" cy="274320"/>
          </a:xfrm>
          <a:prstGeom prst="rect">
            <a:avLst/>
          </a:prstGeom>
          <a:noFill/>
          <a:ln/>
        </p:spPr>
        <p:txBody>
          <a:bodyPr wrap="square" lIns="0" tIns="0" rIns="0" bIns="0" rtlCol="0" anchor="ctr"/>
          <a:lstStyle/>
          <a:p>
            <a:pPr marL="0" indent="0">
              <a:buNone/>
            </a:pPr>
            <a:r>
              <a:rPr lang="en-US" sz="1050" b="1" kern="0" spc="150" dirty="0">
                <a:solidFill>
                  <a:srgbClr val="E0A030"/>
                </a:solidFill>
                <a:latin typeface="Calibri" pitchFamily="34" charset="0"/>
                <a:ea typeface="Calibri" pitchFamily="34" charset="-122"/>
                <a:cs typeface="Calibri" pitchFamily="34" charset="-120"/>
              </a:rPr>
              <a:t>THE CORE QUESTION</a:t>
            </a:r>
            <a:endParaRPr lang="en-US" sz="1050" dirty="0"/>
          </a:p>
        </p:txBody>
      </p:sp>
      <p:sp>
        <p:nvSpPr>
          <p:cNvPr id="7" name="Text 5"/>
          <p:cNvSpPr/>
          <p:nvPr/>
        </p:nvSpPr>
        <p:spPr>
          <a:xfrm>
            <a:off x="777240" y="4956048"/>
            <a:ext cx="4937760" cy="914400"/>
          </a:xfrm>
          <a:prstGeom prst="rect">
            <a:avLst/>
          </a:prstGeom>
          <a:noFill/>
          <a:ln/>
        </p:spPr>
        <p:txBody>
          <a:bodyPr wrap="square" lIns="0" tIns="0" rIns="0" bIns="0" rtlCol="0" anchor="ctr"/>
          <a:lstStyle/>
          <a:p>
            <a:pPr marL="0" indent="0">
              <a:lnSpc>
                <a:spcPts val="1900"/>
              </a:lnSpc>
              <a:buNone/>
            </a:pPr>
            <a:r>
              <a:rPr lang="en-US" sz="1500" i="1" dirty="0">
                <a:solidFill>
                  <a:srgbClr val="FFFFFF"/>
                </a:solidFill>
                <a:latin typeface="Cambria" pitchFamily="34" charset="0"/>
                <a:ea typeface="Cambria" pitchFamily="34" charset="-122"/>
                <a:cs typeface="Cambria" pitchFamily="34" charset="-120"/>
              </a:rPr>
              <a:t>Can engagement recognition generalize across classrooms — or does every new environment require a brand-new model?</a:t>
            </a:r>
            <a:endParaRPr lang="en-US" sz="1500" dirty="0"/>
          </a:p>
        </p:txBody>
      </p:sp>
      <p:sp>
        <p:nvSpPr>
          <p:cNvPr id="8" name="Text 6"/>
          <p:cNvSpPr/>
          <p:nvPr/>
        </p:nvSpPr>
        <p:spPr>
          <a:xfrm>
            <a:off x="6492240" y="1600200"/>
            <a:ext cx="5120640" cy="274320"/>
          </a:xfrm>
          <a:prstGeom prst="rect">
            <a:avLst/>
          </a:prstGeom>
          <a:noFill/>
          <a:ln/>
        </p:spPr>
        <p:txBody>
          <a:bodyPr wrap="square" lIns="0" tIns="0" rIns="0" bIns="0" rtlCol="0" anchor="ctr"/>
          <a:lstStyle/>
          <a:p>
            <a:pPr marL="0" indent="0">
              <a:buNone/>
            </a:pPr>
            <a:r>
              <a:rPr lang="en-US" sz="1100" b="1" kern="0" spc="150" dirty="0">
                <a:solidFill>
                  <a:srgbClr val="5D6C77"/>
                </a:solidFill>
                <a:latin typeface="Calibri" pitchFamily="34" charset="0"/>
                <a:ea typeface="Calibri" pitchFamily="34" charset="-122"/>
                <a:cs typeface="Calibri" pitchFamily="34" charset="-120"/>
              </a:rPr>
              <a:t>DOMAIN SHIFT, VISUALIZED</a:t>
            </a:r>
            <a:endParaRPr lang="en-US" sz="1100" dirty="0"/>
          </a:p>
        </p:txBody>
      </p:sp>
      <p:sp>
        <p:nvSpPr>
          <p:cNvPr id="9" name="Shape 7"/>
          <p:cNvSpPr/>
          <p:nvPr/>
        </p:nvSpPr>
        <p:spPr>
          <a:xfrm>
            <a:off x="6492240" y="2057400"/>
            <a:ext cx="685800" cy="685800"/>
          </a:xfrm>
          <a:prstGeom prst="ellipse">
            <a:avLst/>
          </a:prstGeom>
          <a:solidFill>
            <a:srgbClr val="0A4C7A"/>
          </a:solidFill>
          <a:ln/>
        </p:spPr>
      </p:sp>
      <p:sp>
        <p:nvSpPr>
          <p:cNvPr id="10" name="Text 8"/>
          <p:cNvSpPr/>
          <p:nvPr/>
        </p:nvSpPr>
        <p:spPr>
          <a:xfrm>
            <a:off x="6492240" y="20574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1" name="Text 9"/>
          <p:cNvSpPr/>
          <p:nvPr/>
        </p:nvSpPr>
        <p:spPr>
          <a:xfrm>
            <a:off x="6355080" y="2761488"/>
            <a:ext cx="960120" cy="457200"/>
          </a:xfrm>
          <a:prstGeom prst="rect">
            <a:avLst/>
          </a:prstGeom>
          <a:noFill/>
          <a:ln/>
        </p:spPr>
        <p:txBody>
          <a:bodyPr wrap="square" lIns="0" tIns="0" rIns="0" bIns="0" rtlCol="0" anchor="ctr"/>
          <a:lstStyle/>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Classroom A</a:t>
            </a:r>
            <a:endParaRPr lang="en-US" sz="950" dirty="0"/>
          </a:p>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(Training Domain)</a:t>
            </a:r>
            <a:endParaRPr lang="en-US" sz="950" dirty="0"/>
          </a:p>
        </p:txBody>
      </p:sp>
      <p:sp>
        <p:nvSpPr>
          <p:cNvPr id="12" name="Shape 10"/>
          <p:cNvSpPr/>
          <p:nvPr/>
        </p:nvSpPr>
        <p:spPr>
          <a:xfrm>
            <a:off x="7360920" y="2313432"/>
            <a:ext cx="502920" cy="164592"/>
          </a:xfrm>
          <a:prstGeom prst="rightArrow">
            <a:avLst/>
          </a:prstGeom>
          <a:solidFill>
            <a:srgbClr val="8593A0"/>
          </a:solidFill>
          <a:ln/>
        </p:spPr>
      </p:sp>
      <p:sp>
        <p:nvSpPr>
          <p:cNvPr id="13" name="Shape 11"/>
          <p:cNvSpPr/>
          <p:nvPr/>
        </p:nvSpPr>
        <p:spPr>
          <a:xfrm>
            <a:off x="8046720" y="1965960"/>
            <a:ext cx="1554480" cy="868680"/>
          </a:xfrm>
          <a:prstGeom prst="roundRect">
            <a:avLst>
              <a:gd name="adj" fmla="val 8421"/>
            </a:avLst>
          </a:prstGeom>
          <a:solidFill>
            <a:srgbClr val="EAF0F5"/>
          </a:solidFill>
          <a:ln/>
        </p:spPr>
      </p:sp>
      <p:sp>
        <p:nvSpPr>
          <p:cNvPr id="14" name="Text 12"/>
          <p:cNvSpPr/>
          <p:nvPr/>
        </p:nvSpPr>
        <p:spPr>
          <a:xfrm>
            <a:off x="8046720" y="1965960"/>
            <a:ext cx="1554480" cy="868680"/>
          </a:xfrm>
          <a:prstGeom prst="rect">
            <a:avLst/>
          </a:prstGeom>
          <a:noFill/>
          <a:ln/>
        </p:spPr>
        <p:txBody>
          <a:bodyPr wrap="square" lIns="0" tIns="0" rIns="0" bIns="0" rtlCol="0" anchor="ctr"/>
          <a:lstStyle/>
          <a:p>
            <a:pPr marL="0" indent="0" algn="ctr">
              <a:lnSpc>
                <a:spcPts val="1400"/>
              </a:lnSpc>
              <a:buNone/>
            </a:pPr>
            <a:r>
              <a:rPr lang="en-US" sz="1200" b="1" dirty="0">
                <a:solidFill>
                  <a:srgbClr val="17233D"/>
                </a:solidFill>
                <a:latin typeface="Calibri" pitchFamily="34" charset="0"/>
                <a:ea typeface="Calibri" pitchFamily="34" charset="-122"/>
                <a:cs typeface="Calibri" pitchFamily="34" charset="-120"/>
              </a:rPr>
              <a:t>Trained</a:t>
            </a:r>
            <a:endParaRPr lang="en-US" sz="1200" dirty="0"/>
          </a:p>
          <a:p>
            <a:pPr marL="0" indent="0" algn="ctr">
              <a:lnSpc>
                <a:spcPts val="1400"/>
              </a:lnSpc>
              <a:buNone/>
            </a:pPr>
            <a:r>
              <a:rPr lang="en-US" sz="1200" b="1" dirty="0">
                <a:solidFill>
                  <a:srgbClr val="17233D"/>
                </a:solidFill>
                <a:latin typeface="Calibri" pitchFamily="34" charset="0"/>
                <a:ea typeface="Calibri" pitchFamily="34" charset="-122"/>
                <a:cs typeface="Calibri" pitchFamily="34" charset="-120"/>
              </a:rPr>
              <a:t>Model</a:t>
            </a:r>
            <a:endParaRPr lang="en-US" sz="1200" dirty="0"/>
          </a:p>
        </p:txBody>
      </p:sp>
      <p:sp>
        <p:nvSpPr>
          <p:cNvPr id="15" name="Shape 13"/>
          <p:cNvSpPr/>
          <p:nvPr/>
        </p:nvSpPr>
        <p:spPr>
          <a:xfrm>
            <a:off x="9738360" y="2313432"/>
            <a:ext cx="502920" cy="164592"/>
          </a:xfrm>
          <a:prstGeom prst="rightArrow">
            <a:avLst/>
          </a:prstGeom>
          <a:solidFill>
            <a:srgbClr val="3E8E5B"/>
          </a:solidFill>
          <a:ln/>
        </p:spPr>
      </p:sp>
      <p:sp>
        <p:nvSpPr>
          <p:cNvPr id="16" name="Shape 14"/>
          <p:cNvSpPr/>
          <p:nvPr/>
        </p:nvSpPr>
        <p:spPr>
          <a:xfrm>
            <a:off x="10378440" y="2057400"/>
            <a:ext cx="685800" cy="685800"/>
          </a:xfrm>
          <a:prstGeom prst="ellipse">
            <a:avLst/>
          </a:prstGeom>
          <a:solidFill>
            <a:srgbClr val="3E8E5B"/>
          </a:solidFill>
          <a:ln/>
        </p:spPr>
      </p:sp>
      <p:sp>
        <p:nvSpPr>
          <p:cNvPr id="17" name="Text 15"/>
          <p:cNvSpPr/>
          <p:nvPr/>
        </p:nvSpPr>
        <p:spPr>
          <a:xfrm>
            <a:off x="10378440" y="20574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0241280" y="2761488"/>
            <a:ext cx="960120" cy="457200"/>
          </a:xfrm>
          <a:prstGeom prst="rect">
            <a:avLst/>
          </a:prstGeom>
          <a:noFill/>
          <a:ln/>
        </p:spPr>
        <p:txBody>
          <a:bodyPr wrap="square" lIns="0" tIns="0" rIns="0" bIns="0" rtlCol="0" anchor="ctr"/>
          <a:lstStyle/>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High Accuracy</a:t>
            </a:r>
            <a:endParaRPr lang="en-US" sz="950" dirty="0"/>
          </a:p>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(Same Domain)</a:t>
            </a:r>
            <a:endParaRPr lang="en-US" sz="950" dirty="0"/>
          </a:p>
        </p:txBody>
      </p:sp>
      <p:sp>
        <p:nvSpPr>
          <p:cNvPr id="19" name="Shape 17"/>
          <p:cNvSpPr/>
          <p:nvPr/>
        </p:nvSpPr>
        <p:spPr>
          <a:xfrm>
            <a:off x="6492240" y="3611880"/>
            <a:ext cx="685800" cy="685800"/>
          </a:xfrm>
          <a:prstGeom prst="ellipse">
            <a:avLst/>
          </a:prstGeom>
          <a:solidFill>
            <a:srgbClr val="1C7293"/>
          </a:solidFill>
          <a:ln/>
        </p:spPr>
      </p:sp>
      <p:sp>
        <p:nvSpPr>
          <p:cNvPr id="20" name="Text 18"/>
          <p:cNvSpPr/>
          <p:nvPr/>
        </p:nvSpPr>
        <p:spPr>
          <a:xfrm>
            <a:off x="6492240" y="361188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1" name="Text 19"/>
          <p:cNvSpPr/>
          <p:nvPr/>
        </p:nvSpPr>
        <p:spPr>
          <a:xfrm>
            <a:off x="6355080" y="4315968"/>
            <a:ext cx="960120" cy="457200"/>
          </a:xfrm>
          <a:prstGeom prst="rect">
            <a:avLst/>
          </a:prstGeom>
          <a:noFill/>
          <a:ln/>
        </p:spPr>
        <p:txBody>
          <a:bodyPr wrap="square" lIns="0" tIns="0" rIns="0" bIns="0" rtlCol="0" anchor="ctr"/>
          <a:lstStyle/>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Classroom B</a:t>
            </a:r>
            <a:endParaRPr lang="en-US" sz="950" dirty="0"/>
          </a:p>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(New Domain)</a:t>
            </a:r>
            <a:endParaRPr lang="en-US" sz="950" dirty="0"/>
          </a:p>
        </p:txBody>
      </p:sp>
      <p:sp>
        <p:nvSpPr>
          <p:cNvPr id="22" name="Shape 20"/>
          <p:cNvSpPr/>
          <p:nvPr/>
        </p:nvSpPr>
        <p:spPr>
          <a:xfrm>
            <a:off x="7360920" y="3867912"/>
            <a:ext cx="502920" cy="164592"/>
          </a:xfrm>
          <a:prstGeom prst="rightArrow">
            <a:avLst/>
          </a:prstGeom>
          <a:solidFill>
            <a:srgbClr val="8593A0"/>
          </a:solidFill>
          <a:ln/>
        </p:spPr>
      </p:sp>
      <p:sp>
        <p:nvSpPr>
          <p:cNvPr id="23" name="Shape 21"/>
          <p:cNvSpPr/>
          <p:nvPr/>
        </p:nvSpPr>
        <p:spPr>
          <a:xfrm>
            <a:off x="8046720" y="3520440"/>
            <a:ext cx="1554480" cy="868680"/>
          </a:xfrm>
          <a:prstGeom prst="roundRect">
            <a:avLst>
              <a:gd name="adj" fmla="val 8421"/>
            </a:avLst>
          </a:prstGeom>
          <a:solidFill>
            <a:srgbClr val="EAF0F5"/>
          </a:solidFill>
          <a:ln/>
        </p:spPr>
      </p:sp>
      <p:sp>
        <p:nvSpPr>
          <p:cNvPr id="24" name="Text 22"/>
          <p:cNvSpPr/>
          <p:nvPr/>
        </p:nvSpPr>
        <p:spPr>
          <a:xfrm>
            <a:off x="8046720" y="3520440"/>
            <a:ext cx="1554480" cy="868680"/>
          </a:xfrm>
          <a:prstGeom prst="rect">
            <a:avLst/>
          </a:prstGeom>
          <a:noFill/>
          <a:ln/>
        </p:spPr>
        <p:txBody>
          <a:bodyPr wrap="square" lIns="0" tIns="0" rIns="0" bIns="0" rtlCol="0" anchor="ctr"/>
          <a:lstStyle/>
          <a:p>
            <a:pPr marL="0" indent="0" algn="ctr">
              <a:lnSpc>
                <a:spcPts val="1400"/>
              </a:lnSpc>
              <a:buNone/>
            </a:pPr>
            <a:r>
              <a:rPr lang="en-US" sz="1200" b="1" dirty="0">
                <a:solidFill>
                  <a:srgbClr val="17233D"/>
                </a:solidFill>
                <a:latin typeface="Calibri" pitchFamily="34" charset="0"/>
                <a:ea typeface="Calibri" pitchFamily="34" charset="-122"/>
                <a:cs typeface="Calibri" pitchFamily="34" charset="-120"/>
              </a:rPr>
              <a:t>Same</a:t>
            </a:r>
            <a:endParaRPr lang="en-US" sz="1200" dirty="0"/>
          </a:p>
          <a:p>
            <a:pPr marL="0" indent="0" algn="ctr">
              <a:lnSpc>
                <a:spcPts val="1400"/>
              </a:lnSpc>
              <a:buNone/>
            </a:pPr>
            <a:r>
              <a:rPr lang="en-US" sz="1200" b="1" dirty="0">
                <a:solidFill>
                  <a:srgbClr val="17233D"/>
                </a:solidFill>
                <a:latin typeface="Calibri" pitchFamily="34" charset="0"/>
                <a:ea typeface="Calibri" pitchFamily="34" charset="-122"/>
                <a:cs typeface="Calibri" pitchFamily="34" charset="-120"/>
              </a:rPr>
              <a:t>Model</a:t>
            </a:r>
            <a:endParaRPr lang="en-US" sz="1200" dirty="0"/>
          </a:p>
        </p:txBody>
      </p:sp>
      <p:sp>
        <p:nvSpPr>
          <p:cNvPr id="25" name="Shape 23"/>
          <p:cNvSpPr/>
          <p:nvPr/>
        </p:nvSpPr>
        <p:spPr>
          <a:xfrm>
            <a:off x="9738360" y="3867912"/>
            <a:ext cx="502920" cy="164592"/>
          </a:xfrm>
          <a:prstGeom prst="rightArrow">
            <a:avLst/>
          </a:prstGeom>
          <a:solidFill>
            <a:srgbClr val="B5473A"/>
          </a:solidFill>
          <a:ln/>
        </p:spPr>
      </p:sp>
      <p:sp>
        <p:nvSpPr>
          <p:cNvPr id="26" name="Shape 24"/>
          <p:cNvSpPr/>
          <p:nvPr/>
        </p:nvSpPr>
        <p:spPr>
          <a:xfrm>
            <a:off x="10378440" y="3611880"/>
            <a:ext cx="685800" cy="685800"/>
          </a:xfrm>
          <a:prstGeom prst="ellipse">
            <a:avLst/>
          </a:prstGeom>
          <a:solidFill>
            <a:srgbClr val="B5473A"/>
          </a:solidFill>
          <a:ln/>
        </p:spPr>
      </p:sp>
      <p:sp>
        <p:nvSpPr>
          <p:cNvPr id="27" name="Text 25"/>
          <p:cNvSpPr/>
          <p:nvPr/>
        </p:nvSpPr>
        <p:spPr>
          <a:xfrm>
            <a:off x="10378440" y="361188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10241280" y="4315968"/>
            <a:ext cx="960120" cy="457200"/>
          </a:xfrm>
          <a:prstGeom prst="rect">
            <a:avLst/>
          </a:prstGeom>
          <a:noFill/>
          <a:ln/>
        </p:spPr>
        <p:txBody>
          <a:bodyPr wrap="square" lIns="0" tIns="0" rIns="0" bIns="0" rtlCol="0" anchor="ctr"/>
          <a:lstStyle/>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Accuracy Drops</a:t>
            </a:r>
            <a:endParaRPr lang="en-US" sz="950" dirty="0"/>
          </a:p>
          <a:p>
            <a:pPr marL="0" indent="0" algn="ctr">
              <a:lnSpc>
                <a:spcPts val="1100"/>
              </a:lnSpc>
              <a:buNone/>
            </a:pPr>
            <a:r>
              <a:rPr lang="en-US" sz="950" dirty="0">
                <a:solidFill>
                  <a:srgbClr val="5D6C77"/>
                </a:solidFill>
                <a:latin typeface="Calibri" pitchFamily="34" charset="0"/>
                <a:ea typeface="Calibri" pitchFamily="34" charset="-122"/>
                <a:cs typeface="Calibri" pitchFamily="34" charset="-120"/>
              </a:rPr>
              <a:t>(Domain Shift)</a:t>
            </a:r>
            <a:endParaRPr lang="en-US" sz="950" dirty="0"/>
          </a:p>
        </p:txBody>
      </p:sp>
      <p:sp>
        <p:nvSpPr>
          <p:cNvPr id="29" name="Text 27"/>
          <p:cNvSpPr/>
          <p:nvPr/>
        </p:nvSpPr>
        <p:spPr>
          <a:xfrm>
            <a:off x="6492240" y="5074920"/>
            <a:ext cx="5120640" cy="548640"/>
          </a:xfrm>
          <a:prstGeom prst="rect">
            <a:avLst/>
          </a:prstGeom>
          <a:noFill/>
          <a:ln/>
        </p:spPr>
        <p:txBody>
          <a:bodyPr wrap="square" lIns="0" tIns="0" rIns="0" bIns="0" rtlCol="0" anchor="ctr"/>
          <a:lstStyle/>
          <a:p>
            <a:pPr marL="0" indent="0">
              <a:buNone/>
            </a:pPr>
            <a:r>
              <a:rPr lang="en-US" sz="1200" i="1" dirty="0">
                <a:solidFill>
                  <a:srgbClr val="5D6C77"/>
                </a:solidFill>
                <a:latin typeface="Calibri" pitchFamily="34" charset="0"/>
                <a:ea typeface="Calibri" pitchFamily="34" charset="-122"/>
                <a:cs typeface="Calibri" pitchFamily="34" charset="-120"/>
              </a:rPr>
              <a:t>This project builds the infrastructure to measure — and eventually close — that gap.</a:t>
            </a:r>
            <a:endParaRPr lang="en-US" sz="1200" dirty="0"/>
          </a:p>
        </p:txBody>
      </p:sp>
      <p:sp>
        <p:nvSpPr>
          <p:cNvPr id="30" name="Text 28"/>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RESEARCH OBJECTIVES</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What We Set Out to Build</a:t>
            </a:r>
            <a:endParaRPr lang="en-US" sz="2800" dirty="0"/>
          </a:p>
        </p:txBody>
      </p:sp>
      <p:sp>
        <p:nvSpPr>
          <p:cNvPr id="4" name="Shape 2"/>
          <p:cNvSpPr/>
          <p:nvPr/>
        </p:nvSpPr>
        <p:spPr>
          <a:xfrm>
            <a:off x="548640" y="1600200"/>
            <a:ext cx="5349240" cy="1828800"/>
          </a:xfrm>
          <a:prstGeom prst="roundRect">
            <a:avLst>
              <a:gd name="adj" fmla="val 5000"/>
            </a:avLst>
          </a:prstGeom>
          <a:solidFill>
            <a:srgbClr val="F5F7F9"/>
          </a:solidFill>
          <a:ln/>
        </p:spPr>
      </p:sp>
      <p:sp>
        <p:nvSpPr>
          <p:cNvPr id="5" name="Text 3"/>
          <p:cNvSpPr/>
          <p:nvPr/>
        </p:nvSpPr>
        <p:spPr>
          <a:xfrm>
            <a:off x="777240" y="1783080"/>
            <a:ext cx="1005840" cy="777240"/>
          </a:xfrm>
          <a:prstGeom prst="rect">
            <a:avLst/>
          </a:prstGeom>
          <a:noFill/>
          <a:ln/>
        </p:spPr>
        <p:txBody>
          <a:bodyPr wrap="square" lIns="0" tIns="0" rIns="0" bIns="0" rtlCol="0" anchor="ctr"/>
          <a:lstStyle/>
          <a:p>
            <a:pPr marL="0" indent="0">
              <a:buNone/>
            </a:pPr>
            <a:r>
              <a:rPr lang="en-US" sz="3400" b="1" dirty="0">
                <a:solidFill>
                  <a:srgbClr val="D6E6F0"/>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1645920" y="1828800"/>
            <a:ext cx="3977640" cy="411480"/>
          </a:xfrm>
          <a:prstGeom prst="rect">
            <a:avLst/>
          </a:prstGeom>
          <a:noFill/>
          <a:ln/>
        </p:spPr>
        <p:txBody>
          <a:bodyPr wrap="square" lIns="0" tIns="0" rIns="0" bIns="0" rtlCol="0" anchor="ctr"/>
          <a:lstStyle/>
          <a:p>
            <a:pPr marL="0" indent="0">
              <a:buNone/>
            </a:pPr>
            <a:r>
              <a:rPr lang="en-US" sz="1550" b="1" dirty="0">
                <a:solidFill>
                  <a:srgbClr val="17233D"/>
                </a:solidFill>
                <a:latin typeface="Cambria" pitchFamily="34" charset="0"/>
                <a:ea typeface="Cambria" pitchFamily="34" charset="-122"/>
                <a:cs typeface="Cambria" pitchFamily="34" charset="-120"/>
              </a:rPr>
              <a:t>Establish a Rigorous Baseline</a:t>
            </a:r>
            <a:endParaRPr lang="en-US" sz="1550" dirty="0"/>
          </a:p>
        </p:txBody>
      </p:sp>
      <p:sp>
        <p:nvSpPr>
          <p:cNvPr id="7" name="Text 5"/>
          <p:cNvSpPr/>
          <p:nvPr/>
        </p:nvSpPr>
        <p:spPr>
          <a:xfrm>
            <a:off x="1645920" y="2258568"/>
            <a:ext cx="3977640" cy="105156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5-fold cross-validated SlowFast model on OUC-CGE, replacing the original paper's single train/test split</a:t>
            </a:r>
            <a:endParaRPr lang="en-US" sz="1150" dirty="0"/>
          </a:p>
        </p:txBody>
      </p:sp>
      <p:sp>
        <p:nvSpPr>
          <p:cNvPr id="8" name="Shape 6"/>
          <p:cNvSpPr/>
          <p:nvPr/>
        </p:nvSpPr>
        <p:spPr>
          <a:xfrm>
            <a:off x="6263640" y="1600200"/>
            <a:ext cx="5349240" cy="1828800"/>
          </a:xfrm>
          <a:prstGeom prst="roundRect">
            <a:avLst>
              <a:gd name="adj" fmla="val 5000"/>
            </a:avLst>
          </a:prstGeom>
          <a:solidFill>
            <a:srgbClr val="F5F7F9"/>
          </a:solidFill>
          <a:ln/>
        </p:spPr>
      </p:sp>
      <p:sp>
        <p:nvSpPr>
          <p:cNvPr id="9" name="Text 7"/>
          <p:cNvSpPr/>
          <p:nvPr/>
        </p:nvSpPr>
        <p:spPr>
          <a:xfrm>
            <a:off x="6492240" y="1783080"/>
            <a:ext cx="1005840" cy="777240"/>
          </a:xfrm>
          <a:prstGeom prst="rect">
            <a:avLst/>
          </a:prstGeom>
          <a:noFill/>
          <a:ln/>
        </p:spPr>
        <p:txBody>
          <a:bodyPr wrap="square" lIns="0" tIns="0" rIns="0" bIns="0" rtlCol="0" anchor="ctr"/>
          <a:lstStyle/>
          <a:p>
            <a:pPr marL="0" indent="0">
              <a:buNone/>
            </a:pPr>
            <a:r>
              <a:rPr lang="en-US" sz="3400" b="1" dirty="0">
                <a:solidFill>
                  <a:srgbClr val="D6E6F0"/>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7360920" y="1828800"/>
            <a:ext cx="3977640" cy="411480"/>
          </a:xfrm>
          <a:prstGeom prst="rect">
            <a:avLst/>
          </a:prstGeom>
          <a:noFill/>
          <a:ln/>
        </p:spPr>
        <p:txBody>
          <a:bodyPr wrap="square" lIns="0" tIns="0" rIns="0" bIns="0" rtlCol="0" anchor="ctr"/>
          <a:lstStyle/>
          <a:p>
            <a:pPr marL="0" indent="0">
              <a:buNone/>
            </a:pPr>
            <a:r>
              <a:rPr lang="en-US" sz="1550" b="1" dirty="0">
                <a:solidFill>
                  <a:srgbClr val="17233D"/>
                </a:solidFill>
                <a:latin typeface="Cambria" pitchFamily="34" charset="0"/>
                <a:ea typeface="Cambria" pitchFamily="34" charset="-122"/>
                <a:cs typeface="Cambria" pitchFamily="34" charset="-120"/>
              </a:rPr>
              <a:t>Bridge Two Disparate Datasets</a:t>
            </a:r>
            <a:endParaRPr lang="en-US" sz="1550" dirty="0"/>
          </a:p>
        </p:txBody>
      </p:sp>
      <p:sp>
        <p:nvSpPr>
          <p:cNvPr id="11" name="Text 9"/>
          <p:cNvSpPr/>
          <p:nvPr/>
        </p:nvSpPr>
        <p:spPr>
          <a:xfrm>
            <a:off x="7360920" y="2258568"/>
            <a:ext cx="3977640" cy="105156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Unify OUC-CGE (video, group-level, 3-class) and COLER (multi-modal frames, individual-level, 4-class) into one taxonomy</a:t>
            </a:r>
            <a:endParaRPr lang="en-US" sz="1150" dirty="0"/>
          </a:p>
        </p:txBody>
      </p:sp>
      <p:sp>
        <p:nvSpPr>
          <p:cNvPr id="12" name="Shape 10"/>
          <p:cNvSpPr/>
          <p:nvPr/>
        </p:nvSpPr>
        <p:spPr>
          <a:xfrm>
            <a:off x="548640" y="3703320"/>
            <a:ext cx="5349240" cy="1828800"/>
          </a:xfrm>
          <a:prstGeom prst="roundRect">
            <a:avLst>
              <a:gd name="adj" fmla="val 5000"/>
            </a:avLst>
          </a:prstGeom>
          <a:solidFill>
            <a:srgbClr val="F5F7F9"/>
          </a:solidFill>
          <a:ln/>
        </p:spPr>
      </p:sp>
      <p:sp>
        <p:nvSpPr>
          <p:cNvPr id="13" name="Text 11"/>
          <p:cNvSpPr/>
          <p:nvPr/>
        </p:nvSpPr>
        <p:spPr>
          <a:xfrm>
            <a:off x="777240" y="3886200"/>
            <a:ext cx="1005840" cy="777240"/>
          </a:xfrm>
          <a:prstGeom prst="rect">
            <a:avLst/>
          </a:prstGeom>
          <a:noFill/>
          <a:ln/>
        </p:spPr>
        <p:txBody>
          <a:bodyPr wrap="square" lIns="0" tIns="0" rIns="0" bIns="0" rtlCol="0" anchor="ctr"/>
          <a:lstStyle/>
          <a:p>
            <a:pPr marL="0" indent="0">
              <a:buNone/>
            </a:pPr>
            <a:r>
              <a:rPr lang="en-US" sz="3400" b="1" dirty="0">
                <a:solidFill>
                  <a:srgbClr val="D6E6F0"/>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1645920" y="3931920"/>
            <a:ext cx="3977640" cy="411480"/>
          </a:xfrm>
          <a:prstGeom prst="rect">
            <a:avLst/>
          </a:prstGeom>
          <a:noFill/>
          <a:ln/>
        </p:spPr>
        <p:txBody>
          <a:bodyPr wrap="square" lIns="0" tIns="0" rIns="0" bIns="0" rtlCol="0" anchor="ctr"/>
          <a:lstStyle/>
          <a:p>
            <a:pPr marL="0" indent="0">
              <a:buNone/>
            </a:pPr>
            <a:r>
              <a:rPr lang="en-US" sz="1550" b="1" dirty="0">
                <a:solidFill>
                  <a:srgbClr val="17233D"/>
                </a:solidFill>
                <a:latin typeface="Cambria" pitchFamily="34" charset="0"/>
                <a:ea typeface="Cambria" pitchFamily="34" charset="-122"/>
                <a:cs typeface="Cambria" pitchFamily="34" charset="-120"/>
              </a:rPr>
              <a:t>Build Reusable Infrastructure</a:t>
            </a:r>
            <a:endParaRPr lang="en-US" sz="1550" dirty="0"/>
          </a:p>
        </p:txBody>
      </p:sp>
      <p:sp>
        <p:nvSpPr>
          <p:cNvPr id="15" name="Text 13"/>
          <p:cNvSpPr/>
          <p:nvPr/>
        </p:nvSpPr>
        <p:spPr>
          <a:xfrm>
            <a:off x="1645920" y="4361688"/>
            <a:ext cx="3977640" cy="105156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A production-grade, modular pipeline — preprocessing, extraction, representation, training — with zero raw-file mutation</a:t>
            </a:r>
            <a:endParaRPr lang="en-US" sz="1150" dirty="0"/>
          </a:p>
        </p:txBody>
      </p:sp>
      <p:sp>
        <p:nvSpPr>
          <p:cNvPr id="16" name="Shape 14"/>
          <p:cNvSpPr/>
          <p:nvPr/>
        </p:nvSpPr>
        <p:spPr>
          <a:xfrm>
            <a:off x="6263640" y="3703320"/>
            <a:ext cx="5349240" cy="1828800"/>
          </a:xfrm>
          <a:prstGeom prst="roundRect">
            <a:avLst>
              <a:gd name="adj" fmla="val 5000"/>
            </a:avLst>
          </a:prstGeom>
          <a:solidFill>
            <a:srgbClr val="F5F7F9"/>
          </a:solidFill>
          <a:ln/>
        </p:spPr>
      </p:sp>
      <p:sp>
        <p:nvSpPr>
          <p:cNvPr id="17" name="Text 15"/>
          <p:cNvSpPr/>
          <p:nvPr/>
        </p:nvSpPr>
        <p:spPr>
          <a:xfrm>
            <a:off x="6492240" y="3886200"/>
            <a:ext cx="1005840" cy="777240"/>
          </a:xfrm>
          <a:prstGeom prst="rect">
            <a:avLst/>
          </a:prstGeom>
          <a:noFill/>
          <a:ln/>
        </p:spPr>
        <p:txBody>
          <a:bodyPr wrap="square" lIns="0" tIns="0" rIns="0" bIns="0" rtlCol="0" anchor="ctr"/>
          <a:lstStyle/>
          <a:p>
            <a:pPr marL="0" indent="0">
              <a:buNone/>
            </a:pPr>
            <a:r>
              <a:rPr lang="en-US" sz="3400" b="1" dirty="0">
                <a:solidFill>
                  <a:srgbClr val="D6E6F0"/>
                </a:solidFill>
                <a:latin typeface="Cambria" pitchFamily="34" charset="0"/>
                <a:ea typeface="Cambria" pitchFamily="34" charset="-122"/>
                <a:cs typeface="Cambria" pitchFamily="34" charset="-120"/>
              </a:rPr>
              <a:t>04</a:t>
            </a:r>
            <a:endParaRPr lang="en-US" sz="3400" dirty="0"/>
          </a:p>
        </p:txBody>
      </p:sp>
      <p:sp>
        <p:nvSpPr>
          <p:cNvPr id="18" name="Text 16"/>
          <p:cNvSpPr/>
          <p:nvPr/>
        </p:nvSpPr>
        <p:spPr>
          <a:xfrm>
            <a:off x="7360920" y="3931920"/>
            <a:ext cx="3977640" cy="411480"/>
          </a:xfrm>
          <a:prstGeom prst="rect">
            <a:avLst/>
          </a:prstGeom>
          <a:noFill/>
          <a:ln/>
        </p:spPr>
        <p:txBody>
          <a:bodyPr wrap="square" lIns="0" tIns="0" rIns="0" bIns="0" rtlCol="0" anchor="ctr"/>
          <a:lstStyle/>
          <a:p>
            <a:pPr marL="0" indent="0">
              <a:buNone/>
            </a:pPr>
            <a:r>
              <a:rPr lang="en-US" sz="1550" b="1" dirty="0">
                <a:solidFill>
                  <a:srgbClr val="17233D"/>
                </a:solidFill>
                <a:latin typeface="Cambria" pitchFamily="34" charset="0"/>
                <a:ea typeface="Cambria" pitchFamily="34" charset="-122"/>
                <a:cs typeface="Cambria" pitchFamily="34" charset="-120"/>
              </a:rPr>
              <a:t>Quantify Cross-Dataset Transfer</a:t>
            </a:r>
            <a:endParaRPr lang="en-US" sz="1550" dirty="0"/>
          </a:p>
        </p:txBody>
      </p:sp>
      <p:sp>
        <p:nvSpPr>
          <p:cNvPr id="19" name="Text 17"/>
          <p:cNvSpPr/>
          <p:nvPr/>
        </p:nvSpPr>
        <p:spPr>
          <a:xfrm>
            <a:off x="7360920" y="4361688"/>
            <a:ext cx="3977640" cy="105156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Run controlled Experiment A settings to measure how much accuracy is lost when a model crosses datasets</a:t>
            </a:r>
            <a:endParaRPr lang="en-US" sz="1150" dirty="0"/>
          </a:p>
        </p:txBody>
      </p:sp>
      <p:sp>
        <p:nvSpPr>
          <p:cNvPr id="20" name="Text 18"/>
          <p:cNvSpPr/>
          <p:nvPr/>
        </p:nvSpPr>
        <p:spPr>
          <a:xfrm>
            <a:off x="548640" y="5852160"/>
            <a:ext cx="11064240" cy="457200"/>
          </a:xfrm>
          <a:prstGeom prst="rect">
            <a:avLst/>
          </a:prstGeom>
          <a:noFill/>
          <a:ln/>
        </p:spPr>
        <p:txBody>
          <a:bodyPr wrap="square" lIns="0" tIns="0" rIns="0" bIns="0" rtlCol="0" anchor="ctr"/>
          <a:lstStyle/>
          <a:p>
            <a:pPr marL="0" indent="0">
              <a:buNone/>
            </a:pPr>
            <a:r>
              <a:rPr lang="en-US" sz="1200" b="1" dirty="0">
                <a:solidFill>
                  <a:srgbClr val="0A4C7A"/>
                </a:solidFill>
                <a:latin typeface="Calibri" pitchFamily="34" charset="0"/>
                <a:ea typeface="Calibri" pitchFamily="34" charset="-122"/>
                <a:cs typeface="Calibri" pitchFamily="34" charset="-120"/>
              </a:rPr>
              <a:t>EXPECTED OUTCOME:  a validated, reusable cross-dataset benchmark and framework for future engagement-recognition research — not a one-off script.</a:t>
            </a:r>
            <a:endParaRPr lang="en-US" sz="1200" dirty="0"/>
          </a:p>
        </p:txBody>
      </p:sp>
      <p:sp>
        <p:nvSpPr>
          <p:cNvPr id="21" name="Text 19"/>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EXISTING PROBLEM</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Single-Dataset Models Don't Generalize</a:t>
            </a:r>
            <a:endParaRPr lang="en-US" sz="2800" dirty="0"/>
          </a:p>
        </p:txBody>
      </p:sp>
      <p:sp>
        <p:nvSpPr>
          <p:cNvPr id="4" name="Text 2"/>
          <p:cNvSpPr/>
          <p:nvPr/>
        </p:nvSpPr>
        <p:spPr>
          <a:xfrm>
            <a:off x="548640" y="1600200"/>
            <a:ext cx="5577840" cy="4206240"/>
          </a:xfrm>
          <a:prstGeom prst="rect">
            <a:avLst/>
          </a:prstGeom>
          <a:noFill/>
          <a:ln/>
        </p:spPr>
        <p:txBody>
          <a:bodyPr wrap="square" lIns="0" tIns="0" rIns="0" bIns="0" rtlCol="0" anchor="t"/>
          <a:lstStyle/>
          <a:p>
            <a:pPr marL="203200" indent="-203200">
              <a:spcAft>
                <a:spcPts val="1600"/>
              </a:spcAft>
              <a:buSzPct val="100000"/>
              <a:buChar char="•"/>
            </a:pPr>
            <a:r>
              <a:rPr lang="en-US" sz="1450" dirty="0">
                <a:solidFill>
                  <a:srgbClr val="26333D"/>
                </a:solidFill>
                <a:latin typeface="Calibri" pitchFamily="34" charset="0"/>
                <a:ea typeface="Calibri" pitchFamily="34" charset="-122"/>
                <a:cs typeface="Calibri" pitchFamily="34" charset="-120"/>
              </a:rPr>
              <a:t>Nearly all published engagement-recognition models are trained and evaluated on one dataset, from one country and one camera setup</a:t>
            </a:r>
            <a:endParaRPr lang="en-US" sz="1450" dirty="0"/>
          </a:p>
          <a:p>
            <a:pPr marL="203200" indent="-203200">
              <a:spcAft>
                <a:spcPts val="1600"/>
              </a:spcAft>
              <a:buSzPct val="100000"/>
              <a:buChar char="•"/>
            </a:pPr>
            <a:r>
              <a:rPr lang="en-US" sz="1450" dirty="0">
                <a:solidFill>
                  <a:srgbClr val="26333D"/>
                </a:solidFill>
                <a:latin typeface="Calibri" pitchFamily="34" charset="0"/>
                <a:ea typeface="Calibri" pitchFamily="34" charset="-122"/>
                <a:cs typeface="Calibri" pitchFamily="34" charset="-120"/>
              </a:rPr>
              <a:t>Reported accuracies (often 90%+) reflect performance within that single, narrow domain — not real-world robustness</a:t>
            </a:r>
            <a:endParaRPr lang="en-US" sz="1450" dirty="0"/>
          </a:p>
          <a:p>
            <a:pPr marL="203200" indent="-203200">
              <a:spcAft>
                <a:spcPts val="1600"/>
              </a:spcAft>
              <a:buSzPct val="100000"/>
              <a:buChar char="•"/>
            </a:pPr>
            <a:r>
              <a:rPr lang="en-US" sz="1450" dirty="0">
                <a:solidFill>
                  <a:srgbClr val="26333D"/>
                </a:solidFill>
                <a:latin typeface="Calibri" pitchFamily="34" charset="0"/>
                <a:ea typeface="Calibri" pitchFamily="34" charset="-122"/>
                <a:cs typeface="Calibri" pitchFamily="34" charset="-120"/>
              </a:rPr>
              <a:t>No prior work has tested whether OUC-CGE-style and COLER-style models can substitute for each other</a:t>
            </a:r>
            <a:endParaRPr lang="en-US" sz="1450" dirty="0"/>
          </a:p>
          <a:p>
            <a:pPr marL="203200" indent="-203200">
              <a:spcAft>
                <a:spcPts val="1600"/>
              </a:spcAft>
              <a:buSzPct val="100000"/>
              <a:buChar char="•"/>
            </a:pPr>
            <a:r>
              <a:rPr lang="en-US" sz="1450" dirty="0">
                <a:solidFill>
                  <a:srgbClr val="26333D"/>
                </a:solidFill>
                <a:latin typeface="Calibri" pitchFamily="34" charset="0"/>
                <a:ea typeface="Calibri" pitchFamily="34" charset="-122"/>
                <a:cs typeface="Calibri" pitchFamily="34" charset="-120"/>
              </a:rPr>
              <a:t>Without cross-dataset evaluation, we cannot know if these systems are ready for deployment in a genuinely new classroom</a:t>
            </a:r>
            <a:endParaRPr lang="en-US" sz="1450" dirty="0"/>
          </a:p>
        </p:txBody>
      </p:sp>
      <p:sp>
        <p:nvSpPr>
          <p:cNvPr id="5" name="Shape 3"/>
          <p:cNvSpPr/>
          <p:nvPr/>
        </p:nvSpPr>
        <p:spPr>
          <a:xfrm>
            <a:off x="6492240" y="1600200"/>
            <a:ext cx="5120640" cy="1965960"/>
          </a:xfrm>
          <a:prstGeom prst="roundRect">
            <a:avLst>
              <a:gd name="adj" fmla="val 4651"/>
            </a:avLst>
          </a:prstGeom>
          <a:solidFill>
            <a:srgbClr val="FBEFE9"/>
          </a:solidFill>
          <a:ln w="12700">
            <a:solidFill>
              <a:srgbClr val="B5473A"/>
            </a:solidFill>
            <a:prstDash val="solid"/>
          </a:ln>
        </p:spPr>
      </p:sp>
      <p:sp>
        <p:nvSpPr>
          <p:cNvPr id="6" name="Text 4"/>
          <p:cNvSpPr/>
          <p:nvPr/>
        </p:nvSpPr>
        <p:spPr>
          <a:xfrm>
            <a:off x="6720840" y="1737360"/>
            <a:ext cx="4663440" cy="274320"/>
          </a:xfrm>
          <a:prstGeom prst="rect">
            <a:avLst/>
          </a:prstGeom>
          <a:noFill/>
          <a:ln/>
        </p:spPr>
        <p:txBody>
          <a:bodyPr wrap="square" lIns="0" tIns="0" rIns="0" bIns="0" rtlCol="0" anchor="ctr"/>
          <a:lstStyle/>
          <a:p>
            <a:pPr marL="0" indent="0">
              <a:buNone/>
            </a:pPr>
            <a:r>
              <a:rPr lang="en-US" sz="1100" b="1" kern="0" spc="100" dirty="0">
                <a:solidFill>
                  <a:srgbClr val="B5473A"/>
                </a:solidFill>
                <a:latin typeface="Calibri" pitchFamily="34" charset="0"/>
                <a:ea typeface="Calibri" pitchFamily="34" charset="-122"/>
                <a:cs typeface="Calibri" pitchFamily="34" charset="-120"/>
              </a:rPr>
              <a:t>TYPICAL PRIOR WORK</a:t>
            </a:r>
            <a:endParaRPr lang="en-US" sz="1100" dirty="0"/>
          </a:p>
        </p:txBody>
      </p:sp>
      <p:sp>
        <p:nvSpPr>
          <p:cNvPr id="7" name="Text 5"/>
          <p:cNvSpPr/>
          <p:nvPr/>
        </p:nvSpPr>
        <p:spPr>
          <a:xfrm>
            <a:off x="6720840" y="2057400"/>
            <a:ext cx="4663440" cy="141732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Train on Dataset A</a:t>
            </a:r>
            <a:endParaRPr lang="en-US" sz="1200" dirty="0"/>
          </a:p>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Test on Dataset A only</a:t>
            </a:r>
            <a:endParaRPr lang="en-US" sz="1200" dirty="0"/>
          </a:p>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Report high accuracy</a:t>
            </a:r>
            <a:endParaRPr lang="en-US" sz="1200" dirty="0"/>
          </a:p>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Never test on Dataset B</a:t>
            </a:r>
            <a:endParaRPr lang="en-US" sz="1200" dirty="0"/>
          </a:p>
        </p:txBody>
      </p:sp>
      <p:sp>
        <p:nvSpPr>
          <p:cNvPr id="8" name="Shape 6"/>
          <p:cNvSpPr/>
          <p:nvPr/>
        </p:nvSpPr>
        <p:spPr>
          <a:xfrm>
            <a:off x="6492240" y="3794760"/>
            <a:ext cx="5120640" cy="1965960"/>
          </a:xfrm>
          <a:prstGeom prst="roundRect">
            <a:avLst>
              <a:gd name="adj" fmla="val 4651"/>
            </a:avLst>
          </a:prstGeom>
          <a:solidFill>
            <a:srgbClr val="E9F3EE"/>
          </a:solidFill>
          <a:ln w="12700">
            <a:solidFill>
              <a:srgbClr val="3E8E5B"/>
            </a:solidFill>
            <a:prstDash val="solid"/>
          </a:ln>
        </p:spPr>
      </p:sp>
      <p:sp>
        <p:nvSpPr>
          <p:cNvPr id="9" name="Text 7"/>
          <p:cNvSpPr/>
          <p:nvPr/>
        </p:nvSpPr>
        <p:spPr>
          <a:xfrm>
            <a:off x="6720840" y="3931920"/>
            <a:ext cx="4663440" cy="274320"/>
          </a:xfrm>
          <a:prstGeom prst="rect">
            <a:avLst/>
          </a:prstGeom>
          <a:noFill/>
          <a:ln/>
        </p:spPr>
        <p:txBody>
          <a:bodyPr wrap="square" lIns="0" tIns="0" rIns="0" bIns="0" rtlCol="0" anchor="ctr"/>
          <a:lstStyle/>
          <a:p>
            <a:pPr marL="0" indent="0">
              <a:buNone/>
            </a:pPr>
            <a:r>
              <a:rPr lang="en-US" sz="1100" b="1" kern="0" spc="100" dirty="0">
                <a:solidFill>
                  <a:srgbClr val="3E8E5B"/>
                </a:solidFill>
                <a:latin typeface="Calibri" pitchFamily="34" charset="0"/>
                <a:ea typeface="Calibri" pitchFamily="34" charset="-122"/>
                <a:cs typeface="Calibri" pitchFamily="34" charset="-120"/>
              </a:rPr>
              <a:t>THIS PROJECT</a:t>
            </a:r>
            <a:endParaRPr lang="en-US" sz="1100" dirty="0"/>
          </a:p>
        </p:txBody>
      </p:sp>
      <p:sp>
        <p:nvSpPr>
          <p:cNvPr id="10" name="Text 8"/>
          <p:cNvSpPr/>
          <p:nvPr/>
        </p:nvSpPr>
        <p:spPr>
          <a:xfrm>
            <a:off x="6720840" y="4251960"/>
            <a:ext cx="4663440" cy="141732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Train on Dataset A and Dataset B separately</a:t>
            </a:r>
            <a:endParaRPr lang="en-US" sz="1200" dirty="0"/>
          </a:p>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Test each model on the OTHER dataset (zero fine-tuning)</a:t>
            </a:r>
            <a:endParaRPr lang="en-US" sz="1200" dirty="0"/>
          </a:p>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Quantify the exact accuracy drop from domain shift</a:t>
            </a:r>
            <a:endParaRPr lang="en-US" sz="1200" dirty="0"/>
          </a:p>
          <a:p>
            <a:pPr marL="203200" indent="-203200">
              <a:spcAft>
                <a:spcPts val="600"/>
              </a:spcAft>
              <a:buSzPct val="100000"/>
              <a:buChar char="•"/>
            </a:pPr>
            <a:r>
              <a:rPr lang="en-US" sz="1200" dirty="0">
                <a:solidFill>
                  <a:srgbClr val="26333D"/>
                </a:solidFill>
                <a:latin typeface="Calibri" pitchFamily="34" charset="0"/>
                <a:ea typeface="Calibri" pitchFamily="34" charset="-122"/>
                <a:cs typeface="Calibri" pitchFamily="34" charset="-120"/>
              </a:rPr>
              <a:t>Build toward joint training that closes the gap</a:t>
            </a:r>
            <a:endParaRPr lang="en-US" sz="1200" dirty="0"/>
          </a:p>
        </p:txBody>
      </p:sp>
      <p:sp>
        <p:nvSpPr>
          <p:cNvPr id="11" name="Text 9"/>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DATASETS</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Two Datasets, Two Countries, Two Structures</a:t>
            </a:r>
            <a:endParaRPr lang="en-US" sz="2800" dirty="0"/>
          </a:p>
        </p:txBody>
      </p:sp>
      <p:sp>
        <p:nvSpPr>
          <p:cNvPr id="4" name="Shape 2"/>
          <p:cNvSpPr/>
          <p:nvPr/>
        </p:nvSpPr>
        <p:spPr>
          <a:xfrm>
            <a:off x="548640" y="1508760"/>
            <a:ext cx="5257800" cy="3246120"/>
          </a:xfrm>
          <a:prstGeom prst="roundRect">
            <a:avLst>
              <a:gd name="adj" fmla="val 2817"/>
            </a:avLst>
          </a:prstGeom>
          <a:solidFill>
            <a:srgbClr val="F5F7F9"/>
          </a:solidFill>
          <a:ln w="15875">
            <a:solidFill>
              <a:srgbClr val="0A4C7A"/>
            </a:solidFill>
            <a:prstDash val="solid"/>
          </a:ln>
        </p:spPr>
      </p:sp>
      <p:sp>
        <p:nvSpPr>
          <p:cNvPr id="5" name="Shape 3"/>
          <p:cNvSpPr/>
          <p:nvPr/>
        </p:nvSpPr>
        <p:spPr>
          <a:xfrm>
            <a:off x="548640" y="1508760"/>
            <a:ext cx="5257800" cy="731520"/>
          </a:xfrm>
          <a:prstGeom prst="roundRect">
            <a:avLst>
              <a:gd name="adj" fmla="val 12500"/>
            </a:avLst>
          </a:prstGeom>
          <a:solidFill>
            <a:srgbClr val="0A4C7A"/>
          </a:solidFill>
          <a:ln/>
        </p:spPr>
      </p:sp>
      <p:sp>
        <p:nvSpPr>
          <p:cNvPr id="6" name="Shape 4"/>
          <p:cNvSpPr/>
          <p:nvPr/>
        </p:nvSpPr>
        <p:spPr>
          <a:xfrm>
            <a:off x="548640" y="1874520"/>
            <a:ext cx="5257800" cy="365760"/>
          </a:xfrm>
          <a:prstGeom prst="rect">
            <a:avLst/>
          </a:prstGeom>
          <a:solidFill>
            <a:srgbClr val="0A4C7A"/>
          </a:solidFill>
          <a:ln/>
        </p:spPr>
      </p:sp>
      <p:sp>
        <p:nvSpPr>
          <p:cNvPr id="7" name="Text 5"/>
          <p:cNvSpPr/>
          <p:nvPr/>
        </p:nvSpPr>
        <p:spPr>
          <a:xfrm>
            <a:off x="822960" y="1581912"/>
            <a:ext cx="470916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OUC-CGE</a:t>
            </a:r>
            <a:endParaRPr lang="en-US" sz="1900" dirty="0"/>
          </a:p>
        </p:txBody>
      </p:sp>
      <p:sp>
        <p:nvSpPr>
          <p:cNvPr id="8" name="Text 6"/>
          <p:cNvSpPr/>
          <p:nvPr/>
        </p:nvSpPr>
        <p:spPr>
          <a:xfrm>
            <a:off x="822960" y="1920240"/>
            <a:ext cx="4709160" cy="274320"/>
          </a:xfrm>
          <a:prstGeom prst="rect">
            <a:avLst/>
          </a:prstGeom>
          <a:noFill/>
          <a:ln/>
        </p:spPr>
        <p:txBody>
          <a:bodyPr wrap="square" lIns="0" tIns="0" rIns="0" bIns="0" rtlCol="0" anchor="ctr"/>
          <a:lstStyle/>
          <a:p>
            <a:pPr marL="0" indent="0">
              <a:buNone/>
            </a:pPr>
            <a:r>
              <a:rPr lang="en-US" sz="1150" i="1" dirty="0">
                <a:solidFill>
                  <a:srgbClr val="E4EEF4"/>
                </a:solidFill>
                <a:latin typeface="Calibri" pitchFamily="34" charset="0"/>
                <a:ea typeface="Calibri" pitchFamily="34" charset="-122"/>
                <a:cs typeface="Calibri" pitchFamily="34" charset="-120"/>
              </a:rPr>
              <a:t>China · Group-Level Engagement</a:t>
            </a:r>
            <a:endParaRPr lang="en-US" sz="1150" dirty="0"/>
          </a:p>
        </p:txBody>
      </p:sp>
      <p:sp>
        <p:nvSpPr>
          <p:cNvPr id="9" name="Text 7"/>
          <p:cNvSpPr/>
          <p:nvPr/>
        </p:nvSpPr>
        <p:spPr>
          <a:xfrm>
            <a:off x="822960" y="2404872"/>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FORMAT</a:t>
            </a:r>
            <a:endParaRPr lang="en-US" sz="1000" dirty="0"/>
          </a:p>
        </p:txBody>
      </p:sp>
      <p:sp>
        <p:nvSpPr>
          <p:cNvPr id="10" name="Text 8"/>
          <p:cNvSpPr/>
          <p:nvPr/>
        </p:nvSpPr>
        <p:spPr>
          <a:xfrm>
            <a:off x="822960" y="2615184"/>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7,439 raw .mp4 clips (10s, 30fps)</a:t>
            </a:r>
            <a:endParaRPr lang="en-US" sz="1200" dirty="0"/>
          </a:p>
        </p:txBody>
      </p:sp>
      <p:sp>
        <p:nvSpPr>
          <p:cNvPr id="11" name="Text 9"/>
          <p:cNvSpPr/>
          <p:nvPr/>
        </p:nvSpPr>
        <p:spPr>
          <a:xfrm>
            <a:off x="822960" y="2980944"/>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GRANULARITY</a:t>
            </a:r>
            <a:endParaRPr lang="en-US" sz="1000" dirty="0"/>
          </a:p>
        </p:txBody>
      </p:sp>
      <p:sp>
        <p:nvSpPr>
          <p:cNvPr id="12" name="Text 10"/>
          <p:cNvSpPr/>
          <p:nvPr/>
        </p:nvSpPr>
        <p:spPr>
          <a:xfrm>
            <a:off x="822960" y="3191256"/>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Whole classroom in frame</a:t>
            </a:r>
            <a:endParaRPr lang="en-US" sz="1200" dirty="0"/>
          </a:p>
        </p:txBody>
      </p:sp>
      <p:sp>
        <p:nvSpPr>
          <p:cNvPr id="13" name="Text 11"/>
          <p:cNvSpPr/>
          <p:nvPr/>
        </p:nvSpPr>
        <p:spPr>
          <a:xfrm>
            <a:off x="822960" y="3557016"/>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CLASSES (3)</a:t>
            </a:r>
            <a:endParaRPr lang="en-US" sz="1000" dirty="0"/>
          </a:p>
        </p:txBody>
      </p:sp>
      <p:sp>
        <p:nvSpPr>
          <p:cNvPr id="14" name="Text 12"/>
          <p:cNvSpPr/>
          <p:nvPr/>
        </p:nvSpPr>
        <p:spPr>
          <a:xfrm>
            <a:off x="822960" y="3767328"/>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High · Mid · Low</a:t>
            </a:r>
            <a:endParaRPr lang="en-US" sz="1200" dirty="0"/>
          </a:p>
        </p:txBody>
      </p:sp>
      <p:sp>
        <p:nvSpPr>
          <p:cNvPr id="15" name="Text 13"/>
          <p:cNvSpPr/>
          <p:nvPr/>
        </p:nvSpPr>
        <p:spPr>
          <a:xfrm>
            <a:off x="822960" y="4133088"/>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ORGANIZATION</a:t>
            </a:r>
            <a:endParaRPr lang="en-US" sz="1000" dirty="0"/>
          </a:p>
        </p:txBody>
      </p:sp>
      <p:sp>
        <p:nvSpPr>
          <p:cNvPr id="16" name="Text 14"/>
          <p:cNvSpPr/>
          <p:nvPr/>
        </p:nvSpPr>
        <p:spPr>
          <a:xfrm>
            <a:off x="822960" y="4343400"/>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Flat class folders (high/, mid/, low/)</a:t>
            </a:r>
            <a:endParaRPr lang="en-US" sz="1200" dirty="0"/>
          </a:p>
        </p:txBody>
      </p:sp>
      <p:sp>
        <p:nvSpPr>
          <p:cNvPr id="17" name="Shape 15"/>
          <p:cNvSpPr/>
          <p:nvPr/>
        </p:nvSpPr>
        <p:spPr>
          <a:xfrm>
            <a:off x="6126480" y="1508760"/>
            <a:ext cx="5257800" cy="3246120"/>
          </a:xfrm>
          <a:prstGeom prst="roundRect">
            <a:avLst>
              <a:gd name="adj" fmla="val 2817"/>
            </a:avLst>
          </a:prstGeom>
          <a:solidFill>
            <a:srgbClr val="F5F7F9"/>
          </a:solidFill>
          <a:ln w="15875">
            <a:solidFill>
              <a:srgbClr val="1C7293"/>
            </a:solidFill>
            <a:prstDash val="solid"/>
          </a:ln>
        </p:spPr>
      </p:sp>
      <p:sp>
        <p:nvSpPr>
          <p:cNvPr id="18" name="Shape 16"/>
          <p:cNvSpPr/>
          <p:nvPr/>
        </p:nvSpPr>
        <p:spPr>
          <a:xfrm>
            <a:off x="6126480" y="1508760"/>
            <a:ext cx="5257800" cy="731520"/>
          </a:xfrm>
          <a:prstGeom prst="roundRect">
            <a:avLst>
              <a:gd name="adj" fmla="val 12500"/>
            </a:avLst>
          </a:prstGeom>
          <a:solidFill>
            <a:srgbClr val="1C7293"/>
          </a:solidFill>
          <a:ln/>
        </p:spPr>
      </p:sp>
      <p:sp>
        <p:nvSpPr>
          <p:cNvPr id="19" name="Shape 17"/>
          <p:cNvSpPr/>
          <p:nvPr/>
        </p:nvSpPr>
        <p:spPr>
          <a:xfrm>
            <a:off x="6126480" y="1874520"/>
            <a:ext cx="5257800" cy="365760"/>
          </a:xfrm>
          <a:prstGeom prst="rect">
            <a:avLst/>
          </a:prstGeom>
          <a:solidFill>
            <a:srgbClr val="1C7293"/>
          </a:solidFill>
          <a:ln/>
        </p:spPr>
      </p:sp>
      <p:sp>
        <p:nvSpPr>
          <p:cNvPr id="20" name="Text 18"/>
          <p:cNvSpPr/>
          <p:nvPr/>
        </p:nvSpPr>
        <p:spPr>
          <a:xfrm>
            <a:off x="6400800" y="1581912"/>
            <a:ext cx="470916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COLER</a:t>
            </a:r>
            <a:endParaRPr lang="en-US" sz="1900" dirty="0"/>
          </a:p>
        </p:txBody>
      </p:sp>
      <p:sp>
        <p:nvSpPr>
          <p:cNvPr id="21" name="Text 19"/>
          <p:cNvSpPr/>
          <p:nvPr/>
        </p:nvSpPr>
        <p:spPr>
          <a:xfrm>
            <a:off x="6400800" y="1920240"/>
            <a:ext cx="4709160" cy="274320"/>
          </a:xfrm>
          <a:prstGeom prst="rect">
            <a:avLst/>
          </a:prstGeom>
          <a:noFill/>
          <a:ln/>
        </p:spPr>
        <p:txBody>
          <a:bodyPr wrap="square" lIns="0" tIns="0" rIns="0" bIns="0" rtlCol="0" anchor="ctr"/>
          <a:lstStyle/>
          <a:p>
            <a:pPr marL="0" indent="0">
              <a:buNone/>
            </a:pPr>
            <a:r>
              <a:rPr lang="en-US" sz="1150" i="1" dirty="0">
                <a:solidFill>
                  <a:srgbClr val="E4EEF4"/>
                </a:solidFill>
                <a:latin typeface="Calibri" pitchFamily="34" charset="0"/>
                <a:ea typeface="Calibri" pitchFamily="34" charset="-122"/>
                <a:cs typeface="Calibri" pitchFamily="34" charset="-120"/>
              </a:rPr>
              <a:t>Vietnam · Individual-Level Engagement</a:t>
            </a:r>
            <a:endParaRPr lang="en-US" sz="1150" dirty="0"/>
          </a:p>
        </p:txBody>
      </p:sp>
      <p:sp>
        <p:nvSpPr>
          <p:cNvPr id="22" name="Text 20"/>
          <p:cNvSpPr/>
          <p:nvPr/>
        </p:nvSpPr>
        <p:spPr>
          <a:xfrm>
            <a:off x="6400800" y="2404872"/>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FORMAT</a:t>
            </a:r>
            <a:endParaRPr lang="en-US" sz="1000" dirty="0"/>
          </a:p>
        </p:txBody>
      </p:sp>
      <p:sp>
        <p:nvSpPr>
          <p:cNvPr id="23" name="Text 21"/>
          <p:cNvSpPr/>
          <p:nvPr/>
        </p:nvSpPr>
        <p:spPr>
          <a:xfrm>
            <a:off x="6400800" y="2615184"/>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18,546 files: PNG crops, JPG context, CSV skeletons</a:t>
            </a:r>
            <a:endParaRPr lang="en-US" sz="1200" dirty="0"/>
          </a:p>
        </p:txBody>
      </p:sp>
      <p:sp>
        <p:nvSpPr>
          <p:cNvPr id="24" name="Text 22"/>
          <p:cNvSpPr/>
          <p:nvPr/>
        </p:nvSpPr>
        <p:spPr>
          <a:xfrm>
            <a:off x="6400800" y="2980944"/>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GRANULARITY</a:t>
            </a:r>
            <a:endParaRPr lang="en-US" sz="1000" dirty="0"/>
          </a:p>
        </p:txBody>
      </p:sp>
      <p:sp>
        <p:nvSpPr>
          <p:cNvPr id="25" name="Text 23"/>
          <p:cNvSpPr/>
          <p:nvPr/>
        </p:nvSpPr>
        <p:spPr>
          <a:xfrm>
            <a:off x="6400800" y="3191256"/>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Individual student, cropped region</a:t>
            </a:r>
            <a:endParaRPr lang="en-US" sz="1200" dirty="0"/>
          </a:p>
        </p:txBody>
      </p:sp>
      <p:sp>
        <p:nvSpPr>
          <p:cNvPr id="26" name="Text 24"/>
          <p:cNvSpPr/>
          <p:nvPr/>
        </p:nvSpPr>
        <p:spPr>
          <a:xfrm>
            <a:off x="6400800" y="3557016"/>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CLASSES (4)</a:t>
            </a:r>
            <a:endParaRPr lang="en-US" sz="1000" dirty="0"/>
          </a:p>
        </p:txBody>
      </p:sp>
      <p:sp>
        <p:nvSpPr>
          <p:cNvPr id="27" name="Text 25"/>
          <p:cNvSpPr/>
          <p:nvPr/>
        </p:nvSpPr>
        <p:spPr>
          <a:xfrm>
            <a:off x="6400800" y="3767328"/>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Disengaged · Normal · Engaged · Very Engaged</a:t>
            </a:r>
            <a:endParaRPr lang="en-US" sz="1200" dirty="0"/>
          </a:p>
        </p:txBody>
      </p:sp>
      <p:sp>
        <p:nvSpPr>
          <p:cNvPr id="28" name="Text 26"/>
          <p:cNvSpPr/>
          <p:nvPr/>
        </p:nvSpPr>
        <p:spPr>
          <a:xfrm>
            <a:off x="6400800" y="4133088"/>
            <a:ext cx="4709160" cy="219456"/>
          </a:xfrm>
          <a:prstGeom prst="rect">
            <a:avLst/>
          </a:prstGeom>
          <a:noFill/>
          <a:ln/>
        </p:spPr>
        <p:txBody>
          <a:bodyPr wrap="square" lIns="0" tIns="0" rIns="0" bIns="0" rtlCol="0" anchor="ctr"/>
          <a:lstStyle/>
          <a:p>
            <a:pPr marL="0" indent="0">
              <a:buNone/>
            </a:pPr>
            <a:r>
              <a:rPr lang="en-US" sz="1000" b="1" kern="0" spc="100" dirty="0">
                <a:solidFill>
                  <a:srgbClr val="5D6C77"/>
                </a:solidFill>
                <a:latin typeface="Calibri" pitchFamily="34" charset="0"/>
                <a:ea typeface="Calibri" pitchFamily="34" charset="-122"/>
                <a:cs typeface="Calibri" pitchFamily="34" charset="-120"/>
              </a:rPr>
              <a:t>ORGANIZATION</a:t>
            </a:r>
            <a:endParaRPr lang="en-US" sz="1000" dirty="0"/>
          </a:p>
        </p:txBody>
      </p:sp>
      <p:sp>
        <p:nvSpPr>
          <p:cNvPr id="29" name="Text 27"/>
          <p:cNvSpPr/>
          <p:nvPr/>
        </p:nvSpPr>
        <p:spPr>
          <a:xfrm>
            <a:off x="6400800" y="4343400"/>
            <a:ext cx="4709160" cy="384048"/>
          </a:xfrm>
          <a:prstGeom prst="rect">
            <a:avLst/>
          </a:prstGeom>
          <a:noFill/>
          <a:ln/>
        </p:spPr>
        <p:txBody>
          <a:bodyPr wrap="square" lIns="0" tIns="0" rIns="0" bIns="0" rtlCol="0" anchor="ctr"/>
          <a:lstStyle/>
          <a:p>
            <a:pPr marL="0" indent="0">
              <a:buNone/>
            </a:pPr>
            <a:r>
              <a:rPr lang="en-US" sz="1200" dirty="0">
                <a:solidFill>
                  <a:srgbClr val="26333D"/>
                </a:solidFill>
                <a:latin typeface="Calibri" pitchFamily="34" charset="0"/>
                <a:ea typeface="Calibri" pitchFamily="34" charset="-122"/>
                <a:cs typeface="Calibri" pitchFamily="34" charset="-120"/>
              </a:rPr>
              <a:t>5-level nested tree (Goc→Table→Class→Seat→Video)</a:t>
            </a:r>
            <a:endParaRPr lang="en-US" sz="1200" dirty="0"/>
          </a:p>
        </p:txBody>
      </p:sp>
      <p:sp>
        <p:nvSpPr>
          <p:cNvPr id="30" name="Text 28"/>
          <p:cNvSpPr/>
          <p:nvPr/>
        </p:nvSpPr>
        <p:spPr>
          <a:xfrm>
            <a:off x="548640" y="4983480"/>
            <a:ext cx="3657600" cy="256032"/>
          </a:xfrm>
          <a:prstGeom prst="rect">
            <a:avLst/>
          </a:prstGeom>
          <a:noFill/>
          <a:ln/>
        </p:spPr>
        <p:txBody>
          <a:bodyPr wrap="square" lIns="0" tIns="0" rIns="0" bIns="0" rtlCol="0" anchor="ctr"/>
          <a:lstStyle/>
          <a:p>
            <a:pPr marL="0" indent="0">
              <a:buNone/>
            </a:pPr>
            <a:r>
              <a:rPr lang="en-US" sz="1050" b="1" kern="0" spc="100" dirty="0">
                <a:solidFill>
                  <a:srgbClr val="5D6C77"/>
                </a:solidFill>
                <a:latin typeface="Calibri" pitchFamily="34" charset="0"/>
                <a:ea typeface="Calibri" pitchFamily="34" charset="-122"/>
                <a:cs typeface="Calibri" pitchFamily="34" charset="-120"/>
              </a:rPr>
              <a:t>SAMPLE-LEVEL WORKFLOW</a:t>
            </a:r>
            <a:endParaRPr lang="en-US" sz="1050" dirty="0"/>
          </a:p>
        </p:txBody>
      </p:sp>
      <p:sp>
        <p:nvSpPr>
          <p:cNvPr id="31" name="Shape 29"/>
          <p:cNvSpPr/>
          <p:nvPr/>
        </p:nvSpPr>
        <p:spPr>
          <a:xfrm>
            <a:off x="548640" y="5276088"/>
            <a:ext cx="1920240" cy="502920"/>
          </a:xfrm>
          <a:prstGeom prst="roundRect">
            <a:avLst>
              <a:gd name="adj" fmla="val 10909"/>
            </a:avLst>
          </a:prstGeom>
          <a:solidFill>
            <a:srgbClr val="EAF0F5"/>
          </a:solidFill>
          <a:ln/>
        </p:spPr>
      </p:sp>
      <p:sp>
        <p:nvSpPr>
          <p:cNvPr id="32" name="Text 30"/>
          <p:cNvSpPr/>
          <p:nvPr/>
        </p:nvSpPr>
        <p:spPr>
          <a:xfrm>
            <a:off x="621792" y="5276088"/>
            <a:ext cx="1773936" cy="502920"/>
          </a:xfrm>
          <a:prstGeom prst="rect">
            <a:avLst/>
          </a:prstGeom>
          <a:noFill/>
          <a:ln/>
        </p:spPr>
        <p:txBody>
          <a:bodyPr wrap="square" lIns="0" tIns="0" rIns="0" bIns="0" rtlCol="0" anchor="ctr"/>
          <a:lstStyle/>
          <a:p>
            <a:pPr marL="0" indent="0" algn="ctr">
              <a:buNone/>
            </a:pPr>
            <a:r>
              <a:rPr lang="en-US" sz="1050" b="1" dirty="0">
                <a:solidFill>
                  <a:srgbClr val="17233D"/>
                </a:solidFill>
                <a:latin typeface="Calibri" pitchFamily="34" charset="0"/>
                <a:ea typeface="Calibri" pitchFamily="34" charset="-122"/>
                <a:cs typeface="Calibri" pitchFamily="34" charset="-120"/>
              </a:rPr>
              <a:t>Raw File</a:t>
            </a:r>
            <a:endParaRPr lang="en-US" sz="1050" dirty="0"/>
          </a:p>
        </p:txBody>
      </p:sp>
      <p:sp>
        <p:nvSpPr>
          <p:cNvPr id="33" name="Shape 31"/>
          <p:cNvSpPr/>
          <p:nvPr/>
        </p:nvSpPr>
        <p:spPr>
          <a:xfrm>
            <a:off x="2496312" y="5440680"/>
            <a:ext cx="265176" cy="164592"/>
          </a:xfrm>
          <a:prstGeom prst="rightArrow">
            <a:avLst/>
          </a:prstGeom>
          <a:solidFill>
            <a:srgbClr val="8593A0"/>
          </a:solidFill>
          <a:ln/>
        </p:spPr>
      </p:sp>
      <p:sp>
        <p:nvSpPr>
          <p:cNvPr id="34" name="Shape 32"/>
          <p:cNvSpPr/>
          <p:nvPr/>
        </p:nvSpPr>
        <p:spPr>
          <a:xfrm>
            <a:off x="2788920" y="5276088"/>
            <a:ext cx="1920240" cy="502920"/>
          </a:xfrm>
          <a:prstGeom prst="roundRect">
            <a:avLst>
              <a:gd name="adj" fmla="val 10909"/>
            </a:avLst>
          </a:prstGeom>
          <a:solidFill>
            <a:srgbClr val="EAF0F5"/>
          </a:solidFill>
          <a:ln/>
        </p:spPr>
      </p:sp>
      <p:sp>
        <p:nvSpPr>
          <p:cNvPr id="35" name="Text 33"/>
          <p:cNvSpPr/>
          <p:nvPr/>
        </p:nvSpPr>
        <p:spPr>
          <a:xfrm>
            <a:off x="2862072" y="5276088"/>
            <a:ext cx="1773936" cy="502920"/>
          </a:xfrm>
          <a:prstGeom prst="rect">
            <a:avLst/>
          </a:prstGeom>
          <a:noFill/>
          <a:ln/>
        </p:spPr>
        <p:txBody>
          <a:bodyPr wrap="square" lIns="0" tIns="0" rIns="0" bIns="0" rtlCol="0" anchor="ctr"/>
          <a:lstStyle/>
          <a:p>
            <a:pPr marL="0" indent="0" algn="ctr">
              <a:buNone/>
            </a:pPr>
            <a:r>
              <a:rPr lang="en-US" sz="1050" b="1" dirty="0">
                <a:solidFill>
                  <a:srgbClr val="17233D"/>
                </a:solidFill>
                <a:latin typeface="Calibri" pitchFamily="34" charset="0"/>
                <a:ea typeface="Calibri" pitchFamily="34" charset="-122"/>
                <a:cs typeface="Calibri" pitchFamily="34" charset="-120"/>
              </a:rPr>
              <a:t>Scan &amp; Validate</a:t>
            </a:r>
            <a:endParaRPr lang="en-US" sz="1050" dirty="0"/>
          </a:p>
        </p:txBody>
      </p:sp>
      <p:sp>
        <p:nvSpPr>
          <p:cNvPr id="36" name="Shape 34"/>
          <p:cNvSpPr/>
          <p:nvPr/>
        </p:nvSpPr>
        <p:spPr>
          <a:xfrm>
            <a:off x="4736592" y="5440680"/>
            <a:ext cx="265176" cy="164592"/>
          </a:xfrm>
          <a:prstGeom prst="rightArrow">
            <a:avLst/>
          </a:prstGeom>
          <a:solidFill>
            <a:srgbClr val="8593A0"/>
          </a:solidFill>
          <a:ln/>
        </p:spPr>
      </p:sp>
      <p:sp>
        <p:nvSpPr>
          <p:cNvPr id="37" name="Shape 35"/>
          <p:cNvSpPr/>
          <p:nvPr/>
        </p:nvSpPr>
        <p:spPr>
          <a:xfrm>
            <a:off x="5029200" y="5276088"/>
            <a:ext cx="1920240" cy="502920"/>
          </a:xfrm>
          <a:prstGeom prst="roundRect">
            <a:avLst>
              <a:gd name="adj" fmla="val 10909"/>
            </a:avLst>
          </a:prstGeom>
          <a:solidFill>
            <a:srgbClr val="EAF0F5"/>
          </a:solidFill>
          <a:ln/>
        </p:spPr>
      </p:sp>
      <p:sp>
        <p:nvSpPr>
          <p:cNvPr id="38" name="Text 36"/>
          <p:cNvSpPr/>
          <p:nvPr/>
        </p:nvSpPr>
        <p:spPr>
          <a:xfrm>
            <a:off x="5102352" y="5276088"/>
            <a:ext cx="1773936" cy="502920"/>
          </a:xfrm>
          <a:prstGeom prst="rect">
            <a:avLst/>
          </a:prstGeom>
          <a:noFill/>
          <a:ln/>
        </p:spPr>
        <p:txBody>
          <a:bodyPr wrap="square" lIns="0" tIns="0" rIns="0" bIns="0" rtlCol="0" anchor="ctr"/>
          <a:lstStyle/>
          <a:p>
            <a:pPr marL="0" indent="0" algn="ctr">
              <a:buNone/>
            </a:pPr>
            <a:r>
              <a:rPr lang="en-US" sz="1050" b="1" dirty="0">
                <a:solidFill>
                  <a:srgbClr val="17233D"/>
                </a:solidFill>
                <a:latin typeface="Calibri" pitchFamily="34" charset="0"/>
                <a:ea typeface="Calibri" pitchFamily="34" charset="-122"/>
                <a:cs typeface="Calibri" pitchFamily="34" charset="-120"/>
              </a:rPr>
              <a:t>Extract Frame(s)</a:t>
            </a:r>
            <a:endParaRPr lang="en-US" sz="1050" dirty="0"/>
          </a:p>
        </p:txBody>
      </p:sp>
      <p:sp>
        <p:nvSpPr>
          <p:cNvPr id="39" name="Shape 37"/>
          <p:cNvSpPr/>
          <p:nvPr/>
        </p:nvSpPr>
        <p:spPr>
          <a:xfrm>
            <a:off x="6976872" y="5440680"/>
            <a:ext cx="265176" cy="164592"/>
          </a:xfrm>
          <a:prstGeom prst="rightArrow">
            <a:avLst/>
          </a:prstGeom>
          <a:solidFill>
            <a:srgbClr val="8593A0"/>
          </a:solidFill>
          <a:ln/>
        </p:spPr>
      </p:sp>
      <p:sp>
        <p:nvSpPr>
          <p:cNvPr id="40" name="Shape 38"/>
          <p:cNvSpPr/>
          <p:nvPr/>
        </p:nvSpPr>
        <p:spPr>
          <a:xfrm>
            <a:off x="7269480" y="5276088"/>
            <a:ext cx="1920240" cy="502920"/>
          </a:xfrm>
          <a:prstGeom prst="roundRect">
            <a:avLst>
              <a:gd name="adj" fmla="val 10909"/>
            </a:avLst>
          </a:prstGeom>
          <a:solidFill>
            <a:srgbClr val="EAF0F5"/>
          </a:solidFill>
          <a:ln/>
        </p:spPr>
      </p:sp>
      <p:sp>
        <p:nvSpPr>
          <p:cNvPr id="41" name="Text 39"/>
          <p:cNvSpPr/>
          <p:nvPr/>
        </p:nvSpPr>
        <p:spPr>
          <a:xfrm>
            <a:off x="7342632" y="5276088"/>
            <a:ext cx="1773936" cy="502920"/>
          </a:xfrm>
          <a:prstGeom prst="rect">
            <a:avLst/>
          </a:prstGeom>
          <a:noFill/>
          <a:ln/>
        </p:spPr>
        <p:txBody>
          <a:bodyPr wrap="square" lIns="0" tIns="0" rIns="0" bIns="0" rtlCol="0" anchor="ctr"/>
          <a:lstStyle/>
          <a:p>
            <a:pPr marL="0" indent="0" algn="ctr">
              <a:buNone/>
            </a:pPr>
            <a:r>
              <a:rPr lang="en-US" sz="1050" b="1" dirty="0">
                <a:solidFill>
                  <a:srgbClr val="17233D"/>
                </a:solidFill>
                <a:latin typeface="Calibri" pitchFamily="34" charset="0"/>
                <a:ea typeface="Calibri" pitchFamily="34" charset="-122"/>
                <a:cs typeface="Calibri" pitchFamily="34" charset="-120"/>
              </a:rPr>
              <a:t>Map Label</a:t>
            </a:r>
            <a:endParaRPr lang="en-US" sz="1050" dirty="0"/>
          </a:p>
        </p:txBody>
      </p:sp>
      <p:sp>
        <p:nvSpPr>
          <p:cNvPr id="42" name="Shape 40"/>
          <p:cNvSpPr/>
          <p:nvPr/>
        </p:nvSpPr>
        <p:spPr>
          <a:xfrm>
            <a:off x="9217152" y="5440680"/>
            <a:ext cx="265176" cy="164592"/>
          </a:xfrm>
          <a:prstGeom prst="rightArrow">
            <a:avLst/>
          </a:prstGeom>
          <a:solidFill>
            <a:srgbClr val="8593A0"/>
          </a:solidFill>
          <a:ln/>
        </p:spPr>
      </p:sp>
      <p:sp>
        <p:nvSpPr>
          <p:cNvPr id="43" name="Shape 41"/>
          <p:cNvSpPr/>
          <p:nvPr/>
        </p:nvSpPr>
        <p:spPr>
          <a:xfrm>
            <a:off x="9509760" y="5276088"/>
            <a:ext cx="1920240" cy="502920"/>
          </a:xfrm>
          <a:prstGeom prst="roundRect">
            <a:avLst>
              <a:gd name="adj" fmla="val 10909"/>
            </a:avLst>
          </a:prstGeom>
          <a:solidFill>
            <a:srgbClr val="EAF0F5"/>
          </a:solidFill>
          <a:ln/>
        </p:spPr>
      </p:sp>
      <p:sp>
        <p:nvSpPr>
          <p:cNvPr id="44" name="Text 42"/>
          <p:cNvSpPr/>
          <p:nvPr/>
        </p:nvSpPr>
        <p:spPr>
          <a:xfrm>
            <a:off x="9582912" y="5276088"/>
            <a:ext cx="1773936" cy="502920"/>
          </a:xfrm>
          <a:prstGeom prst="rect">
            <a:avLst/>
          </a:prstGeom>
          <a:noFill/>
          <a:ln/>
        </p:spPr>
        <p:txBody>
          <a:bodyPr wrap="square" lIns="0" tIns="0" rIns="0" bIns="0" rtlCol="0" anchor="ctr"/>
          <a:lstStyle/>
          <a:p>
            <a:pPr marL="0" indent="0" algn="ctr">
              <a:buNone/>
            </a:pPr>
            <a:r>
              <a:rPr lang="en-US" sz="1050" b="1" dirty="0">
                <a:solidFill>
                  <a:srgbClr val="17233D"/>
                </a:solidFill>
                <a:latin typeface="Calibri" pitchFamily="34" charset="0"/>
                <a:ea typeface="Calibri" pitchFamily="34" charset="-122"/>
                <a:cs typeface="Calibri" pitchFamily="34" charset="-120"/>
              </a:rPr>
              <a:t>Unified Sample</a:t>
            </a:r>
            <a:endParaRPr lang="en-US" sz="1050" dirty="0"/>
          </a:p>
        </p:txBody>
      </p:sp>
      <p:sp>
        <p:nvSpPr>
          <p:cNvPr id="45" name="Text 43"/>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DATASET CHALLENGES</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What Made These Datasets Hard to Unify</a:t>
            </a:r>
            <a:endParaRPr lang="en-US" sz="2800" dirty="0"/>
          </a:p>
        </p:txBody>
      </p:sp>
      <p:sp>
        <p:nvSpPr>
          <p:cNvPr id="4" name="Shape 2"/>
          <p:cNvSpPr/>
          <p:nvPr/>
        </p:nvSpPr>
        <p:spPr>
          <a:xfrm>
            <a:off x="548640" y="1554480"/>
            <a:ext cx="5440680" cy="1234440"/>
          </a:xfrm>
          <a:prstGeom prst="roundRect">
            <a:avLst>
              <a:gd name="adj" fmla="val 5926"/>
            </a:avLst>
          </a:prstGeom>
          <a:solidFill>
            <a:srgbClr val="F5F7F9"/>
          </a:solidFill>
          <a:ln/>
        </p:spPr>
      </p:sp>
      <p:sp>
        <p:nvSpPr>
          <p:cNvPr id="5" name="Shape 3"/>
          <p:cNvSpPr/>
          <p:nvPr/>
        </p:nvSpPr>
        <p:spPr>
          <a:xfrm>
            <a:off x="548640" y="1554480"/>
            <a:ext cx="73152" cy="1234440"/>
          </a:xfrm>
          <a:prstGeom prst="rect">
            <a:avLst/>
          </a:prstGeom>
          <a:solidFill>
            <a:srgbClr val="E0A030"/>
          </a:solidFill>
          <a:ln/>
        </p:spPr>
      </p:sp>
      <p:sp>
        <p:nvSpPr>
          <p:cNvPr id="6" name="Text 4"/>
          <p:cNvSpPr/>
          <p:nvPr/>
        </p:nvSpPr>
        <p:spPr>
          <a:xfrm>
            <a:off x="822960" y="1664208"/>
            <a:ext cx="4937760" cy="365760"/>
          </a:xfrm>
          <a:prstGeom prst="rect">
            <a:avLst/>
          </a:prstGeom>
          <a:noFill/>
          <a:ln/>
        </p:spPr>
        <p:txBody>
          <a:bodyPr wrap="square" lIns="0" tIns="0" rIns="0" bIns="0" rtlCol="0" anchor="ctr"/>
          <a:lstStyle/>
          <a:p>
            <a:pPr marL="0" indent="0">
              <a:buNone/>
            </a:pPr>
            <a:r>
              <a:rPr lang="en-US" sz="1300" b="1" dirty="0">
                <a:solidFill>
                  <a:srgbClr val="17233D"/>
                </a:solidFill>
                <a:latin typeface="Cambria" pitchFamily="34" charset="0"/>
                <a:ea typeface="Cambria" pitchFamily="34" charset="-122"/>
                <a:cs typeface="Cambria" pitchFamily="34" charset="-120"/>
              </a:rPr>
              <a:t>Case-Sensitivity Mismatch</a:t>
            </a:r>
            <a:endParaRPr lang="en-US" sz="1300" dirty="0"/>
          </a:p>
        </p:txBody>
      </p:sp>
      <p:sp>
        <p:nvSpPr>
          <p:cNvPr id="7" name="Text 5"/>
          <p:cNvSpPr/>
          <p:nvPr/>
        </p:nvSpPr>
        <p:spPr>
          <a:xfrm>
            <a:off x="822960" y="2029968"/>
            <a:ext cx="4937760" cy="68580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“Very Engagement” (capital E) in 1 of 11 directory locations vs. lowercase everywhere else</a:t>
            </a:r>
            <a:endParaRPr lang="en-US" sz="1100" dirty="0"/>
          </a:p>
        </p:txBody>
      </p:sp>
      <p:sp>
        <p:nvSpPr>
          <p:cNvPr id="8" name="Shape 6"/>
          <p:cNvSpPr/>
          <p:nvPr/>
        </p:nvSpPr>
        <p:spPr>
          <a:xfrm>
            <a:off x="6263640" y="1554480"/>
            <a:ext cx="5440680" cy="1234440"/>
          </a:xfrm>
          <a:prstGeom prst="roundRect">
            <a:avLst>
              <a:gd name="adj" fmla="val 5926"/>
            </a:avLst>
          </a:prstGeom>
          <a:solidFill>
            <a:srgbClr val="F5F7F9"/>
          </a:solidFill>
          <a:ln/>
        </p:spPr>
      </p:sp>
      <p:sp>
        <p:nvSpPr>
          <p:cNvPr id="9" name="Shape 7"/>
          <p:cNvSpPr/>
          <p:nvPr/>
        </p:nvSpPr>
        <p:spPr>
          <a:xfrm>
            <a:off x="6263640" y="1554480"/>
            <a:ext cx="73152" cy="1234440"/>
          </a:xfrm>
          <a:prstGeom prst="rect">
            <a:avLst/>
          </a:prstGeom>
          <a:solidFill>
            <a:srgbClr val="E0A030"/>
          </a:solidFill>
          <a:ln/>
        </p:spPr>
      </p:sp>
      <p:sp>
        <p:nvSpPr>
          <p:cNvPr id="10" name="Text 8"/>
          <p:cNvSpPr/>
          <p:nvPr/>
        </p:nvSpPr>
        <p:spPr>
          <a:xfrm>
            <a:off x="6537960" y="1664208"/>
            <a:ext cx="4937760" cy="365760"/>
          </a:xfrm>
          <a:prstGeom prst="rect">
            <a:avLst/>
          </a:prstGeom>
          <a:noFill/>
          <a:ln/>
        </p:spPr>
        <p:txBody>
          <a:bodyPr wrap="square" lIns="0" tIns="0" rIns="0" bIns="0" rtlCol="0" anchor="ctr"/>
          <a:lstStyle/>
          <a:p>
            <a:pPr marL="0" indent="0">
              <a:buNone/>
            </a:pPr>
            <a:r>
              <a:rPr lang="en-US" sz="1300" b="1" dirty="0">
                <a:solidFill>
                  <a:srgbClr val="17233D"/>
                </a:solidFill>
                <a:latin typeface="Cambria" pitchFamily="34" charset="0"/>
                <a:ea typeface="Cambria" pitchFamily="34" charset="-122"/>
                <a:cs typeface="Cambria" pitchFamily="34" charset="-120"/>
              </a:rPr>
              <a:t>Missing Hierarchy Subdirectories</a:t>
            </a:r>
            <a:endParaRPr lang="en-US" sz="1300" dirty="0"/>
          </a:p>
        </p:txBody>
      </p:sp>
      <p:sp>
        <p:nvSpPr>
          <p:cNvPr id="11" name="Text 9"/>
          <p:cNvSpPr/>
          <p:nvPr/>
        </p:nvSpPr>
        <p:spPr>
          <a:xfrm>
            <a:off x="6537960" y="2029968"/>
            <a:ext cx="4937760" cy="68580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Not all camera angles contain all 3 tables — e.g. Goc2/Table2 has only “Very engagement”</a:t>
            </a:r>
            <a:endParaRPr lang="en-US" sz="1100" dirty="0"/>
          </a:p>
        </p:txBody>
      </p:sp>
      <p:sp>
        <p:nvSpPr>
          <p:cNvPr id="12" name="Shape 10"/>
          <p:cNvSpPr/>
          <p:nvPr/>
        </p:nvSpPr>
        <p:spPr>
          <a:xfrm>
            <a:off x="548640" y="2926080"/>
            <a:ext cx="5440680" cy="1234440"/>
          </a:xfrm>
          <a:prstGeom prst="roundRect">
            <a:avLst>
              <a:gd name="adj" fmla="val 5926"/>
            </a:avLst>
          </a:prstGeom>
          <a:solidFill>
            <a:srgbClr val="F5F7F9"/>
          </a:solidFill>
          <a:ln/>
        </p:spPr>
      </p:sp>
      <p:sp>
        <p:nvSpPr>
          <p:cNvPr id="13" name="Shape 11"/>
          <p:cNvSpPr/>
          <p:nvPr/>
        </p:nvSpPr>
        <p:spPr>
          <a:xfrm>
            <a:off x="548640" y="2926080"/>
            <a:ext cx="73152" cy="1234440"/>
          </a:xfrm>
          <a:prstGeom prst="rect">
            <a:avLst/>
          </a:prstGeom>
          <a:solidFill>
            <a:srgbClr val="E0A030"/>
          </a:solidFill>
          <a:ln/>
        </p:spPr>
      </p:sp>
      <p:sp>
        <p:nvSpPr>
          <p:cNvPr id="14" name="Text 12"/>
          <p:cNvSpPr/>
          <p:nvPr/>
        </p:nvSpPr>
        <p:spPr>
          <a:xfrm>
            <a:off x="822960" y="3035808"/>
            <a:ext cx="4937760" cy="365760"/>
          </a:xfrm>
          <a:prstGeom prst="rect">
            <a:avLst/>
          </a:prstGeom>
          <a:noFill/>
          <a:ln/>
        </p:spPr>
        <p:txBody>
          <a:bodyPr wrap="square" lIns="0" tIns="0" rIns="0" bIns="0" rtlCol="0" anchor="ctr"/>
          <a:lstStyle/>
          <a:p>
            <a:pPr marL="0" indent="0">
              <a:buNone/>
            </a:pPr>
            <a:r>
              <a:rPr lang="en-US" sz="1300" b="1" dirty="0">
                <a:solidFill>
                  <a:srgbClr val="17233D"/>
                </a:solidFill>
                <a:latin typeface="Cambria" pitchFamily="34" charset="0"/>
                <a:ea typeface="Cambria" pitchFamily="34" charset="-122"/>
                <a:cs typeface="Cambria" pitchFamily="34" charset="-120"/>
              </a:rPr>
              <a:t>Empty Leaf Directories</a:t>
            </a:r>
            <a:endParaRPr lang="en-US" sz="1300" dirty="0"/>
          </a:p>
        </p:txBody>
      </p:sp>
      <p:sp>
        <p:nvSpPr>
          <p:cNvPr id="15" name="Text 13"/>
          <p:cNvSpPr/>
          <p:nvPr/>
        </p:nvSpPr>
        <p:spPr>
          <a:xfrm>
            <a:off x="822960" y="3401568"/>
            <a:ext cx="4937760" cy="68580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14 student folders contain 0 files due to missing facial emotion extractions</a:t>
            </a:r>
            <a:endParaRPr lang="en-US" sz="1100" dirty="0"/>
          </a:p>
        </p:txBody>
      </p:sp>
      <p:sp>
        <p:nvSpPr>
          <p:cNvPr id="16" name="Shape 14"/>
          <p:cNvSpPr/>
          <p:nvPr/>
        </p:nvSpPr>
        <p:spPr>
          <a:xfrm>
            <a:off x="6263640" y="2926080"/>
            <a:ext cx="5440680" cy="1234440"/>
          </a:xfrm>
          <a:prstGeom prst="roundRect">
            <a:avLst>
              <a:gd name="adj" fmla="val 5926"/>
            </a:avLst>
          </a:prstGeom>
          <a:solidFill>
            <a:srgbClr val="F5F7F9"/>
          </a:solidFill>
          <a:ln/>
        </p:spPr>
      </p:sp>
      <p:sp>
        <p:nvSpPr>
          <p:cNvPr id="17" name="Shape 15"/>
          <p:cNvSpPr/>
          <p:nvPr/>
        </p:nvSpPr>
        <p:spPr>
          <a:xfrm>
            <a:off x="6263640" y="2926080"/>
            <a:ext cx="73152" cy="1234440"/>
          </a:xfrm>
          <a:prstGeom prst="rect">
            <a:avLst/>
          </a:prstGeom>
          <a:solidFill>
            <a:srgbClr val="E0A030"/>
          </a:solidFill>
          <a:ln/>
        </p:spPr>
      </p:sp>
      <p:sp>
        <p:nvSpPr>
          <p:cNvPr id="18" name="Text 16"/>
          <p:cNvSpPr/>
          <p:nvPr/>
        </p:nvSpPr>
        <p:spPr>
          <a:xfrm>
            <a:off x="6537960" y="3035808"/>
            <a:ext cx="4937760" cy="365760"/>
          </a:xfrm>
          <a:prstGeom prst="rect">
            <a:avLst/>
          </a:prstGeom>
          <a:noFill/>
          <a:ln/>
        </p:spPr>
        <p:txBody>
          <a:bodyPr wrap="square" lIns="0" tIns="0" rIns="0" bIns="0" rtlCol="0" anchor="ctr"/>
          <a:lstStyle/>
          <a:p>
            <a:pPr marL="0" indent="0">
              <a:buNone/>
            </a:pPr>
            <a:r>
              <a:rPr lang="en-US" sz="1300" b="1" dirty="0">
                <a:solidFill>
                  <a:srgbClr val="17233D"/>
                </a:solidFill>
                <a:latin typeface="Cambria" pitchFamily="34" charset="0"/>
                <a:ea typeface="Cambria" pitchFamily="34" charset="-122"/>
                <a:cs typeface="Cambria" pitchFamily="34" charset="-120"/>
              </a:rPr>
              <a:t>Duplicate Directory Artifacts</a:t>
            </a:r>
            <a:endParaRPr lang="en-US" sz="1300" dirty="0"/>
          </a:p>
        </p:txBody>
      </p:sp>
      <p:sp>
        <p:nvSpPr>
          <p:cNvPr id="19" name="Text 17"/>
          <p:cNvSpPr/>
          <p:nvPr/>
        </p:nvSpPr>
        <p:spPr>
          <a:xfrm>
            <a:off x="6537960" y="3401568"/>
            <a:ext cx="4937760" cy="68580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e.g. id_2(1) exists alongside id_2 in the same video folder</a:t>
            </a:r>
            <a:endParaRPr lang="en-US" sz="1100" dirty="0"/>
          </a:p>
        </p:txBody>
      </p:sp>
      <p:sp>
        <p:nvSpPr>
          <p:cNvPr id="20" name="Shape 18"/>
          <p:cNvSpPr/>
          <p:nvPr/>
        </p:nvSpPr>
        <p:spPr>
          <a:xfrm>
            <a:off x="548640" y="4297680"/>
            <a:ext cx="5440680" cy="1234440"/>
          </a:xfrm>
          <a:prstGeom prst="roundRect">
            <a:avLst>
              <a:gd name="adj" fmla="val 5926"/>
            </a:avLst>
          </a:prstGeom>
          <a:solidFill>
            <a:srgbClr val="F5F7F9"/>
          </a:solidFill>
          <a:ln/>
        </p:spPr>
      </p:sp>
      <p:sp>
        <p:nvSpPr>
          <p:cNvPr id="21" name="Shape 19"/>
          <p:cNvSpPr/>
          <p:nvPr/>
        </p:nvSpPr>
        <p:spPr>
          <a:xfrm>
            <a:off x="548640" y="4297680"/>
            <a:ext cx="73152" cy="1234440"/>
          </a:xfrm>
          <a:prstGeom prst="rect">
            <a:avLst/>
          </a:prstGeom>
          <a:solidFill>
            <a:srgbClr val="E0A030"/>
          </a:solidFill>
          <a:ln/>
        </p:spPr>
      </p:sp>
      <p:sp>
        <p:nvSpPr>
          <p:cNvPr id="22" name="Text 20"/>
          <p:cNvSpPr/>
          <p:nvPr/>
        </p:nvSpPr>
        <p:spPr>
          <a:xfrm>
            <a:off x="822960" y="4407408"/>
            <a:ext cx="4937760" cy="365760"/>
          </a:xfrm>
          <a:prstGeom prst="rect">
            <a:avLst/>
          </a:prstGeom>
          <a:noFill/>
          <a:ln/>
        </p:spPr>
        <p:txBody>
          <a:bodyPr wrap="square" lIns="0" tIns="0" rIns="0" bIns="0" rtlCol="0" anchor="ctr"/>
          <a:lstStyle/>
          <a:p>
            <a:pPr marL="0" indent="0">
              <a:buNone/>
            </a:pPr>
            <a:r>
              <a:rPr lang="en-US" sz="1300" b="1" dirty="0">
                <a:solidFill>
                  <a:srgbClr val="17233D"/>
                </a:solidFill>
                <a:latin typeface="Cambria" pitchFamily="34" charset="0"/>
                <a:ea typeface="Cambria" pitchFamily="34" charset="-122"/>
                <a:cs typeface="Cambria" pitchFamily="34" charset="-120"/>
              </a:rPr>
              <a:t>Frame Sequence Length Variation</a:t>
            </a:r>
            <a:endParaRPr lang="en-US" sz="1300" dirty="0"/>
          </a:p>
        </p:txBody>
      </p:sp>
      <p:sp>
        <p:nvSpPr>
          <p:cNvPr id="23" name="Text 21"/>
          <p:cNvSpPr/>
          <p:nvPr/>
        </p:nvSpPr>
        <p:spPr>
          <a:xfrm>
            <a:off x="822960" y="4773168"/>
            <a:ext cx="4937760" cy="68580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Clip length ranges from 1 frame to 15 frames per sequence</a:t>
            </a:r>
            <a:endParaRPr lang="en-US" sz="1100" dirty="0"/>
          </a:p>
        </p:txBody>
      </p:sp>
      <p:sp>
        <p:nvSpPr>
          <p:cNvPr id="24" name="Shape 22"/>
          <p:cNvSpPr/>
          <p:nvPr/>
        </p:nvSpPr>
        <p:spPr>
          <a:xfrm>
            <a:off x="6263640" y="4297680"/>
            <a:ext cx="5440680" cy="1234440"/>
          </a:xfrm>
          <a:prstGeom prst="roundRect">
            <a:avLst>
              <a:gd name="adj" fmla="val 5926"/>
            </a:avLst>
          </a:prstGeom>
          <a:solidFill>
            <a:srgbClr val="F5F7F9"/>
          </a:solidFill>
          <a:ln/>
        </p:spPr>
      </p:sp>
      <p:sp>
        <p:nvSpPr>
          <p:cNvPr id="25" name="Shape 23"/>
          <p:cNvSpPr/>
          <p:nvPr/>
        </p:nvSpPr>
        <p:spPr>
          <a:xfrm>
            <a:off x="6263640" y="4297680"/>
            <a:ext cx="73152" cy="1234440"/>
          </a:xfrm>
          <a:prstGeom prst="rect">
            <a:avLst/>
          </a:prstGeom>
          <a:solidFill>
            <a:srgbClr val="E0A030"/>
          </a:solidFill>
          <a:ln/>
        </p:spPr>
      </p:sp>
      <p:sp>
        <p:nvSpPr>
          <p:cNvPr id="26" name="Text 24"/>
          <p:cNvSpPr/>
          <p:nvPr/>
        </p:nvSpPr>
        <p:spPr>
          <a:xfrm>
            <a:off x="6537960" y="4407408"/>
            <a:ext cx="4937760" cy="365760"/>
          </a:xfrm>
          <a:prstGeom prst="rect">
            <a:avLst/>
          </a:prstGeom>
          <a:noFill/>
          <a:ln/>
        </p:spPr>
        <p:txBody>
          <a:bodyPr wrap="square" lIns="0" tIns="0" rIns="0" bIns="0" rtlCol="0" anchor="ctr"/>
          <a:lstStyle/>
          <a:p>
            <a:pPr marL="0" indent="0">
              <a:buNone/>
            </a:pPr>
            <a:r>
              <a:rPr lang="en-US" sz="1300" b="1" dirty="0">
                <a:solidFill>
                  <a:srgbClr val="17233D"/>
                </a:solidFill>
                <a:latin typeface="Cambria" pitchFamily="34" charset="0"/>
                <a:ea typeface="Cambria" pitchFamily="34" charset="-122"/>
                <a:cs typeface="Cambria" pitchFamily="34" charset="-120"/>
              </a:rPr>
              <a:t>Pose CSV Duplications</a:t>
            </a:r>
            <a:endParaRPr lang="en-US" sz="1300" dirty="0"/>
          </a:p>
        </p:txBody>
      </p:sp>
      <p:sp>
        <p:nvSpPr>
          <p:cNvPr id="27" name="Text 25"/>
          <p:cNvSpPr/>
          <p:nvPr/>
        </p:nvSpPr>
        <p:spPr>
          <a:xfrm>
            <a:off x="6537960" y="4773168"/>
            <a:ext cx="4937760" cy="68580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Some skeletons.csv files contain 13 consecutive duplicate rows for a single frame</a:t>
            </a:r>
            <a:endParaRPr lang="en-US" sz="1100" dirty="0"/>
          </a:p>
        </p:txBody>
      </p:sp>
      <p:sp>
        <p:nvSpPr>
          <p:cNvPr id="28" name="Text 26"/>
          <p:cNvSpPr/>
          <p:nvPr/>
        </p:nvSpPr>
        <p:spPr>
          <a:xfrm>
            <a:off x="548640" y="5715000"/>
            <a:ext cx="11064240" cy="365760"/>
          </a:xfrm>
          <a:prstGeom prst="rect">
            <a:avLst/>
          </a:prstGeom>
          <a:noFill/>
          <a:ln/>
        </p:spPr>
        <p:txBody>
          <a:bodyPr wrap="square" lIns="0" tIns="0" rIns="0" bIns="0" rtlCol="0" anchor="ctr"/>
          <a:lstStyle/>
          <a:p>
            <a:pPr marL="0" indent="0">
              <a:buNone/>
            </a:pPr>
            <a:r>
              <a:rPr lang="en-US" sz="1200" i="1" dirty="0">
                <a:solidFill>
                  <a:srgbClr val="5D6C77"/>
                </a:solidFill>
                <a:latin typeface="Calibri" pitchFamily="34" charset="0"/>
                <a:ea typeface="Calibri" pitchFamily="34" charset="-122"/>
                <a:cs typeface="Calibri" pitchFamily="34" charset="-120"/>
              </a:rPr>
              <a:t>All 6 issues were programmatically detected and resolved in the preprocessing layer — without modifying a single raw file on disk.</a:t>
            </a:r>
            <a:endParaRPr lang="en-US" sz="1200" dirty="0"/>
          </a:p>
        </p:txBody>
      </p:sp>
      <p:sp>
        <p:nvSpPr>
          <p:cNvPr id="29" name="Text 27"/>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BASELINE WORK COMPLETED</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OUC-CGE 5-Fold Baseline (SlowFast R50)</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309360" cy="2743200"/>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Fold</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17233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17233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Macro-F1</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17233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QWK</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17233D"/>
                    </a:solidFill>
                  </a:tcPr>
                </a:tc>
                <a:extLst>
                  <a:ext uri="{0D108BD9-81ED-4DB2-BD59-A6C34878D82A}">
                    <a16:rowId xmlns:a16="http://schemas.microsoft.com/office/drawing/2014/main" val="10000"/>
                  </a:ext>
                </a:extLst>
              </a:tr>
              <a:tr h="384048">
                <a:tc>
                  <a:txBody>
                    <a:bodyPr/>
                    <a:lstStyle/>
                    <a:p>
                      <a:pPr marL="0" indent="0" algn="l">
                        <a:buNone/>
                      </a:pPr>
                      <a:r>
                        <a:rPr lang="en-US" sz="1250" b="1" dirty="0">
                          <a:solidFill>
                            <a:srgbClr val="26333D"/>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51.14%</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50.33%</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0.298</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50" b="1" dirty="0">
                          <a:solidFill>
                            <a:srgbClr val="26333D"/>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54.00%</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53.32%</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0.342</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250" b="1" dirty="0">
                          <a:solidFill>
                            <a:srgbClr val="26333D"/>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55.07%</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53.32%</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0.414</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50" b="1" dirty="0">
                          <a:solidFill>
                            <a:srgbClr val="26333D"/>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59.64%</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59.06%</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0.507</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250" b="1" dirty="0">
                          <a:solidFill>
                            <a:srgbClr val="26333D"/>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56.13%</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54.97%</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6333D"/>
                          </a:solidFill>
                          <a:latin typeface="Calibri" pitchFamily="34" charset="0"/>
                          <a:ea typeface="Calibri" pitchFamily="34" charset="-122"/>
                          <a:cs typeface="Calibri" pitchFamily="34" charset="-120"/>
                        </a:rPr>
                        <a:t>0.428</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250" b="1" dirty="0">
                          <a:solidFill>
                            <a:srgbClr val="17233D"/>
                          </a:solidFill>
                          <a:latin typeface="Calibri" pitchFamily="34" charset="0"/>
                          <a:ea typeface="Calibri" pitchFamily="34" charset="-122"/>
                          <a:cs typeface="Calibri" pitchFamily="34" charset="-120"/>
                        </a:rPr>
                        <a:t>Mean ± Std</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0F5"/>
                    </a:solidFill>
                  </a:tcPr>
                </a:tc>
                <a:tc>
                  <a:txBody>
                    <a:bodyPr/>
                    <a:lstStyle/>
                    <a:p>
                      <a:pPr marL="0" indent="0" algn="ctr">
                        <a:buNone/>
                      </a:pPr>
                      <a:r>
                        <a:rPr lang="en-US" sz="1250" b="1" dirty="0">
                          <a:solidFill>
                            <a:srgbClr val="17233D"/>
                          </a:solidFill>
                          <a:latin typeface="Calibri" pitchFamily="34" charset="0"/>
                          <a:ea typeface="Calibri" pitchFamily="34" charset="-122"/>
                          <a:cs typeface="Calibri" pitchFamily="34" charset="-120"/>
                        </a:rPr>
                        <a:t>55.20% ± 2.77%</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0F5"/>
                    </a:solidFill>
                  </a:tcPr>
                </a:tc>
                <a:tc>
                  <a:txBody>
                    <a:bodyPr/>
                    <a:lstStyle/>
                    <a:p>
                      <a:pPr marL="0" indent="0" algn="ctr">
                        <a:buNone/>
                      </a:pPr>
                      <a:r>
                        <a:rPr lang="en-US" sz="1250" b="1" dirty="0">
                          <a:solidFill>
                            <a:srgbClr val="17233D"/>
                          </a:solidFill>
                          <a:latin typeface="Calibri" pitchFamily="34" charset="0"/>
                          <a:ea typeface="Calibri" pitchFamily="34" charset="-122"/>
                          <a:cs typeface="Calibri" pitchFamily="34" charset="-120"/>
                        </a:rPr>
                        <a:t>54.20% ± 2.85%</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0F5"/>
                    </a:solidFill>
                  </a:tcPr>
                </a:tc>
                <a:tc>
                  <a:txBody>
                    <a:bodyPr/>
                    <a:lstStyle/>
                    <a:p>
                      <a:pPr marL="0" indent="0" algn="ctr">
                        <a:buNone/>
                      </a:pPr>
                      <a:r>
                        <a:rPr lang="en-US" sz="1250" b="1" dirty="0">
                          <a:solidFill>
                            <a:srgbClr val="17233D"/>
                          </a:solidFill>
                          <a:latin typeface="Calibri" pitchFamily="34" charset="0"/>
                          <a:ea typeface="Calibri" pitchFamily="34" charset="-122"/>
                          <a:cs typeface="Calibri" pitchFamily="34" charset="-120"/>
                        </a:rPr>
                        <a:t>0.398 ± 0.072</a:t>
                      </a:r>
                      <a:endParaRPr lang="en-US" sz="125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0F5"/>
                    </a:solidFill>
                  </a:tcPr>
                </a:tc>
                <a:extLst>
                  <a:ext uri="{0D108BD9-81ED-4DB2-BD59-A6C34878D82A}">
                    <a16:rowId xmlns:a16="http://schemas.microsoft.com/office/drawing/2014/main" val="10006"/>
                  </a:ext>
                </a:extLst>
              </a:tr>
            </a:tbl>
          </a:graphicData>
        </a:graphic>
      </p:graphicFrame>
      <p:sp>
        <p:nvSpPr>
          <p:cNvPr id="5" name="Text 2"/>
          <p:cNvSpPr/>
          <p:nvPr/>
        </p:nvSpPr>
        <p:spPr>
          <a:xfrm>
            <a:off x="548640" y="4526280"/>
            <a:ext cx="6309360" cy="274320"/>
          </a:xfrm>
          <a:prstGeom prst="rect">
            <a:avLst/>
          </a:prstGeom>
          <a:noFill/>
          <a:ln/>
        </p:spPr>
        <p:txBody>
          <a:bodyPr wrap="square" lIns="0" tIns="0" rIns="0" bIns="0" rtlCol="0" anchor="ctr"/>
          <a:lstStyle/>
          <a:p>
            <a:pPr marL="0" indent="0">
              <a:buNone/>
            </a:pPr>
            <a:r>
              <a:rPr lang="en-US" sz="950" i="1" dirty="0">
                <a:solidFill>
                  <a:srgbClr val="5D6C77"/>
                </a:solidFill>
                <a:latin typeface="Calibri" pitchFamily="34" charset="0"/>
                <a:ea typeface="Calibri" pitchFamily="34" charset="-122"/>
                <a:cs typeface="Calibri" pitchFamily="34" charset="-120"/>
              </a:rPr>
              <a:t>Source: consolidate_metrics.py · verified 5-fold validation log (5fold_summary.txt)</a:t>
            </a:r>
            <a:endParaRPr lang="en-US" sz="950" dirty="0"/>
          </a:p>
        </p:txBody>
      </p:sp>
      <p:sp>
        <p:nvSpPr>
          <p:cNvPr id="6" name="Shape 3"/>
          <p:cNvSpPr/>
          <p:nvPr/>
        </p:nvSpPr>
        <p:spPr>
          <a:xfrm>
            <a:off x="548640" y="4892040"/>
            <a:ext cx="6309360" cy="1280160"/>
          </a:xfrm>
          <a:prstGeom prst="roundRect">
            <a:avLst>
              <a:gd name="adj" fmla="val 7143"/>
            </a:avLst>
          </a:prstGeom>
          <a:solidFill>
            <a:srgbClr val="FBEFE9"/>
          </a:solidFill>
          <a:ln w="12700">
            <a:solidFill>
              <a:srgbClr val="B5473A"/>
            </a:solidFill>
            <a:prstDash val="solid"/>
          </a:ln>
        </p:spPr>
      </p:sp>
      <p:sp>
        <p:nvSpPr>
          <p:cNvPr id="7" name="Text 4"/>
          <p:cNvSpPr/>
          <p:nvPr/>
        </p:nvSpPr>
        <p:spPr>
          <a:xfrm>
            <a:off x="777240" y="5010912"/>
            <a:ext cx="5852160" cy="274320"/>
          </a:xfrm>
          <a:prstGeom prst="rect">
            <a:avLst/>
          </a:prstGeom>
          <a:noFill/>
          <a:ln/>
        </p:spPr>
        <p:txBody>
          <a:bodyPr wrap="square" lIns="0" tIns="0" rIns="0" bIns="0" rtlCol="0" anchor="ctr"/>
          <a:lstStyle/>
          <a:p>
            <a:pPr marL="0" indent="0">
              <a:buNone/>
            </a:pPr>
            <a:r>
              <a:rPr lang="en-US" sz="1150" b="1" dirty="0">
                <a:solidFill>
                  <a:srgbClr val="B5473A"/>
                </a:solidFill>
                <a:latin typeface="Calibri" pitchFamily="34" charset="0"/>
                <a:ea typeface="Calibri" pitchFamily="34" charset="-122"/>
                <a:cs typeface="Calibri" pitchFamily="34" charset="-120"/>
              </a:rPr>
              <a:t>⚠  DATA INGESTION BUG (RESOLVED)</a:t>
            </a:r>
            <a:endParaRPr lang="en-US" sz="1150" dirty="0"/>
          </a:p>
        </p:txBody>
      </p:sp>
      <p:sp>
        <p:nvSpPr>
          <p:cNvPr id="8" name="Text 5"/>
          <p:cNvSpPr/>
          <p:nvPr/>
        </p:nvSpPr>
        <p:spPr>
          <a:xfrm>
            <a:off x="777240" y="5285232"/>
            <a:ext cx="5852160" cy="82296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41% of clips (3,028 / 7,439) were silently skipped due to a Unicode path bug with full-width Chinese parentheses. Fixed — 100% ingestion restored.</a:t>
            </a:r>
            <a:endParaRPr lang="en-US" sz="1100" dirty="0"/>
          </a:p>
        </p:txBody>
      </p:sp>
      <p:sp>
        <p:nvSpPr>
          <p:cNvPr id="4" name="Shape 6"/>
          <p:cNvSpPr/>
          <p:nvPr/>
        </p:nvSpPr>
        <p:spPr>
          <a:xfrm>
            <a:off x="7178040" y="1554480"/>
            <a:ext cx="4572000" cy="960120"/>
          </a:xfrm>
          <a:prstGeom prst="roundRect">
            <a:avLst>
              <a:gd name="adj" fmla="val 9524"/>
            </a:avLst>
          </a:prstGeom>
          <a:solidFill>
            <a:srgbClr val="EAF0F5"/>
          </a:solidFill>
          <a:ln/>
        </p:spPr>
      </p:sp>
      <p:sp>
        <p:nvSpPr>
          <p:cNvPr id="10" name="Text 7"/>
          <p:cNvSpPr/>
          <p:nvPr/>
        </p:nvSpPr>
        <p:spPr>
          <a:xfrm>
            <a:off x="7406640" y="1645920"/>
            <a:ext cx="4114800" cy="228600"/>
          </a:xfrm>
          <a:prstGeom prst="rect">
            <a:avLst/>
          </a:prstGeom>
          <a:noFill/>
          <a:ln/>
        </p:spPr>
        <p:txBody>
          <a:bodyPr wrap="square" lIns="0" tIns="0" rIns="0" bIns="0" rtlCol="0" anchor="ctr"/>
          <a:lstStyle/>
          <a:p>
            <a:pPr marL="0" indent="0">
              <a:buNone/>
            </a:pPr>
            <a:r>
              <a:rPr lang="en-US" sz="1000" b="1" kern="0" spc="100" dirty="0">
                <a:solidFill>
                  <a:srgbClr val="1C7293"/>
                </a:solidFill>
                <a:latin typeface="Calibri" pitchFamily="34" charset="0"/>
                <a:ea typeface="Calibri" pitchFamily="34" charset="-122"/>
                <a:cs typeface="Calibri" pitchFamily="34" charset="-120"/>
              </a:rPr>
              <a:t>AVG ACCURACY</a:t>
            </a:r>
            <a:endParaRPr lang="en-US" sz="1000" dirty="0"/>
          </a:p>
        </p:txBody>
      </p:sp>
      <p:sp>
        <p:nvSpPr>
          <p:cNvPr id="11" name="Text 8"/>
          <p:cNvSpPr/>
          <p:nvPr/>
        </p:nvSpPr>
        <p:spPr>
          <a:xfrm>
            <a:off x="7406640" y="1856232"/>
            <a:ext cx="2011680" cy="566928"/>
          </a:xfrm>
          <a:prstGeom prst="rect">
            <a:avLst/>
          </a:prstGeom>
          <a:noFill/>
          <a:ln/>
        </p:spPr>
        <p:txBody>
          <a:bodyPr wrap="square" lIns="0" tIns="0" rIns="0" bIns="0" rtlCol="0" anchor="ctr"/>
          <a:lstStyle/>
          <a:p>
            <a:pPr marL="0" indent="0">
              <a:buNone/>
            </a:pPr>
            <a:r>
              <a:rPr lang="en-US" sz="2500" b="1" dirty="0">
                <a:solidFill>
                  <a:srgbClr val="0A4C7A"/>
                </a:solidFill>
                <a:latin typeface="Cambria" pitchFamily="34" charset="0"/>
                <a:ea typeface="Cambria" pitchFamily="34" charset="-122"/>
                <a:cs typeface="Cambria" pitchFamily="34" charset="-120"/>
              </a:rPr>
              <a:t>55.20%</a:t>
            </a:r>
            <a:endParaRPr lang="en-US" sz="2500" dirty="0"/>
          </a:p>
        </p:txBody>
      </p:sp>
      <p:sp>
        <p:nvSpPr>
          <p:cNvPr id="12" name="Text 9"/>
          <p:cNvSpPr/>
          <p:nvPr/>
        </p:nvSpPr>
        <p:spPr>
          <a:xfrm>
            <a:off x="9281160" y="1856232"/>
            <a:ext cx="2240280" cy="566928"/>
          </a:xfrm>
          <a:prstGeom prst="rect">
            <a:avLst/>
          </a:prstGeom>
          <a:noFill/>
          <a:ln/>
        </p:spPr>
        <p:txBody>
          <a:bodyPr wrap="square" lIns="0" tIns="0" rIns="0" bIns="0" rtlCol="0" anchor="ctr"/>
          <a:lstStyle/>
          <a:p>
            <a:pPr marL="0" indent="0">
              <a:lnSpc>
                <a:spcPts val="1200"/>
              </a:lnSpc>
              <a:buNone/>
            </a:pPr>
            <a:r>
              <a:rPr lang="en-US" sz="950" i="1" dirty="0">
                <a:solidFill>
                  <a:srgbClr val="5D6C77"/>
                </a:solidFill>
                <a:latin typeface="Calibri" pitchFamily="34" charset="0"/>
                <a:ea typeface="Calibri" pitchFamily="34" charset="-122"/>
                <a:cs typeface="Calibri" pitchFamily="34" charset="-120"/>
              </a:rPr>
              <a:t>± 2.77% across folds</a:t>
            </a:r>
            <a:endParaRPr lang="en-US" sz="950" dirty="0"/>
          </a:p>
        </p:txBody>
      </p:sp>
      <p:sp>
        <p:nvSpPr>
          <p:cNvPr id="13" name="Shape 10"/>
          <p:cNvSpPr/>
          <p:nvPr/>
        </p:nvSpPr>
        <p:spPr>
          <a:xfrm>
            <a:off x="7178040" y="2651760"/>
            <a:ext cx="4572000" cy="960120"/>
          </a:xfrm>
          <a:prstGeom prst="roundRect">
            <a:avLst>
              <a:gd name="adj" fmla="val 9524"/>
            </a:avLst>
          </a:prstGeom>
          <a:solidFill>
            <a:srgbClr val="EAF0F5"/>
          </a:solidFill>
          <a:ln/>
        </p:spPr>
      </p:sp>
      <p:sp>
        <p:nvSpPr>
          <p:cNvPr id="14" name="Text 11"/>
          <p:cNvSpPr/>
          <p:nvPr/>
        </p:nvSpPr>
        <p:spPr>
          <a:xfrm>
            <a:off x="7406640" y="2743200"/>
            <a:ext cx="4114800" cy="228600"/>
          </a:xfrm>
          <a:prstGeom prst="rect">
            <a:avLst/>
          </a:prstGeom>
          <a:noFill/>
          <a:ln/>
        </p:spPr>
        <p:txBody>
          <a:bodyPr wrap="square" lIns="0" tIns="0" rIns="0" bIns="0" rtlCol="0" anchor="ctr"/>
          <a:lstStyle/>
          <a:p>
            <a:pPr marL="0" indent="0">
              <a:buNone/>
            </a:pPr>
            <a:r>
              <a:rPr lang="en-US" sz="1000" b="1" kern="0" spc="100" dirty="0">
                <a:solidFill>
                  <a:srgbClr val="1C7293"/>
                </a:solidFill>
                <a:latin typeface="Calibri" pitchFamily="34" charset="0"/>
                <a:ea typeface="Calibri" pitchFamily="34" charset="-122"/>
                <a:cs typeface="Calibri" pitchFamily="34" charset="-120"/>
              </a:rPr>
              <a:t>AVG MACRO-F1</a:t>
            </a:r>
            <a:endParaRPr lang="en-US" sz="1000" dirty="0"/>
          </a:p>
        </p:txBody>
      </p:sp>
      <p:sp>
        <p:nvSpPr>
          <p:cNvPr id="15" name="Text 12"/>
          <p:cNvSpPr/>
          <p:nvPr/>
        </p:nvSpPr>
        <p:spPr>
          <a:xfrm>
            <a:off x="7406640" y="2953512"/>
            <a:ext cx="2011680" cy="566928"/>
          </a:xfrm>
          <a:prstGeom prst="rect">
            <a:avLst/>
          </a:prstGeom>
          <a:noFill/>
          <a:ln/>
        </p:spPr>
        <p:txBody>
          <a:bodyPr wrap="square" lIns="0" tIns="0" rIns="0" bIns="0" rtlCol="0" anchor="ctr"/>
          <a:lstStyle/>
          <a:p>
            <a:pPr marL="0" indent="0">
              <a:buNone/>
            </a:pPr>
            <a:r>
              <a:rPr lang="en-US" sz="2500" b="1" dirty="0">
                <a:solidFill>
                  <a:srgbClr val="1C7293"/>
                </a:solidFill>
                <a:latin typeface="Cambria" pitchFamily="34" charset="0"/>
                <a:ea typeface="Cambria" pitchFamily="34" charset="-122"/>
                <a:cs typeface="Cambria" pitchFamily="34" charset="-120"/>
              </a:rPr>
              <a:t>54.20%</a:t>
            </a:r>
            <a:endParaRPr lang="en-US" sz="2500" dirty="0"/>
          </a:p>
        </p:txBody>
      </p:sp>
      <p:sp>
        <p:nvSpPr>
          <p:cNvPr id="16" name="Text 13"/>
          <p:cNvSpPr/>
          <p:nvPr/>
        </p:nvSpPr>
        <p:spPr>
          <a:xfrm>
            <a:off x="9281160" y="2953512"/>
            <a:ext cx="2240280" cy="566928"/>
          </a:xfrm>
          <a:prstGeom prst="rect">
            <a:avLst/>
          </a:prstGeom>
          <a:noFill/>
          <a:ln/>
        </p:spPr>
        <p:txBody>
          <a:bodyPr wrap="square" lIns="0" tIns="0" rIns="0" bIns="0" rtlCol="0" anchor="ctr"/>
          <a:lstStyle/>
          <a:p>
            <a:pPr marL="0" indent="0">
              <a:lnSpc>
                <a:spcPts val="1200"/>
              </a:lnSpc>
              <a:buNone/>
            </a:pPr>
            <a:r>
              <a:rPr lang="en-US" sz="950" i="1" dirty="0">
                <a:solidFill>
                  <a:srgbClr val="5D6C77"/>
                </a:solidFill>
                <a:latin typeface="Calibri" pitchFamily="34" charset="0"/>
                <a:ea typeface="Calibri" pitchFamily="34" charset="-122"/>
                <a:cs typeface="Calibri" pitchFamily="34" charset="-120"/>
              </a:rPr>
              <a:t>± 2.85% across folds</a:t>
            </a:r>
            <a:endParaRPr lang="en-US" sz="950" dirty="0"/>
          </a:p>
        </p:txBody>
      </p:sp>
      <p:sp>
        <p:nvSpPr>
          <p:cNvPr id="17" name="Shape 14"/>
          <p:cNvSpPr/>
          <p:nvPr/>
        </p:nvSpPr>
        <p:spPr>
          <a:xfrm>
            <a:off x="7178040" y="3749040"/>
            <a:ext cx="4572000" cy="960120"/>
          </a:xfrm>
          <a:prstGeom prst="roundRect">
            <a:avLst>
              <a:gd name="adj" fmla="val 9524"/>
            </a:avLst>
          </a:prstGeom>
          <a:solidFill>
            <a:srgbClr val="EAF0F5"/>
          </a:solidFill>
          <a:ln/>
        </p:spPr>
      </p:sp>
      <p:sp>
        <p:nvSpPr>
          <p:cNvPr id="18" name="Text 15"/>
          <p:cNvSpPr/>
          <p:nvPr/>
        </p:nvSpPr>
        <p:spPr>
          <a:xfrm>
            <a:off x="7406640" y="3840480"/>
            <a:ext cx="4114800" cy="228600"/>
          </a:xfrm>
          <a:prstGeom prst="rect">
            <a:avLst/>
          </a:prstGeom>
          <a:noFill/>
          <a:ln/>
        </p:spPr>
        <p:txBody>
          <a:bodyPr wrap="square" lIns="0" tIns="0" rIns="0" bIns="0" rtlCol="0" anchor="ctr"/>
          <a:lstStyle/>
          <a:p>
            <a:pPr marL="0" indent="0">
              <a:buNone/>
            </a:pPr>
            <a:r>
              <a:rPr lang="en-US" sz="1000" b="1" kern="0" spc="100" dirty="0">
                <a:solidFill>
                  <a:srgbClr val="1C7293"/>
                </a:solidFill>
                <a:latin typeface="Calibri" pitchFamily="34" charset="0"/>
                <a:ea typeface="Calibri" pitchFamily="34" charset="-122"/>
                <a:cs typeface="Calibri" pitchFamily="34" charset="-120"/>
              </a:rPr>
              <a:t>AVG QWK</a:t>
            </a:r>
            <a:endParaRPr lang="en-US" sz="1000" dirty="0"/>
          </a:p>
        </p:txBody>
      </p:sp>
      <p:sp>
        <p:nvSpPr>
          <p:cNvPr id="19" name="Text 16"/>
          <p:cNvSpPr/>
          <p:nvPr/>
        </p:nvSpPr>
        <p:spPr>
          <a:xfrm>
            <a:off x="7406640" y="4050792"/>
            <a:ext cx="2011680" cy="566928"/>
          </a:xfrm>
          <a:prstGeom prst="rect">
            <a:avLst/>
          </a:prstGeom>
          <a:noFill/>
          <a:ln/>
        </p:spPr>
        <p:txBody>
          <a:bodyPr wrap="square" lIns="0" tIns="0" rIns="0" bIns="0" rtlCol="0" anchor="ctr"/>
          <a:lstStyle/>
          <a:p>
            <a:pPr marL="0" indent="0">
              <a:buNone/>
            </a:pPr>
            <a:r>
              <a:rPr lang="en-US" sz="2500" b="1" dirty="0">
                <a:solidFill>
                  <a:srgbClr val="E0A030"/>
                </a:solidFill>
                <a:latin typeface="Cambria" pitchFamily="34" charset="0"/>
                <a:ea typeface="Cambria" pitchFamily="34" charset="-122"/>
                <a:cs typeface="Cambria" pitchFamily="34" charset="-120"/>
              </a:rPr>
              <a:t>0.398</a:t>
            </a:r>
            <a:endParaRPr lang="en-US" sz="2500" dirty="0"/>
          </a:p>
        </p:txBody>
      </p:sp>
      <p:sp>
        <p:nvSpPr>
          <p:cNvPr id="20" name="Text 17"/>
          <p:cNvSpPr/>
          <p:nvPr/>
        </p:nvSpPr>
        <p:spPr>
          <a:xfrm>
            <a:off x="9281160" y="4050792"/>
            <a:ext cx="2240280" cy="566928"/>
          </a:xfrm>
          <a:prstGeom prst="rect">
            <a:avLst/>
          </a:prstGeom>
          <a:noFill/>
          <a:ln/>
        </p:spPr>
        <p:txBody>
          <a:bodyPr wrap="square" lIns="0" tIns="0" rIns="0" bIns="0" rtlCol="0" anchor="ctr"/>
          <a:lstStyle/>
          <a:p>
            <a:pPr marL="0" indent="0">
              <a:lnSpc>
                <a:spcPts val="1200"/>
              </a:lnSpc>
              <a:buNone/>
            </a:pPr>
            <a:r>
              <a:rPr lang="en-US" sz="950" i="1" dirty="0">
                <a:solidFill>
                  <a:srgbClr val="5D6C77"/>
                </a:solidFill>
                <a:latin typeface="Calibri" pitchFamily="34" charset="0"/>
                <a:ea typeface="Calibri" pitchFamily="34" charset="-122"/>
                <a:cs typeface="Calibri" pitchFamily="34" charset="-120"/>
              </a:rPr>
              <a:t>moderate ordinal agreement</a:t>
            </a:r>
            <a:endParaRPr lang="en-US" sz="950" dirty="0"/>
          </a:p>
        </p:txBody>
      </p:sp>
      <p:sp>
        <p:nvSpPr>
          <p:cNvPr id="21" name="Shape 18"/>
          <p:cNvSpPr/>
          <p:nvPr/>
        </p:nvSpPr>
        <p:spPr>
          <a:xfrm>
            <a:off x="7178040" y="4846320"/>
            <a:ext cx="4572000" cy="1417320"/>
          </a:xfrm>
          <a:prstGeom prst="roundRect">
            <a:avLst>
              <a:gd name="adj" fmla="val 6452"/>
            </a:avLst>
          </a:prstGeom>
          <a:solidFill>
            <a:srgbClr val="17233D"/>
          </a:solidFill>
          <a:ln/>
        </p:spPr>
      </p:sp>
      <p:sp>
        <p:nvSpPr>
          <p:cNvPr id="22" name="Text 19"/>
          <p:cNvSpPr/>
          <p:nvPr/>
        </p:nvSpPr>
        <p:spPr>
          <a:xfrm>
            <a:off x="7406640" y="4983480"/>
            <a:ext cx="4114800" cy="228600"/>
          </a:xfrm>
          <a:prstGeom prst="rect">
            <a:avLst/>
          </a:prstGeom>
          <a:noFill/>
          <a:ln/>
        </p:spPr>
        <p:txBody>
          <a:bodyPr wrap="square" lIns="0" tIns="0" rIns="0" bIns="0" rtlCol="0" anchor="ctr"/>
          <a:lstStyle/>
          <a:p>
            <a:pPr marL="0" indent="0">
              <a:buNone/>
            </a:pPr>
            <a:r>
              <a:rPr lang="en-US" sz="1000" b="1" kern="0" spc="100" dirty="0">
                <a:solidFill>
                  <a:srgbClr val="E0A030"/>
                </a:solidFill>
                <a:latin typeface="Calibri" pitchFamily="34" charset="0"/>
                <a:ea typeface="Calibri" pitchFamily="34" charset="-122"/>
                <a:cs typeface="Calibri" pitchFamily="34" charset="-120"/>
              </a:rPr>
              <a:t>HARDWARE &amp; SETUP</a:t>
            </a:r>
            <a:endParaRPr lang="en-US" sz="1000" dirty="0"/>
          </a:p>
        </p:txBody>
      </p:sp>
      <p:sp>
        <p:nvSpPr>
          <p:cNvPr id="23" name="Text 20"/>
          <p:cNvSpPr/>
          <p:nvPr/>
        </p:nvSpPr>
        <p:spPr>
          <a:xfrm>
            <a:off x="7406640" y="5257800"/>
            <a:ext cx="4114800" cy="914400"/>
          </a:xfrm>
          <a:prstGeom prst="rect">
            <a:avLst/>
          </a:prstGeom>
          <a:noFill/>
          <a:ln/>
        </p:spPr>
        <p:txBody>
          <a:bodyPr wrap="square" lIns="0" tIns="0" rIns="0" bIns="0" rtlCol="0" anchor="ctr"/>
          <a:lstStyle/>
          <a:p>
            <a:pPr marL="0" indent="0">
              <a:lnSpc>
                <a:spcPts val="1500"/>
              </a:lnSpc>
              <a:buNone/>
            </a:pPr>
            <a:r>
              <a:rPr lang="en-US" sz="1100" dirty="0">
                <a:solidFill>
                  <a:srgbClr val="D7E3EC"/>
                </a:solidFill>
                <a:latin typeface="Calibri" pitchFamily="34" charset="0"/>
                <a:ea typeface="Calibri" pitchFamily="34" charset="-122"/>
                <a:cs typeface="Calibri" pitchFamily="34" charset="-120"/>
              </a:rPr>
              <a:t>NVIDIA RTX 4060 (8GB VRAM) · FP16 AMP · SLOW 8×8 ResNet-50 · 5-fold stratified CV, trained from scratch</a:t>
            </a:r>
            <a:endParaRPr lang="en-US" sz="1100" dirty="0"/>
          </a:p>
        </p:txBody>
      </p:sp>
      <p:sp>
        <p:nvSpPr>
          <p:cNvPr id="24" name="Text 21"/>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ENGINEERING CHALLENGES SOLVED</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Three Critical Bugs Found &amp; Fixed in Audit</a:t>
            </a:r>
            <a:endParaRPr lang="en-US" sz="2800" dirty="0"/>
          </a:p>
        </p:txBody>
      </p:sp>
      <p:sp>
        <p:nvSpPr>
          <p:cNvPr id="4" name="Shape 2"/>
          <p:cNvSpPr/>
          <p:nvPr/>
        </p:nvSpPr>
        <p:spPr>
          <a:xfrm>
            <a:off x="548640" y="1600200"/>
            <a:ext cx="3611880" cy="4023360"/>
          </a:xfrm>
          <a:prstGeom prst="roundRect">
            <a:avLst>
              <a:gd name="adj" fmla="val 2532"/>
            </a:avLst>
          </a:prstGeom>
          <a:solidFill>
            <a:srgbClr val="F5F7F9"/>
          </a:solidFill>
          <a:ln/>
        </p:spPr>
      </p:sp>
      <p:sp>
        <p:nvSpPr>
          <p:cNvPr id="5" name="Shape 3"/>
          <p:cNvSpPr/>
          <p:nvPr/>
        </p:nvSpPr>
        <p:spPr>
          <a:xfrm>
            <a:off x="822960" y="1874520"/>
            <a:ext cx="457200" cy="457200"/>
          </a:xfrm>
          <a:prstGeom prst="ellipse">
            <a:avLst/>
          </a:prstGeom>
          <a:solidFill>
            <a:srgbClr val="17233D"/>
          </a:solidFill>
          <a:ln/>
        </p:spPr>
      </p:sp>
      <p:sp>
        <p:nvSpPr>
          <p:cNvPr id="6" name="Text 4"/>
          <p:cNvSpPr/>
          <p:nvPr/>
        </p:nvSpPr>
        <p:spPr>
          <a:xfrm>
            <a:off x="822960" y="18745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463040" y="1856232"/>
            <a:ext cx="2514600" cy="502920"/>
          </a:xfrm>
          <a:prstGeom prst="rect">
            <a:avLst/>
          </a:prstGeom>
          <a:noFill/>
          <a:ln/>
        </p:spPr>
        <p:txBody>
          <a:bodyPr wrap="square" lIns="0" tIns="0" rIns="0" bIns="0" rtlCol="0" anchor="ctr"/>
          <a:lstStyle/>
          <a:p>
            <a:pPr marL="0" indent="0">
              <a:lnSpc>
                <a:spcPts val="1600"/>
              </a:lnSpc>
              <a:buNone/>
            </a:pPr>
            <a:r>
              <a:rPr lang="en-US" sz="1350" b="1" dirty="0">
                <a:solidFill>
                  <a:srgbClr val="17233D"/>
                </a:solidFill>
                <a:latin typeface="Cambria" pitchFamily="34" charset="0"/>
                <a:ea typeface="Cambria" pitchFamily="34" charset="-122"/>
                <a:cs typeface="Cambria" pitchFamily="34" charset="-120"/>
              </a:rPr>
              <a:t>Windows Unicode Console Bug</a:t>
            </a:r>
            <a:endParaRPr lang="en-US" sz="1350" dirty="0"/>
          </a:p>
        </p:txBody>
      </p:sp>
      <p:sp>
        <p:nvSpPr>
          <p:cNvPr id="8" name="Shape 6"/>
          <p:cNvSpPr/>
          <p:nvPr/>
        </p:nvSpPr>
        <p:spPr>
          <a:xfrm>
            <a:off x="777240" y="2560320"/>
            <a:ext cx="3154680" cy="1417320"/>
          </a:xfrm>
          <a:prstGeom prst="roundRect">
            <a:avLst>
              <a:gd name="adj" fmla="val 3871"/>
            </a:avLst>
          </a:prstGeom>
          <a:solidFill>
            <a:srgbClr val="FBEFE9"/>
          </a:solidFill>
          <a:ln/>
        </p:spPr>
      </p:sp>
      <p:sp>
        <p:nvSpPr>
          <p:cNvPr id="9" name="Text 7"/>
          <p:cNvSpPr/>
          <p:nvPr/>
        </p:nvSpPr>
        <p:spPr>
          <a:xfrm>
            <a:off x="914400" y="2651760"/>
            <a:ext cx="2880360" cy="228600"/>
          </a:xfrm>
          <a:prstGeom prst="rect">
            <a:avLst/>
          </a:prstGeom>
          <a:noFill/>
          <a:ln/>
        </p:spPr>
        <p:txBody>
          <a:bodyPr wrap="square" lIns="0" tIns="0" rIns="0" bIns="0" rtlCol="0" anchor="ctr"/>
          <a:lstStyle/>
          <a:p>
            <a:pPr marL="0" indent="0">
              <a:buNone/>
            </a:pPr>
            <a:r>
              <a:rPr lang="en-US" sz="950" b="1" kern="0" spc="100" dirty="0">
                <a:solidFill>
                  <a:srgbClr val="B5473A"/>
                </a:solidFill>
                <a:latin typeface="Calibri" pitchFamily="34" charset="0"/>
                <a:ea typeface="Calibri" pitchFamily="34" charset="-122"/>
                <a:cs typeface="Calibri" pitchFamily="34" charset="-120"/>
              </a:rPr>
              <a:t>BEFORE</a:t>
            </a:r>
            <a:endParaRPr lang="en-US" sz="950" dirty="0"/>
          </a:p>
        </p:txBody>
      </p:sp>
      <p:sp>
        <p:nvSpPr>
          <p:cNvPr id="10" name="Text 8"/>
          <p:cNvSpPr/>
          <p:nvPr/>
        </p:nvSpPr>
        <p:spPr>
          <a:xfrm>
            <a:off x="914400" y="2880360"/>
            <a:ext cx="2880360" cy="1051560"/>
          </a:xfrm>
          <a:prstGeom prst="rect">
            <a:avLst/>
          </a:prstGeom>
          <a:noFill/>
          <a:ln/>
        </p:spPr>
        <p:txBody>
          <a:bodyPr wrap="square" lIns="0" tIns="0" rIns="0" bIns="0" rtlCol="0" anchor="ctr"/>
          <a:lstStyle/>
          <a:p>
            <a:pPr marL="0" indent="0">
              <a:lnSpc>
                <a:spcPts val="1350"/>
              </a:lnSpc>
              <a:buNone/>
            </a:pPr>
            <a:r>
              <a:rPr lang="en-US" sz="1050" dirty="0">
                <a:solidFill>
                  <a:srgbClr val="26333D"/>
                </a:solidFill>
                <a:latin typeface="Calibri" pitchFamily="34" charset="0"/>
                <a:ea typeface="Calibri" pitchFamily="34" charset="-122"/>
                <a:cs typeface="Calibri" pitchFamily="34" charset="-120"/>
              </a:rPr>
              <a:t>checkpoint_manager.py logged a ★ symbol on save, crashing under cp1252 consoles</a:t>
            </a:r>
            <a:endParaRPr lang="en-US" sz="1050" dirty="0"/>
          </a:p>
        </p:txBody>
      </p:sp>
      <p:sp>
        <p:nvSpPr>
          <p:cNvPr id="11" name="Shape 9"/>
          <p:cNvSpPr/>
          <p:nvPr/>
        </p:nvSpPr>
        <p:spPr>
          <a:xfrm>
            <a:off x="2244852" y="4050792"/>
            <a:ext cx="219456" cy="182880"/>
          </a:xfrm>
          <a:prstGeom prst="downArrow">
            <a:avLst/>
          </a:prstGeom>
          <a:solidFill>
            <a:srgbClr val="8593A0"/>
          </a:solidFill>
          <a:ln/>
        </p:spPr>
      </p:sp>
      <p:sp>
        <p:nvSpPr>
          <p:cNvPr id="12" name="Shape 10"/>
          <p:cNvSpPr/>
          <p:nvPr/>
        </p:nvSpPr>
        <p:spPr>
          <a:xfrm>
            <a:off x="777240" y="4325112"/>
            <a:ext cx="3154680" cy="1188720"/>
          </a:xfrm>
          <a:prstGeom prst="roundRect">
            <a:avLst>
              <a:gd name="adj" fmla="val 4615"/>
            </a:avLst>
          </a:prstGeom>
          <a:solidFill>
            <a:srgbClr val="E9F3EE"/>
          </a:solidFill>
          <a:ln/>
        </p:spPr>
      </p:sp>
      <p:sp>
        <p:nvSpPr>
          <p:cNvPr id="13" name="Text 11"/>
          <p:cNvSpPr/>
          <p:nvPr/>
        </p:nvSpPr>
        <p:spPr>
          <a:xfrm>
            <a:off x="914400" y="4416552"/>
            <a:ext cx="2880360" cy="228600"/>
          </a:xfrm>
          <a:prstGeom prst="rect">
            <a:avLst/>
          </a:prstGeom>
          <a:noFill/>
          <a:ln/>
        </p:spPr>
        <p:txBody>
          <a:bodyPr wrap="square" lIns="0" tIns="0" rIns="0" bIns="0" rtlCol="0" anchor="ctr"/>
          <a:lstStyle/>
          <a:p>
            <a:pPr marL="0" indent="0">
              <a:buNone/>
            </a:pPr>
            <a:r>
              <a:rPr lang="en-US" sz="950" b="1" kern="0" spc="100" dirty="0">
                <a:solidFill>
                  <a:srgbClr val="3E8E5B"/>
                </a:solidFill>
                <a:latin typeface="Calibri" pitchFamily="34" charset="0"/>
                <a:ea typeface="Calibri" pitchFamily="34" charset="-122"/>
                <a:cs typeface="Calibri" pitchFamily="34" charset="-120"/>
              </a:rPr>
              <a:t>AFTER</a:t>
            </a:r>
            <a:endParaRPr lang="en-US" sz="950" dirty="0"/>
          </a:p>
        </p:txBody>
      </p:sp>
      <p:sp>
        <p:nvSpPr>
          <p:cNvPr id="14" name="Text 12"/>
          <p:cNvSpPr/>
          <p:nvPr/>
        </p:nvSpPr>
        <p:spPr>
          <a:xfrm>
            <a:off x="914400" y="4645152"/>
            <a:ext cx="2880360" cy="822960"/>
          </a:xfrm>
          <a:prstGeom prst="rect">
            <a:avLst/>
          </a:prstGeom>
          <a:noFill/>
          <a:ln/>
        </p:spPr>
        <p:txBody>
          <a:bodyPr wrap="square" lIns="0" tIns="0" rIns="0" bIns="0" rtlCol="0" anchor="ctr"/>
          <a:lstStyle/>
          <a:p>
            <a:pPr marL="0" indent="0">
              <a:lnSpc>
                <a:spcPts val="1350"/>
              </a:lnSpc>
              <a:buNone/>
            </a:pPr>
            <a:r>
              <a:rPr lang="en-US" sz="1050" dirty="0">
                <a:solidFill>
                  <a:srgbClr val="26333D"/>
                </a:solidFill>
                <a:latin typeface="Calibri" pitchFamily="34" charset="0"/>
                <a:ea typeface="Calibri" pitchFamily="34" charset="-122"/>
                <a:cs typeface="Calibri" pitchFamily="34" charset="-120"/>
              </a:rPr>
              <a:t>Replaced ★ with plain-text [BEST MODEL]</a:t>
            </a:r>
            <a:endParaRPr lang="en-US" sz="1050" dirty="0"/>
          </a:p>
        </p:txBody>
      </p:sp>
      <p:sp>
        <p:nvSpPr>
          <p:cNvPr id="15" name="Shape 13"/>
          <p:cNvSpPr/>
          <p:nvPr/>
        </p:nvSpPr>
        <p:spPr>
          <a:xfrm>
            <a:off x="4361688" y="1600200"/>
            <a:ext cx="3611880" cy="4023360"/>
          </a:xfrm>
          <a:prstGeom prst="roundRect">
            <a:avLst>
              <a:gd name="adj" fmla="val 2532"/>
            </a:avLst>
          </a:prstGeom>
          <a:solidFill>
            <a:srgbClr val="F5F7F9"/>
          </a:solidFill>
          <a:ln/>
        </p:spPr>
      </p:sp>
      <p:sp>
        <p:nvSpPr>
          <p:cNvPr id="16" name="Shape 14"/>
          <p:cNvSpPr/>
          <p:nvPr/>
        </p:nvSpPr>
        <p:spPr>
          <a:xfrm>
            <a:off x="4636008" y="1874520"/>
            <a:ext cx="457200" cy="457200"/>
          </a:xfrm>
          <a:prstGeom prst="ellipse">
            <a:avLst/>
          </a:prstGeom>
          <a:solidFill>
            <a:srgbClr val="17233D"/>
          </a:solidFill>
          <a:ln/>
        </p:spPr>
      </p:sp>
      <p:sp>
        <p:nvSpPr>
          <p:cNvPr id="17" name="Text 15"/>
          <p:cNvSpPr/>
          <p:nvPr/>
        </p:nvSpPr>
        <p:spPr>
          <a:xfrm>
            <a:off x="4636008" y="18745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5276088" y="1856232"/>
            <a:ext cx="2514600" cy="502920"/>
          </a:xfrm>
          <a:prstGeom prst="rect">
            <a:avLst/>
          </a:prstGeom>
          <a:noFill/>
          <a:ln/>
        </p:spPr>
        <p:txBody>
          <a:bodyPr wrap="square" lIns="0" tIns="0" rIns="0" bIns="0" rtlCol="0" anchor="ctr"/>
          <a:lstStyle/>
          <a:p>
            <a:pPr marL="0" indent="0">
              <a:lnSpc>
                <a:spcPts val="1600"/>
              </a:lnSpc>
              <a:buNone/>
            </a:pPr>
            <a:r>
              <a:rPr lang="en-US" sz="1350" b="1" dirty="0">
                <a:solidFill>
                  <a:srgbClr val="17233D"/>
                </a:solidFill>
                <a:latin typeface="Cambria" pitchFamily="34" charset="0"/>
                <a:ea typeface="Cambria" pitchFamily="34" charset="-122"/>
                <a:cs typeface="Cambria" pitchFamily="34" charset="-120"/>
              </a:rPr>
              <a:t>DataLoader Collate Bug</a:t>
            </a:r>
            <a:endParaRPr lang="en-US" sz="1350" dirty="0"/>
          </a:p>
        </p:txBody>
      </p:sp>
      <p:sp>
        <p:nvSpPr>
          <p:cNvPr id="19" name="Shape 17"/>
          <p:cNvSpPr/>
          <p:nvPr/>
        </p:nvSpPr>
        <p:spPr>
          <a:xfrm>
            <a:off x="4590288" y="2560320"/>
            <a:ext cx="3154680" cy="1417320"/>
          </a:xfrm>
          <a:prstGeom prst="roundRect">
            <a:avLst>
              <a:gd name="adj" fmla="val 3871"/>
            </a:avLst>
          </a:prstGeom>
          <a:solidFill>
            <a:srgbClr val="FBEFE9"/>
          </a:solidFill>
          <a:ln/>
        </p:spPr>
      </p:sp>
      <p:sp>
        <p:nvSpPr>
          <p:cNvPr id="20" name="Text 18"/>
          <p:cNvSpPr/>
          <p:nvPr/>
        </p:nvSpPr>
        <p:spPr>
          <a:xfrm>
            <a:off x="4727448" y="2651760"/>
            <a:ext cx="2880360" cy="228600"/>
          </a:xfrm>
          <a:prstGeom prst="rect">
            <a:avLst/>
          </a:prstGeom>
          <a:noFill/>
          <a:ln/>
        </p:spPr>
        <p:txBody>
          <a:bodyPr wrap="square" lIns="0" tIns="0" rIns="0" bIns="0" rtlCol="0" anchor="ctr"/>
          <a:lstStyle/>
          <a:p>
            <a:pPr marL="0" indent="0">
              <a:buNone/>
            </a:pPr>
            <a:r>
              <a:rPr lang="en-US" sz="950" b="1" kern="0" spc="100" dirty="0">
                <a:solidFill>
                  <a:srgbClr val="B5473A"/>
                </a:solidFill>
                <a:latin typeface="Calibri" pitchFamily="34" charset="0"/>
                <a:ea typeface="Calibri" pitchFamily="34" charset="-122"/>
                <a:cs typeface="Calibri" pitchFamily="34" charset="-120"/>
              </a:rPr>
              <a:t>BEFORE</a:t>
            </a:r>
            <a:endParaRPr lang="en-US" sz="950" dirty="0"/>
          </a:p>
        </p:txBody>
      </p:sp>
      <p:sp>
        <p:nvSpPr>
          <p:cNvPr id="21" name="Text 19"/>
          <p:cNvSpPr/>
          <p:nvPr/>
        </p:nvSpPr>
        <p:spPr>
          <a:xfrm>
            <a:off x="4727448" y="2880360"/>
            <a:ext cx="2880360" cy="1051560"/>
          </a:xfrm>
          <a:prstGeom prst="rect">
            <a:avLst/>
          </a:prstGeom>
          <a:noFill/>
          <a:ln/>
        </p:spPr>
        <p:txBody>
          <a:bodyPr wrap="square" lIns="0" tIns="0" rIns="0" bIns="0" rtlCol="0" anchor="ctr"/>
          <a:lstStyle/>
          <a:p>
            <a:pPr marL="0" indent="0">
              <a:lnSpc>
                <a:spcPts val="1350"/>
              </a:lnSpc>
              <a:buNone/>
            </a:pPr>
            <a:r>
              <a:rPr lang="en-US" sz="1050" dirty="0">
                <a:solidFill>
                  <a:srgbClr val="26333D"/>
                </a:solidFill>
                <a:latin typeface="Calibri" pitchFamily="34" charset="0"/>
                <a:ea typeface="Calibri" pitchFamily="34" charset="-122"/>
                <a:cs typeface="Calibri" pitchFamily="34" charset="-120"/>
              </a:rPr>
              <a:t>PyTorch's default_collate silently converted int metadata (frame_id) into Tensors, breaking evaluator.py</a:t>
            </a:r>
            <a:endParaRPr lang="en-US" sz="1050" dirty="0"/>
          </a:p>
        </p:txBody>
      </p:sp>
      <p:sp>
        <p:nvSpPr>
          <p:cNvPr id="22" name="Shape 20"/>
          <p:cNvSpPr/>
          <p:nvPr/>
        </p:nvSpPr>
        <p:spPr>
          <a:xfrm>
            <a:off x="6057900" y="4050792"/>
            <a:ext cx="219456" cy="182880"/>
          </a:xfrm>
          <a:prstGeom prst="downArrow">
            <a:avLst/>
          </a:prstGeom>
          <a:solidFill>
            <a:srgbClr val="8593A0"/>
          </a:solidFill>
          <a:ln/>
        </p:spPr>
      </p:sp>
      <p:sp>
        <p:nvSpPr>
          <p:cNvPr id="23" name="Shape 21"/>
          <p:cNvSpPr/>
          <p:nvPr/>
        </p:nvSpPr>
        <p:spPr>
          <a:xfrm>
            <a:off x="4590288" y="4325112"/>
            <a:ext cx="3154680" cy="1188720"/>
          </a:xfrm>
          <a:prstGeom prst="roundRect">
            <a:avLst>
              <a:gd name="adj" fmla="val 4615"/>
            </a:avLst>
          </a:prstGeom>
          <a:solidFill>
            <a:srgbClr val="E9F3EE"/>
          </a:solidFill>
          <a:ln/>
        </p:spPr>
      </p:sp>
      <p:sp>
        <p:nvSpPr>
          <p:cNvPr id="24" name="Text 22"/>
          <p:cNvSpPr/>
          <p:nvPr/>
        </p:nvSpPr>
        <p:spPr>
          <a:xfrm>
            <a:off x="4727448" y="4416552"/>
            <a:ext cx="2880360" cy="228600"/>
          </a:xfrm>
          <a:prstGeom prst="rect">
            <a:avLst/>
          </a:prstGeom>
          <a:noFill/>
          <a:ln/>
        </p:spPr>
        <p:txBody>
          <a:bodyPr wrap="square" lIns="0" tIns="0" rIns="0" bIns="0" rtlCol="0" anchor="ctr"/>
          <a:lstStyle/>
          <a:p>
            <a:pPr marL="0" indent="0">
              <a:buNone/>
            </a:pPr>
            <a:r>
              <a:rPr lang="en-US" sz="950" b="1" kern="0" spc="100" dirty="0">
                <a:solidFill>
                  <a:srgbClr val="3E8E5B"/>
                </a:solidFill>
                <a:latin typeface="Calibri" pitchFamily="34" charset="0"/>
                <a:ea typeface="Calibri" pitchFamily="34" charset="-122"/>
                <a:cs typeface="Calibri" pitchFamily="34" charset="-120"/>
              </a:rPr>
              <a:t>AFTER</a:t>
            </a:r>
            <a:endParaRPr lang="en-US" sz="950" dirty="0"/>
          </a:p>
        </p:txBody>
      </p:sp>
      <p:sp>
        <p:nvSpPr>
          <p:cNvPr id="25" name="Text 23"/>
          <p:cNvSpPr/>
          <p:nvPr/>
        </p:nvSpPr>
        <p:spPr>
          <a:xfrm>
            <a:off x="4727448" y="4645152"/>
            <a:ext cx="2880360" cy="822960"/>
          </a:xfrm>
          <a:prstGeom prst="rect">
            <a:avLst/>
          </a:prstGeom>
          <a:noFill/>
          <a:ln/>
        </p:spPr>
        <p:txBody>
          <a:bodyPr wrap="square" lIns="0" tIns="0" rIns="0" bIns="0" rtlCol="0" anchor="ctr"/>
          <a:lstStyle/>
          <a:p>
            <a:pPr marL="0" indent="0">
              <a:lnSpc>
                <a:spcPts val="1350"/>
              </a:lnSpc>
              <a:buNone/>
            </a:pPr>
            <a:r>
              <a:rPr lang="en-US" sz="1050" dirty="0">
                <a:solidFill>
                  <a:srgbClr val="26333D"/>
                </a:solidFill>
                <a:latin typeface="Calibri" pitchFamily="34" charset="0"/>
                <a:ea typeface="Calibri" pitchFamily="34" charset="-122"/>
                <a:cs typeface="Calibri" pitchFamily="34" charset="-120"/>
              </a:rPr>
              <a:t>Added a safe _extract_info_item() to unwrap Tensors, lists, and primitives</a:t>
            </a:r>
            <a:endParaRPr lang="en-US" sz="1050" dirty="0"/>
          </a:p>
        </p:txBody>
      </p:sp>
      <p:sp>
        <p:nvSpPr>
          <p:cNvPr id="26" name="Shape 24"/>
          <p:cNvSpPr/>
          <p:nvPr/>
        </p:nvSpPr>
        <p:spPr>
          <a:xfrm>
            <a:off x="8174736" y="1600200"/>
            <a:ext cx="3611880" cy="4023360"/>
          </a:xfrm>
          <a:prstGeom prst="roundRect">
            <a:avLst>
              <a:gd name="adj" fmla="val 2532"/>
            </a:avLst>
          </a:prstGeom>
          <a:solidFill>
            <a:srgbClr val="F5F7F9"/>
          </a:solidFill>
          <a:ln/>
        </p:spPr>
      </p:sp>
      <p:sp>
        <p:nvSpPr>
          <p:cNvPr id="27" name="Shape 25"/>
          <p:cNvSpPr/>
          <p:nvPr/>
        </p:nvSpPr>
        <p:spPr>
          <a:xfrm>
            <a:off x="8449056" y="1874520"/>
            <a:ext cx="457200" cy="457200"/>
          </a:xfrm>
          <a:prstGeom prst="ellipse">
            <a:avLst/>
          </a:prstGeom>
          <a:solidFill>
            <a:srgbClr val="17233D"/>
          </a:solidFill>
          <a:ln/>
        </p:spPr>
      </p:sp>
      <p:sp>
        <p:nvSpPr>
          <p:cNvPr id="28" name="Text 26"/>
          <p:cNvSpPr/>
          <p:nvPr/>
        </p:nvSpPr>
        <p:spPr>
          <a:xfrm>
            <a:off x="8449056" y="18745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9089136" y="1856232"/>
            <a:ext cx="2514600" cy="502920"/>
          </a:xfrm>
          <a:prstGeom prst="rect">
            <a:avLst/>
          </a:prstGeom>
          <a:noFill/>
          <a:ln/>
        </p:spPr>
        <p:txBody>
          <a:bodyPr wrap="square" lIns="0" tIns="0" rIns="0" bIns="0" rtlCol="0" anchor="ctr"/>
          <a:lstStyle/>
          <a:p>
            <a:pPr marL="0" indent="0">
              <a:lnSpc>
                <a:spcPts val="1600"/>
              </a:lnSpc>
              <a:buNone/>
            </a:pPr>
            <a:r>
              <a:rPr lang="en-US" sz="1350" b="1" dirty="0">
                <a:solidFill>
                  <a:srgbClr val="17233D"/>
                </a:solidFill>
                <a:latin typeface="Cambria" pitchFamily="34" charset="0"/>
                <a:ea typeface="Cambria" pitchFamily="34" charset="-122"/>
                <a:cs typeface="Cambria" pitchFamily="34" charset="-120"/>
              </a:rPr>
              <a:t>AMP API Modernization</a:t>
            </a:r>
            <a:endParaRPr lang="en-US" sz="1350" dirty="0"/>
          </a:p>
        </p:txBody>
      </p:sp>
      <p:sp>
        <p:nvSpPr>
          <p:cNvPr id="30" name="Shape 28"/>
          <p:cNvSpPr/>
          <p:nvPr/>
        </p:nvSpPr>
        <p:spPr>
          <a:xfrm>
            <a:off x="8403336" y="2560320"/>
            <a:ext cx="3154680" cy="1417320"/>
          </a:xfrm>
          <a:prstGeom prst="roundRect">
            <a:avLst>
              <a:gd name="adj" fmla="val 3871"/>
            </a:avLst>
          </a:prstGeom>
          <a:solidFill>
            <a:srgbClr val="FBEFE9"/>
          </a:solidFill>
          <a:ln/>
        </p:spPr>
      </p:sp>
      <p:sp>
        <p:nvSpPr>
          <p:cNvPr id="31" name="Text 29"/>
          <p:cNvSpPr/>
          <p:nvPr/>
        </p:nvSpPr>
        <p:spPr>
          <a:xfrm>
            <a:off x="8540496" y="2651760"/>
            <a:ext cx="2880360" cy="228600"/>
          </a:xfrm>
          <a:prstGeom prst="rect">
            <a:avLst/>
          </a:prstGeom>
          <a:noFill/>
          <a:ln/>
        </p:spPr>
        <p:txBody>
          <a:bodyPr wrap="square" lIns="0" tIns="0" rIns="0" bIns="0" rtlCol="0" anchor="ctr"/>
          <a:lstStyle/>
          <a:p>
            <a:pPr marL="0" indent="0">
              <a:buNone/>
            </a:pPr>
            <a:r>
              <a:rPr lang="en-US" sz="950" b="1" kern="0" spc="100" dirty="0">
                <a:solidFill>
                  <a:srgbClr val="B5473A"/>
                </a:solidFill>
                <a:latin typeface="Calibri" pitchFamily="34" charset="0"/>
                <a:ea typeface="Calibri" pitchFamily="34" charset="-122"/>
                <a:cs typeface="Calibri" pitchFamily="34" charset="-120"/>
              </a:rPr>
              <a:t>BEFORE</a:t>
            </a:r>
            <a:endParaRPr lang="en-US" sz="950" dirty="0"/>
          </a:p>
        </p:txBody>
      </p:sp>
      <p:sp>
        <p:nvSpPr>
          <p:cNvPr id="32" name="Text 30"/>
          <p:cNvSpPr/>
          <p:nvPr/>
        </p:nvSpPr>
        <p:spPr>
          <a:xfrm>
            <a:off x="8540496" y="2880360"/>
            <a:ext cx="2880360" cy="1051560"/>
          </a:xfrm>
          <a:prstGeom prst="rect">
            <a:avLst/>
          </a:prstGeom>
          <a:noFill/>
          <a:ln/>
        </p:spPr>
        <p:txBody>
          <a:bodyPr wrap="square" lIns="0" tIns="0" rIns="0" bIns="0" rtlCol="0" anchor="ctr"/>
          <a:lstStyle/>
          <a:p>
            <a:pPr marL="0" indent="0">
              <a:lnSpc>
                <a:spcPts val="1350"/>
              </a:lnSpc>
              <a:buNone/>
            </a:pPr>
            <a:r>
              <a:rPr lang="en-US" sz="1050" dirty="0">
                <a:solidFill>
                  <a:srgbClr val="26333D"/>
                </a:solidFill>
                <a:latin typeface="Calibri" pitchFamily="34" charset="0"/>
                <a:ea typeface="Calibri" pitchFamily="34" charset="-122"/>
                <a:cs typeface="Calibri" pitchFamily="34" charset="-120"/>
              </a:rPr>
              <a:t>Deprecated torch.cuda.amp.autocast / GradScaler calls, plus missing json / numpy imports</a:t>
            </a:r>
            <a:endParaRPr lang="en-US" sz="1050" dirty="0"/>
          </a:p>
        </p:txBody>
      </p:sp>
      <p:sp>
        <p:nvSpPr>
          <p:cNvPr id="33" name="Shape 31"/>
          <p:cNvSpPr/>
          <p:nvPr/>
        </p:nvSpPr>
        <p:spPr>
          <a:xfrm>
            <a:off x="9870948" y="4050792"/>
            <a:ext cx="219456" cy="182880"/>
          </a:xfrm>
          <a:prstGeom prst="downArrow">
            <a:avLst/>
          </a:prstGeom>
          <a:solidFill>
            <a:srgbClr val="8593A0"/>
          </a:solidFill>
          <a:ln/>
        </p:spPr>
      </p:sp>
      <p:sp>
        <p:nvSpPr>
          <p:cNvPr id="34" name="Shape 32"/>
          <p:cNvSpPr/>
          <p:nvPr/>
        </p:nvSpPr>
        <p:spPr>
          <a:xfrm>
            <a:off x="8403336" y="4325112"/>
            <a:ext cx="3154680" cy="1188720"/>
          </a:xfrm>
          <a:prstGeom prst="roundRect">
            <a:avLst>
              <a:gd name="adj" fmla="val 4615"/>
            </a:avLst>
          </a:prstGeom>
          <a:solidFill>
            <a:srgbClr val="E9F3EE"/>
          </a:solidFill>
          <a:ln/>
        </p:spPr>
      </p:sp>
      <p:sp>
        <p:nvSpPr>
          <p:cNvPr id="35" name="Text 33"/>
          <p:cNvSpPr/>
          <p:nvPr/>
        </p:nvSpPr>
        <p:spPr>
          <a:xfrm>
            <a:off x="8540496" y="4416552"/>
            <a:ext cx="2880360" cy="228600"/>
          </a:xfrm>
          <a:prstGeom prst="rect">
            <a:avLst/>
          </a:prstGeom>
          <a:noFill/>
          <a:ln/>
        </p:spPr>
        <p:txBody>
          <a:bodyPr wrap="square" lIns="0" tIns="0" rIns="0" bIns="0" rtlCol="0" anchor="ctr"/>
          <a:lstStyle/>
          <a:p>
            <a:pPr marL="0" indent="0">
              <a:buNone/>
            </a:pPr>
            <a:r>
              <a:rPr lang="en-US" sz="950" b="1" kern="0" spc="100" dirty="0">
                <a:solidFill>
                  <a:srgbClr val="3E8E5B"/>
                </a:solidFill>
                <a:latin typeface="Calibri" pitchFamily="34" charset="0"/>
                <a:ea typeface="Calibri" pitchFamily="34" charset="-122"/>
                <a:cs typeface="Calibri" pitchFamily="34" charset="-120"/>
              </a:rPr>
              <a:t>AFTER</a:t>
            </a:r>
            <a:endParaRPr lang="en-US" sz="950" dirty="0"/>
          </a:p>
        </p:txBody>
      </p:sp>
      <p:sp>
        <p:nvSpPr>
          <p:cNvPr id="36" name="Text 34"/>
          <p:cNvSpPr/>
          <p:nvPr/>
        </p:nvSpPr>
        <p:spPr>
          <a:xfrm>
            <a:off x="8540496" y="4645152"/>
            <a:ext cx="2880360" cy="822960"/>
          </a:xfrm>
          <a:prstGeom prst="rect">
            <a:avLst/>
          </a:prstGeom>
          <a:noFill/>
          <a:ln/>
        </p:spPr>
        <p:txBody>
          <a:bodyPr wrap="square" lIns="0" tIns="0" rIns="0" bIns="0" rtlCol="0" anchor="ctr"/>
          <a:lstStyle/>
          <a:p>
            <a:pPr marL="0" indent="0">
              <a:lnSpc>
                <a:spcPts val="1350"/>
              </a:lnSpc>
              <a:buNone/>
            </a:pPr>
            <a:r>
              <a:rPr lang="en-US" sz="1050" dirty="0">
                <a:solidFill>
                  <a:srgbClr val="26333D"/>
                </a:solidFill>
                <a:latin typeface="Calibri" pitchFamily="34" charset="0"/>
                <a:ea typeface="Calibri" pitchFamily="34" charset="-122"/>
                <a:cs typeface="Calibri" pitchFamily="34" charset="-120"/>
              </a:rPr>
              <a:t>Migrated to torch.amp.autocast('cuda') / GradScaler('cuda'); added missing imports</a:t>
            </a:r>
            <a:endParaRPr lang="en-US" sz="1050" dirty="0"/>
          </a:p>
        </p:txBody>
      </p:sp>
      <p:sp>
        <p:nvSpPr>
          <p:cNvPr id="37" name="Text 35"/>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CROSS-DATASET FRAMEWORK</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The 4-Layer Pipeline Architecture</a:t>
            </a:r>
            <a:endParaRPr lang="en-US" sz="2800" dirty="0"/>
          </a:p>
        </p:txBody>
      </p:sp>
      <p:sp>
        <p:nvSpPr>
          <p:cNvPr id="4" name="Shape 2"/>
          <p:cNvSpPr/>
          <p:nvPr/>
        </p:nvSpPr>
        <p:spPr>
          <a:xfrm>
            <a:off x="548640" y="1508760"/>
            <a:ext cx="2606040" cy="4434840"/>
          </a:xfrm>
          <a:prstGeom prst="roundRect">
            <a:avLst>
              <a:gd name="adj" fmla="val 2807"/>
            </a:avLst>
          </a:prstGeom>
          <a:solidFill>
            <a:srgbClr val="F5F7F9"/>
          </a:solidFill>
          <a:ln w="15875">
            <a:solidFill>
              <a:srgbClr val="0A4C7A"/>
            </a:solidFill>
            <a:prstDash val="solid"/>
          </a:ln>
        </p:spPr>
      </p:sp>
      <p:sp>
        <p:nvSpPr>
          <p:cNvPr id="5" name="Shape 3"/>
          <p:cNvSpPr/>
          <p:nvPr/>
        </p:nvSpPr>
        <p:spPr>
          <a:xfrm>
            <a:off x="548640" y="1508760"/>
            <a:ext cx="2606040" cy="868680"/>
          </a:xfrm>
          <a:prstGeom prst="roundRect">
            <a:avLst>
              <a:gd name="adj" fmla="val 8421"/>
            </a:avLst>
          </a:prstGeom>
          <a:solidFill>
            <a:srgbClr val="0A4C7A"/>
          </a:solidFill>
          <a:ln/>
        </p:spPr>
      </p:sp>
      <p:sp>
        <p:nvSpPr>
          <p:cNvPr id="6" name="Shape 4"/>
          <p:cNvSpPr/>
          <p:nvPr/>
        </p:nvSpPr>
        <p:spPr>
          <a:xfrm>
            <a:off x="548640" y="1920240"/>
            <a:ext cx="2606040" cy="457200"/>
          </a:xfrm>
          <a:prstGeom prst="rect">
            <a:avLst/>
          </a:prstGeom>
          <a:solidFill>
            <a:srgbClr val="0A4C7A"/>
          </a:solidFill>
          <a:ln/>
        </p:spPr>
      </p:sp>
      <p:sp>
        <p:nvSpPr>
          <p:cNvPr id="7" name="Text 5"/>
          <p:cNvSpPr/>
          <p:nvPr/>
        </p:nvSpPr>
        <p:spPr>
          <a:xfrm>
            <a:off x="713232" y="1581912"/>
            <a:ext cx="2276856" cy="228600"/>
          </a:xfrm>
          <a:prstGeom prst="rect">
            <a:avLst/>
          </a:prstGeom>
          <a:noFill/>
          <a:ln/>
        </p:spPr>
        <p:txBody>
          <a:bodyPr wrap="square" lIns="0" tIns="0" rIns="0" bIns="0" rtlCol="0" anchor="ctr"/>
          <a:lstStyle/>
          <a:p>
            <a:pPr marL="0" indent="0">
              <a:buNone/>
            </a:pPr>
            <a:r>
              <a:rPr lang="en-US" sz="1000" b="1" kern="0" spc="100" dirty="0">
                <a:solidFill>
                  <a:srgbClr val="D7E3EC"/>
                </a:solidFill>
                <a:latin typeface="Calibri" pitchFamily="34" charset="0"/>
                <a:ea typeface="Calibri" pitchFamily="34" charset="-122"/>
                <a:cs typeface="Calibri" pitchFamily="34" charset="-120"/>
              </a:rPr>
              <a:t>LAYER 1</a:t>
            </a:r>
            <a:endParaRPr lang="en-US" sz="1000" dirty="0"/>
          </a:p>
        </p:txBody>
      </p:sp>
      <p:sp>
        <p:nvSpPr>
          <p:cNvPr id="8" name="Text 6"/>
          <p:cNvSpPr/>
          <p:nvPr/>
        </p:nvSpPr>
        <p:spPr>
          <a:xfrm>
            <a:off x="713232" y="1801368"/>
            <a:ext cx="2276856" cy="548640"/>
          </a:xfrm>
          <a:prstGeom prst="rect">
            <a:avLst/>
          </a:prstGeom>
          <a:noFill/>
          <a:ln/>
        </p:spPr>
        <p:txBody>
          <a:bodyPr wrap="square" lIns="0" tIns="0" rIns="0" bIns="0" rtlCol="0" anchor="ctr"/>
          <a:lstStyle/>
          <a:p>
            <a:pPr marL="0" indent="0">
              <a:lnSpc>
                <a:spcPts val="1450"/>
              </a:lnSpc>
              <a:buNone/>
            </a:pPr>
            <a:r>
              <a:rPr lang="en-US" sz="1250" b="1" dirty="0">
                <a:solidFill>
                  <a:srgbClr val="FFFFFF"/>
                </a:solidFill>
                <a:latin typeface="Cambria" pitchFamily="34" charset="0"/>
                <a:ea typeface="Cambria" pitchFamily="34" charset="-122"/>
                <a:cs typeface="Cambria" pitchFamily="34" charset="-120"/>
              </a:rPr>
              <a:t>Raw Data &amp; Ingestion</a:t>
            </a:r>
            <a:endParaRPr lang="en-US" sz="1250" dirty="0"/>
          </a:p>
        </p:txBody>
      </p:sp>
      <p:sp>
        <p:nvSpPr>
          <p:cNvPr id="9" name="Shape 7"/>
          <p:cNvSpPr/>
          <p:nvPr/>
        </p:nvSpPr>
        <p:spPr>
          <a:xfrm>
            <a:off x="713232" y="2560320"/>
            <a:ext cx="2276856" cy="658368"/>
          </a:xfrm>
          <a:prstGeom prst="roundRect">
            <a:avLst>
              <a:gd name="adj" fmla="val 6944"/>
            </a:avLst>
          </a:prstGeom>
          <a:solidFill>
            <a:srgbClr val="FFFFFF"/>
          </a:solidFill>
          <a:ln w="9525">
            <a:solidFill>
              <a:srgbClr val="D5DEE3"/>
            </a:solidFill>
            <a:prstDash val="solid"/>
          </a:ln>
        </p:spPr>
      </p:sp>
      <p:sp>
        <p:nvSpPr>
          <p:cNvPr id="10" name="Text 8"/>
          <p:cNvSpPr/>
          <p:nvPr/>
        </p:nvSpPr>
        <p:spPr>
          <a:xfrm>
            <a:off x="804672" y="2560320"/>
            <a:ext cx="2093976" cy="658368"/>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OUC-CGE MP4s</a:t>
            </a:r>
            <a:endParaRPr lang="en-US" sz="900" dirty="0"/>
          </a:p>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(7,439 files)</a:t>
            </a:r>
            <a:endParaRPr lang="en-US" sz="900" dirty="0"/>
          </a:p>
        </p:txBody>
      </p:sp>
      <p:sp>
        <p:nvSpPr>
          <p:cNvPr id="11" name="Shape 9"/>
          <p:cNvSpPr/>
          <p:nvPr/>
        </p:nvSpPr>
        <p:spPr>
          <a:xfrm>
            <a:off x="713232" y="3346704"/>
            <a:ext cx="2276856" cy="658368"/>
          </a:xfrm>
          <a:prstGeom prst="roundRect">
            <a:avLst>
              <a:gd name="adj" fmla="val 6944"/>
            </a:avLst>
          </a:prstGeom>
          <a:solidFill>
            <a:srgbClr val="FFFFFF"/>
          </a:solidFill>
          <a:ln w="9525">
            <a:solidFill>
              <a:srgbClr val="D5DEE3"/>
            </a:solidFill>
            <a:prstDash val="solid"/>
          </a:ln>
        </p:spPr>
      </p:sp>
      <p:sp>
        <p:nvSpPr>
          <p:cNvPr id="12" name="Text 10"/>
          <p:cNvSpPr/>
          <p:nvPr/>
        </p:nvSpPr>
        <p:spPr>
          <a:xfrm>
            <a:off x="804672" y="3346704"/>
            <a:ext cx="2093976" cy="658368"/>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COLER Multi-modal</a:t>
            </a:r>
            <a:endParaRPr lang="en-US" sz="900" dirty="0"/>
          </a:p>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(18,546 files)</a:t>
            </a:r>
            <a:endParaRPr lang="en-US" sz="900" dirty="0"/>
          </a:p>
        </p:txBody>
      </p:sp>
      <p:sp>
        <p:nvSpPr>
          <p:cNvPr id="13" name="Shape 11"/>
          <p:cNvSpPr/>
          <p:nvPr/>
        </p:nvSpPr>
        <p:spPr>
          <a:xfrm>
            <a:off x="3172968" y="3634740"/>
            <a:ext cx="219456" cy="182880"/>
          </a:xfrm>
          <a:prstGeom prst="rightArrow">
            <a:avLst/>
          </a:prstGeom>
          <a:solidFill>
            <a:srgbClr val="8593A0"/>
          </a:solidFill>
          <a:ln/>
        </p:spPr>
      </p:sp>
      <p:sp>
        <p:nvSpPr>
          <p:cNvPr id="14" name="Shape 12"/>
          <p:cNvSpPr/>
          <p:nvPr/>
        </p:nvSpPr>
        <p:spPr>
          <a:xfrm>
            <a:off x="3410712" y="1508760"/>
            <a:ext cx="2606040" cy="4434840"/>
          </a:xfrm>
          <a:prstGeom prst="roundRect">
            <a:avLst>
              <a:gd name="adj" fmla="val 2807"/>
            </a:avLst>
          </a:prstGeom>
          <a:solidFill>
            <a:srgbClr val="F5F7F9"/>
          </a:solidFill>
          <a:ln w="15875">
            <a:solidFill>
              <a:srgbClr val="1C7293"/>
            </a:solidFill>
            <a:prstDash val="solid"/>
          </a:ln>
        </p:spPr>
      </p:sp>
      <p:sp>
        <p:nvSpPr>
          <p:cNvPr id="15" name="Shape 13"/>
          <p:cNvSpPr/>
          <p:nvPr/>
        </p:nvSpPr>
        <p:spPr>
          <a:xfrm>
            <a:off x="3410712" y="1508760"/>
            <a:ext cx="2606040" cy="868680"/>
          </a:xfrm>
          <a:prstGeom prst="roundRect">
            <a:avLst>
              <a:gd name="adj" fmla="val 8421"/>
            </a:avLst>
          </a:prstGeom>
          <a:solidFill>
            <a:srgbClr val="1C7293"/>
          </a:solidFill>
          <a:ln/>
        </p:spPr>
      </p:sp>
      <p:sp>
        <p:nvSpPr>
          <p:cNvPr id="16" name="Shape 14"/>
          <p:cNvSpPr/>
          <p:nvPr/>
        </p:nvSpPr>
        <p:spPr>
          <a:xfrm>
            <a:off x="3410712" y="1920240"/>
            <a:ext cx="2606040" cy="457200"/>
          </a:xfrm>
          <a:prstGeom prst="rect">
            <a:avLst/>
          </a:prstGeom>
          <a:solidFill>
            <a:srgbClr val="1C7293"/>
          </a:solidFill>
          <a:ln/>
        </p:spPr>
      </p:sp>
      <p:sp>
        <p:nvSpPr>
          <p:cNvPr id="17" name="Text 15"/>
          <p:cNvSpPr/>
          <p:nvPr/>
        </p:nvSpPr>
        <p:spPr>
          <a:xfrm>
            <a:off x="3575304" y="1581912"/>
            <a:ext cx="2276856" cy="228600"/>
          </a:xfrm>
          <a:prstGeom prst="rect">
            <a:avLst/>
          </a:prstGeom>
          <a:noFill/>
          <a:ln/>
        </p:spPr>
        <p:txBody>
          <a:bodyPr wrap="square" lIns="0" tIns="0" rIns="0" bIns="0" rtlCol="0" anchor="ctr"/>
          <a:lstStyle/>
          <a:p>
            <a:pPr marL="0" indent="0">
              <a:buNone/>
            </a:pPr>
            <a:r>
              <a:rPr lang="en-US" sz="1000" b="1" kern="0" spc="100" dirty="0">
                <a:solidFill>
                  <a:srgbClr val="D7E3EC"/>
                </a:solidFill>
                <a:latin typeface="Calibri" pitchFamily="34" charset="0"/>
                <a:ea typeface="Calibri" pitchFamily="34" charset="-122"/>
                <a:cs typeface="Calibri" pitchFamily="34" charset="-120"/>
              </a:rPr>
              <a:t>LAYER 2</a:t>
            </a:r>
            <a:endParaRPr lang="en-US" sz="1000" dirty="0"/>
          </a:p>
        </p:txBody>
      </p:sp>
      <p:sp>
        <p:nvSpPr>
          <p:cNvPr id="18" name="Text 16"/>
          <p:cNvSpPr/>
          <p:nvPr/>
        </p:nvSpPr>
        <p:spPr>
          <a:xfrm>
            <a:off x="3575304" y="1801368"/>
            <a:ext cx="2276856" cy="548640"/>
          </a:xfrm>
          <a:prstGeom prst="rect">
            <a:avLst/>
          </a:prstGeom>
          <a:noFill/>
          <a:ln/>
        </p:spPr>
        <p:txBody>
          <a:bodyPr wrap="square" lIns="0" tIns="0" rIns="0" bIns="0" rtlCol="0" anchor="ctr"/>
          <a:lstStyle/>
          <a:p>
            <a:pPr marL="0" indent="0">
              <a:lnSpc>
                <a:spcPts val="1450"/>
              </a:lnSpc>
              <a:buNone/>
            </a:pPr>
            <a:r>
              <a:rPr lang="en-US" sz="1250" b="1" dirty="0">
                <a:solidFill>
                  <a:srgbClr val="FFFFFF"/>
                </a:solidFill>
                <a:latin typeface="Cambria" pitchFamily="34" charset="0"/>
                <a:ea typeface="Cambria" pitchFamily="34" charset="-122"/>
                <a:cs typeface="Cambria" pitchFamily="34" charset="-120"/>
              </a:rPr>
              <a:t>Preprocessing &amp; Standardization</a:t>
            </a:r>
            <a:endParaRPr lang="en-US" sz="1250" dirty="0"/>
          </a:p>
        </p:txBody>
      </p:sp>
      <p:sp>
        <p:nvSpPr>
          <p:cNvPr id="19" name="Shape 17"/>
          <p:cNvSpPr/>
          <p:nvPr/>
        </p:nvSpPr>
        <p:spPr>
          <a:xfrm>
            <a:off x="3575304" y="2560320"/>
            <a:ext cx="2276856" cy="457200"/>
          </a:xfrm>
          <a:prstGeom prst="roundRect">
            <a:avLst>
              <a:gd name="adj" fmla="val 10000"/>
            </a:avLst>
          </a:prstGeom>
          <a:solidFill>
            <a:srgbClr val="FFFFFF"/>
          </a:solidFill>
          <a:ln w="9525">
            <a:solidFill>
              <a:srgbClr val="D5DEE3"/>
            </a:solidFill>
            <a:prstDash val="solid"/>
          </a:ln>
        </p:spPr>
      </p:sp>
      <p:sp>
        <p:nvSpPr>
          <p:cNvPr id="20" name="Text 18"/>
          <p:cNvSpPr/>
          <p:nvPr/>
        </p:nvSpPr>
        <p:spPr>
          <a:xfrm>
            <a:off x="3666744" y="2560320"/>
            <a:ext cx="2093976" cy="457200"/>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Parsers + Validators</a:t>
            </a:r>
            <a:endParaRPr lang="en-US" sz="900" dirty="0"/>
          </a:p>
        </p:txBody>
      </p:sp>
      <p:sp>
        <p:nvSpPr>
          <p:cNvPr id="21" name="Shape 19"/>
          <p:cNvSpPr/>
          <p:nvPr/>
        </p:nvSpPr>
        <p:spPr>
          <a:xfrm>
            <a:off x="3575304" y="3145536"/>
            <a:ext cx="2276856" cy="457200"/>
          </a:xfrm>
          <a:prstGeom prst="roundRect">
            <a:avLst>
              <a:gd name="adj" fmla="val 10000"/>
            </a:avLst>
          </a:prstGeom>
          <a:solidFill>
            <a:srgbClr val="FFFFFF"/>
          </a:solidFill>
          <a:ln w="9525">
            <a:solidFill>
              <a:srgbClr val="D5DEE3"/>
            </a:solidFill>
            <a:prstDash val="solid"/>
          </a:ln>
        </p:spPr>
      </p:sp>
      <p:sp>
        <p:nvSpPr>
          <p:cNvPr id="22" name="Text 20"/>
          <p:cNvSpPr/>
          <p:nvPr/>
        </p:nvSpPr>
        <p:spPr>
          <a:xfrm>
            <a:off x="3666744" y="3145536"/>
            <a:ext cx="2093976" cy="457200"/>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label_mapper.py</a:t>
            </a:r>
            <a:endParaRPr lang="en-US" sz="900" dirty="0"/>
          </a:p>
        </p:txBody>
      </p:sp>
      <p:sp>
        <p:nvSpPr>
          <p:cNvPr id="23" name="Shape 21"/>
          <p:cNvSpPr/>
          <p:nvPr/>
        </p:nvSpPr>
        <p:spPr>
          <a:xfrm>
            <a:off x="3575304" y="3730752"/>
            <a:ext cx="2276856" cy="658368"/>
          </a:xfrm>
          <a:prstGeom prst="roundRect">
            <a:avLst>
              <a:gd name="adj" fmla="val 6944"/>
            </a:avLst>
          </a:prstGeom>
          <a:solidFill>
            <a:srgbClr val="FFFFFF"/>
          </a:solidFill>
          <a:ln w="9525">
            <a:solidFill>
              <a:srgbClr val="D5DEE3"/>
            </a:solidFill>
            <a:prstDash val="solid"/>
          </a:ln>
        </p:spPr>
      </p:sp>
      <p:sp>
        <p:nvSpPr>
          <p:cNvPr id="24" name="Text 22"/>
          <p:cNvSpPr/>
          <p:nvPr/>
        </p:nvSpPr>
        <p:spPr>
          <a:xfrm>
            <a:off x="3666744" y="3730752"/>
            <a:ext cx="2093976" cy="658368"/>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build_manifest.py → unified_manifest.csv (7,989)</a:t>
            </a:r>
            <a:endParaRPr lang="en-US" sz="900" dirty="0"/>
          </a:p>
        </p:txBody>
      </p:sp>
      <p:sp>
        <p:nvSpPr>
          <p:cNvPr id="25" name="Shape 23"/>
          <p:cNvSpPr/>
          <p:nvPr/>
        </p:nvSpPr>
        <p:spPr>
          <a:xfrm>
            <a:off x="6035040" y="3634740"/>
            <a:ext cx="219456" cy="182880"/>
          </a:xfrm>
          <a:prstGeom prst="rightArrow">
            <a:avLst/>
          </a:prstGeom>
          <a:solidFill>
            <a:srgbClr val="8593A0"/>
          </a:solidFill>
          <a:ln/>
        </p:spPr>
      </p:sp>
      <p:sp>
        <p:nvSpPr>
          <p:cNvPr id="26" name="Shape 24"/>
          <p:cNvSpPr/>
          <p:nvPr/>
        </p:nvSpPr>
        <p:spPr>
          <a:xfrm>
            <a:off x="6272784" y="1508760"/>
            <a:ext cx="2606040" cy="4434840"/>
          </a:xfrm>
          <a:prstGeom prst="roundRect">
            <a:avLst>
              <a:gd name="adj" fmla="val 2807"/>
            </a:avLst>
          </a:prstGeom>
          <a:solidFill>
            <a:srgbClr val="F5F7F9"/>
          </a:solidFill>
          <a:ln w="15875">
            <a:solidFill>
              <a:srgbClr val="E0A030"/>
            </a:solidFill>
            <a:prstDash val="solid"/>
          </a:ln>
        </p:spPr>
      </p:sp>
      <p:sp>
        <p:nvSpPr>
          <p:cNvPr id="27" name="Shape 25"/>
          <p:cNvSpPr/>
          <p:nvPr/>
        </p:nvSpPr>
        <p:spPr>
          <a:xfrm>
            <a:off x="6272784" y="1508760"/>
            <a:ext cx="2606040" cy="868680"/>
          </a:xfrm>
          <a:prstGeom prst="roundRect">
            <a:avLst>
              <a:gd name="adj" fmla="val 8421"/>
            </a:avLst>
          </a:prstGeom>
          <a:solidFill>
            <a:srgbClr val="E0A030"/>
          </a:solidFill>
          <a:ln/>
        </p:spPr>
      </p:sp>
      <p:sp>
        <p:nvSpPr>
          <p:cNvPr id="28" name="Shape 26"/>
          <p:cNvSpPr/>
          <p:nvPr/>
        </p:nvSpPr>
        <p:spPr>
          <a:xfrm>
            <a:off x="6272784" y="1920240"/>
            <a:ext cx="2606040" cy="457200"/>
          </a:xfrm>
          <a:prstGeom prst="rect">
            <a:avLst/>
          </a:prstGeom>
          <a:solidFill>
            <a:srgbClr val="E0A030"/>
          </a:solidFill>
          <a:ln/>
        </p:spPr>
      </p:sp>
      <p:sp>
        <p:nvSpPr>
          <p:cNvPr id="29" name="Text 27"/>
          <p:cNvSpPr/>
          <p:nvPr/>
        </p:nvSpPr>
        <p:spPr>
          <a:xfrm>
            <a:off x="6437376" y="1581912"/>
            <a:ext cx="2276856" cy="228600"/>
          </a:xfrm>
          <a:prstGeom prst="rect">
            <a:avLst/>
          </a:prstGeom>
          <a:noFill/>
          <a:ln/>
        </p:spPr>
        <p:txBody>
          <a:bodyPr wrap="square" lIns="0" tIns="0" rIns="0" bIns="0" rtlCol="0" anchor="ctr"/>
          <a:lstStyle/>
          <a:p>
            <a:pPr marL="0" indent="0">
              <a:buNone/>
            </a:pPr>
            <a:r>
              <a:rPr lang="en-US" sz="1000" b="1" kern="0" spc="100" dirty="0">
                <a:solidFill>
                  <a:srgbClr val="D7E3EC"/>
                </a:solidFill>
                <a:latin typeface="Calibri" pitchFamily="34" charset="0"/>
                <a:ea typeface="Calibri" pitchFamily="34" charset="-122"/>
                <a:cs typeface="Calibri" pitchFamily="34" charset="-120"/>
              </a:rPr>
              <a:t>LAYER 3</a:t>
            </a:r>
            <a:endParaRPr lang="en-US" sz="1000" dirty="0"/>
          </a:p>
        </p:txBody>
      </p:sp>
      <p:sp>
        <p:nvSpPr>
          <p:cNvPr id="30" name="Text 28"/>
          <p:cNvSpPr/>
          <p:nvPr/>
        </p:nvSpPr>
        <p:spPr>
          <a:xfrm>
            <a:off x="6437376" y="1801368"/>
            <a:ext cx="2276856" cy="548640"/>
          </a:xfrm>
          <a:prstGeom prst="rect">
            <a:avLst/>
          </a:prstGeom>
          <a:noFill/>
          <a:ln/>
        </p:spPr>
        <p:txBody>
          <a:bodyPr wrap="square" lIns="0" tIns="0" rIns="0" bIns="0" rtlCol="0" anchor="ctr"/>
          <a:lstStyle/>
          <a:p>
            <a:pPr marL="0" indent="0">
              <a:lnSpc>
                <a:spcPts val="1450"/>
              </a:lnSpc>
              <a:buNone/>
            </a:pPr>
            <a:r>
              <a:rPr lang="en-US" sz="1250" b="1" dirty="0">
                <a:solidFill>
                  <a:srgbClr val="FFFFFF"/>
                </a:solidFill>
                <a:latin typeface="Cambria" pitchFamily="34" charset="0"/>
                <a:ea typeface="Cambria" pitchFamily="34" charset="-122"/>
                <a:cs typeface="Cambria" pitchFamily="34" charset="-120"/>
              </a:rPr>
              <a:t>Extraction &amp; Representation</a:t>
            </a:r>
            <a:endParaRPr lang="en-US" sz="1250" dirty="0"/>
          </a:p>
        </p:txBody>
      </p:sp>
      <p:sp>
        <p:nvSpPr>
          <p:cNvPr id="31" name="Shape 29"/>
          <p:cNvSpPr/>
          <p:nvPr/>
        </p:nvSpPr>
        <p:spPr>
          <a:xfrm>
            <a:off x="6437376" y="2560320"/>
            <a:ext cx="2276856" cy="457200"/>
          </a:xfrm>
          <a:prstGeom prst="roundRect">
            <a:avLst>
              <a:gd name="adj" fmla="val 10000"/>
            </a:avLst>
          </a:prstGeom>
          <a:solidFill>
            <a:srgbClr val="FFFFFF"/>
          </a:solidFill>
          <a:ln w="9525">
            <a:solidFill>
              <a:srgbClr val="D5DEE3"/>
            </a:solidFill>
            <a:prstDash val="solid"/>
          </a:ln>
        </p:spPr>
      </p:sp>
      <p:sp>
        <p:nvSpPr>
          <p:cNvPr id="32" name="Text 30"/>
          <p:cNvSpPr/>
          <p:nvPr/>
        </p:nvSpPr>
        <p:spPr>
          <a:xfrm>
            <a:off x="6528816" y="2560320"/>
            <a:ext cx="2093976" cy="457200"/>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samplers.py + extract_all.py</a:t>
            </a:r>
            <a:endParaRPr lang="en-US" sz="900" dirty="0"/>
          </a:p>
        </p:txBody>
      </p:sp>
      <p:sp>
        <p:nvSpPr>
          <p:cNvPr id="33" name="Shape 31"/>
          <p:cNvSpPr/>
          <p:nvPr/>
        </p:nvSpPr>
        <p:spPr>
          <a:xfrm>
            <a:off x="6437376" y="3145536"/>
            <a:ext cx="2276856" cy="658368"/>
          </a:xfrm>
          <a:prstGeom prst="roundRect">
            <a:avLst>
              <a:gd name="adj" fmla="val 6944"/>
            </a:avLst>
          </a:prstGeom>
          <a:solidFill>
            <a:srgbClr val="FFFFFF"/>
          </a:solidFill>
          <a:ln w="9525">
            <a:solidFill>
              <a:srgbClr val="D5DEE3"/>
            </a:solidFill>
            <a:prstDash val="solid"/>
          </a:ln>
        </p:spPr>
      </p:sp>
      <p:sp>
        <p:nvSpPr>
          <p:cNvPr id="34" name="Text 32"/>
          <p:cNvSpPr/>
          <p:nvPr/>
        </p:nvSpPr>
        <p:spPr>
          <a:xfrm>
            <a:off x="6528816" y="3145536"/>
            <a:ext cx="2093976" cy="658368"/>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builder.py → unified_frame_dataset.csv (6,875)</a:t>
            </a:r>
            <a:endParaRPr lang="en-US" sz="900" dirty="0"/>
          </a:p>
        </p:txBody>
      </p:sp>
      <p:sp>
        <p:nvSpPr>
          <p:cNvPr id="35" name="Shape 33"/>
          <p:cNvSpPr/>
          <p:nvPr/>
        </p:nvSpPr>
        <p:spPr>
          <a:xfrm>
            <a:off x="8897112" y="3634740"/>
            <a:ext cx="219456" cy="182880"/>
          </a:xfrm>
          <a:prstGeom prst="rightArrow">
            <a:avLst/>
          </a:prstGeom>
          <a:solidFill>
            <a:srgbClr val="8593A0"/>
          </a:solidFill>
          <a:ln/>
        </p:spPr>
      </p:sp>
      <p:sp>
        <p:nvSpPr>
          <p:cNvPr id="36" name="Shape 34"/>
          <p:cNvSpPr/>
          <p:nvPr/>
        </p:nvSpPr>
        <p:spPr>
          <a:xfrm>
            <a:off x="9134856" y="1508760"/>
            <a:ext cx="2606040" cy="4434840"/>
          </a:xfrm>
          <a:prstGeom prst="roundRect">
            <a:avLst>
              <a:gd name="adj" fmla="val 2807"/>
            </a:avLst>
          </a:prstGeom>
          <a:solidFill>
            <a:srgbClr val="F5F7F9"/>
          </a:solidFill>
          <a:ln w="15875">
            <a:solidFill>
              <a:srgbClr val="17233D"/>
            </a:solidFill>
            <a:prstDash val="solid"/>
          </a:ln>
        </p:spPr>
      </p:sp>
      <p:sp>
        <p:nvSpPr>
          <p:cNvPr id="37" name="Shape 35"/>
          <p:cNvSpPr/>
          <p:nvPr/>
        </p:nvSpPr>
        <p:spPr>
          <a:xfrm>
            <a:off x="9134856" y="1508760"/>
            <a:ext cx="2606040" cy="868680"/>
          </a:xfrm>
          <a:prstGeom prst="roundRect">
            <a:avLst>
              <a:gd name="adj" fmla="val 8421"/>
            </a:avLst>
          </a:prstGeom>
          <a:solidFill>
            <a:srgbClr val="17233D"/>
          </a:solidFill>
          <a:ln/>
        </p:spPr>
      </p:sp>
      <p:sp>
        <p:nvSpPr>
          <p:cNvPr id="38" name="Shape 36"/>
          <p:cNvSpPr/>
          <p:nvPr/>
        </p:nvSpPr>
        <p:spPr>
          <a:xfrm>
            <a:off x="9134856" y="1920240"/>
            <a:ext cx="2606040" cy="457200"/>
          </a:xfrm>
          <a:prstGeom prst="rect">
            <a:avLst/>
          </a:prstGeom>
          <a:solidFill>
            <a:srgbClr val="17233D"/>
          </a:solidFill>
          <a:ln/>
        </p:spPr>
      </p:sp>
      <p:sp>
        <p:nvSpPr>
          <p:cNvPr id="39" name="Text 37"/>
          <p:cNvSpPr/>
          <p:nvPr/>
        </p:nvSpPr>
        <p:spPr>
          <a:xfrm>
            <a:off x="9299448" y="1581912"/>
            <a:ext cx="2276856" cy="228600"/>
          </a:xfrm>
          <a:prstGeom prst="rect">
            <a:avLst/>
          </a:prstGeom>
          <a:noFill/>
          <a:ln/>
        </p:spPr>
        <p:txBody>
          <a:bodyPr wrap="square" lIns="0" tIns="0" rIns="0" bIns="0" rtlCol="0" anchor="ctr"/>
          <a:lstStyle/>
          <a:p>
            <a:pPr marL="0" indent="0">
              <a:buNone/>
            </a:pPr>
            <a:r>
              <a:rPr lang="en-US" sz="1000" b="1" kern="0" spc="100" dirty="0">
                <a:solidFill>
                  <a:srgbClr val="D7E3EC"/>
                </a:solidFill>
                <a:latin typeface="Calibri" pitchFamily="34" charset="0"/>
                <a:ea typeface="Calibri" pitchFamily="34" charset="-122"/>
                <a:cs typeface="Calibri" pitchFamily="34" charset="-120"/>
              </a:rPr>
              <a:t>LAYER 4</a:t>
            </a:r>
            <a:endParaRPr lang="en-US" sz="1000" dirty="0"/>
          </a:p>
        </p:txBody>
      </p:sp>
      <p:sp>
        <p:nvSpPr>
          <p:cNvPr id="40" name="Text 38"/>
          <p:cNvSpPr/>
          <p:nvPr/>
        </p:nvSpPr>
        <p:spPr>
          <a:xfrm>
            <a:off x="9299448" y="1801368"/>
            <a:ext cx="2276856" cy="548640"/>
          </a:xfrm>
          <a:prstGeom prst="rect">
            <a:avLst/>
          </a:prstGeom>
          <a:noFill/>
          <a:ln/>
        </p:spPr>
        <p:txBody>
          <a:bodyPr wrap="square" lIns="0" tIns="0" rIns="0" bIns="0" rtlCol="0" anchor="ctr"/>
          <a:lstStyle/>
          <a:p>
            <a:pPr marL="0" indent="0">
              <a:lnSpc>
                <a:spcPts val="1450"/>
              </a:lnSpc>
              <a:buNone/>
            </a:pPr>
            <a:r>
              <a:rPr lang="en-US" sz="1250" b="1" dirty="0">
                <a:solidFill>
                  <a:srgbClr val="FFFFFF"/>
                </a:solidFill>
                <a:latin typeface="Cambria" pitchFamily="34" charset="0"/>
                <a:ea typeface="Cambria" pitchFamily="34" charset="-122"/>
                <a:cs typeface="Cambria" pitchFamily="34" charset="-120"/>
              </a:rPr>
              <a:t>PyTorch Training (Experiment A)</a:t>
            </a:r>
            <a:endParaRPr lang="en-US" sz="1250" dirty="0"/>
          </a:p>
        </p:txBody>
      </p:sp>
      <p:sp>
        <p:nvSpPr>
          <p:cNvPr id="41" name="Shape 39"/>
          <p:cNvSpPr/>
          <p:nvPr/>
        </p:nvSpPr>
        <p:spPr>
          <a:xfrm>
            <a:off x="9299448" y="2560320"/>
            <a:ext cx="2276856" cy="658368"/>
          </a:xfrm>
          <a:prstGeom prst="roundRect">
            <a:avLst>
              <a:gd name="adj" fmla="val 6944"/>
            </a:avLst>
          </a:prstGeom>
          <a:solidFill>
            <a:srgbClr val="FFFFFF"/>
          </a:solidFill>
          <a:ln w="9525">
            <a:solidFill>
              <a:srgbClr val="D5DEE3"/>
            </a:solidFill>
            <a:prstDash val="solid"/>
          </a:ln>
        </p:spPr>
      </p:sp>
      <p:sp>
        <p:nvSpPr>
          <p:cNvPr id="42" name="Text 40"/>
          <p:cNvSpPr/>
          <p:nvPr/>
        </p:nvSpPr>
        <p:spPr>
          <a:xfrm>
            <a:off x="9390888" y="2560320"/>
            <a:ext cx="2093976" cy="658368"/>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UnifiedFrameDataset + model_factory.py</a:t>
            </a:r>
            <a:endParaRPr lang="en-US" sz="900" dirty="0"/>
          </a:p>
        </p:txBody>
      </p:sp>
      <p:sp>
        <p:nvSpPr>
          <p:cNvPr id="43" name="Shape 41"/>
          <p:cNvSpPr/>
          <p:nvPr/>
        </p:nvSpPr>
        <p:spPr>
          <a:xfrm>
            <a:off x="9299448" y="3346704"/>
            <a:ext cx="2276856" cy="457200"/>
          </a:xfrm>
          <a:prstGeom prst="roundRect">
            <a:avLst>
              <a:gd name="adj" fmla="val 10000"/>
            </a:avLst>
          </a:prstGeom>
          <a:solidFill>
            <a:srgbClr val="FFFFFF"/>
          </a:solidFill>
          <a:ln w="9525">
            <a:solidFill>
              <a:srgbClr val="D5DEE3"/>
            </a:solidFill>
            <a:prstDash val="solid"/>
          </a:ln>
        </p:spPr>
      </p:sp>
      <p:sp>
        <p:nvSpPr>
          <p:cNvPr id="44" name="Text 42"/>
          <p:cNvSpPr/>
          <p:nvPr/>
        </p:nvSpPr>
        <p:spPr>
          <a:xfrm>
            <a:off x="9390888" y="3346704"/>
            <a:ext cx="2093976" cy="457200"/>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trainer.py / evaluator.py</a:t>
            </a:r>
            <a:endParaRPr lang="en-US" sz="900" dirty="0"/>
          </a:p>
        </p:txBody>
      </p:sp>
      <p:sp>
        <p:nvSpPr>
          <p:cNvPr id="45" name="Shape 43"/>
          <p:cNvSpPr/>
          <p:nvPr/>
        </p:nvSpPr>
        <p:spPr>
          <a:xfrm>
            <a:off x="9299448" y="3931920"/>
            <a:ext cx="2276856" cy="658368"/>
          </a:xfrm>
          <a:prstGeom prst="roundRect">
            <a:avLst>
              <a:gd name="adj" fmla="val 6944"/>
            </a:avLst>
          </a:prstGeom>
          <a:solidFill>
            <a:srgbClr val="FFFFFF"/>
          </a:solidFill>
          <a:ln w="9525">
            <a:solidFill>
              <a:srgbClr val="D5DEE3"/>
            </a:solidFill>
            <a:prstDash val="solid"/>
          </a:ln>
        </p:spPr>
      </p:sp>
      <p:sp>
        <p:nvSpPr>
          <p:cNvPr id="46" name="Text 44"/>
          <p:cNvSpPr/>
          <p:nvPr/>
        </p:nvSpPr>
        <p:spPr>
          <a:xfrm>
            <a:off x="9390888" y="3931920"/>
            <a:ext cx="2093976" cy="658368"/>
          </a:xfrm>
          <a:prstGeom prst="rect">
            <a:avLst/>
          </a:prstGeom>
          <a:noFill/>
          <a:ln/>
        </p:spPr>
        <p:txBody>
          <a:bodyPr wrap="square" lIns="0" tIns="0" rIns="0" bIns="0" rtlCol="0" anchor="ctr"/>
          <a:lstStyle/>
          <a:p>
            <a:pPr marL="0" indent="0" algn="ctr">
              <a:lnSpc>
                <a:spcPts val="1100"/>
              </a:lnSpc>
              <a:buNone/>
            </a:pPr>
            <a:r>
              <a:rPr lang="en-US" sz="900" dirty="0">
                <a:solidFill>
                  <a:srgbClr val="26333D"/>
                </a:solidFill>
                <a:latin typeface="Calibri" pitchFamily="34" charset="0"/>
                <a:ea typeface="Calibri" pitchFamily="34" charset="-122"/>
                <a:cs typeface="Calibri" pitchFamily="34" charset="-120"/>
              </a:rPr>
              <a:t>train.py / evaluate.py (YAML CLI)</a:t>
            </a:r>
            <a:endParaRPr lang="en-US" sz="900" dirty="0"/>
          </a:p>
        </p:txBody>
      </p:sp>
      <p:sp>
        <p:nvSpPr>
          <p:cNvPr id="47" name="Text 45"/>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0A4C7A"/>
                </a:solidFill>
                <a:latin typeface="Calibri" pitchFamily="34" charset="0"/>
                <a:ea typeface="Calibri" pitchFamily="34" charset="-122"/>
                <a:cs typeface="Calibri" pitchFamily="34" charset="-120"/>
              </a:rPr>
              <a:t>PIPELINE · LAYER 1 OF 4</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Raw Data &amp; Ingestion</a:t>
            </a:r>
            <a:endParaRPr lang="en-US" sz="2800" dirty="0"/>
          </a:p>
        </p:txBody>
      </p:sp>
      <p:sp>
        <p:nvSpPr>
          <p:cNvPr id="4" name="Shape 2"/>
          <p:cNvSpPr/>
          <p:nvPr/>
        </p:nvSpPr>
        <p:spPr>
          <a:xfrm>
            <a:off x="548640" y="1645920"/>
            <a:ext cx="5257800" cy="3566160"/>
          </a:xfrm>
          <a:prstGeom prst="roundRect">
            <a:avLst>
              <a:gd name="adj" fmla="val 2564"/>
            </a:avLst>
          </a:prstGeom>
          <a:solidFill>
            <a:srgbClr val="F5F7F9"/>
          </a:solidFill>
          <a:ln w="15875">
            <a:solidFill>
              <a:srgbClr val="0A4C7A"/>
            </a:solidFill>
            <a:prstDash val="solid"/>
          </a:ln>
        </p:spPr>
      </p:sp>
      <p:sp>
        <p:nvSpPr>
          <p:cNvPr id="5" name="Shape 3"/>
          <p:cNvSpPr/>
          <p:nvPr/>
        </p:nvSpPr>
        <p:spPr>
          <a:xfrm>
            <a:off x="868680" y="1965960"/>
            <a:ext cx="640080" cy="640080"/>
          </a:xfrm>
          <a:prstGeom prst="ellipse">
            <a:avLst/>
          </a:prstGeom>
          <a:solidFill>
            <a:srgbClr val="0A4C7A"/>
          </a:solidFill>
          <a:ln/>
        </p:spPr>
      </p:sp>
      <p:sp>
        <p:nvSpPr>
          <p:cNvPr id="6" name="Text 4"/>
          <p:cNvSpPr/>
          <p:nvPr/>
        </p:nvSpPr>
        <p:spPr>
          <a:xfrm>
            <a:off x="868680" y="1965960"/>
            <a:ext cx="640080" cy="640080"/>
          </a:xfrm>
          <a:prstGeom prst="rect">
            <a:avLst/>
          </a:prstGeom>
          <a:noFill/>
          <a:ln/>
        </p:spPr>
        <p:txBody>
          <a:bodyPr wrap="square" lIns="0" tIns="0" rIns="0" bIns="0" rtlCol="0" anchor="ctr"/>
          <a:lstStyle/>
          <a:p>
            <a:pPr marL="0" indent="0" algn="ctr">
              <a:buNone/>
            </a:pPr>
            <a:r>
              <a:rPr lang="en-US" sz="1680" b="1" dirty="0">
                <a:solidFill>
                  <a:srgbClr val="FFFFFF"/>
                </a:solidFill>
                <a:latin typeface="Calibri" pitchFamily="34" charset="0"/>
                <a:ea typeface="Calibri" pitchFamily="34" charset="-122"/>
                <a:cs typeface="Calibri" pitchFamily="34" charset="-120"/>
              </a:rPr>
              <a:t>O</a:t>
            </a:r>
            <a:endParaRPr lang="en-US" sz="1680" dirty="0"/>
          </a:p>
        </p:txBody>
      </p:sp>
      <p:sp>
        <p:nvSpPr>
          <p:cNvPr id="7" name="Text 5"/>
          <p:cNvSpPr/>
          <p:nvPr/>
        </p:nvSpPr>
        <p:spPr>
          <a:xfrm>
            <a:off x="1691640" y="1965960"/>
            <a:ext cx="3886200" cy="365760"/>
          </a:xfrm>
          <a:prstGeom prst="rect">
            <a:avLst/>
          </a:prstGeom>
          <a:noFill/>
          <a:ln/>
        </p:spPr>
        <p:txBody>
          <a:bodyPr wrap="square" lIns="0" tIns="0" rIns="0" bIns="0" rtlCol="0" anchor="ctr"/>
          <a:lstStyle/>
          <a:p>
            <a:pPr marL="0" indent="0">
              <a:buNone/>
            </a:pPr>
            <a:r>
              <a:rPr lang="en-US" sz="1700" b="1" dirty="0">
                <a:solidFill>
                  <a:srgbClr val="17233D"/>
                </a:solidFill>
                <a:latin typeface="Cambria" pitchFamily="34" charset="0"/>
                <a:ea typeface="Cambria" pitchFamily="34" charset="-122"/>
                <a:cs typeface="Cambria" pitchFamily="34" charset="-120"/>
              </a:rPr>
              <a:t>OUC-CGE</a:t>
            </a:r>
            <a:endParaRPr lang="en-US" sz="1700" dirty="0"/>
          </a:p>
        </p:txBody>
      </p:sp>
      <p:sp>
        <p:nvSpPr>
          <p:cNvPr id="8" name="Text 6"/>
          <p:cNvSpPr/>
          <p:nvPr/>
        </p:nvSpPr>
        <p:spPr>
          <a:xfrm>
            <a:off x="1691640" y="2331720"/>
            <a:ext cx="3886200" cy="320040"/>
          </a:xfrm>
          <a:prstGeom prst="rect">
            <a:avLst/>
          </a:prstGeom>
          <a:noFill/>
          <a:ln/>
        </p:spPr>
        <p:txBody>
          <a:bodyPr wrap="square" lIns="0" tIns="0" rIns="0" bIns="0" rtlCol="0" anchor="ctr"/>
          <a:lstStyle/>
          <a:p>
            <a:pPr marL="0" indent="0">
              <a:buNone/>
            </a:pPr>
            <a:r>
              <a:rPr lang="en-US" sz="1250" b="1" dirty="0">
                <a:solidFill>
                  <a:srgbClr val="0A4C7A"/>
                </a:solidFill>
                <a:latin typeface="Calibri" pitchFamily="34" charset="0"/>
                <a:ea typeface="Calibri" pitchFamily="34" charset="-122"/>
                <a:cs typeface="Calibri" pitchFamily="34" charset="-120"/>
              </a:rPr>
              <a:t>7,439 raw .mp4 clips</a:t>
            </a:r>
            <a:endParaRPr lang="en-US" sz="1250" dirty="0"/>
          </a:p>
        </p:txBody>
      </p:sp>
      <p:sp>
        <p:nvSpPr>
          <p:cNvPr id="9" name="Text 7"/>
          <p:cNvSpPr/>
          <p:nvPr/>
        </p:nvSpPr>
        <p:spPr>
          <a:xfrm>
            <a:off x="868680" y="2880360"/>
            <a:ext cx="4617720" cy="2194560"/>
          </a:xfrm>
          <a:prstGeom prst="rect">
            <a:avLst/>
          </a:prstGeom>
          <a:noFill/>
          <a:ln/>
        </p:spPr>
        <p:txBody>
          <a:bodyPr wrap="square" lIns="0" tIns="0" rIns="0" bIns="0" rtlCol="0" anchor="ctr"/>
          <a:lstStyle/>
          <a:p>
            <a:pPr marL="0" indent="0">
              <a:lnSpc>
                <a:spcPts val="1700"/>
              </a:lnSpc>
              <a:buNone/>
            </a:pPr>
            <a:r>
              <a:rPr lang="en-US" sz="1200" dirty="0">
                <a:solidFill>
                  <a:srgbClr val="26333D"/>
                </a:solidFill>
                <a:latin typeface="Calibri" pitchFamily="34" charset="0"/>
                <a:ea typeface="Calibri" pitchFamily="34" charset="-122"/>
                <a:cs typeface="Calibri" pitchFamily="34" charset="-120"/>
              </a:rPr>
              <a:t>Group-level classroom video. Ingestion validated via OpenCV decoding: every file opened and frame-checked before entering the pipeline. 75 corrupted files auto-flagged and excluded.</a:t>
            </a:r>
            <a:endParaRPr lang="en-US" sz="1200" dirty="0"/>
          </a:p>
        </p:txBody>
      </p:sp>
      <p:sp>
        <p:nvSpPr>
          <p:cNvPr id="10" name="Shape 8"/>
          <p:cNvSpPr/>
          <p:nvPr/>
        </p:nvSpPr>
        <p:spPr>
          <a:xfrm>
            <a:off x="6172200" y="1645920"/>
            <a:ext cx="5257800" cy="3566160"/>
          </a:xfrm>
          <a:prstGeom prst="roundRect">
            <a:avLst>
              <a:gd name="adj" fmla="val 2564"/>
            </a:avLst>
          </a:prstGeom>
          <a:solidFill>
            <a:srgbClr val="F5F7F9"/>
          </a:solidFill>
          <a:ln w="15875">
            <a:solidFill>
              <a:srgbClr val="1C7293"/>
            </a:solidFill>
            <a:prstDash val="solid"/>
          </a:ln>
        </p:spPr>
      </p:sp>
      <p:sp>
        <p:nvSpPr>
          <p:cNvPr id="11" name="Shape 9"/>
          <p:cNvSpPr/>
          <p:nvPr/>
        </p:nvSpPr>
        <p:spPr>
          <a:xfrm>
            <a:off x="6492240" y="1965960"/>
            <a:ext cx="640080" cy="640080"/>
          </a:xfrm>
          <a:prstGeom prst="ellipse">
            <a:avLst/>
          </a:prstGeom>
          <a:solidFill>
            <a:srgbClr val="1C7293"/>
          </a:solidFill>
          <a:ln/>
        </p:spPr>
      </p:sp>
      <p:sp>
        <p:nvSpPr>
          <p:cNvPr id="12" name="Text 10"/>
          <p:cNvSpPr/>
          <p:nvPr/>
        </p:nvSpPr>
        <p:spPr>
          <a:xfrm>
            <a:off x="6492240" y="1965960"/>
            <a:ext cx="640080" cy="640080"/>
          </a:xfrm>
          <a:prstGeom prst="rect">
            <a:avLst/>
          </a:prstGeom>
          <a:noFill/>
          <a:ln/>
        </p:spPr>
        <p:txBody>
          <a:bodyPr wrap="square" lIns="0" tIns="0" rIns="0" bIns="0" rtlCol="0" anchor="ctr"/>
          <a:lstStyle/>
          <a:p>
            <a:pPr marL="0" indent="0" algn="ctr">
              <a:buNone/>
            </a:pPr>
            <a:r>
              <a:rPr lang="en-US" sz="1680" b="1" dirty="0">
                <a:solidFill>
                  <a:srgbClr val="FFFFFF"/>
                </a:solidFill>
                <a:latin typeface="Calibri" pitchFamily="34" charset="0"/>
                <a:ea typeface="Calibri" pitchFamily="34" charset="-122"/>
                <a:cs typeface="Calibri" pitchFamily="34" charset="-120"/>
              </a:rPr>
              <a:t>C</a:t>
            </a:r>
            <a:endParaRPr lang="en-US" sz="1680" dirty="0"/>
          </a:p>
        </p:txBody>
      </p:sp>
      <p:sp>
        <p:nvSpPr>
          <p:cNvPr id="13" name="Text 11"/>
          <p:cNvSpPr/>
          <p:nvPr/>
        </p:nvSpPr>
        <p:spPr>
          <a:xfrm>
            <a:off x="7315200" y="1965960"/>
            <a:ext cx="3886200" cy="365760"/>
          </a:xfrm>
          <a:prstGeom prst="rect">
            <a:avLst/>
          </a:prstGeom>
          <a:noFill/>
          <a:ln/>
        </p:spPr>
        <p:txBody>
          <a:bodyPr wrap="square" lIns="0" tIns="0" rIns="0" bIns="0" rtlCol="0" anchor="ctr"/>
          <a:lstStyle/>
          <a:p>
            <a:pPr marL="0" indent="0">
              <a:buNone/>
            </a:pPr>
            <a:r>
              <a:rPr lang="en-US" sz="1700" b="1" dirty="0">
                <a:solidFill>
                  <a:srgbClr val="17233D"/>
                </a:solidFill>
                <a:latin typeface="Cambria" pitchFamily="34" charset="0"/>
                <a:ea typeface="Cambria" pitchFamily="34" charset="-122"/>
                <a:cs typeface="Cambria" pitchFamily="34" charset="-120"/>
              </a:rPr>
              <a:t>COLER</a:t>
            </a:r>
            <a:endParaRPr lang="en-US" sz="1700" dirty="0"/>
          </a:p>
        </p:txBody>
      </p:sp>
      <p:sp>
        <p:nvSpPr>
          <p:cNvPr id="14" name="Text 12"/>
          <p:cNvSpPr/>
          <p:nvPr/>
        </p:nvSpPr>
        <p:spPr>
          <a:xfrm>
            <a:off x="7315200" y="2331720"/>
            <a:ext cx="3886200" cy="320040"/>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18,546 raw files</a:t>
            </a:r>
            <a:endParaRPr lang="en-US" sz="1250" dirty="0"/>
          </a:p>
        </p:txBody>
      </p:sp>
      <p:sp>
        <p:nvSpPr>
          <p:cNvPr id="15" name="Text 13"/>
          <p:cNvSpPr/>
          <p:nvPr/>
        </p:nvSpPr>
        <p:spPr>
          <a:xfrm>
            <a:off x="6492240" y="2880360"/>
            <a:ext cx="4617720" cy="2194560"/>
          </a:xfrm>
          <a:prstGeom prst="rect">
            <a:avLst/>
          </a:prstGeom>
          <a:noFill/>
          <a:ln/>
        </p:spPr>
        <p:txBody>
          <a:bodyPr wrap="square" lIns="0" tIns="0" rIns="0" bIns="0" rtlCol="0" anchor="ctr"/>
          <a:lstStyle/>
          <a:p>
            <a:pPr marL="0" indent="0">
              <a:lnSpc>
                <a:spcPts val="1700"/>
              </a:lnSpc>
              <a:buNone/>
            </a:pPr>
            <a:r>
              <a:rPr lang="en-US" sz="1200" dirty="0">
                <a:solidFill>
                  <a:srgbClr val="26333D"/>
                </a:solidFill>
                <a:latin typeface="Calibri" pitchFamily="34" charset="0"/>
                <a:ea typeface="Calibri" pitchFamily="34" charset="-122"/>
                <a:cs typeface="Calibri" pitchFamily="34" charset="-120"/>
              </a:rPr>
              <a:t>Individual-level, multi-modal data: 14,978 RGB PNG crops, 3,117 JPG context views, 451 skeleton CSVs. Ingested via full 5-level directory tree traversal across 1,234 subfolders.</a:t>
            </a:r>
            <a:endParaRPr lang="en-US" sz="1200" dirty="0"/>
          </a:p>
        </p:txBody>
      </p:sp>
      <p:sp>
        <p:nvSpPr>
          <p:cNvPr id="16" name="Text 14"/>
          <p:cNvSpPr/>
          <p:nvPr/>
        </p:nvSpPr>
        <p:spPr>
          <a:xfrm>
            <a:off x="548640" y="5394960"/>
            <a:ext cx="11064240" cy="365760"/>
          </a:xfrm>
          <a:prstGeom prst="rect">
            <a:avLst/>
          </a:prstGeom>
          <a:noFill/>
          <a:ln/>
        </p:spPr>
        <p:txBody>
          <a:bodyPr wrap="square" lIns="0" tIns="0" rIns="0" bIns="0" rtlCol="0" anchor="ctr"/>
          <a:lstStyle/>
          <a:p>
            <a:pPr marL="0" indent="0">
              <a:buNone/>
            </a:pPr>
            <a:r>
              <a:rPr lang="en-US" sz="1200" i="1" dirty="0">
                <a:solidFill>
                  <a:srgbClr val="5D6C77"/>
                </a:solidFill>
                <a:latin typeface="Calibri" pitchFamily="34" charset="0"/>
                <a:ea typeface="Calibri" pitchFamily="34" charset="-122"/>
                <a:cs typeface="Calibri" pitchFamily="34" charset="-120"/>
              </a:rPr>
              <a:t>Neither dataset is modified on disk at this stage — ingestion is read-only, with every anomaly logged for Layer 2 to resolve.</a:t>
            </a:r>
            <a:endParaRPr lang="en-US" sz="1200" dirty="0"/>
          </a:p>
        </p:txBody>
      </p:sp>
      <p:sp>
        <p:nvSpPr>
          <p:cNvPr id="17" name="Text 15"/>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PIPELINE · LAYER 2 OF 4</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Preprocessing &amp; Standardization</a:t>
            </a:r>
            <a:endParaRPr lang="en-US" sz="2800" dirty="0"/>
          </a:p>
        </p:txBody>
      </p:sp>
      <p:sp>
        <p:nvSpPr>
          <p:cNvPr id="4" name="Shape 2"/>
          <p:cNvSpPr/>
          <p:nvPr/>
        </p:nvSpPr>
        <p:spPr>
          <a:xfrm>
            <a:off x="548640" y="1600200"/>
            <a:ext cx="5440680" cy="1417320"/>
          </a:xfrm>
          <a:prstGeom prst="roundRect">
            <a:avLst>
              <a:gd name="adj" fmla="val 5161"/>
            </a:avLst>
          </a:prstGeom>
          <a:solidFill>
            <a:srgbClr val="F5F7F9"/>
          </a:solidFill>
          <a:ln/>
        </p:spPr>
      </p:sp>
      <p:sp>
        <p:nvSpPr>
          <p:cNvPr id="5" name="Text 3"/>
          <p:cNvSpPr/>
          <p:nvPr/>
        </p:nvSpPr>
        <p:spPr>
          <a:xfrm>
            <a:off x="777240" y="1709928"/>
            <a:ext cx="498348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ouc_cge_parser.py</a:t>
            </a:r>
            <a:endParaRPr lang="en-US" sz="1300" dirty="0"/>
          </a:p>
        </p:txBody>
      </p:sp>
      <p:sp>
        <p:nvSpPr>
          <p:cNvPr id="6" name="Text 4"/>
          <p:cNvSpPr/>
          <p:nvPr/>
        </p:nvSpPr>
        <p:spPr>
          <a:xfrm>
            <a:off x="777240" y="2057400"/>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Scans MP4s, runs OpenCV validation, flags corrupted files, records resolution/FPS/duration</a:t>
            </a:r>
            <a:endParaRPr lang="en-US" sz="1150" dirty="0"/>
          </a:p>
        </p:txBody>
      </p:sp>
      <p:sp>
        <p:nvSpPr>
          <p:cNvPr id="7" name="Shape 5"/>
          <p:cNvSpPr/>
          <p:nvPr/>
        </p:nvSpPr>
        <p:spPr>
          <a:xfrm>
            <a:off x="6217920" y="1600200"/>
            <a:ext cx="5440680" cy="1417320"/>
          </a:xfrm>
          <a:prstGeom prst="roundRect">
            <a:avLst>
              <a:gd name="adj" fmla="val 5161"/>
            </a:avLst>
          </a:prstGeom>
          <a:solidFill>
            <a:srgbClr val="F5F7F9"/>
          </a:solidFill>
          <a:ln/>
        </p:spPr>
      </p:sp>
      <p:sp>
        <p:nvSpPr>
          <p:cNvPr id="8" name="Text 6"/>
          <p:cNvSpPr/>
          <p:nvPr/>
        </p:nvSpPr>
        <p:spPr>
          <a:xfrm>
            <a:off x="6446520" y="1709928"/>
            <a:ext cx="498348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coler_parser.py</a:t>
            </a:r>
            <a:endParaRPr lang="en-US" sz="1300" dirty="0"/>
          </a:p>
        </p:txBody>
      </p:sp>
      <p:sp>
        <p:nvSpPr>
          <p:cNvPr id="9" name="Text 7"/>
          <p:cNvSpPr/>
          <p:nvPr/>
        </p:nvSpPr>
        <p:spPr>
          <a:xfrm>
            <a:off x="6446520" y="2057400"/>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Traverses the nested tree, resolves case mismatches, flags empty leaf directories</a:t>
            </a:r>
            <a:endParaRPr lang="en-US" sz="1150" dirty="0"/>
          </a:p>
        </p:txBody>
      </p:sp>
      <p:sp>
        <p:nvSpPr>
          <p:cNvPr id="10" name="Shape 8"/>
          <p:cNvSpPr/>
          <p:nvPr/>
        </p:nvSpPr>
        <p:spPr>
          <a:xfrm>
            <a:off x="548640" y="3246120"/>
            <a:ext cx="5440680" cy="1417320"/>
          </a:xfrm>
          <a:prstGeom prst="roundRect">
            <a:avLst>
              <a:gd name="adj" fmla="val 5161"/>
            </a:avLst>
          </a:prstGeom>
          <a:solidFill>
            <a:srgbClr val="F5F7F9"/>
          </a:solidFill>
          <a:ln/>
        </p:spPr>
      </p:sp>
      <p:sp>
        <p:nvSpPr>
          <p:cNvPr id="11" name="Text 9"/>
          <p:cNvSpPr/>
          <p:nvPr/>
        </p:nvSpPr>
        <p:spPr>
          <a:xfrm>
            <a:off x="777240" y="3355848"/>
            <a:ext cx="498348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label_mapper.py</a:t>
            </a:r>
            <a:endParaRPr lang="en-US" sz="1300" dirty="0"/>
          </a:p>
        </p:txBody>
      </p:sp>
      <p:sp>
        <p:nvSpPr>
          <p:cNvPr id="12" name="Text 10"/>
          <p:cNvSpPr/>
          <p:nvPr/>
        </p:nvSpPr>
        <p:spPr>
          <a:xfrm>
            <a:off x="777240" y="3703320"/>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Configurable JSON-driven mapping to a shared 3-class + binary taxonomy</a:t>
            </a:r>
            <a:endParaRPr lang="en-US" sz="1150" dirty="0"/>
          </a:p>
        </p:txBody>
      </p:sp>
      <p:sp>
        <p:nvSpPr>
          <p:cNvPr id="13" name="Shape 11"/>
          <p:cNvSpPr/>
          <p:nvPr/>
        </p:nvSpPr>
        <p:spPr>
          <a:xfrm>
            <a:off x="6217920" y="3246120"/>
            <a:ext cx="5440680" cy="1417320"/>
          </a:xfrm>
          <a:prstGeom prst="roundRect">
            <a:avLst>
              <a:gd name="adj" fmla="val 5161"/>
            </a:avLst>
          </a:prstGeom>
          <a:solidFill>
            <a:srgbClr val="F5F7F9"/>
          </a:solidFill>
          <a:ln/>
        </p:spPr>
      </p:sp>
      <p:sp>
        <p:nvSpPr>
          <p:cNvPr id="14" name="Text 12"/>
          <p:cNvSpPr/>
          <p:nvPr/>
        </p:nvSpPr>
        <p:spPr>
          <a:xfrm>
            <a:off x="6446520" y="3355848"/>
            <a:ext cx="498348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build_manifest.py</a:t>
            </a:r>
            <a:endParaRPr lang="en-US" sz="1300" dirty="0"/>
          </a:p>
        </p:txBody>
      </p:sp>
      <p:sp>
        <p:nvSpPr>
          <p:cNvPr id="15" name="Text 13"/>
          <p:cNvSpPr/>
          <p:nvPr/>
        </p:nvSpPr>
        <p:spPr>
          <a:xfrm>
            <a:off x="6446520" y="3703320"/>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Master runner: 5-fold stratified split per dataset → one unified manifest</a:t>
            </a:r>
            <a:endParaRPr lang="en-US" sz="1150" dirty="0"/>
          </a:p>
        </p:txBody>
      </p:sp>
      <p:sp>
        <p:nvSpPr>
          <p:cNvPr id="16" name="Shape 14"/>
          <p:cNvSpPr/>
          <p:nvPr/>
        </p:nvSpPr>
        <p:spPr>
          <a:xfrm>
            <a:off x="548640" y="4983480"/>
            <a:ext cx="4480560" cy="777240"/>
          </a:xfrm>
          <a:prstGeom prst="roundRect">
            <a:avLst>
              <a:gd name="adj" fmla="val 11765"/>
            </a:avLst>
          </a:prstGeom>
          <a:solidFill>
            <a:srgbClr val="17233D"/>
          </a:solidFill>
          <a:ln/>
        </p:spPr>
      </p:sp>
      <p:sp>
        <p:nvSpPr>
          <p:cNvPr id="17" name="Text 15"/>
          <p:cNvSpPr/>
          <p:nvPr/>
        </p:nvSpPr>
        <p:spPr>
          <a:xfrm>
            <a:off x="777240" y="5074920"/>
            <a:ext cx="4023360" cy="274320"/>
          </a:xfrm>
          <a:prstGeom prst="rect">
            <a:avLst/>
          </a:prstGeom>
          <a:noFill/>
          <a:ln/>
        </p:spPr>
        <p:txBody>
          <a:bodyPr wrap="square" lIns="0" tIns="0" rIns="0" bIns="0" rtlCol="0" anchor="ctr"/>
          <a:lstStyle/>
          <a:p>
            <a:pPr marL="0" indent="0">
              <a:buNone/>
            </a:pPr>
            <a:r>
              <a:rPr lang="en-US" sz="1150" b="1" dirty="0">
                <a:solidFill>
                  <a:srgbClr val="E0A030"/>
                </a:solidFill>
                <a:latin typeface="Calibri" pitchFamily="34" charset="0"/>
                <a:ea typeface="Calibri" pitchFamily="34" charset="-122"/>
                <a:cs typeface="Calibri" pitchFamily="34" charset="-120"/>
              </a:rPr>
              <a:t>OUTPUT:  unified_manifest.csv</a:t>
            </a:r>
            <a:endParaRPr lang="en-US" sz="1150" dirty="0"/>
          </a:p>
        </p:txBody>
      </p:sp>
      <p:sp>
        <p:nvSpPr>
          <p:cNvPr id="18" name="Text 16"/>
          <p:cNvSpPr/>
          <p:nvPr/>
        </p:nvSpPr>
        <p:spPr>
          <a:xfrm>
            <a:off x="777240" y="5367528"/>
            <a:ext cx="4023360" cy="274320"/>
          </a:xfrm>
          <a:prstGeom prst="rect">
            <a:avLst/>
          </a:prstGeom>
          <a:noFill/>
          <a:ln/>
        </p:spPr>
        <p:txBody>
          <a:bodyPr wrap="square" lIns="0" tIns="0" rIns="0" bIns="0" rtlCol="0" anchor="ctr"/>
          <a:lstStyle/>
          <a:p>
            <a:pPr marL="0" indent="0">
              <a:buNone/>
            </a:pPr>
            <a:r>
              <a:rPr lang="en-US" sz="1050" dirty="0">
                <a:solidFill>
                  <a:srgbClr val="D7E3EC"/>
                </a:solidFill>
                <a:latin typeface="Calibri" pitchFamily="34" charset="0"/>
                <a:ea typeface="Calibri" pitchFamily="34" charset="-122"/>
                <a:cs typeface="Calibri" pitchFamily="34" charset="-120"/>
              </a:rPr>
              <a:t>7,989 total samples, clip-level, 5-fold stratified splits</a:t>
            </a:r>
            <a:endParaRPr lang="en-US" sz="1050" dirty="0"/>
          </a:p>
        </p:txBody>
      </p:sp>
      <p:sp>
        <p:nvSpPr>
          <p:cNvPr id="19" name="Text 17"/>
          <p:cNvSpPr/>
          <p:nvPr/>
        </p:nvSpPr>
        <p:spPr>
          <a:xfrm>
            <a:off x="5394960" y="4965192"/>
            <a:ext cx="5852160" cy="256032"/>
          </a:xfrm>
          <a:prstGeom prst="rect">
            <a:avLst/>
          </a:prstGeom>
          <a:noFill/>
          <a:ln/>
        </p:spPr>
        <p:txBody>
          <a:bodyPr wrap="square" lIns="0" tIns="0" rIns="0" bIns="0" rtlCol="0" anchor="ctr"/>
          <a:lstStyle/>
          <a:p>
            <a:pPr marL="0" indent="0">
              <a:buNone/>
            </a:pPr>
            <a:r>
              <a:rPr lang="en-US" sz="1050" b="1" kern="0" spc="100" dirty="0">
                <a:solidFill>
                  <a:srgbClr val="5D6C77"/>
                </a:solidFill>
                <a:latin typeface="Calibri" pitchFamily="34" charset="0"/>
                <a:ea typeface="Calibri" pitchFamily="34" charset="-122"/>
                <a:cs typeface="Calibri" pitchFamily="34" charset="-120"/>
              </a:rPr>
              <a:t>LABEL TAXONOMY HARMONIZATION</a:t>
            </a:r>
            <a:endParaRPr lang="en-US" sz="1050" dirty="0"/>
          </a:p>
        </p:txBody>
      </p:sp>
      <p:sp>
        <p:nvSpPr>
          <p:cNvPr id="20" name="Shape 18"/>
          <p:cNvSpPr/>
          <p:nvPr/>
        </p:nvSpPr>
        <p:spPr>
          <a:xfrm>
            <a:off x="5394960" y="5276088"/>
            <a:ext cx="1737360" cy="457200"/>
          </a:xfrm>
          <a:prstGeom prst="roundRect">
            <a:avLst>
              <a:gd name="adj" fmla="val 12000"/>
            </a:avLst>
          </a:prstGeom>
          <a:solidFill>
            <a:srgbClr val="EAF0F5"/>
          </a:solidFill>
          <a:ln/>
        </p:spPr>
      </p:sp>
      <p:sp>
        <p:nvSpPr>
          <p:cNvPr id="21" name="Text 19"/>
          <p:cNvSpPr/>
          <p:nvPr/>
        </p:nvSpPr>
        <p:spPr>
          <a:xfrm>
            <a:off x="5468112" y="5276088"/>
            <a:ext cx="1591056" cy="457200"/>
          </a:xfrm>
          <a:prstGeom prst="rect">
            <a:avLst/>
          </a:prstGeom>
          <a:noFill/>
          <a:ln/>
        </p:spPr>
        <p:txBody>
          <a:bodyPr wrap="square" lIns="0" tIns="0" rIns="0" bIns="0" rtlCol="0" anchor="ctr"/>
          <a:lstStyle/>
          <a:p>
            <a:pPr marL="0" indent="0" algn="ctr">
              <a:buNone/>
            </a:pPr>
            <a:r>
              <a:rPr lang="en-US" sz="1100" b="1" dirty="0">
                <a:solidFill>
                  <a:srgbClr val="26333D"/>
                </a:solidFill>
                <a:latin typeface="Calibri" pitchFamily="34" charset="0"/>
                <a:ea typeface="Calibri" pitchFamily="34" charset="-122"/>
                <a:cs typeface="Calibri" pitchFamily="34" charset="-120"/>
              </a:rPr>
              <a:t>High</a:t>
            </a:r>
            <a:endParaRPr lang="en-US" sz="1100" dirty="0"/>
          </a:p>
        </p:txBody>
      </p:sp>
      <p:sp>
        <p:nvSpPr>
          <p:cNvPr id="22" name="Shape 20"/>
          <p:cNvSpPr/>
          <p:nvPr/>
        </p:nvSpPr>
        <p:spPr>
          <a:xfrm>
            <a:off x="7360920" y="5276088"/>
            <a:ext cx="2011680" cy="457200"/>
          </a:xfrm>
          <a:prstGeom prst="roundRect">
            <a:avLst>
              <a:gd name="adj" fmla="val 12000"/>
            </a:avLst>
          </a:prstGeom>
          <a:solidFill>
            <a:srgbClr val="D6E6F0"/>
          </a:solidFill>
          <a:ln/>
        </p:spPr>
      </p:sp>
      <p:sp>
        <p:nvSpPr>
          <p:cNvPr id="23" name="Text 21"/>
          <p:cNvSpPr/>
          <p:nvPr/>
        </p:nvSpPr>
        <p:spPr>
          <a:xfrm>
            <a:off x="7434072" y="5276088"/>
            <a:ext cx="1865376" cy="457200"/>
          </a:xfrm>
          <a:prstGeom prst="rect">
            <a:avLst/>
          </a:prstGeom>
          <a:noFill/>
          <a:ln/>
        </p:spPr>
        <p:txBody>
          <a:bodyPr wrap="square" lIns="0" tIns="0" rIns="0" bIns="0" rtlCol="0" anchor="ctr"/>
          <a:lstStyle/>
          <a:p>
            <a:pPr marL="0" indent="0" algn="ctr">
              <a:buNone/>
            </a:pPr>
            <a:r>
              <a:rPr lang="en-US" sz="1000" dirty="0">
                <a:solidFill>
                  <a:srgbClr val="26333D"/>
                </a:solidFill>
                <a:latin typeface="Calibri" pitchFamily="34" charset="0"/>
                <a:ea typeface="Calibri" pitchFamily="34" charset="-122"/>
                <a:cs typeface="Calibri" pitchFamily="34" charset="-120"/>
              </a:rPr>
              <a:t>Engaged + Very Engaged</a:t>
            </a:r>
            <a:endParaRPr lang="en-US" sz="1000" dirty="0"/>
          </a:p>
        </p:txBody>
      </p:sp>
      <p:sp>
        <p:nvSpPr>
          <p:cNvPr id="24" name="Shape 22"/>
          <p:cNvSpPr/>
          <p:nvPr/>
        </p:nvSpPr>
        <p:spPr>
          <a:xfrm>
            <a:off x="7178040" y="5413248"/>
            <a:ext cx="137160" cy="164592"/>
          </a:xfrm>
          <a:prstGeom prst="rightArrow">
            <a:avLst/>
          </a:prstGeom>
          <a:solidFill>
            <a:srgbClr val="8593A0"/>
          </a:solidFill>
          <a:ln/>
        </p:spPr>
      </p:sp>
      <p:sp>
        <p:nvSpPr>
          <p:cNvPr id="25" name="Text 23"/>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E0A030"/>
                </a:solidFill>
                <a:latin typeface="Calibri" pitchFamily="34" charset="0"/>
                <a:ea typeface="Calibri" pitchFamily="34" charset="-122"/>
                <a:cs typeface="Calibri" pitchFamily="34" charset="-120"/>
              </a:rPr>
              <a:t>PIPELINE · LAYER 3 OF 4</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Frame Extraction &amp; Unified Representation</a:t>
            </a:r>
            <a:endParaRPr lang="en-US" sz="2800" dirty="0"/>
          </a:p>
        </p:txBody>
      </p:sp>
      <p:sp>
        <p:nvSpPr>
          <p:cNvPr id="4" name="Text 2"/>
          <p:cNvSpPr/>
          <p:nvPr/>
        </p:nvSpPr>
        <p:spPr>
          <a:xfrm>
            <a:off x="548640" y="1508760"/>
            <a:ext cx="7315200" cy="274320"/>
          </a:xfrm>
          <a:prstGeom prst="rect">
            <a:avLst/>
          </a:prstGeom>
          <a:noFill/>
          <a:ln/>
        </p:spPr>
        <p:txBody>
          <a:bodyPr wrap="square" lIns="0" tIns="0" rIns="0" bIns="0" rtlCol="0" anchor="ctr"/>
          <a:lstStyle/>
          <a:p>
            <a:pPr marL="0" indent="0">
              <a:buNone/>
            </a:pPr>
            <a:r>
              <a:rPr lang="en-US" sz="1100" b="1" kern="0" spc="100" dirty="0">
                <a:solidFill>
                  <a:srgbClr val="5D6C77"/>
                </a:solidFill>
                <a:latin typeface="Calibri" pitchFamily="34" charset="0"/>
                <a:ea typeface="Calibri" pitchFamily="34" charset="-122"/>
                <a:cs typeface="Calibri" pitchFamily="34" charset="-120"/>
              </a:rPr>
              <a:t>5 CONFIGURABLE SAMPLING STRATEGIES (samplers.py)</a:t>
            </a:r>
            <a:endParaRPr lang="en-US" sz="1100" dirty="0"/>
          </a:p>
        </p:txBody>
      </p:sp>
      <p:sp>
        <p:nvSpPr>
          <p:cNvPr id="5" name="Shape 3"/>
          <p:cNvSpPr/>
          <p:nvPr/>
        </p:nvSpPr>
        <p:spPr>
          <a:xfrm>
            <a:off x="548640" y="1828800"/>
            <a:ext cx="2121408" cy="1051560"/>
          </a:xfrm>
          <a:prstGeom prst="roundRect">
            <a:avLst>
              <a:gd name="adj" fmla="val 6957"/>
            </a:avLst>
          </a:prstGeom>
          <a:solidFill>
            <a:srgbClr val="EAF0F5"/>
          </a:solidFill>
          <a:ln/>
        </p:spPr>
      </p:sp>
      <p:sp>
        <p:nvSpPr>
          <p:cNvPr id="6" name="Text 4"/>
          <p:cNvSpPr/>
          <p:nvPr/>
        </p:nvSpPr>
        <p:spPr>
          <a:xfrm>
            <a:off x="548640" y="1920240"/>
            <a:ext cx="2121408" cy="320040"/>
          </a:xfrm>
          <a:prstGeom prst="rect">
            <a:avLst/>
          </a:prstGeom>
          <a:noFill/>
          <a:ln/>
        </p:spPr>
        <p:txBody>
          <a:bodyPr wrap="square" lIns="0" tIns="0" rIns="0" bIns="0" rtlCol="0" anchor="ctr"/>
          <a:lstStyle/>
          <a:p>
            <a:pPr marL="0" indent="0" algn="ctr">
              <a:buNone/>
            </a:pPr>
            <a:r>
              <a:rPr lang="en-US" sz="1250" b="1" dirty="0">
                <a:solidFill>
                  <a:srgbClr val="0A4C7A"/>
                </a:solidFill>
                <a:latin typeface="Calibri" pitchFamily="34" charset="0"/>
                <a:ea typeface="Calibri" pitchFamily="34" charset="-122"/>
                <a:cs typeface="Calibri" pitchFamily="34" charset="-120"/>
              </a:rPr>
              <a:t>SINGLE</a:t>
            </a:r>
            <a:endParaRPr lang="en-US" sz="1250" dirty="0"/>
          </a:p>
        </p:txBody>
      </p:sp>
      <p:sp>
        <p:nvSpPr>
          <p:cNvPr id="7" name="Text 5"/>
          <p:cNvSpPr/>
          <p:nvPr/>
        </p:nvSpPr>
        <p:spPr>
          <a:xfrm>
            <a:off x="548640" y="2240280"/>
            <a:ext cx="2121408" cy="548640"/>
          </a:xfrm>
          <a:prstGeom prst="rect">
            <a:avLst/>
          </a:prstGeom>
          <a:noFill/>
          <a:ln/>
        </p:spPr>
        <p:txBody>
          <a:bodyPr wrap="square" lIns="0" tIns="0" rIns="0" bIns="0" rtlCol="0" anchor="ctr"/>
          <a:lstStyle/>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1 frame</a:t>
            </a:r>
            <a:endParaRPr lang="en-US" sz="1000" dirty="0"/>
          </a:p>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(midpoint)</a:t>
            </a:r>
            <a:endParaRPr lang="en-US" sz="1000" dirty="0"/>
          </a:p>
        </p:txBody>
      </p:sp>
      <p:sp>
        <p:nvSpPr>
          <p:cNvPr id="8" name="Shape 6"/>
          <p:cNvSpPr/>
          <p:nvPr/>
        </p:nvSpPr>
        <p:spPr>
          <a:xfrm>
            <a:off x="2852928" y="1828800"/>
            <a:ext cx="2121408" cy="1051560"/>
          </a:xfrm>
          <a:prstGeom prst="roundRect">
            <a:avLst>
              <a:gd name="adj" fmla="val 6957"/>
            </a:avLst>
          </a:prstGeom>
          <a:solidFill>
            <a:srgbClr val="EAF0F5"/>
          </a:solidFill>
          <a:ln/>
        </p:spPr>
      </p:sp>
      <p:sp>
        <p:nvSpPr>
          <p:cNvPr id="9" name="Text 7"/>
          <p:cNvSpPr/>
          <p:nvPr/>
        </p:nvSpPr>
        <p:spPr>
          <a:xfrm>
            <a:off x="2852928" y="1920240"/>
            <a:ext cx="2121408" cy="320040"/>
          </a:xfrm>
          <a:prstGeom prst="rect">
            <a:avLst/>
          </a:prstGeom>
          <a:noFill/>
          <a:ln/>
        </p:spPr>
        <p:txBody>
          <a:bodyPr wrap="square" lIns="0" tIns="0" rIns="0" bIns="0" rtlCol="0" anchor="ctr"/>
          <a:lstStyle/>
          <a:p>
            <a:pPr marL="0" indent="0" algn="ctr">
              <a:buNone/>
            </a:pPr>
            <a:r>
              <a:rPr lang="en-US" sz="1250" b="1" dirty="0">
                <a:solidFill>
                  <a:srgbClr val="0A4C7A"/>
                </a:solidFill>
                <a:latin typeface="Calibri" pitchFamily="34" charset="0"/>
                <a:ea typeface="Calibri" pitchFamily="34" charset="-122"/>
                <a:cs typeface="Calibri" pitchFamily="34" charset="-120"/>
              </a:rPr>
              <a:t>THREE</a:t>
            </a:r>
            <a:endParaRPr lang="en-US" sz="1250" dirty="0"/>
          </a:p>
        </p:txBody>
      </p:sp>
      <p:sp>
        <p:nvSpPr>
          <p:cNvPr id="10" name="Text 8"/>
          <p:cNvSpPr/>
          <p:nvPr/>
        </p:nvSpPr>
        <p:spPr>
          <a:xfrm>
            <a:off x="2852928" y="2240280"/>
            <a:ext cx="2121408" cy="548640"/>
          </a:xfrm>
          <a:prstGeom prst="rect">
            <a:avLst/>
          </a:prstGeom>
          <a:noFill/>
          <a:ln/>
        </p:spPr>
        <p:txBody>
          <a:bodyPr wrap="square" lIns="0" tIns="0" rIns="0" bIns="0" rtlCol="0" anchor="ctr"/>
          <a:lstStyle/>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3 frames</a:t>
            </a:r>
            <a:endParaRPr lang="en-US" sz="1000" dirty="0"/>
          </a:p>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(start/mid/end)</a:t>
            </a:r>
            <a:endParaRPr lang="en-US" sz="1000" dirty="0"/>
          </a:p>
        </p:txBody>
      </p:sp>
      <p:sp>
        <p:nvSpPr>
          <p:cNvPr id="11" name="Shape 9"/>
          <p:cNvSpPr/>
          <p:nvPr/>
        </p:nvSpPr>
        <p:spPr>
          <a:xfrm>
            <a:off x="5157216" y="1828800"/>
            <a:ext cx="2121408" cy="1051560"/>
          </a:xfrm>
          <a:prstGeom prst="roundRect">
            <a:avLst>
              <a:gd name="adj" fmla="val 6957"/>
            </a:avLst>
          </a:prstGeom>
          <a:solidFill>
            <a:srgbClr val="EAF0F5"/>
          </a:solidFill>
          <a:ln/>
        </p:spPr>
      </p:sp>
      <p:sp>
        <p:nvSpPr>
          <p:cNvPr id="12" name="Text 10"/>
          <p:cNvSpPr/>
          <p:nvPr/>
        </p:nvSpPr>
        <p:spPr>
          <a:xfrm>
            <a:off x="5157216" y="1920240"/>
            <a:ext cx="2121408" cy="320040"/>
          </a:xfrm>
          <a:prstGeom prst="rect">
            <a:avLst/>
          </a:prstGeom>
          <a:noFill/>
          <a:ln/>
        </p:spPr>
        <p:txBody>
          <a:bodyPr wrap="square" lIns="0" tIns="0" rIns="0" bIns="0" rtlCol="0" anchor="ctr"/>
          <a:lstStyle/>
          <a:p>
            <a:pPr marL="0" indent="0" algn="ctr">
              <a:buNone/>
            </a:pPr>
            <a:r>
              <a:rPr lang="en-US" sz="1250" b="1" dirty="0">
                <a:solidFill>
                  <a:srgbClr val="0A4C7A"/>
                </a:solidFill>
                <a:latin typeface="Calibri" pitchFamily="34" charset="0"/>
                <a:ea typeface="Calibri" pitchFamily="34" charset="-122"/>
                <a:cs typeface="Calibri" pitchFamily="34" charset="-120"/>
              </a:rPr>
              <a:t>UNIFORM</a:t>
            </a:r>
            <a:endParaRPr lang="en-US" sz="1250" dirty="0"/>
          </a:p>
        </p:txBody>
      </p:sp>
      <p:sp>
        <p:nvSpPr>
          <p:cNvPr id="13" name="Text 11"/>
          <p:cNvSpPr/>
          <p:nvPr/>
        </p:nvSpPr>
        <p:spPr>
          <a:xfrm>
            <a:off x="5157216" y="2240280"/>
            <a:ext cx="2121408" cy="548640"/>
          </a:xfrm>
          <a:prstGeom prst="rect">
            <a:avLst/>
          </a:prstGeom>
          <a:noFill/>
          <a:ln/>
        </p:spPr>
        <p:txBody>
          <a:bodyPr wrap="square" lIns="0" tIns="0" rIns="0" bIns="0" rtlCol="0" anchor="ctr"/>
          <a:lstStyle/>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N frames</a:t>
            </a:r>
            <a:endParaRPr lang="en-US" sz="1000" dirty="0"/>
          </a:p>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evenly spaced</a:t>
            </a:r>
            <a:endParaRPr lang="en-US" sz="1000" dirty="0"/>
          </a:p>
        </p:txBody>
      </p:sp>
      <p:sp>
        <p:nvSpPr>
          <p:cNvPr id="14" name="Shape 12"/>
          <p:cNvSpPr/>
          <p:nvPr/>
        </p:nvSpPr>
        <p:spPr>
          <a:xfrm>
            <a:off x="7461504" y="1828800"/>
            <a:ext cx="2121408" cy="1051560"/>
          </a:xfrm>
          <a:prstGeom prst="roundRect">
            <a:avLst>
              <a:gd name="adj" fmla="val 6957"/>
            </a:avLst>
          </a:prstGeom>
          <a:solidFill>
            <a:srgbClr val="EAF0F5"/>
          </a:solidFill>
          <a:ln/>
        </p:spPr>
      </p:sp>
      <p:sp>
        <p:nvSpPr>
          <p:cNvPr id="15" name="Text 13"/>
          <p:cNvSpPr/>
          <p:nvPr/>
        </p:nvSpPr>
        <p:spPr>
          <a:xfrm>
            <a:off x="7461504" y="1920240"/>
            <a:ext cx="2121408" cy="320040"/>
          </a:xfrm>
          <a:prstGeom prst="rect">
            <a:avLst/>
          </a:prstGeom>
          <a:noFill/>
          <a:ln/>
        </p:spPr>
        <p:txBody>
          <a:bodyPr wrap="square" lIns="0" tIns="0" rIns="0" bIns="0" rtlCol="0" anchor="ctr"/>
          <a:lstStyle/>
          <a:p>
            <a:pPr marL="0" indent="0" algn="ctr">
              <a:buNone/>
            </a:pPr>
            <a:r>
              <a:rPr lang="en-US" sz="1250" b="1" dirty="0">
                <a:solidFill>
                  <a:srgbClr val="0A4C7A"/>
                </a:solidFill>
                <a:latin typeface="Calibri" pitchFamily="34" charset="0"/>
                <a:ea typeface="Calibri" pitchFamily="34" charset="-122"/>
                <a:cs typeface="Calibri" pitchFamily="34" charset="-120"/>
              </a:rPr>
              <a:t>CENTER</a:t>
            </a:r>
            <a:endParaRPr lang="en-US" sz="1250" dirty="0"/>
          </a:p>
        </p:txBody>
      </p:sp>
      <p:sp>
        <p:nvSpPr>
          <p:cNvPr id="16" name="Text 14"/>
          <p:cNvSpPr/>
          <p:nvPr/>
        </p:nvSpPr>
        <p:spPr>
          <a:xfrm>
            <a:off x="7461504" y="2240280"/>
            <a:ext cx="2121408" cy="548640"/>
          </a:xfrm>
          <a:prstGeom prst="rect">
            <a:avLst/>
          </a:prstGeom>
          <a:noFill/>
          <a:ln/>
        </p:spPr>
        <p:txBody>
          <a:bodyPr wrap="square" lIns="0" tIns="0" rIns="0" bIns="0" rtlCol="0" anchor="ctr"/>
          <a:lstStyle/>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N frames</a:t>
            </a:r>
            <a:endParaRPr lang="en-US" sz="1000" dirty="0"/>
          </a:p>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centered on mid</a:t>
            </a:r>
            <a:endParaRPr lang="en-US" sz="1000" dirty="0"/>
          </a:p>
        </p:txBody>
      </p:sp>
      <p:sp>
        <p:nvSpPr>
          <p:cNvPr id="17" name="Shape 15"/>
          <p:cNvSpPr/>
          <p:nvPr/>
        </p:nvSpPr>
        <p:spPr>
          <a:xfrm>
            <a:off x="9765792" y="1828800"/>
            <a:ext cx="2121408" cy="1051560"/>
          </a:xfrm>
          <a:prstGeom prst="roundRect">
            <a:avLst>
              <a:gd name="adj" fmla="val 6957"/>
            </a:avLst>
          </a:prstGeom>
          <a:solidFill>
            <a:srgbClr val="EAF0F5"/>
          </a:solidFill>
          <a:ln/>
        </p:spPr>
      </p:sp>
      <p:sp>
        <p:nvSpPr>
          <p:cNvPr id="18" name="Text 16"/>
          <p:cNvSpPr/>
          <p:nvPr/>
        </p:nvSpPr>
        <p:spPr>
          <a:xfrm>
            <a:off x="9765792" y="1920240"/>
            <a:ext cx="2121408" cy="320040"/>
          </a:xfrm>
          <a:prstGeom prst="rect">
            <a:avLst/>
          </a:prstGeom>
          <a:noFill/>
          <a:ln/>
        </p:spPr>
        <p:txBody>
          <a:bodyPr wrap="square" lIns="0" tIns="0" rIns="0" bIns="0" rtlCol="0" anchor="ctr"/>
          <a:lstStyle/>
          <a:p>
            <a:pPr marL="0" indent="0" algn="ctr">
              <a:buNone/>
            </a:pPr>
            <a:r>
              <a:rPr lang="en-US" sz="1250" b="1" dirty="0">
                <a:solidFill>
                  <a:srgbClr val="0A4C7A"/>
                </a:solidFill>
                <a:latin typeface="Calibri" pitchFamily="34" charset="0"/>
                <a:ea typeface="Calibri" pitchFamily="34" charset="-122"/>
                <a:cs typeface="Calibri" pitchFamily="34" charset="-120"/>
              </a:rPr>
              <a:t>RANDOM</a:t>
            </a:r>
            <a:endParaRPr lang="en-US" sz="1250" dirty="0"/>
          </a:p>
        </p:txBody>
      </p:sp>
      <p:sp>
        <p:nvSpPr>
          <p:cNvPr id="19" name="Text 17"/>
          <p:cNvSpPr/>
          <p:nvPr/>
        </p:nvSpPr>
        <p:spPr>
          <a:xfrm>
            <a:off x="9765792" y="2240280"/>
            <a:ext cx="2121408" cy="548640"/>
          </a:xfrm>
          <a:prstGeom prst="rect">
            <a:avLst/>
          </a:prstGeom>
          <a:noFill/>
          <a:ln/>
        </p:spPr>
        <p:txBody>
          <a:bodyPr wrap="square" lIns="0" tIns="0" rIns="0" bIns="0" rtlCol="0" anchor="ctr"/>
          <a:lstStyle/>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N random</a:t>
            </a:r>
            <a:endParaRPr lang="en-US" sz="1000" dirty="0"/>
          </a:p>
          <a:p>
            <a:pPr marL="0" indent="0" algn="ctr">
              <a:lnSpc>
                <a:spcPts val="1250"/>
              </a:lnSpc>
              <a:buNone/>
            </a:pPr>
            <a:r>
              <a:rPr lang="en-US" sz="1000" dirty="0">
                <a:solidFill>
                  <a:srgbClr val="26333D"/>
                </a:solidFill>
                <a:latin typeface="Calibri" pitchFamily="34" charset="0"/>
                <a:ea typeface="Calibri" pitchFamily="34" charset="-122"/>
                <a:cs typeface="Calibri" pitchFamily="34" charset="-120"/>
              </a:rPr>
              <a:t>(sorted)</a:t>
            </a:r>
            <a:endParaRPr lang="en-US" sz="1000" dirty="0"/>
          </a:p>
        </p:txBody>
      </p:sp>
      <p:sp>
        <p:nvSpPr>
          <p:cNvPr id="20" name="Text 18"/>
          <p:cNvSpPr/>
          <p:nvPr/>
        </p:nvSpPr>
        <p:spPr>
          <a:xfrm>
            <a:off x="548640" y="3200400"/>
            <a:ext cx="8229600" cy="274320"/>
          </a:xfrm>
          <a:prstGeom prst="rect">
            <a:avLst/>
          </a:prstGeom>
          <a:noFill/>
          <a:ln/>
        </p:spPr>
        <p:txBody>
          <a:bodyPr wrap="square" lIns="0" tIns="0" rIns="0" bIns="0" rtlCol="0" anchor="ctr"/>
          <a:lstStyle/>
          <a:p>
            <a:pPr marL="0" indent="0">
              <a:buNone/>
            </a:pPr>
            <a:r>
              <a:rPr lang="en-US" sz="1100" b="1" kern="0" spc="100" dirty="0">
                <a:solidFill>
                  <a:srgbClr val="5D6C77"/>
                </a:solidFill>
                <a:latin typeface="Calibri" pitchFamily="34" charset="0"/>
                <a:ea typeface="Calibri" pitchFamily="34" charset="-122"/>
                <a:cs typeface="Calibri" pitchFamily="34" charset="-120"/>
              </a:rPr>
              <a:t>UNIFIED FRAME-LEVEL SCHEMA (unified_frame_dataset.csv — 6,875 samples)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6492240" cy="2880360"/>
        </p:xfrm>
        <a:graphic>
          <a:graphicData uri="http://schemas.openxmlformats.org/drawingml/2006/table">
            <a:tbl>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2004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17233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17233D"/>
                    </a:solidFill>
                  </a:tcPr>
                </a:tc>
                <a:extLst>
                  <a:ext uri="{0D108BD9-81ED-4DB2-BD59-A6C34878D82A}">
                    <a16:rowId xmlns:a16="http://schemas.microsoft.com/office/drawing/2014/main" val="10000"/>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"OUC-CGE" / "COLER"</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image_path</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path to extracted frame</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clip_id</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e.g. ouc_high_00001</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mapped_label_3class</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0 / 1 / 2</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mapped_label_binary_int</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0 / 1</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original_label</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raw source string</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100" b="1" dirty="0">
                          <a:solidFill>
                            <a:srgbClr val="26333D"/>
                          </a:solidFill>
                          <a:latin typeface="Calibri" pitchFamily="34" charset="0"/>
                          <a:ea typeface="Calibri" pitchFamily="34" charset="-122"/>
                          <a:cs typeface="Calibri" pitchFamily="34" charset="-120"/>
                        </a:rPr>
                        <a:t>metadata</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33D"/>
                          </a:solidFill>
                          <a:latin typeface="Calibri" pitchFamily="34" charset="0"/>
                          <a:ea typeface="Calibri" pitchFamily="34" charset="-122"/>
                          <a:cs typeface="Calibri" pitchFamily="34" charset="-120"/>
                        </a:rPr>
                        <a:t>JSON: resolution, fps, fold, COLER seat info</a:t>
                      </a:r>
                      <a:endParaRPr lang="en-US" sz="1100" dirty="0">
                        <a:latin typeface="Calibri" charset="0"/>
                        <a:ea typeface="Calibri" charset="0"/>
                        <a:cs typeface="Calibri" charset="0"/>
                      </a:endParaRPr>
                    </a:p>
                  </a:txBody>
                  <a:tcPr marL="63500" marR="63500" marT="63500" marB="635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2" name="Text 19"/>
          <p:cNvSpPr/>
          <p:nvPr/>
        </p:nvSpPr>
        <p:spPr>
          <a:xfrm>
            <a:off x="7315200" y="3520440"/>
            <a:ext cx="4297680" cy="2926080"/>
          </a:xfrm>
          <a:prstGeom prst="rect">
            <a:avLst/>
          </a:prstGeom>
          <a:noFill/>
          <a:ln/>
        </p:spPr>
        <p:txBody>
          <a:bodyPr wrap="square" lIns="0" tIns="0" rIns="0" bIns="0" rtlCol="0" anchor="t"/>
          <a:lstStyle/>
          <a:p>
            <a:pPr marL="203200" indent="-203200">
              <a:spcAft>
                <a:spcPts val="1600"/>
              </a:spcAft>
              <a:buSzPct val="100000"/>
              <a:buChar char="•"/>
            </a:pPr>
            <a:r>
              <a:rPr lang="en-US" sz="1200" dirty="0">
                <a:solidFill>
                  <a:srgbClr val="26333D"/>
                </a:solidFill>
                <a:latin typeface="Calibri" pitchFamily="34" charset="0"/>
                <a:ea typeface="Calibri" pitchFamily="34" charset="-122"/>
                <a:cs typeface="Calibri" pitchFamily="34" charset="-120"/>
              </a:rPr>
              <a:t>Per-fold splits auto-generated: fold_{0..4}/train_frames.csv + val_frames.csv</a:t>
            </a:r>
            <a:endParaRPr lang="en-US" sz="1200" dirty="0"/>
          </a:p>
          <a:p>
            <a:pPr marL="203200" indent="-203200">
              <a:spcAft>
                <a:spcPts val="1600"/>
              </a:spcAft>
              <a:buSzPct val="100000"/>
              <a:buChar char="•"/>
            </a:pPr>
            <a:r>
              <a:rPr lang="en-US" sz="1200" dirty="0">
                <a:solidFill>
                  <a:srgbClr val="26333D"/>
                </a:solidFill>
                <a:latin typeface="Calibri" pitchFamily="34" charset="0"/>
                <a:ea typeface="Calibri" pitchFamily="34" charset="-122"/>
                <a:cs typeface="Calibri" pitchFamily="34" charset="-120"/>
              </a:rPr>
              <a:t>coler_extractor.py parses frame indices via regex and normalizes naming (frame_0001.png)</a:t>
            </a:r>
            <a:endParaRPr lang="en-US" sz="1200" dirty="0"/>
          </a:p>
          <a:p>
            <a:pPr marL="203200" indent="-203200">
              <a:spcAft>
                <a:spcPts val="1600"/>
              </a:spcAft>
              <a:buSzPct val="100000"/>
              <a:buChar char="•"/>
            </a:pPr>
            <a:r>
              <a:rPr lang="en-US" sz="1200" dirty="0">
                <a:solidFill>
                  <a:srgbClr val="26333D"/>
                </a:solidFill>
                <a:latin typeface="Calibri" pitchFamily="34" charset="0"/>
                <a:ea typeface="Calibri" pitchFamily="34" charset="-122"/>
                <a:cs typeface="Calibri" pitchFamily="34" charset="-120"/>
              </a:rPr>
              <a:t>Schema is dataset-agnostic — the same PyTorch Dataset class reads both sources</a:t>
            </a:r>
            <a:endParaRPr lang="en-US" sz="1200" dirty="0"/>
          </a:p>
        </p:txBody>
      </p:sp>
      <p:sp>
        <p:nvSpPr>
          <p:cNvPr id="23" name="Text 20"/>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7233D"/>
                </a:solidFill>
                <a:latin typeface="Calibri" pitchFamily="34" charset="0"/>
                <a:ea typeface="Calibri" pitchFamily="34" charset="-122"/>
                <a:cs typeface="Calibri" pitchFamily="34" charset="-120"/>
              </a:rPr>
              <a:t>PIPELINE · LAYER 4 OF 4</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PyTorch Training Framework (Experiment A)</a:t>
            </a:r>
            <a:endParaRPr lang="en-US" sz="2800" dirty="0"/>
          </a:p>
        </p:txBody>
      </p:sp>
      <p:sp>
        <p:nvSpPr>
          <p:cNvPr id="4" name="Shape 2"/>
          <p:cNvSpPr/>
          <p:nvPr/>
        </p:nvSpPr>
        <p:spPr>
          <a:xfrm>
            <a:off x="548640" y="1600200"/>
            <a:ext cx="3611880" cy="1600200"/>
          </a:xfrm>
          <a:prstGeom prst="roundRect">
            <a:avLst>
              <a:gd name="adj" fmla="val 4571"/>
            </a:avLst>
          </a:prstGeom>
          <a:solidFill>
            <a:srgbClr val="F5F7F9"/>
          </a:solidFill>
          <a:ln/>
        </p:spPr>
      </p:sp>
      <p:sp>
        <p:nvSpPr>
          <p:cNvPr id="5" name="Shape 3"/>
          <p:cNvSpPr/>
          <p:nvPr/>
        </p:nvSpPr>
        <p:spPr>
          <a:xfrm>
            <a:off x="548640" y="1600200"/>
            <a:ext cx="3611880" cy="73152"/>
          </a:xfrm>
          <a:prstGeom prst="rect">
            <a:avLst/>
          </a:prstGeom>
          <a:solidFill>
            <a:srgbClr val="17233D"/>
          </a:solidFill>
          <a:ln/>
        </p:spPr>
      </p:sp>
      <p:sp>
        <p:nvSpPr>
          <p:cNvPr id="6" name="Text 4"/>
          <p:cNvSpPr/>
          <p:nvPr/>
        </p:nvSpPr>
        <p:spPr>
          <a:xfrm>
            <a:off x="749808" y="1783080"/>
            <a:ext cx="3209544" cy="365760"/>
          </a:xfrm>
          <a:prstGeom prst="rect">
            <a:avLst/>
          </a:prstGeom>
          <a:noFill/>
          <a:ln/>
        </p:spPr>
        <p:txBody>
          <a:bodyPr wrap="square" lIns="0" tIns="0" rIns="0" bIns="0" rtlCol="0" anchor="ctr"/>
          <a:lstStyle/>
          <a:p>
            <a:pPr marL="0" indent="0">
              <a:buNone/>
            </a:pPr>
            <a:r>
              <a:rPr lang="en-US" sz="1350" b="1" dirty="0">
                <a:solidFill>
                  <a:srgbClr val="17233D"/>
                </a:solidFill>
                <a:latin typeface="Cambria" pitchFamily="34" charset="0"/>
                <a:ea typeface="Cambria" pitchFamily="34" charset="-122"/>
                <a:cs typeface="Cambria" pitchFamily="34" charset="-120"/>
              </a:rPr>
              <a:t>Trainer</a:t>
            </a:r>
            <a:endParaRPr lang="en-US" sz="1350" dirty="0"/>
          </a:p>
        </p:txBody>
      </p:sp>
      <p:sp>
        <p:nvSpPr>
          <p:cNvPr id="7" name="Text 5"/>
          <p:cNvSpPr/>
          <p:nvPr/>
        </p:nvSpPr>
        <p:spPr>
          <a:xfrm>
            <a:off x="749808" y="2194560"/>
            <a:ext cx="3209544" cy="914400"/>
          </a:xfrm>
          <a:prstGeom prst="rect">
            <a:avLst/>
          </a:prstGeom>
          <a:noFill/>
          <a:ln/>
        </p:spPr>
        <p:txBody>
          <a:bodyPr wrap="square" lIns="0" tIns="0" rIns="0" bIns="0" rtlCol="0" anchor="ctr"/>
          <a:lstStyle/>
          <a:p>
            <a:pPr marL="0" indent="0">
              <a:lnSpc>
                <a:spcPts val="1400"/>
              </a:lnSpc>
              <a:buNone/>
            </a:pPr>
            <a:r>
              <a:rPr lang="en-US" sz="1050" dirty="0">
                <a:solidFill>
                  <a:srgbClr val="26333D"/>
                </a:solidFill>
                <a:latin typeface="Calibri" pitchFamily="34" charset="0"/>
                <a:ea typeface="Calibri" pitchFamily="34" charset="-122"/>
                <a:cs typeface="Calibri" pitchFamily="34" charset="-120"/>
              </a:rPr>
              <a:t>AMP mixed precision, gradient clipping, gradient accumulation, early stopping</a:t>
            </a:r>
            <a:endParaRPr lang="en-US" sz="1050" dirty="0"/>
          </a:p>
        </p:txBody>
      </p:sp>
      <p:sp>
        <p:nvSpPr>
          <p:cNvPr id="8" name="Shape 6"/>
          <p:cNvSpPr/>
          <p:nvPr/>
        </p:nvSpPr>
        <p:spPr>
          <a:xfrm>
            <a:off x="4361688" y="1600200"/>
            <a:ext cx="3611880" cy="1600200"/>
          </a:xfrm>
          <a:prstGeom prst="roundRect">
            <a:avLst>
              <a:gd name="adj" fmla="val 4571"/>
            </a:avLst>
          </a:prstGeom>
          <a:solidFill>
            <a:srgbClr val="F5F7F9"/>
          </a:solidFill>
          <a:ln/>
        </p:spPr>
      </p:sp>
      <p:sp>
        <p:nvSpPr>
          <p:cNvPr id="9" name="Shape 7"/>
          <p:cNvSpPr/>
          <p:nvPr/>
        </p:nvSpPr>
        <p:spPr>
          <a:xfrm>
            <a:off x="4361688" y="1600200"/>
            <a:ext cx="3611880" cy="73152"/>
          </a:xfrm>
          <a:prstGeom prst="rect">
            <a:avLst/>
          </a:prstGeom>
          <a:solidFill>
            <a:srgbClr val="17233D"/>
          </a:solidFill>
          <a:ln/>
        </p:spPr>
      </p:sp>
      <p:sp>
        <p:nvSpPr>
          <p:cNvPr id="10" name="Text 8"/>
          <p:cNvSpPr/>
          <p:nvPr/>
        </p:nvSpPr>
        <p:spPr>
          <a:xfrm>
            <a:off x="4562856" y="1783080"/>
            <a:ext cx="3209544" cy="365760"/>
          </a:xfrm>
          <a:prstGeom prst="rect">
            <a:avLst/>
          </a:prstGeom>
          <a:noFill/>
          <a:ln/>
        </p:spPr>
        <p:txBody>
          <a:bodyPr wrap="square" lIns="0" tIns="0" rIns="0" bIns="0" rtlCol="0" anchor="ctr"/>
          <a:lstStyle/>
          <a:p>
            <a:pPr marL="0" indent="0">
              <a:buNone/>
            </a:pPr>
            <a:r>
              <a:rPr lang="en-US" sz="1350" b="1" dirty="0">
                <a:solidFill>
                  <a:srgbClr val="17233D"/>
                </a:solidFill>
                <a:latin typeface="Cambria" pitchFamily="34" charset="0"/>
                <a:ea typeface="Cambria" pitchFamily="34" charset="-122"/>
                <a:cs typeface="Cambria" pitchFamily="34" charset="-120"/>
              </a:rPr>
              <a:t>Evaluator</a:t>
            </a:r>
            <a:endParaRPr lang="en-US" sz="1350" dirty="0"/>
          </a:p>
        </p:txBody>
      </p:sp>
      <p:sp>
        <p:nvSpPr>
          <p:cNvPr id="11" name="Text 9"/>
          <p:cNvSpPr/>
          <p:nvPr/>
        </p:nvSpPr>
        <p:spPr>
          <a:xfrm>
            <a:off x="4562856" y="2194560"/>
            <a:ext cx="3209544" cy="914400"/>
          </a:xfrm>
          <a:prstGeom prst="rect">
            <a:avLst/>
          </a:prstGeom>
          <a:noFill/>
          <a:ln/>
        </p:spPr>
        <p:txBody>
          <a:bodyPr wrap="square" lIns="0" tIns="0" rIns="0" bIns="0" rtlCol="0" anchor="ctr"/>
          <a:lstStyle/>
          <a:p>
            <a:pPr marL="0" indent="0">
              <a:lnSpc>
                <a:spcPts val="1400"/>
              </a:lnSpc>
              <a:buNone/>
            </a:pPr>
            <a:r>
              <a:rPr lang="en-US" sz="1050" dirty="0">
                <a:solidFill>
                  <a:srgbClr val="26333D"/>
                </a:solidFill>
                <a:latin typeface="Calibri" pitchFamily="34" charset="0"/>
                <a:ea typeface="Calibri" pitchFamily="34" charset="-122"/>
                <a:cs typeface="Calibri" pitchFamily="34" charset="-120"/>
              </a:rPr>
              <a:t>@torch.no_grad() single-pass evaluation, exports test_predictions.csv</a:t>
            </a:r>
            <a:endParaRPr lang="en-US" sz="1050" dirty="0"/>
          </a:p>
        </p:txBody>
      </p:sp>
      <p:sp>
        <p:nvSpPr>
          <p:cNvPr id="12" name="Shape 10"/>
          <p:cNvSpPr/>
          <p:nvPr/>
        </p:nvSpPr>
        <p:spPr>
          <a:xfrm>
            <a:off x="8174736" y="1600200"/>
            <a:ext cx="3611880" cy="1600200"/>
          </a:xfrm>
          <a:prstGeom prst="roundRect">
            <a:avLst>
              <a:gd name="adj" fmla="val 4571"/>
            </a:avLst>
          </a:prstGeom>
          <a:solidFill>
            <a:srgbClr val="F5F7F9"/>
          </a:solidFill>
          <a:ln/>
        </p:spPr>
      </p:sp>
      <p:sp>
        <p:nvSpPr>
          <p:cNvPr id="13" name="Shape 11"/>
          <p:cNvSpPr/>
          <p:nvPr/>
        </p:nvSpPr>
        <p:spPr>
          <a:xfrm>
            <a:off x="8174736" y="1600200"/>
            <a:ext cx="3611880" cy="73152"/>
          </a:xfrm>
          <a:prstGeom prst="rect">
            <a:avLst/>
          </a:prstGeom>
          <a:solidFill>
            <a:srgbClr val="17233D"/>
          </a:solidFill>
          <a:ln/>
        </p:spPr>
      </p:sp>
      <p:sp>
        <p:nvSpPr>
          <p:cNvPr id="14" name="Text 12"/>
          <p:cNvSpPr/>
          <p:nvPr/>
        </p:nvSpPr>
        <p:spPr>
          <a:xfrm>
            <a:off x="8375904" y="1783080"/>
            <a:ext cx="3209544" cy="365760"/>
          </a:xfrm>
          <a:prstGeom prst="rect">
            <a:avLst/>
          </a:prstGeom>
          <a:noFill/>
          <a:ln/>
        </p:spPr>
        <p:txBody>
          <a:bodyPr wrap="square" lIns="0" tIns="0" rIns="0" bIns="0" rtlCol="0" anchor="ctr"/>
          <a:lstStyle/>
          <a:p>
            <a:pPr marL="0" indent="0">
              <a:buNone/>
            </a:pPr>
            <a:r>
              <a:rPr lang="en-US" sz="1350" b="1" dirty="0">
                <a:solidFill>
                  <a:srgbClr val="17233D"/>
                </a:solidFill>
                <a:latin typeface="Cambria" pitchFamily="34" charset="0"/>
                <a:ea typeface="Cambria" pitchFamily="34" charset="-122"/>
                <a:cs typeface="Cambria" pitchFamily="34" charset="-120"/>
              </a:rPr>
              <a:t>Metrics</a:t>
            </a:r>
            <a:endParaRPr lang="en-US" sz="1350" dirty="0"/>
          </a:p>
        </p:txBody>
      </p:sp>
      <p:sp>
        <p:nvSpPr>
          <p:cNvPr id="15" name="Text 13"/>
          <p:cNvSpPr/>
          <p:nvPr/>
        </p:nvSpPr>
        <p:spPr>
          <a:xfrm>
            <a:off x="8375904" y="2194560"/>
            <a:ext cx="3209544" cy="914400"/>
          </a:xfrm>
          <a:prstGeom prst="rect">
            <a:avLst/>
          </a:prstGeom>
          <a:noFill/>
          <a:ln/>
        </p:spPr>
        <p:txBody>
          <a:bodyPr wrap="square" lIns="0" tIns="0" rIns="0" bIns="0" rtlCol="0" anchor="ctr"/>
          <a:lstStyle/>
          <a:p>
            <a:pPr marL="0" indent="0">
              <a:lnSpc>
                <a:spcPts val="1400"/>
              </a:lnSpc>
              <a:buNone/>
            </a:pPr>
            <a:r>
              <a:rPr lang="en-US" sz="1050" dirty="0">
                <a:solidFill>
                  <a:srgbClr val="26333D"/>
                </a:solidFill>
                <a:latin typeface="Calibri" pitchFamily="34" charset="0"/>
                <a:ea typeface="Calibri" pitchFamily="34" charset="-122"/>
                <a:cs typeface="Calibri" pitchFamily="34" charset="-120"/>
              </a:rPr>
              <a:t>Accuracy, Macro-F1, Precision/Recall, Balanced Acc., QWK, ROC AUC</a:t>
            </a:r>
            <a:endParaRPr lang="en-US" sz="1050" dirty="0"/>
          </a:p>
        </p:txBody>
      </p:sp>
      <p:sp>
        <p:nvSpPr>
          <p:cNvPr id="16" name="Shape 14"/>
          <p:cNvSpPr/>
          <p:nvPr/>
        </p:nvSpPr>
        <p:spPr>
          <a:xfrm>
            <a:off x="548640" y="3401568"/>
            <a:ext cx="3611880" cy="1600200"/>
          </a:xfrm>
          <a:prstGeom prst="roundRect">
            <a:avLst>
              <a:gd name="adj" fmla="val 4571"/>
            </a:avLst>
          </a:prstGeom>
          <a:solidFill>
            <a:srgbClr val="F5F7F9"/>
          </a:solidFill>
          <a:ln/>
        </p:spPr>
      </p:sp>
      <p:sp>
        <p:nvSpPr>
          <p:cNvPr id="17" name="Shape 15"/>
          <p:cNvSpPr/>
          <p:nvPr/>
        </p:nvSpPr>
        <p:spPr>
          <a:xfrm>
            <a:off x="548640" y="3401568"/>
            <a:ext cx="3611880" cy="73152"/>
          </a:xfrm>
          <a:prstGeom prst="rect">
            <a:avLst/>
          </a:prstGeom>
          <a:solidFill>
            <a:srgbClr val="17233D"/>
          </a:solidFill>
          <a:ln/>
        </p:spPr>
      </p:sp>
      <p:sp>
        <p:nvSpPr>
          <p:cNvPr id="18" name="Text 16"/>
          <p:cNvSpPr/>
          <p:nvPr/>
        </p:nvSpPr>
        <p:spPr>
          <a:xfrm>
            <a:off x="749808" y="3584448"/>
            <a:ext cx="3209544" cy="365760"/>
          </a:xfrm>
          <a:prstGeom prst="rect">
            <a:avLst/>
          </a:prstGeom>
          <a:noFill/>
          <a:ln/>
        </p:spPr>
        <p:txBody>
          <a:bodyPr wrap="square" lIns="0" tIns="0" rIns="0" bIns="0" rtlCol="0" anchor="ctr"/>
          <a:lstStyle/>
          <a:p>
            <a:pPr marL="0" indent="0">
              <a:buNone/>
            </a:pPr>
            <a:r>
              <a:rPr lang="en-US" sz="1350" b="1" dirty="0">
                <a:solidFill>
                  <a:srgbClr val="17233D"/>
                </a:solidFill>
                <a:latin typeface="Cambria" pitchFamily="34" charset="0"/>
                <a:ea typeface="Cambria" pitchFamily="34" charset="-122"/>
                <a:cs typeface="Cambria" pitchFamily="34" charset="-120"/>
              </a:rPr>
              <a:t>Checkpoint Manager</a:t>
            </a:r>
            <a:endParaRPr lang="en-US" sz="1350" dirty="0"/>
          </a:p>
        </p:txBody>
      </p:sp>
      <p:sp>
        <p:nvSpPr>
          <p:cNvPr id="19" name="Text 17"/>
          <p:cNvSpPr/>
          <p:nvPr/>
        </p:nvSpPr>
        <p:spPr>
          <a:xfrm>
            <a:off x="749808" y="3995928"/>
            <a:ext cx="3209544" cy="914400"/>
          </a:xfrm>
          <a:prstGeom prst="rect">
            <a:avLst/>
          </a:prstGeom>
          <a:noFill/>
          <a:ln/>
        </p:spPr>
        <p:txBody>
          <a:bodyPr wrap="square" lIns="0" tIns="0" rIns="0" bIns="0" rtlCol="0" anchor="ctr"/>
          <a:lstStyle/>
          <a:p>
            <a:pPr marL="0" indent="0">
              <a:lnSpc>
                <a:spcPts val="1400"/>
              </a:lnSpc>
              <a:buNone/>
            </a:pPr>
            <a:r>
              <a:rPr lang="en-US" sz="1050" dirty="0">
                <a:solidFill>
                  <a:srgbClr val="26333D"/>
                </a:solidFill>
                <a:latin typeface="Calibri" pitchFamily="34" charset="0"/>
                <a:ea typeface="Calibri" pitchFamily="34" charset="-122"/>
                <a:cs typeface="Calibri" pitchFamily="34" charset="-120"/>
              </a:rPr>
              <a:t>Saves best_model.pth / last_model.pth with full state; auto-resume support</a:t>
            </a:r>
            <a:endParaRPr lang="en-US" sz="1050" dirty="0"/>
          </a:p>
        </p:txBody>
      </p:sp>
      <p:sp>
        <p:nvSpPr>
          <p:cNvPr id="20" name="Shape 18"/>
          <p:cNvSpPr/>
          <p:nvPr/>
        </p:nvSpPr>
        <p:spPr>
          <a:xfrm>
            <a:off x="4361688" y="3401568"/>
            <a:ext cx="3611880" cy="1600200"/>
          </a:xfrm>
          <a:prstGeom prst="roundRect">
            <a:avLst>
              <a:gd name="adj" fmla="val 4571"/>
            </a:avLst>
          </a:prstGeom>
          <a:solidFill>
            <a:srgbClr val="F5F7F9"/>
          </a:solidFill>
          <a:ln/>
        </p:spPr>
      </p:sp>
      <p:sp>
        <p:nvSpPr>
          <p:cNvPr id="21" name="Shape 19"/>
          <p:cNvSpPr/>
          <p:nvPr/>
        </p:nvSpPr>
        <p:spPr>
          <a:xfrm>
            <a:off x="4361688" y="3401568"/>
            <a:ext cx="3611880" cy="73152"/>
          </a:xfrm>
          <a:prstGeom prst="rect">
            <a:avLst/>
          </a:prstGeom>
          <a:solidFill>
            <a:srgbClr val="17233D"/>
          </a:solidFill>
          <a:ln/>
        </p:spPr>
      </p:sp>
      <p:sp>
        <p:nvSpPr>
          <p:cNvPr id="22" name="Text 20"/>
          <p:cNvSpPr/>
          <p:nvPr/>
        </p:nvSpPr>
        <p:spPr>
          <a:xfrm>
            <a:off x="4562856" y="3584448"/>
            <a:ext cx="3209544" cy="365760"/>
          </a:xfrm>
          <a:prstGeom prst="rect">
            <a:avLst/>
          </a:prstGeom>
          <a:noFill/>
          <a:ln/>
        </p:spPr>
        <p:txBody>
          <a:bodyPr wrap="square" lIns="0" tIns="0" rIns="0" bIns="0" rtlCol="0" anchor="ctr"/>
          <a:lstStyle/>
          <a:p>
            <a:pPr marL="0" indent="0">
              <a:buNone/>
            </a:pPr>
            <a:r>
              <a:rPr lang="en-US" sz="1350" b="1" dirty="0">
                <a:solidFill>
                  <a:srgbClr val="17233D"/>
                </a:solidFill>
                <a:latin typeface="Cambria" pitchFamily="34" charset="0"/>
                <a:ea typeface="Cambria" pitchFamily="34" charset="-122"/>
                <a:cs typeface="Cambria" pitchFamily="34" charset="-120"/>
              </a:rPr>
              <a:t>Config System</a:t>
            </a:r>
            <a:endParaRPr lang="en-US" sz="1350" dirty="0"/>
          </a:p>
        </p:txBody>
      </p:sp>
      <p:sp>
        <p:nvSpPr>
          <p:cNvPr id="23" name="Text 21"/>
          <p:cNvSpPr/>
          <p:nvPr/>
        </p:nvSpPr>
        <p:spPr>
          <a:xfrm>
            <a:off x="4562856" y="3995928"/>
            <a:ext cx="3209544" cy="914400"/>
          </a:xfrm>
          <a:prstGeom prst="rect">
            <a:avLst/>
          </a:prstGeom>
          <a:noFill/>
          <a:ln/>
        </p:spPr>
        <p:txBody>
          <a:bodyPr wrap="square" lIns="0" tIns="0" rIns="0" bIns="0" rtlCol="0" anchor="ctr"/>
          <a:lstStyle/>
          <a:p>
            <a:pPr marL="0" indent="0">
              <a:lnSpc>
                <a:spcPts val="1400"/>
              </a:lnSpc>
              <a:buNone/>
            </a:pPr>
            <a:r>
              <a:rPr lang="en-US" sz="1050" dirty="0">
                <a:solidFill>
                  <a:srgbClr val="26333D"/>
                </a:solidFill>
                <a:latin typeface="Calibri" pitchFamily="34" charset="0"/>
                <a:ea typeface="Calibri" pitchFamily="34" charset="-122"/>
                <a:cs typeface="Calibri" pitchFamily="34" charset="-120"/>
              </a:rPr>
              <a:t>YAML-driven: model, optimizer, scheduler, data — fully reproducible runs</a:t>
            </a:r>
            <a:endParaRPr lang="en-US" sz="1050" dirty="0"/>
          </a:p>
        </p:txBody>
      </p:sp>
      <p:sp>
        <p:nvSpPr>
          <p:cNvPr id="24" name="Shape 22"/>
          <p:cNvSpPr/>
          <p:nvPr/>
        </p:nvSpPr>
        <p:spPr>
          <a:xfrm>
            <a:off x="8174736" y="3401568"/>
            <a:ext cx="3611880" cy="1600200"/>
          </a:xfrm>
          <a:prstGeom prst="roundRect">
            <a:avLst>
              <a:gd name="adj" fmla="val 4571"/>
            </a:avLst>
          </a:prstGeom>
          <a:solidFill>
            <a:srgbClr val="F5F7F9"/>
          </a:solidFill>
          <a:ln/>
        </p:spPr>
      </p:sp>
      <p:sp>
        <p:nvSpPr>
          <p:cNvPr id="25" name="Shape 23"/>
          <p:cNvSpPr/>
          <p:nvPr/>
        </p:nvSpPr>
        <p:spPr>
          <a:xfrm>
            <a:off x="8174736" y="3401568"/>
            <a:ext cx="3611880" cy="73152"/>
          </a:xfrm>
          <a:prstGeom prst="rect">
            <a:avLst/>
          </a:prstGeom>
          <a:solidFill>
            <a:srgbClr val="17233D"/>
          </a:solidFill>
          <a:ln/>
        </p:spPr>
      </p:sp>
      <p:sp>
        <p:nvSpPr>
          <p:cNvPr id="26" name="Text 24"/>
          <p:cNvSpPr/>
          <p:nvPr/>
        </p:nvSpPr>
        <p:spPr>
          <a:xfrm>
            <a:off x="8375904" y="3584448"/>
            <a:ext cx="3209544" cy="365760"/>
          </a:xfrm>
          <a:prstGeom prst="rect">
            <a:avLst/>
          </a:prstGeom>
          <a:noFill/>
          <a:ln/>
        </p:spPr>
        <p:txBody>
          <a:bodyPr wrap="square" lIns="0" tIns="0" rIns="0" bIns="0" rtlCol="0" anchor="ctr"/>
          <a:lstStyle/>
          <a:p>
            <a:pPr marL="0" indent="0">
              <a:buNone/>
            </a:pPr>
            <a:r>
              <a:rPr lang="en-US" sz="1350" b="1" dirty="0">
                <a:solidFill>
                  <a:srgbClr val="17233D"/>
                </a:solidFill>
                <a:latin typeface="Cambria" pitchFamily="34" charset="0"/>
                <a:ea typeface="Cambria" pitchFamily="34" charset="-122"/>
                <a:cs typeface="Cambria" pitchFamily="34" charset="-120"/>
              </a:rPr>
              <a:t>Model Factory</a:t>
            </a:r>
            <a:endParaRPr lang="en-US" sz="1350" dirty="0"/>
          </a:p>
        </p:txBody>
      </p:sp>
      <p:sp>
        <p:nvSpPr>
          <p:cNvPr id="27" name="Text 25"/>
          <p:cNvSpPr/>
          <p:nvPr/>
        </p:nvSpPr>
        <p:spPr>
          <a:xfrm>
            <a:off x="8375904" y="3995928"/>
            <a:ext cx="3209544" cy="914400"/>
          </a:xfrm>
          <a:prstGeom prst="rect">
            <a:avLst/>
          </a:prstGeom>
          <a:noFill/>
          <a:ln/>
        </p:spPr>
        <p:txBody>
          <a:bodyPr wrap="square" lIns="0" tIns="0" rIns="0" bIns="0" rtlCol="0" anchor="ctr"/>
          <a:lstStyle/>
          <a:p>
            <a:pPr marL="0" indent="0">
              <a:lnSpc>
                <a:spcPts val="1400"/>
              </a:lnSpc>
              <a:buNone/>
            </a:pPr>
            <a:r>
              <a:rPr lang="en-US" sz="1050" dirty="0">
                <a:solidFill>
                  <a:srgbClr val="26333D"/>
                </a:solidFill>
                <a:latin typeface="Calibri" pitchFamily="34" charset="0"/>
                <a:ea typeface="Calibri" pitchFamily="34" charset="-122"/>
                <a:cs typeface="Calibri" pitchFamily="34" charset="-120"/>
              </a:rPr>
              <a:t>torchvision ResNet-50, configurable pretraining &amp; layer freezing</a:t>
            </a:r>
            <a:endParaRPr lang="en-US" sz="1050" dirty="0"/>
          </a:p>
        </p:txBody>
      </p:sp>
      <p:sp>
        <p:nvSpPr>
          <p:cNvPr id="28" name="Text 26"/>
          <p:cNvSpPr/>
          <p:nvPr/>
        </p:nvSpPr>
        <p:spPr>
          <a:xfrm>
            <a:off x="548640" y="5248656"/>
            <a:ext cx="11064240" cy="457200"/>
          </a:xfrm>
          <a:prstGeom prst="rect">
            <a:avLst/>
          </a:prstGeom>
          <a:noFill/>
          <a:ln/>
        </p:spPr>
        <p:txBody>
          <a:bodyPr wrap="square" lIns="0" tIns="0" rIns="0" bIns="0" rtlCol="0" anchor="ctr"/>
          <a:lstStyle/>
          <a:p>
            <a:pPr marL="0" indent="0">
              <a:lnSpc>
                <a:spcPts val="1500"/>
              </a:lnSpc>
              <a:buNone/>
            </a:pPr>
            <a:r>
              <a:rPr lang="en-US" sz="1150" i="1" dirty="0">
                <a:solidFill>
                  <a:srgbClr val="5D6C77"/>
                </a:solidFill>
                <a:latin typeface="Calibri" pitchFamily="34" charset="0"/>
                <a:ea typeface="Calibri" pitchFamily="34" charset="-122"/>
                <a:cs typeface="Calibri" pitchFamily="34" charset="-120"/>
              </a:rPr>
              <a:t>Optimizers: AdamW / SGD  ·  Schedulers: Cosine / Step / ReduceLROnPlateau  ·  Logging: TensorBoard + CSV history + auto-generated plots</a:t>
            </a:r>
            <a:endParaRPr lang="en-US" sz="1150" dirty="0"/>
          </a:p>
        </p:txBody>
      </p:sp>
      <p:sp>
        <p:nvSpPr>
          <p:cNvPr id="29" name="Text 27"/>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EXPERIMENT A</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Four Reproducible Evaluation Settings</a:t>
            </a:r>
            <a:endParaRPr lang="en-US" sz="2800" dirty="0"/>
          </a:p>
        </p:txBody>
      </p:sp>
      <p:sp>
        <p:nvSpPr>
          <p:cNvPr id="4" name="Shape 2"/>
          <p:cNvSpPr/>
          <p:nvPr/>
        </p:nvSpPr>
        <p:spPr>
          <a:xfrm>
            <a:off x="548640" y="1554480"/>
            <a:ext cx="5349240" cy="1965960"/>
          </a:xfrm>
          <a:prstGeom prst="roundRect">
            <a:avLst>
              <a:gd name="adj" fmla="val 4651"/>
            </a:avLst>
          </a:prstGeom>
          <a:solidFill>
            <a:srgbClr val="F5F7F9"/>
          </a:solidFill>
          <a:ln w="19050">
            <a:solidFill>
              <a:srgbClr val="0A4C7A"/>
            </a:solidFill>
            <a:prstDash val="solid"/>
          </a:ln>
        </p:spPr>
      </p:sp>
      <p:sp>
        <p:nvSpPr>
          <p:cNvPr id="5" name="Shape 3"/>
          <p:cNvSpPr/>
          <p:nvPr/>
        </p:nvSpPr>
        <p:spPr>
          <a:xfrm>
            <a:off x="777240" y="1755648"/>
            <a:ext cx="1280160" cy="365760"/>
          </a:xfrm>
          <a:prstGeom prst="roundRect">
            <a:avLst>
              <a:gd name="adj" fmla="val 75000"/>
            </a:avLst>
          </a:prstGeom>
          <a:solidFill>
            <a:srgbClr val="0A4C7A"/>
          </a:solidFill>
          <a:ln/>
        </p:spPr>
      </p:sp>
      <p:sp>
        <p:nvSpPr>
          <p:cNvPr id="6" name="Text 4"/>
          <p:cNvSpPr/>
          <p:nvPr/>
        </p:nvSpPr>
        <p:spPr>
          <a:xfrm>
            <a:off x="777240" y="1755648"/>
            <a:ext cx="12801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Setting 1</a:t>
            </a:r>
            <a:endParaRPr lang="en-US" sz="1100" dirty="0"/>
          </a:p>
        </p:txBody>
      </p:sp>
      <p:sp>
        <p:nvSpPr>
          <p:cNvPr id="7" name="Text 5"/>
          <p:cNvSpPr/>
          <p:nvPr/>
        </p:nvSpPr>
        <p:spPr>
          <a:xfrm>
            <a:off x="2240280" y="1755648"/>
            <a:ext cx="3429000" cy="365760"/>
          </a:xfrm>
          <a:prstGeom prst="rect">
            <a:avLst/>
          </a:prstGeom>
          <a:noFill/>
          <a:ln/>
        </p:spPr>
        <p:txBody>
          <a:bodyPr wrap="square" lIns="0" tIns="0" rIns="0" bIns="0" rtlCol="0" anchor="ctr"/>
          <a:lstStyle/>
          <a:p>
            <a:pPr marL="0" indent="0">
              <a:buNone/>
            </a:pPr>
            <a:r>
              <a:rPr lang="en-US" sz="950" b="1" kern="0" spc="50" dirty="0">
                <a:solidFill>
                  <a:srgbClr val="0A4C7A"/>
                </a:solidFill>
                <a:latin typeface="Calibri" pitchFamily="34" charset="0"/>
                <a:ea typeface="Calibri" pitchFamily="34" charset="-122"/>
                <a:cs typeface="Calibri" pitchFamily="34" charset="-120"/>
              </a:rPr>
              <a:t>WITHIN-DOMAIN BASELINE</a:t>
            </a:r>
            <a:endParaRPr lang="en-US" sz="950" dirty="0"/>
          </a:p>
        </p:txBody>
      </p:sp>
      <p:sp>
        <p:nvSpPr>
          <p:cNvPr id="8" name="Text 6"/>
          <p:cNvSpPr/>
          <p:nvPr/>
        </p:nvSpPr>
        <p:spPr>
          <a:xfrm>
            <a:off x="777240" y="2267712"/>
            <a:ext cx="4892040" cy="594360"/>
          </a:xfrm>
          <a:prstGeom prst="rect">
            <a:avLst/>
          </a:prstGeom>
          <a:noFill/>
          <a:ln/>
        </p:spPr>
        <p:txBody>
          <a:bodyPr wrap="square" lIns="0" tIns="0" rIns="0" bIns="0" rtlCol="0" anchor="ctr"/>
          <a:lstStyle/>
          <a:p>
            <a:pPr marL="0" indent="0">
              <a:lnSpc>
                <a:spcPts val="1800"/>
              </a:lnSpc>
              <a:buNone/>
            </a:pPr>
            <a:r>
              <a:rPr lang="en-US" sz="1500" b="1" dirty="0">
                <a:solidFill>
                  <a:srgbClr val="17233D"/>
                </a:solidFill>
                <a:latin typeface="Cambria" pitchFamily="34" charset="0"/>
                <a:ea typeface="Cambria" pitchFamily="34" charset="-122"/>
                <a:cs typeface="Cambria" pitchFamily="34" charset="-120"/>
              </a:rPr>
              <a:t>Train → Val → Test on OUC-CGE</a:t>
            </a:r>
            <a:endParaRPr lang="en-US" sz="1500" dirty="0"/>
          </a:p>
        </p:txBody>
      </p:sp>
      <p:sp>
        <p:nvSpPr>
          <p:cNvPr id="9" name="Text 7"/>
          <p:cNvSpPr/>
          <p:nvPr/>
        </p:nvSpPr>
        <p:spPr>
          <a:xfrm>
            <a:off x="777240" y="2926080"/>
            <a:ext cx="4892040" cy="365760"/>
          </a:xfrm>
          <a:prstGeom prst="rect">
            <a:avLst/>
          </a:prstGeom>
          <a:noFill/>
          <a:ln/>
        </p:spPr>
        <p:txBody>
          <a:bodyPr wrap="square" lIns="0" tIns="0" rIns="0" bIns="0" rtlCol="0" anchor="ctr"/>
          <a:lstStyle/>
          <a:p>
            <a:pPr marL="0" indent="0">
              <a:buNone/>
            </a:pPr>
            <a:r>
              <a:rPr lang="en-US" sz="1050" i="1" dirty="0">
                <a:solidFill>
                  <a:srgbClr val="5D6C77"/>
                </a:solidFill>
                <a:latin typeface="Calibri" pitchFamily="34" charset="0"/>
                <a:ea typeface="Calibri" pitchFamily="34" charset="-122"/>
                <a:cs typeface="Calibri" pitchFamily="34" charset="-120"/>
              </a:rPr>
              <a:t>config: train_ouc.yaml</a:t>
            </a:r>
            <a:endParaRPr lang="en-US" sz="1050" dirty="0"/>
          </a:p>
        </p:txBody>
      </p:sp>
      <p:sp>
        <p:nvSpPr>
          <p:cNvPr id="10" name="Shape 8"/>
          <p:cNvSpPr/>
          <p:nvPr/>
        </p:nvSpPr>
        <p:spPr>
          <a:xfrm>
            <a:off x="6217920" y="1554480"/>
            <a:ext cx="5349240" cy="1965960"/>
          </a:xfrm>
          <a:prstGeom prst="roundRect">
            <a:avLst>
              <a:gd name="adj" fmla="val 4651"/>
            </a:avLst>
          </a:prstGeom>
          <a:solidFill>
            <a:srgbClr val="F5F7F9"/>
          </a:solidFill>
          <a:ln w="19050">
            <a:solidFill>
              <a:srgbClr val="1C7293"/>
            </a:solidFill>
            <a:prstDash val="solid"/>
          </a:ln>
        </p:spPr>
      </p:sp>
      <p:sp>
        <p:nvSpPr>
          <p:cNvPr id="11" name="Shape 9"/>
          <p:cNvSpPr/>
          <p:nvPr/>
        </p:nvSpPr>
        <p:spPr>
          <a:xfrm>
            <a:off x="6446520" y="1755648"/>
            <a:ext cx="1280160" cy="365760"/>
          </a:xfrm>
          <a:prstGeom prst="roundRect">
            <a:avLst>
              <a:gd name="adj" fmla="val 75000"/>
            </a:avLst>
          </a:prstGeom>
          <a:solidFill>
            <a:srgbClr val="1C7293"/>
          </a:solidFill>
          <a:ln/>
        </p:spPr>
      </p:sp>
      <p:sp>
        <p:nvSpPr>
          <p:cNvPr id="12" name="Text 10"/>
          <p:cNvSpPr/>
          <p:nvPr/>
        </p:nvSpPr>
        <p:spPr>
          <a:xfrm>
            <a:off x="6446520" y="1755648"/>
            <a:ext cx="12801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Setting 2</a:t>
            </a:r>
            <a:endParaRPr lang="en-US" sz="1100" dirty="0"/>
          </a:p>
        </p:txBody>
      </p:sp>
      <p:sp>
        <p:nvSpPr>
          <p:cNvPr id="13" name="Text 11"/>
          <p:cNvSpPr/>
          <p:nvPr/>
        </p:nvSpPr>
        <p:spPr>
          <a:xfrm>
            <a:off x="7909560" y="1755648"/>
            <a:ext cx="3429000" cy="365760"/>
          </a:xfrm>
          <a:prstGeom prst="rect">
            <a:avLst/>
          </a:prstGeom>
          <a:noFill/>
          <a:ln/>
        </p:spPr>
        <p:txBody>
          <a:bodyPr wrap="square" lIns="0" tIns="0" rIns="0" bIns="0" rtlCol="0" anchor="ctr"/>
          <a:lstStyle/>
          <a:p>
            <a:pPr marL="0" indent="0">
              <a:buNone/>
            </a:pPr>
            <a:r>
              <a:rPr lang="en-US" sz="950" b="1" kern="0" spc="50" dirty="0">
                <a:solidFill>
                  <a:srgbClr val="1C7293"/>
                </a:solidFill>
                <a:latin typeface="Calibri" pitchFamily="34" charset="0"/>
                <a:ea typeface="Calibri" pitchFamily="34" charset="-122"/>
                <a:cs typeface="Calibri" pitchFamily="34" charset="-120"/>
              </a:rPr>
              <a:t>WITHIN-DOMAIN BASELINE</a:t>
            </a:r>
            <a:endParaRPr lang="en-US" sz="950" dirty="0"/>
          </a:p>
        </p:txBody>
      </p:sp>
      <p:sp>
        <p:nvSpPr>
          <p:cNvPr id="14" name="Text 12"/>
          <p:cNvSpPr/>
          <p:nvPr/>
        </p:nvSpPr>
        <p:spPr>
          <a:xfrm>
            <a:off x="6446520" y="2267712"/>
            <a:ext cx="4892040" cy="594360"/>
          </a:xfrm>
          <a:prstGeom prst="rect">
            <a:avLst/>
          </a:prstGeom>
          <a:noFill/>
          <a:ln/>
        </p:spPr>
        <p:txBody>
          <a:bodyPr wrap="square" lIns="0" tIns="0" rIns="0" bIns="0" rtlCol="0" anchor="ctr"/>
          <a:lstStyle/>
          <a:p>
            <a:pPr marL="0" indent="0">
              <a:lnSpc>
                <a:spcPts val="1800"/>
              </a:lnSpc>
              <a:buNone/>
            </a:pPr>
            <a:r>
              <a:rPr lang="en-US" sz="1500" b="1" dirty="0">
                <a:solidFill>
                  <a:srgbClr val="17233D"/>
                </a:solidFill>
                <a:latin typeface="Cambria" pitchFamily="34" charset="0"/>
                <a:ea typeface="Cambria" pitchFamily="34" charset="-122"/>
                <a:cs typeface="Cambria" pitchFamily="34" charset="-120"/>
              </a:rPr>
              <a:t>Train → Val → Test on COLER</a:t>
            </a:r>
            <a:endParaRPr lang="en-US" sz="1500" dirty="0"/>
          </a:p>
        </p:txBody>
      </p:sp>
      <p:sp>
        <p:nvSpPr>
          <p:cNvPr id="15" name="Text 13"/>
          <p:cNvSpPr/>
          <p:nvPr/>
        </p:nvSpPr>
        <p:spPr>
          <a:xfrm>
            <a:off x="6446520" y="2926080"/>
            <a:ext cx="4892040" cy="365760"/>
          </a:xfrm>
          <a:prstGeom prst="rect">
            <a:avLst/>
          </a:prstGeom>
          <a:noFill/>
          <a:ln/>
        </p:spPr>
        <p:txBody>
          <a:bodyPr wrap="square" lIns="0" tIns="0" rIns="0" bIns="0" rtlCol="0" anchor="ctr"/>
          <a:lstStyle/>
          <a:p>
            <a:pPr marL="0" indent="0">
              <a:buNone/>
            </a:pPr>
            <a:r>
              <a:rPr lang="en-US" sz="1050" i="1" dirty="0">
                <a:solidFill>
                  <a:srgbClr val="5D6C77"/>
                </a:solidFill>
                <a:latin typeface="Calibri" pitchFamily="34" charset="0"/>
                <a:ea typeface="Calibri" pitchFamily="34" charset="-122"/>
                <a:cs typeface="Calibri" pitchFamily="34" charset="-120"/>
              </a:rPr>
              <a:t>config: train_coler.yaml</a:t>
            </a:r>
            <a:endParaRPr lang="en-US" sz="1050" dirty="0"/>
          </a:p>
        </p:txBody>
      </p:sp>
      <p:sp>
        <p:nvSpPr>
          <p:cNvPr id="16" name="Shape 14"/>
          <p:cNvSpPr/>
          <p:nvPr/>
        </p:nvSpPr>
        <p:spPr>
          <a:xfrm>
            <a:off x="548640" y="3794760"/>
            <a:ext cx="5349240" cy="1965960"/>
          </a:xfrm>
          <a:prstGeom prst="roundRect">
            <a:avLst>
              <a:gd name="adj" fmla="val 4651"/>
            </a:avLst>
          </a:prstGeom>
          <a:solidFill>
            <a:srgbClr val="F5F7F9"/>
          </a:solidFill>
          <a:ln w="19050">
            <a:solidFill>
              <a:srgbClr val="E0A030"/>
            </a:solidFill>
            <a:prstDash val="solid"/>
          </a:ln>
        </p:spPr>
      </p:sp>
      <p:sp>
        <p:nvSpPr>
          <p:cNvPr id="17" name="Shape 15"/>
          <p:cNvSpPr/>
          <p:nvPr/>
        </p:nvSpPr>
        <p:spPr>
          <a:xfrm>
            <a:off x="777240" y="3995928"/>
            <a:ext cx="1280160" cy="365760"/>
          </a:xfrm>
          <a:prstGeom prst="roundRect">
            <a:avLst>
              <a:gd name="adj" fmla="val 75000"/>
            </a:avLst>
          </a:prstGeom>
          <a:solidFill>
            <a:srgbClr val="E0A030"/>
          </a:solidFill>
          <a:ln/>
        </p:spPr>
      </p:sp>
      <p:sp>
        <p:nvSpPr>
          <p:cNvPr id="18" name="Text 16"/>
          <p:cNvSpPr/>
          <p:nvPr/>
        </p:nvSpPr>
        <p:spPr>
          <a:xfrm>
            <a:off x="777240" y="3995928"/>
            <a:ext cx="12801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Setting 3</a:t>
            </a:r>
            <a:endParaRPr lang="en-US" sz="1100" dirty="0"/>
          </a:p>
        </p:txBody>
      </p:sp>
      <p:sp>
        <p:nvSpPr>
          <p:cNvPr id="19" name="Text 17"/>
          <p:cNvSpPr/>
          <p:nvPr/>
        </p:nvSpPr>
        <p:spPr>
          <a:xfrm>
            <a:off x="2240280" y="3995928"/>
            <a:ext cx="3429000" cy="365760"/>
          </a:xfrm>
          <a:prstGeom prst="rect">
            <a:avLst/>
          </a:prstGeom>
          <a:noFill/>
          <a:ln/>
        </p:spPr>
        <p:txBody>
          <a:bodyPr wrap="square" lIns="0" tIns="0" rIns="0" bIns="0" rtlCol="0" anchor="ctr"/>
          <a:lstStyle/>
          <a:p>
            <a:pPr marL="0" indent="0">
              <a:buNone/>
            </a:pPr>
            <a:r>
              <a:rPr lang="en-US" sz="950" b="1" kern="0" spc="50" dirty="0">
                <a:solidFill>
                  <a:srgbClr val="E0A030"/>
                </a:solidFill>
                <a:latin typeface="Calibri" pitchFamily="34" charset="0"/>
                <a:ea typeface="Calibri" pitchFamily="34" charset="-122"/>
                <a:cs typeface="Calibri" pitchFamily="34" charset="-120"/>
              </a:rPr>
              <a:t>ZERO FINE-TUNING TRANSFER</a:t>
            </a:r>
            <a:endParaRPr lang="en-US" sz="950" dirty="0"/>
          </a:p>
        </p:txBody>
      </p:sp>
      <p:sp>
        <p:nvSpPr>
          <p:cNvPr id="20" name="Text 18"/>
          <p:cNvSpPr/>
          <p:nvPr/>
        </p:nvSpPr>
        <p:spPr>
          <a:xfrm>
            <a:off x="777240" y="4507992"/>
            <a:ext cx="4892040" cy="594360"/>
          </a:xfrm>
          <a:prstGeom prst="rect">
            <a:avLst/>
          </a:prstGeom>
          <a:noFill/>
          <a:ln/>
        </p:spPr>
        <p:txBody>
          <a:bodyPr wrap="square" lIns="0" tIns="0" rIns="0" bIns="0" rtlCol="0" anchor="ctr"/>
          <a:lstStyle/>
          <a:p>
            <a:pPr marL="0" indent="0">
              <a:lnSpc>
                <a:spcPts val="1800"/>
              </a:lnSpc>
              <a:buNone/>
            </a:pPr>
            <a:r>
              <a:rPr lang="en-US" sz="1500" b="1" dirty="0">
                <a:solidFill>
                  <a:srgbClr val="17233D"/>
                </a:solidFill>
                <a:latin typeface="Cambria" pitchFamily="34" charset="0"/>
                <a:ea typeface="Cambria" pitchFamily="34" charset="-122"/>
                <a:cs typeface="Cambria" pitchFamily="34" charset="-120"/>
              </a:rPr>
              <a:t>OUC-CGE checkpoint → test on COLER</a:t>
            </a:r>
            <a:endParaRPr lang="en-US" sz="1500" dirty="0"/>
          </a:p>
        </p:txBody>
      </p:sp>
      <p:sp>
        <p:nvSpPr>
          <p:cNvPr id="21" name="Text 19"/>
          <p:cNvSpPr/>
          <p:nvPr/>
        </p:nvSpPr>
        <p:spPr>
          <a:xfrm>
            <a:off x="777240" y="5166360"/>
            <a:ext cx="4892040" cy="365760"/>
          </a:xfrm>
          <a:prstGeom prst="rect">
            <a:avLst/>
          </a:prstGeom>
          <a:noFill/>
          <a:ln/>
        </p:spPr>
        <p:txBody>
          <a:bodyPr wrap="square" lIns="0" tIns="0" rIns="0" bIns="0" rtlCol="0" anchor="ctr"/>
          <a:lstStyle/>
          <a:p>
            <a:pPr marL="0" indent="0">
              <a:buNone/>
            </a:pPr>
            <a:r>
              <a:rPr lang="en-US" sz="1050" i="1" dirty="0">
                <a:solidFill>
                  <a:srgbClr val="5D6C77"/>
                </a:solidFill>
                <a:latin typeface="Calibri" pitchFamily="34" charset="0"/>
                <a:ea typeface="Calibri" pitchFamily="34" charset="-122"/>
                <a:cs typeface="Calibri" pitchFamily="34" charset="-120"/>
              </a:rPr>
              <a:t>config: eval_ouc_to_coler.yaml</a:t>
            </a:r>
            <a:endParaRPr lang="en-US" sz="1050" dirty="0"/>
          </a:p>
        </p:txBody>
      </p:sp>
      <p:sp>
        <p:nvSpPr>
          <p:cNvPr id="22" name="Shape 20"/>
          <p:cNvSpPr/>
          <p:nvPr/>
        </p:nvSpPr>
        <p:spPr>
          <a:xfrm>
            <a:off x="6217920" y="3794760"/>
            <a:ext cx="5349240" cy="1965960"/>
          </a:xfrm>
          <a:prstGeom prst="roundRect">
            <a:avLst>
              <a:gd name="adj" fmla="val 4651"/>
            </a:avLst>
          </a:prstGeom>
          <a:solidFill>
            <a:srgbClr val="F5F7F9"/>
          </a:solidFill>
          <a:ln w="19050">
            <a:solidFill>
              <a:srgbClr val="B5473A"/>
            </a:solidFill>
            <a:prstDash val="solid"/>
          </a:ln>
        </p:spPr>
      </p:sp>
      <p:sp>
        <p:nvSpPr>
          <p:cNvPr id="23" name="Shape 21"/>
          <p:cNvSpPr/>
          <p:nvPr/>
        </p:nvSpPr>
        <p:spPr>
          <a:xfrm>
            <a:off x="6446520" y="3995928"/>
            <a:ext cx="1280160" cy="365760"/>
          </a:xfrm>
          <a:prstGeom prst="roundRect">
            <a:avLst>
              <a:gd name="adj" fmla="val 75000"/>
            </a:avLst>
          </a:prstGeom>
          <a:solidFill>
            <a:srgbClr val="B5473A"/>
          </a:solidFill>
          <a:ln/>
        </p:spPr>
      </p:sp>
      <p:sp>
        <p:nvSpPr>
          <p:cNvPr id="24" name="Text 22"/>
          <p:cNvSpPr/>
          <p:nvPr/>
        </p:nvSpPr>
        <p:spPr>
          <a:xfrm>
            <a:off x="6446520" y="3995928"/>
            <a:ext cx="12801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Setting 4</a:t>
            </a:r>
            <a:endParaRPr lang="en-US" sz="1100" dirty="0"/>
          </a:p>
        </p:txBody>
      </p:sp>
      <p:sp>
        <p:nvSpPr>
          <p:cNvPr id="25" name="Text 23"/>
          <p:cNvSpPr/>
          <p:nvPr/>
        </p:nvSpPr>
        <p:spPr>
          <a:xfrm>
            <a:off x="7909560" y="3995928"/>
            <a:ext cx="3429000" cy="365760"/>
          </a:xfrm>
          <a:prstGeom prst="rect">
            <a:avLst/>
          </a:prstGeom>
          <a:noFill/>
          <a:ln/>
        </p:spPr>
        <p:txBody>
          <a:bodyPr wrap="square" lIns="0" tIns="0" rIns="0" bIns="0" rtlCol="0" anchor="ctr"/>
          <a:lstStyle/>
          <a:p>
            <a:pPr marL="0" indent="0">
              <a:buNone/>
            </a:pPr>
            <a:r>
              <a:rPr lang="en-US" sz="950" b="1" kern="0" spc="50" dirty="0">
                <a:solidFill>
                  <a:srgbClr val="B5473A"/>
                </a:solidFill>
                <a:latin typeface="Calibri" pitchFamily="34" charset="0"/>
                <a:ea typeface="Calibri" pitchFamily="34" charset="-122"/>
                <a:cs typeface="Calibri" pitchFamily="34" charset="-120"/>
              </a:rPr>
              <a:t>ZERO FINE-TUNING TRANSFER</a:t>
            </a:r>
            <a:endParaRPr lang="en-US" sz="950" dirty="0"/>
          </a:p>
        </p:txBody>
      </p:sp>
      <p:sp>
        <p:nvSpPr>
          <p:cNvPr id="26" name="Text 24"/>
          <p:cNvSpPr/>
          <p:nvPr/>
        </p:nvSpPr>
        <p:spPr>
          <a:xfrm>
            <a:off x="6446520" y="4507992"/>
            <a:ext cx="4892040" cy="594360"/>
          </a:xfrm>
          <a:prstGeom prst="rect">
            <a:avLst/>
          </a:prstGeom>
          <a:noFill/>
          <a:ln/>
        </p:spPr>
        <p:txBody>
          <a:bodyPr wrap="square" lIns="0" tIns="0" rIns="0" bIns="0" rtlCol="0" anchor="ctr"/>
          <a:lstStyle/>
          <a:p>
            <a:pPr marL="0" indent="0">
              <a:lnSpc>
                <a:spcPts val="1800"/>
              </a:lnSpc>
              <a:buNone/>
            </a:pPr>
            <a:r>
              <a:rPr lang="en-US" sz="1500" b="1" dirty="0">
                <a:solidFill>
                  <a:srgbClr val="17233D"/>
                </a:solidFill>
                <a:latin typeface="Cambria" pitchFamily="34" charset="0"/>
                <a:ea typeface="Cambria" pitchFamily="34" charset="-122"/>
                <a:cs typeface="Cambria" pitchFamily="34" charset="-120"/>
              </a:rPr>
              <a:t>COLER checkpoint → test on OUC-CGE</a:t>
            </a:r>
            <a:endParaRPr lang="en-US" sz="1500" dirty="0"/>
          </a:p>
        </p:txBody>
      </p:sp>
      <p:sp>
        <p:nvSpPr>
          <p:cNvPr id="27" name="Text 25"/>
          <p:cNvSpPr/>
          <p:nvPr/>
        </p:nvSpPr>
        <p:spPr>
          <a:xfrm>
            <a:off x="6446520" y="5166360"/>
            <a:ext cx="4892040" cy="365760"/>
          </a:xfrm>
          <a:prstGeom prst="rect">
            <a:avLst/>
          </a:prstGeom>
          <a:noFill/>
          <a:ln/>
        </p:spPr>
        <p:txBody>
          <a:bodyPr wrap="square" lIns="0" tIns="0" rIns="0" bIns="0" rtlCol="0" anchor="ctr"/>
          <a:lstStyle/>
          <a:p>
            <a:pPr marL="0" indent="0">
              <a:buNone/>
            </a:pPr>
            <a:r>
              <a:rPr lang="en-US" sz="1050" i="1" dirty="0">
                <a:solidFill>
                  <a:srgbClr val="5D6C77"/>
                </a:solidFill>
                <a:latin typeface="Calibri" pitchFamily="34" charset="0"/>
                <a:ea typeface="Calibri" pitchFamily="34" charset="-122"/>
                <a:cs typeface="Calibri" pitchFamily="34" charset="-120"/>
              </a:rPr>
              <a:t>config: eval_coler_to_ouc.yaml</a:t>
            </a:r>
            <a:endParaRPr lang="en-US" sz="1050" dirty="0"/>
          </a:p>
        </p:txBody>
      </p:sp>
      <p:sp>
        <p:nvSpPr>
          <p:cNvPr id="28" name="Text 26"/>
          <p:cNvSpPr/>
          <p:nvPr/>
        </p:nvSpPr>
        <p:spPr>
          <a:xfrm>
            <a:off x="548640" y="6080760"/>
            <a:ext cx="11064240" cy="457200"/>
          </a:xfrm>
          <a:prstGeom prst="rect">
            <a:avLst/>
          </a:prstGeom>
          <a:noFill/>
          <a:ln/>
        </p:spPr>
        <p:txBody>
          <a:bodyPr wrap="square" lIns="0" tIns="0" rIns="0" bIns="0" rtlCol="0" anchor="ctr"/>
          <a:lstStyle/>
          <a:p>
            <a:pPr marL="0" indent="0">
              <a:lnSpc>
                <a:spcPts val="1500"/>
              </a:lnSpc>
              <a:buNone/>
            </a:pPr>
            <a:r>
              <a:rPr lang="en-US" sz="1200" i="1" dirty="0">
                <a:solidFill>
                  <a:srgbClr val="5D6C77"/>
                </a:solidFill>
                <a:latin typeface="Calibri" pitchFamily="34" charset="0"/>
                <a:ea typeface="Calibri" pitchFamily="34" charset="-122"/>
                <a:cs typeface="Calibri" pitchFamily="34" charset="-120"/>
              </a:rPr>
              <a:t>Settings 1–2 establish within-domain ceilings; Settings 3–4 measure exactly how far accuracy falls when crossing domains — the core novel measurement of this project.</a:t>
            </a:r>
            <a:endParaRPr lang="en-US" sz="1200" dirty="0"/>
          </a:p>
        </p:txBody>
      </p:sp>
      <p:sp>
        <p:nvSpPr>
          <p:cNvPr id="29" name="Text 27"/>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233D"/>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8FA8BE"/>
                </a:solidFill>
                <a:latin typeface="Calibri" pitchFamily="34" charset="0"/>
                <a:ea typeface="Calibri" pitchFamily="34" charset="-122"/>
                <a:cs typeface="Calibri" pitchFamily="34" charset="-120"/>
              </a:rPr>
              <a:t>VALIDATION RESULTS</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End-to-End Pipeline Integrity Audit</a:t>
            </a:r>
            <a:endParaRPr lang="en-US" sz="2800" dirty="0"/>
          </a:p>
        </p:txBody>
      </p:sp>
      <p:sp>
        <p:nvSpPr>
          <p:cNvPr id="4" name="Shape 2"/>
          <p:cNvSpPr/>
          <p:nvPr/>
        </p:nvSpPr>
        <p:spPr>
          <a:xfrm>
            <a:off x="548640" y="1417320"/>
            <a:ext cx="3840480" cy="502920"/>
          </a:xfrm>
          <a:prstGeom prst="roundRect">
            <a:avLst>
              <a:gd name="adj" fmla="val 50909"/>
            </a:avLst>
          </a:prstGeom>
          <a:solidFill>
            <a:srgbClr val="3E8E5B"/>
          </a:solidFill>
          <a:ln/>
        </p:spPr>
      </p:sp>
      <p:sp>
        <p:nvSpPr>
          <p:cNvPr id="5" name="Text 3"/>
          <p:cNvSpPr/>
          <p:nvPr/>
        </p:nvSpPr>
        <p:spPr>
          <a:xfrm>
            <a:off x="548640" y="1417320"/>
            <a:ext cx="3840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OVERALL STATUS: PASSED</a:t>
            </a:r>
            <a:endParaRPr lang="en-US" sz="1300" dirty="0"/>
          </a:p>
        </p:txBody>
      </p:sp>
      <p:sp>
        <p:nvSpPr>
          <p:cNvPr id="6" name="Shape 4"/>
          <p:cNvSpPr/>
          <p:nvPr/>
        </p:nvSpPr>
        <p:spPr>
          <a:xfrm>
            <a:off x="548640" y="2148840"/>
            <a:ext cx="3611880" cy="1417320"/>
          </a:xfrm>
          <a:prstGeom prst="roundRect">
            <a:avLst>
              <a:gd name="adj" fmla="val 6452"/>
            </a:avLst>
          </a:prstGeom>
          <a:solidFill>
            <a:srgbClr val="1F2E4D"/>
          </a:solidFill>
          <a:ln/>
        </p:spPr>
      </p:sp>
      <p:sp>
        <p:nvSpPr>
          <p:cNvPr id="7" name="Text 5"/>
          <p:cNvSpPr/>
          <p:nvPr/>
        </p:nvSpPr>
        <p:spPr>
          <a:xfrm>
            <a:off x="777240" y="2276856"/>
            <a:ext cx="3154680" cy="502920"/>
          </a:xfrm>
          <a:prstGeom prst="rect">
            <a:avLst/>
          </a:prstGeom>
          <a:noFill/>
          <a:ln/>
        </p:spPr>
        <p:txBody>
          <a:bodyPr wrap="square" lIns="0" tIns="0" rIns="0" bIns="0" rtlCol="0" anchor="ctr"/>
          <a:lstStyle/>
          <a:p>
            <a:pPr marL="0" indent="0">
              <a:buNone/>
            </a:pPr>
            <a:r>
              <a:rPr lang="en-US" sz="2600" b="1" dirty="0">
                <a:solidFill>
                  <a:srgbClr val="E0A030"/>
                </a:solidFill>
                <a:latin typeface="Cambria" pitchFamily="34" charset="0"/>
                <a:ea typeface="Cambria" pitchFamily="34" charset="-122"/>
                <a:cs typeface="Cambria" pitchFamily="34" charset="-120"/>
              </a:rPr>
              <a:t>7,989</a:t>
            </a:r>
            <a:endParaRPr lang="en-US" sz="2600" dirty="0"/>
          </a:p>
        </p:txBody>
      </p:sp>
      <p:sp>
        <p:nvSpPr>
          <p:cNvPr id="8" name="Text 6"/>
          <p:cNvSpPr/>
          <p:nvPr/>
        </p:nvSpPr>
        <p:spPr>
          <a:xfrm>
            <a:off x="777240" y="2807208"/>
            <a:ext cx="31546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Clip manifest samples</a:t>
            </a:r>
            <a:endParaRPr lang="en-US" sz="1100" dirty="0"/>
          </a:p>
        </p:txBody>
      </p:sp>
      <p:sp>
        <p:nvSpPr>
          <p:cNvPr id="9" name="Text 7"/>
          <p:cNvSpPr/>
          <p:nvPr/>
        </p:nvSpPr>
        <p:spPr>
          <a:xfrm>
            <a:off x="777240" y="3154680"/>
            <a:ext cx="3154680" cy="320040"/>
          </a:xfrm>
          <a:prstGeom prst="rect">
            <a:avLst/>
          </a:prstGeom>
          <a:noFill/>
          <a:ln/>
        </p:spPr>
        <p:txBody>
          <a:bodyPr wrap="square" lIns="0" tIns="0" rIns="0" bIns="0" rtlCol="0" anchor="ctr"/>
          <a:lstStyle/>
          <a:p>
            <a:pPr marL="0" indent="0">
              <a:buNone/>
            </a:pPr>
            <a:r>
              <a:rPr lang="en-US" sz="1000" dirty="0">
                <a:solidFill>
                  <a:srgbClr val="8FE3B0"/>
                </a:solidFill>
                <a:latin typeface="Calibri" pitchFamily="34" charset="0"/>
                <a:ea typeface="Calibri" pitchFamily="34" charset="-122"/>
                <a:cs typeface="Calibri" pitchFamily="34" charset="-120"/>
              </a:rPr>
              <a:t>✓ 0 duplicate IDs</a:t>
            </a:r>
            <a:endParaRPr lang="en-US" sz="1000" dirty="0"/>
          </a:p>
        </p:txBody>
      </p:sp>
      <p:sp>
        <p:nvSpPr>
          <p:cNvPr id="10" name="Shape 8"/>
          <p:cNvSpPr/>
          <p:nvPr/>
        </p:nvSpPr>
        <p:spPr>
          <a:xfrm>
            <a:off x="4361688" y="2148840"/>
            <a:ext cx="3611880" cy="1417320"/>
          </a:xfrm>
          <a:prstGeom prst="roundRect">
            <a:avLst>
              <a:gd name="adj" fmla="val 6452"/>
            </a:avLst>
          </a:prstGeom>
          <a:solidFill>
            <a:srgbClr val="1F2E4D"/>
          </a:solidFill>
          <a:ln/>
        </p:spPr>
      </p:sp>
      <p:sp>
        <p:nvSpPr>
          <p:cNvPr id="11" name="Text 9"/>
          <p:cNvSpPr/>
          <p:nvPr/>
        </p:nvSpPr>
        <p:spPr>
          <a:xfrm>
            <a:off x="4590288" y="2276856"/>
            <a:ext cx="3154680" cy="502920"/>
          </a:xfrm>
          <a:prstGeom prst="rect">
            <a:avLst/>
          </a:prstGeom>
          <a:noFill/>
          <a:ln/>
        </p:spPr>
        <p:txBody>
          <a:bodyPr wrap="square" lIns="0" tIns="0" rIns="0" bIns="0" rtlCol="0" anchor="ctr"/>
          <a:lstStyle/>
          <a:p>
            <a:pPr marL="0" indent="0">
              <a:buNone/>
            </a:pPr>
            <a:r>
              <a:rPr lang="en-US" sz="2600" b="1" dirty="0">
                <a:solidFill>
                  <a:srgbClr val="E0A030"/>
                </a:solidFill>
                <a:latin typeface="Cambria" pitchFamily="34" charset="0"/>
                <a:ea typeface="Cambria" pitchFamily="34" charset="-122"/>
                <a:cs typeface="Cambria" pitchFamily="34" charset="-120"/>
              </a:rPr>
              <a:t>6,875</a:t>
            </a:r>
            <a:endParaRPr lang="en-US" sz="2600" dirty="0"/>
          </a:p>
        </p:txBody>
      </p:sp>
      <p:sp>
        <p:nvSpPr>
          <p:cNvPr id="12" name="Text 10"/>
          <p:cNvSpPr/>
          <p:nvPr/>
        </p:nvSpPr>
        <p:spPr>
          <a:xfrm>
            <a:off x="4590288" y="2807208"/>
            <a:ext cx="31546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Frame manifest samples</a:t>
            </a:r>
            <a:endParaRPr lang="en-US" sz="1100" dirty="0"/>
          </a:p>
        </p:txBody>
      </p:sp>
      <p:sp>
        <p:nvSpPr>
          <p:cNvPr id="13" name="Text 11"/>
          <p:cNvSpPr/>
          <p:nvPr/>
        </p:nvSpPr>
        <p:spPr>
          <a:xfrm>
            <a:off x="4590288" y="3154680"/>
            <a:ext cx="3154680" cy="320040"/>
          </a:xfrm>
          <a:prstGeom prst="rect">
            <a:avLst/>
          </a:prstGeom>
          <a:noFill/>
          <a:ln/>
        </p:spPr>
        <p:txBody>
          <a:bodyPr wrap="square" lIns="0" tIns="0" rIns="0" bIns="0" rtlCol="0" anchor="ctr"/>
          <a:lstStyle/>
          <a:p>
            <a:pPr marL="0" indent="0">
              <a:buNone/>
            </a:pPr>
            <a:r>
              <a:rPr lang="en-US" sz="1000" dirty="0">
                <a:solidFill>
                  <a:srgbClr val="8FE3B0"/>
                </a:solidFill>
                <a:latin typeface="Calibri" pitchFamily="34" charset="0"/>
                <a:ea typeface="Calibri" pitchFamily="34" charset="-122"/>
                <a:cs typeface="Calibri" pitchFamily="34" charset="-120"/>
              </a:rPr>
              <a:t>✓ 0 duplicate image paths</a:t>
            </a:r>
            <a:endParaRPr lang="en-US" sz="1000" dirty="0"/>
          </a:p>
        </p:txBody>
      </p:sp>
      <p:sp>
        <p:nvSpPr>
          <p:cNvPr id="14" name="Shape 12"/>
          <p:cNvSpPr/>
          <p:nvPr/>
        </p:nvSpPr>
        <p:spPr>
          <a:xfrm>
            <a:off x="8174736" y="2148840"/>
            <a:ext cx="3611880" cy="1417320"/>
          </a:xfrm>
          <a:prstGeom prst="roundRect">
            <a:avLst>
              <a:gd name="adj" fmla="val 6452"/>
            </a:avLst>
          </a:prstGeom>
          <a:solidFill>
            <a:srgbClr val="1F2E4D"/>
          </a:solidFill>
          <a:ln/>
        </p:spPr>
      </p:sp>
      <p:sp>
        <p:nvSpPr>
          <p:cNvPr id="15" name="Text 13"/>
          <p:cNvSpPr/>
          <p:nvPr/>
        </p:nvSpPr>
        <p:spPr>
          <a:xfrm>
            <a:off x="8403336" y="2276856"/>
            <a:ext cx="3154680" cy="502920"/>
          </a:xfrm>
          <a:prstGeom prst="rect">
            <a:avLst/>
          </a:prstGeom>
          <a:noFill/>
          <a:ln/>
        </p:spPr>
        <p:txBody>
          <a:bodyPr wrap="square" lIns="0" tIns="0" rIns="0" bIns="0" rtlCol="0" anchor="ctr"/>
          <a:lstStyle/>
          <a:p>
            <a:pPr marL="0" indent="0">
              <a:buNone/>
            </a:pPr>
            <a:r>
              <a:rPr lang="en-US" sz="2600" b="1" dirty="0">
                <a:solidFill>
                  <a:srgbClr val="E0A030"/>
                </a:solidFill>
                <a:latin typeface="Cambria" pitchFamily="34" charset="0"/>
                <a:ea typeface="Cambria" pitchFamily="34" charset="-122"/>
                <a:cs typeface="Cambria" pitchFamily="34" charset="-120"/>
              </a:rPr>
              <a:t>14,864</a:t>
            </a:r>
            <a:endParaRPr lang="en-US" sz="2600" dirty="0"/>
          </a:p>
        </p:txBody>
      </p:sp>
      <p:sp>
        <p:nvSpPr>
          <p:cNvPr id="16" name="Text 14"/>
          <p:cNvSpPr/>
          <p:nvPr/>
        </p:nvSpPr>
        <p:spPr>
          <a:xfrm>
            <a:off x="8403336" y="2807208"/>
            <a:ext cx="31546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File existence checks</a:t>
            </a:r>
            <a:endParaRPr lang="en-US" sz="1100" dirty="0"/>
          </a:p>
        </p:txBody>
      </p:sp>
      <p:sp>
        <p:nvSpPr>
          <p:cNvPr id="17" name="Text 15"/>
          <p:cNvSpPr/>
          <p:nvPr/>
        </p:nvSpPr>
        <p:spPr>
          <a:xfrm>
            <a:off x="8403336" y="3154680"/>
            <a:ext cx="3154680" cy="320040"/>
          </a:xfrm>
          <a:prstGeom prst="rect">
            <a:avLst/>
          </a:prstGeom>
          <a:noFill/>
          <a:ln/>
        </p:spPr>
        <p:txBody>
          <a:bodyPr wrap="square" lIns="0" tIns="0" rIns="0" bIns="0" rtlCol="0" anchor="ctr"/>
          <a:lstStyle/>
          <a:p>
            <a:pPr marL="0" indent="0">
              <a:buNone/>
            </a:pPr>
            <a:r>
              <a:rPr lang="en-US" sz="1000" dirty="0">
                <a:solidFill>
                  <a:srgbClr val="8FE3B0"/>
                </a:solidFill>
                <a:latin typeface="Calibri" pitchFamily="34" charset="0"/>
                <a:ea typeface="Calibri" pitchFamily="34" charset="-122"/>
                <a:cs typeface="Calibri" pitchFamily="34" charset="-120"/>
              </a:rPr>
              <a:t>✓ 0 missing files</a:t>
            </a:r>
            <a:endParaRPr lang="en-US" sz="1000" dirty="0"/>
          </a:p>
        </p:txBody>
      </p:sp>
      <p:sp>
        <p:nvSpPr>
          <p:cNvPr id="18" name="Shape 16"/>
          <p:cNvSpPr/>
          <p:nvPr/>
        </p:nvSpPr>
        <p:spPr>
          <a:xfrm>
            <a:off x="548640" y="3767328"/>
            <a:ext cx="3611880" cy="1417320"/>
          </a:xfrm>
          <a:prstGeom prst="roundRect">
            <a:avLst>
              <a:gd name="adj" fmla="val 6452"/>
            </a:avLst>
          </a:prstGeom>
          <a:solidFill>
            <a:srgbClr val="1F2E4D"/>
          </a:solidFill>
          <a:ln/>
        </p:spPr>
      </p:sp>
      <p:sp>
        <p:nvSpPr>
          <p:cNvPr id="19" name="Text 17"/>
          <p:cNvSpPr/>
          <p:nvPr/>
        </p:nvSpPr>
        <p:spPr>
          <a:xfrm>
            <a:off x="777240" y="3895344"/>
            <a:ext cx="3154680" cy="502920"/>
          </a:xfrm>
          <a:prstGeom prst="rect">
            <a:avLst/>
          </a:prstGeom>
          <a:noFill/>
          <a:ln/>
        </p:spPr>
        <p:txBody>
          <a:bodyPr wrap="square" lIns="0" tIns="0" rIns="0" bIns="0" rtlCol="0" anchor="ctr"/>
          <a:lstStyle/>
          <a:p>
            <a:pPr marL="0" indent="0">
              <a:buNone/>
            </a:pPr>
            <a:r>
              <a:rPr lang="en-US" sz="2600" b="1" dirty="0">
                <a:solidFill>
                  <a:srgbClr val="E0A030"/>
                </a:solidFill>
                <a:latin typeface="Cambria" pitchFamily="34" charset="0"/>
                <a:ea typeface="Cambria" pitchFamily="34" charset="-122"/>
                <a:cs typeface="Cambria" pitchFamily="34" charset="-120"/>
              </a:rPr>
              <a:t>6,875</a:t>
            </a:r>
            <a:endParaRPr lang="en-US" sz="2600" dirty="0"/>
          </a:p>
        </p:txBody>
      </p:sp>
      <p:sp>
        <p:nvSpPr>
          <p:cNvPr id="20" name="Text 18"/>
          <p:cNvSpPr/>
          <p:nvPr/>
        </p:nvSpPr>
        <p:spPr>
          <a:xfrm>
            <a:off x="777240" y="4425696"/>
            <a:ext cx="31546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Image byte integrity checks</a:t>
            </a:r>
            <a:endParaRPr lang="en-US" sz="1100" dirty="0"/>
          </a:p>
        </p:txBody>
      </p:sp>
      <p:sp>
        <p:nvSpPr>
          <p:cNvPr id="21" name="Text 19"/>
          <p:cNvSpPr/>
          <p:nvPr/>
        </p:nvSpPr>
        <p:spPr>
          <a:xfrm>
            <a:off x="777240" y="4773168"/>
            <a:ext cx="3154680" cy="320040"/>
          </a:xfrm>
          <a:prstGeom prst="rect">
            <a:avLst/>
          </a:prstGeom>
          <a:noFill/>
          <a:ln/>
        </p:spPr>
        <p:txBody>
          <a:bodyPr wrap="square" lIns="0" tIns="0" rIns="0" bIns="0" rtlCol="0" anchor="ctr"/>
          <a:lstStyle/>
          <a:p>
            <a:pPr marL="0" indent="0">
              <a:buNone/>
            </a:pPr>
            <a:r>
              <a:rPr lang="en-US" sz="1000" dirty="0">
                <a:solidFill>
                  <a:srgbClr val="8FE3B0"/>
                </a:solidFill>
                <a:latin typeface="Calibri" pitchFamily="34" charset="0"/>
                <a:ea typeface="Calibri" pitchFamily="34" charset="-122"/>
                <a:cs typeface="Calibri" pitchFamily="34" charset="-120"/>
              </a:rPr>
              <a:t>✓ 0 corrupted images</a:t>
            </a:r>
            <a:endParaRPr lang="en-US" sz="1000" dirty="0"/>
          </a:p>
        </p:txBody>
      </p:sp>
      <p:sp>
        <p:nvSpPr>
          <p:cNvPr id="22" name="Shape 20"/>
          <p:cNvSpPr/>
          <p:nvPr/>
        </p:nvSpPr>
        <p:spPr>
          <a:xfrm>
            <a:off x="4361688" y="3767328"/>
            <a:ext cx="3611880" cy="1417320"/>
          </a:xfrm>
          <a:prstGeom prst="roundRect">
            <a:avLst>
              <a:gd name="adj" fmla="val 6452"/>
            </a:avLst>
          </a:prstGeom>
          <a:solidFill>
            <a:srgbClr val="1F2E4D"/>
          </a:solidFill>
          <a:ln/>
        </p:spPr>
      </p:sp>
      <p:sp>
        <p:nvSpPr>
          <p:cNvPr id="23" name="Text 21"/>
          <p:cNvSpPr/>
          <p:nvPr/>
        </p:nvSpPr>
        <p:spPr>
          <a:xfrm>
            <a:off x="4590288" y="3895344"/>
            <a:ext cx="3154680" cy="502920"/>
          </a:xfrm>
          <a:prstGeom prst="rect">
            <a:avLst/>
          </a:prstGeom>
          <a:noFill/>
          <a:ln/>
        </p:spPr>
        <p:txBody>
          <a:bodyPr wrap="square" lIns="0" tIns="0" rIns="0" bIns="0" rtlCol="0" anchor="ctr"/>
          <a:lstStyle/>
          <a:p>
            <a:pPr marL="0" indent="0">
              <a:buNone/>
            </a:pPr>
            <a:r>
              <a:rPr lang="en-US" sz="2600" b="1" dirty="0">
                <a:solidFill>
                  <a:srgbClr val="E0A030"/>
                </a:solidFill>
                <a:latin typeface="Cambria" pitchFamily="34" charset="0"/>
                <a:ea typeface="Cambria" pitchFamily="34" charset="-122"/>
                <a:cs typeface="Cambria" pitchFamily="34" charset="-120"/>
              </a:rPr>
              <a:t>14,864</a:t>
            </a:r>
            <a:endParaRPr lang="en-US" sz="2600" dirty="0"/>
          </a:p>
        </p:txBody>
      </p:sp>
      <p:sp>
        <p:nvSpPr>
          <p:cNvPr id="24" name="Text 22"/>
          <p:cNvSpPr/>
          <p:nvPr/>
        </p:nvSpPr>
        <p:spPr>
          <a:xfrm>
            <a:off x="4590288" y="4425696"/>
            <a:ext cx="31546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Label consistency checks</a:t>
            </a:r>
            <a:endParaRPr lang="en-US" sz="1100" dirty="0"/>
          </a:p>
        </p:txBody>
      </p:sp>
      <p:sp>
        <p:nvSpPr>
          <p:cNvPr id="25" name="Text 23"/>
          <p:cNvSpPr/>
          <p:nvPr/>
        </p:nvSpPr>
        <p:spPr>
          <a:xfrm>
            <a:off x="4590288" y="4773168"/>
            <a:ext cx="3154680" cy="320040"/>
          </a:xfrm>
          <a:prstGeom prst="rect">
            <a:avLst/>
          </a:prstGeom>
          <a:noFill/>
          <a:ln/>
        </p:spPr>
        <p:txBody>
          <a:bodyPr wrap="square" lIns="0" tIns="0" rIns="0" bIns="0" rtlCol="0" anchor="ctr"/>
          <a:lstStyle/>
          <a:p>
            <a:pPr marL="0" indent="0">
              <a:buNone/>
            </a:pPr>
            <a:r>
              <a:rPr lang="en-US" sz="1000" dirty="0">
                <a:solidFill>
                  <a:srgbClr val="8FE3B0"/>
                </a:solidFill>
                <a:latin typeface="Calibri" pitchFamily="34" charset="0"/>
                <a:ea typeface="Calibri" pitchFamily="34" charset="-122"/>
                <a:cs typeface="Calibri" pitchFamily="34" charset="-120"/>
              </a:rPr>
              <a:t>✓ 0 mismatches</a:t>
            </a:r>
            <a:endParaRPr lang="en-US" sz="1000" dirty="0"/>
          </a:p>
        </p:txBody>
      </p:sp>
      <p:sp>
        <p:nvSpPr>
          <p:cNvPr id="26" name="Shape 24"/>
          <p:cNvSpPr/>
          <p:nvPr/>
        </p:nvSpPr>
        <p:spPr>
          <a:xfrm>
            <a:off x="8174736" y="3767328"/>
            <a:ext cx="3611880" cy="1417320"/>
          </a:xfrm>
          <a:prstGeom prst="roundRect">
            <a:avLst>
              <a:gd name="adj" fmla="val 6452"/>
            </a:avLst>
          </a:prstGeom>
          <a:solidFill>
            <a:srgbClr val="1F2E4D"/>
          </a:solidFill>
          <a:ln/>
        </p:spPr>
      </p:sp>
      <p:sp>
        <p:nvSpPr>
          <p:cNvPr id="27" name="Text 25"/>
          <p:cNvSpPr/>
          <p:nvPr/>
        </p:nvSpPr>
        <p:spPr>
          <a:xfrm>
            <a:off x="8403336" y="3895344"/>
            <a:ext cx="3154680" cy="502920"/>
          </a:xfrm>
          <a:prstGeom prst="rect">
            <a:avLst/>
          </a:prstGeom>
          <a:noFill/>
          <a:ln/>
        </p:spPr>
        <p:txBody>
          <a:bodyPr wrap="square" lIns="0" tIns="0" rIns="0" bIns="0" rtlCol="0" anchor="ctr"/>
          <a:lstStyle/>
          <a:p>
            <a:pPr marL="0" indent="0">
              <a:buNone/>
            </a:pPr>
            <a:r>
              <a:rPr lang="en-US" sz="2600" b="1" dirty="0">
                <a:solidFill>
                  <a:srgbClr val="E0A030"/>
                </a:solidFill>
                <a:latin typeface="Cambria" pitchFamily="34" charset="0"/>
                <a:ea typeface="Cambria" pitchFamily="34" charset="-122"/>
                <a:cs typeface="Cambria" pitchFamily="34" charset="-120"/>
              </a:rPr>
              <a:t>14,864</a:t>
            </a:r>
            <a:endParaRPr lang="en-US" sz="2600" dirty="0"/>
          </a:p>
        </p:txBody>
      </p:sp>
      <p:sp>
        <p:nvSpPr>
          <p:cNvPr id="28" name="Text 26"/>
          <p:cNvSpPr/>
          <p:nvPr/>
        </p:nvSpPr>
        <p:spPr>
          <a:xfrm>
            <a:off x="8403336" y="4425696"/>
            <a:ext cx="31546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Metadata (JSON) integrity checks</a:t>
            </a:r>
            <a:endParaRPr lang="en-US" sz="1100" dirty="0"/>
          </a:p>
        </p:txBody>
      </p:sp>
      <p:sp>
        <p:nvSpPr>
          <p:cNvPr id="29" name="Text 27"/>
          <p:cNvSpPr/>
          <p:nvPr/>
        </p:nvSpPr>
        <p:spPr>
          <a:xfrm>
            <a:off x="8403336" y="4773168"/>
            <a:ext cx="3154680" cy="320040"/>
          </a:xfrm>
          <a:prstGeom prst="rect">
            <a:avLst/>
          </a:prstGeom>
          <a:noFill/>
          <a:ln/>
        </p:spPr>
        <p:txBody>
          <a:bodyPr wrap="square" lIns="0" tIns="0" rIns="0" bIns="0" rtlCol="0" anchor="ctr"/>
          <a:lstStyle/>
          <a:p>
            <a:pPr marL="0" indent="0">
              <a:buNone/>
            </a:pPr>
            <a:r>
              <a:rPr lang="en-US" sz="1000" dirty="0">
                <a:solidFill>
                  <a:srgbClr val="8FE3B0"/>
                </a:solidFill>
                <a:latin typeface="Calibri" pitchFamily="34" charset="0"/>
                <a:ea typeface="Calibri" pitchFamily="34" charset="-122"/>
                <a:cs typeface="Calibri" pitchFamily="34" charset="-120"/>
              </a:rPr>
              <a:t>✓ 0 syntax/dimensional errors</a:t>
            </a:r>
            <a:endParaRPr lang="en-US" sz="1000" dirty="0"/>
          </a:p>
        </p:txBody>
      </p:sp>
      <p:sp>
        <p:nvSpPr>
          <p:cNvPr id="30" name="Text 28"/>
          <p:cNvSpPr/>
          <p:nvPr/>
        </p:nvSpPr>
        <p:spPr>
          <a:xfrm>
            <a:off x="548640" y="5522976"/>
            <a:ext cx="11064240" cy="365760"/>
          </a:xfrm>
          <a:prstGeom prst="rect">
            <a:avLst/>
          </a:prstGeom>
          <a:noFill/>
          <a:ln/>
        </p:spPr>
        <p:txBody>
          <a:bodyPr wrap="square" lIns="0" tIns="0" rIns="0" bIns="0" rtlCol="0" anchor="ctr"/>
          <a:lstStyle/>
          <a:p>
            <a:pPr marL="0" indent="0">
              <a:buNone/>
            </a:pPr>
            <a:r>
              <a:rPr lang="en-US" sz="1050" i="1" dirty="0">
                <a:solidFill>
                  <a:srgbClr val="8FA8BE"/>
                </a:solidFill>
                <a:latin typeface="Calibri" pitchFamily="34" charset="0"/>
                <a:ea typeface="Calibri" pitchFamily="34" charset="-122"/>
                <a:cs typeface="Calibri" pitchFamily="34" charset="-120"/>
              </a:rPr>
              <a:t>Audit source: cross_dataset.validation.pipeline_validator → data/reports/pipeline_validation_report.md</a:t>
            </a:r>
            <a:endParaRPr lang="en-US" sz="1050" dirty="0"/>
          </a:p>
        </p:txBody>
      </p:sp>
      <p:sp>
        <p:nvSpPr>
          <p:cNvPr id="31" name="Text 29"/>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PROJECT DIRECTORY</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How the Codebase Is Organized</a:t>
            </a:r>
            <a:endParaRPr lang="en-US" sz="2800" dirty="0"/>
          </a:p>
        </p:txBody>
      </p:sp>
      <p:sp>
        <p:nvSpPr>
          <p:cNvPr id="4" name="Shape 2"/>
          <p:cNvSpPr/>
          <p:nvPr/>
        </p:nvSpPr>
        <p:spPr>
          <a:xfrm>
            <a:off x="548640" y="1764792"/>
            <a:ext cx="457200" cy="457200"/>
          </a:xfrm>
          <a:prstGeom prst="ellipse">
            <a:avLst/>
          </a:prstGeom>
          <a:solidFill>
            <a:srgbClr val="0A4C7A"/>
          </a:solidFill>
          <a:ln/>
        </p:spPr>
      </p:sp>
      <p:sp>
        <p:nvSpPr>
          <p:cNvPr id="5" name="Text 3"/>
          <p:cNvSpPr/>
          <p:nvPr/>
        </p:nvSpPr>
        <p:spPr>
          <a:xfrm>
            <a:off x="548640" y="1764792"/>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1188720" y="1645920"/>
            <a:ext cx="3657600" cy="365760"/>
          </a:xfrm>
          <a:prstGeom prst="rect">
            <a:avLst/>
          </a:prstGeom>
          <a:noFill/>
          <a:ln/>
        </p:spPr>
        <p:txBody>
          <a:bodyPr wrap="square" lIns="0" tIns="0" rIns="0" bIns="0"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configs/experiment_A/</a:t>
            </a:r>
            <a:endParaRPr lang="en-US" sz="1400" dirty="0"/>
          </a:p>
        </p:txBody>
      </p:sp>
      <p:sp>
        <p:nvSpPr>
          <p:cNvPr id="7" name="Shape 5"/>
          <p:cNvSpPr/>
          <p:nvPr/>
        </p:nvSpPr>
        <p:spPr>
          <a:xfrm>
            <a:off x="1188720" y="2331720"/>
            <a:ext cx="10058400" cy="0"/>
          </a:xfrm>
          <a:prstGeom prst="line">
            <a:avLst/>
          </a:prstGeom>
          <a:noFill/>
          <a:ln w="12700">
            <a:solidFill>
              <a:srgbClr val="E3E9ED"/>
            </a:solidFill>
            <a:prstDash val="solid"/>
          </a:ln>
        </p:spPr>
      </p:sp>
      <p:sp>
        <p:nvSpPr>
          <p:cNvPr id="8" name="Text 6"/>
          <p:cNvSpPr/>
          <p:nvPr/>
        </p:nvSpPr>
        <p:spPr>
          <a:xfrm>
            <a:off x="4937760" y="1645920"/>
            <a:ext cx="6400800" cy="685800"/>
          </a:xfrm>
          <a:prstGeom prst="rect">
            <a:avLst/>
          </a:prstGeom>
          <a:noFill/>
          <a:ln/>
        </p:spPr>
        <p:txBody>
          <a:bodyPr wrap="square" lIns="0" tIns="0" rIns="0" bIns="0" rtlCol="0" anchor="ctr"/>
          <a:lstStyle/>
          <a:p>
            <a:pPr marL="0" indent="0">
              <a:buNone/>
            </a:pPr>
            <a:r>
              <a:rPr lang="en-US" sz="1150" dirty="0">
                <a:solidFill>
                  <a:srgbClr val="26333D"/>
                </a:solidFill>
                <a:latin typeface="Calibri" pitchFamily="34" charset="0"/>
                <a:ea typeface="Calibri" pitchFamily="34" charset="-122"/>
                <a:cs typeface="Calibri" pitchFamily="34" charset="-120"/>
              </a:rPr>
              <a:t>4 YAML configs — one per evaluation setting</a:t>
            </a:r>
            <a:endParaRPr lang="en-US" sz="1150" dirty="0"/>
          </a:p>
        </p:txBody>
      </p:sp>
      <p:sp>
        <p:nvSpPr>
          <p:cNvPr id="9" name="Shape 7"/>
          <p:cNvSpPr/>
          <p:nvPr/>
        </p:nvSpPr>
        <p:spPr>
          <a:xfrm>
            <a:off x="822960" y="2697480"/>
            <a:ext cx="457200" cy="457200"/>
          </a:xfrm>
          <a:prstGeom prst="ellipse">
            <a:avLst/>
          </a:prstGeom>
          <a:solidFill>
            <a:srgbClr val="1C7293"/>
          </a:solidFill>
          <a:ln/>
        </p:spPr>
      </p:sp>
      <p:sp>
        <p:nvSpPr>
          <p:cNvPr id="10" name="Text 8"/>
          <p:cNvSpPr/>
          <p:nvPr/>
        </p:nvSpPr>
        <p:spPr>
          <a:xfrm>
            <a:off x="822960" y="269748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463040" y="2578608"/>
            <a:ext cx="3657600" cy="365760"/>
          </a:xfrm>
          <a:prstGeom prst="rect">
            <a:avLst/>
          </a:prstGeom>
          <a:noFill/>
          <a:ln/>
        </p:spPr>
        <p:txBody>
          <a:bodyPr wrap="square" lIns="0" tIns="0" rIns="0" bIns="0"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cross_dataset/</a:t>
            </a:r>
            <a:endParaRPr lang="en-US" sz="1400" dirty="0"/>
          </a:p>
        </p:txBody>
      </p:sp>
      <p:sp>
        <p:nvSpPr>
          <p:cNvPr id="12" name="Shape 10"/>
          <p:cNvSpPr/>
          <p:nvPr/>
        </p:nvSpPr>
        <p:spPr>
          <a:xfrm>
            <a:off x="1463040" y="3264408"/>
            <a:ext cx="9784080" cy="0"/>
          </a:xfrm>
          <a:prstGeom prst="line">
            <a:avLst/>
          </a:prstGeom>
          <a:noFill/>
          <a:ln w="12700">
            <a:solidFill>
              <a:srgbClr val="E3E9ED"/>
            </a:solidFill>
            <a:prstDash val="solid"/>
          </a:ln>
        </p:spPr>
      </p:sp>
      <p:sp>
        <p:nvSpPr>
          <p:cNvPr id="13" name="Text 11"/>
          <p:cNvSpPr/>
          <p:nvPr/>
        </p:nvSpPr>
        <p:spPr>
          <a:xfrm>
            <a:off x="5212080" y="2578608"/>
            <a:ext cx="6126480" cy="685800"/>
          </a:xfrm>
          <a:prstGeom prst="rect">
            <a:avLst/>
          </a:prstGeom>
          <a:noFill/>
          <a:ln/>
        </p:spPr>
        <p:txBody>
          <a:bodyPr wrap="square" lIns="0" tIns="0" rIns="0" bIns="0" rtlCol="0" anchor="ctr"/>
          <a:lstStyle/>
          <a:p>
            <a:pPr marL="0" indent="0">
              <a:buNone/>
            </a:pPr>
            <a:r>
              <a:rPr lang="en-US" sz="1150" dirty="0">
                <a:solidFill>
                  <a:srgbClr val="26333D"/>
                </a:solidFill>
                <a:latin typeface="Calibri" pitchFamily="34" charset="0"/>
                <a:ea typeface="Calibri" pitchFamily="34" charset="-122"/>
                <a:cs typeface="Calibri" pitchFamily="34" charset="-120"/>
              </a:rPr>
              <a:t>Core package: preprocessing, extraction, representation, datasets, training, validation</a:t>
            </a:r>
            <a:endParaRPr lang="en-US" sz="1150" dirty="0"/>
          </a:p>
        </p:txBody>
      </p:sp>
      <p:sp>
        <p:nvSpPr>
          <p:cNvPr id="14" name="Shape 12"/>
          <p:cNvSpPr/>
          <p:nvPr/>
        </p:nvSpPr>
        <p:spPr>
          <a:xfrm>
            <a:off x="822960" y="3630168"/>
            <a:ext cx="457200" cy="457200"/>
          </a:xfrm>
          <a:prstGeom prst="ellipse">
            <a:avLst/>
          </a:prstGeom>
          <a:solidFill>
            <a:srgbClr val="E0A030"/>
          </a:solidFill>
          <a:ln/>
        </p:spPr>
      </p:sp>
      <p:sp>
        <p:nvSpPr>
          <p:cNvPr id="15" name="Text 13"/>
          <p:cNvSpPr/>
          <p:nvPr/>
        </p:nvSpPr>
        <p:spPr>
          <a:xfrm>
            <a:off x="822960" y="363016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1463040" y="3511296"/>
            <a:ext cx="3657600" cy="365760"/>
          </a:xfrm>
          <a:prstGeom prst="rect">
            <a:avLst/>
          </a:prstGeom>
          <a:noFill/>
          <a:ln/>
        </p:spPr>
        <p:txBody>
          <a:bodyPr wrap="square" lIns="0" tIns="0" rIns="0" bIns="0"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data/</a:t>
            </a:r>
            <a:endParaRPr lang="en-US" sz="1400" dirty="0"/>
          </a:p>
        </p:txBody>
      </p:sp>
      <p:sp>
        <p:nvSpPr>
          <p:cNvPr id="17" name="Shape 15"/>
          <p:cNvSpPr/>
          <p:nvPr/>
        </p:nvSpPr>
        <p:spPr>
          <a:xfrm>
            <a:off x="1463040" y="4197096"/>
            <a:ext cx="9784080" cy="0"/>
          </a:xfrm>
          <a:prstGeom prst="line">
            <a:avLst/>
          </a:prstGeom>
          <a:noFill/>
          <a:ln w="12700">
            <a:solidFill>
              <a:srgbClr val="E3E9ED"/>
            </a:solidFill>
            <a:prstDash val="solid"/>
          </a:ln>
        </p:spPr>
      </p:sp>
      <p:sp>
        <p:nvSpPr>
          <p:cNvPr id="18" name="Text 16"/>
          <p:cNvSpPr/>
          <p:nvPr/>
        </p:nvSpPr>
        <p:spPr>
          <a:xfrm>
            <a:off x="5212080" y="3511296"/>
            <a:ext cx="6126480" cy="685800"/>
          </a:xfrm>
          <a:prstGeom prst="rect">
            <a:avLst/>
          </a:prstGeom>
          <a:noFill/>
          <a:ln/>
        </p:spPr>
        <p:txBody>
          <a:bodyPr wrap="square" lIns="0" tIns="0" rIns="0" bIns="0" rtlCol="0" anchor="ctr"/>
          <a:lstStyle/>
          <a:p>
            <a:pPr marL="0" indent="0">
              <a:buNone/>
            </a:pPr>
            <a:r>
              <a:rPr lang="en-US" sz="1150" dirty="0">
                <a:solidFill>
                  <a:srgbClr val="26333D"/>
                </a:solidFill>
                <a:latin typeface="Calibri" pitchFamily="34" charset="0"/>
                <a:ea typeface="Calibri" pitchFamily="34" charset="-122"/>
                <a:cs typeface="Calibri" pitchFamily="34" charset="-120"/>
              </a:rPr>
              <a:t>manifests/, extracted_frames/, reports/ — all generated artifacts, zero raw-file edits</a:t>
            </a:r>
            <a:endParaRPr lang="en-US" sz="1150" dirty="0"/>
          </a:p>
        </p:txBody>
      </p:sp>
      <p:sp>
        <p:nvSpPr>
          <p:cNvPr id="19" name="Shape 17"/>
          <p:cNvSpPr/>
          <p:nvPr/>
        </p:nvSpPr>
        <p:spPr>
          <a:xfrm>
            <a:off x="822960" y="4562856"/>
            <a:ext cx="457200" cy="457200"/>
          </a:xfrm>
          <a:prstGeom prst="ellipse">
            <a:avLst/>
          </a:prstGeom>
          <a:solidFill>
            <a:srgbClr val="3E8E5B"/>
          </a:solidFill>
          <a:ln/>
        </p:spPr>
      </p:sp>
      <p:sp>
        <p:nvSpPr>
          <p:cNvPr id="20" name="Text 18"/>
          <p:cNvSpPr/>
          <p:nvPr/>
        </p:nvSpPr>
        <p:spPr>
          <a:xfrm>
            <a:off x="822960" y="4562856"/>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1463040" y="4443984"/>
            <a:ext cx="3657600" cy="365760"/>
          </a:xfrm>
          <a:prstGeom prst="rect">
            <a:avLst/>
          </a:prstGeom>
          <a:noFill/>
          <a:ln/>
        </p:spPr>
        <p:txBody>
          <a:bodyPr wrap="square" lIns="0" tIns="0" rIns="0" bIns="0"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outputs/</a:t>
            </a:r>
            <a:endParaRPr lang="en-US" sz="1400" dirty="0"/>
          </a:p>
        </p:txBody>
      </p:sp>
      <p:sp>
        <p:nvSpPr>
          <p:cNvPr id="22" name="Shape 20"/>
          <p:cNvSpPr/>
          <p:nvPr/>
        </p:nvSpPr>
        <p:spPr>
          <a:xfrm>
            <a:off x="1463040" y="5129784"/>
            <a:ext cx="9784080" cy="0"/>
          </a:xfrm>
          <a:prstGeom prst="line">
            <a:avLst/>
          </a:prstGeom>
          <a:noFill/>
          <a:ln w="12700">
            <a:solidFill>
              <a:srgbClr val="E3E9ED"/>
            </a:solidFill>
            <a:prstDash val="solid"/>
          </a:ln>
        </p:spPr>
      </p:sp>
      <p:sp>
        <p:nvSpPr>
          <p:cNvPr id="23" name="Text 21"/>
          <p:cNvSpPr/>
          <p:nvPr/>
        </p:nvSpPr>
        <p:spPr>
          <a:xfrm>
            <a:off x="5212080" y="4443984"/>
            <a:ext cx="6126480" cy="685800"/>
          </a:xfrm>
          <a:prstGeom prst="rect">
            <a:avLst/>
          </a:prstGeom>
          <a:noFill/>
          <a:ln/>
        </p:spPr>
        <p:txBody>
          <a:bodyPr wrap="square" lIns="0" tIns="0" rIns="0" bIns="0" rtlCol="0" anchor="ctr"/>
          <a:lstStyle/>
          <a:p>
            <a:pPr marL="0" indent="0">
              <a:buNone/>
            </a:pPr>
            <a:r>
              <a:rPr lang="en-US" sz="1150" dirty="0">
                <a:solidFill>
                  <a:srgbClr val="26333D"/>
                </a:solidFill>
                <a:latin typeface="Calibri" pitchFamily="34" charset="0"/>
                <a:ea typeface="Calibri" pitchFamily="34" charset="-122"/>
                <a:cs typeface="Calibri" pitchFamily="34" charset="-120"/>
              </a:rPr>
              <a:t>Per-setting run outputs: checkpoints, logs, plots, predictions</a:t>
            </a:r>
            <a:endParaRPr lang="en-US" sz="1150" dirty="0"/>
          </a:p>
        </p:txBody>
      </p:sp>
      <p:sp>
        <p:nvSpPr>
          <p:cNvPr id="24" name="Shape 22"/>
          <p:cNvSpPr/>
          <p:nvPr/>
        </p:nvSpPr>
        <p:spPr>
          <a:xfrm>
            <a:off x="548640" y="5495544"/>
            <a:ext cx="457200" cy="457200"/>
          </a:xfrm>
          <a:prstGeom prst="ellipse">
            <a:avLst/>
          </a:prstGeom>
          <a:solidFill>
            <a:srgbClr val="17233D"/>
          </a:solidFill>
          <a:ln/>
        </p:spPr>
      </p:sp>
      <p:sp>
        <p:nvSpPr>
          <p:cNvPr id="25" name="Text 23"/>
          <p:cNvSpPr/>
          <p:nvPr/>
        </p:nvSpPr>
        <p:spPr>
          <a:xfrm>
            <a:off x="548640" y="5495544"/>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188720" y="5376672"/>
            <a:ext cx="3657600" cy="365760"/>
          </a:xfrm>
          <a:prstGeom prst="rect">
            <a:avLst/>
          </a:prstGeom>
          <a:noFill/>
          <a:ln/>
        </p:spPr>
        <p:txBody>
          <a:bodyPr wrap="square" lIns="0" tIns="0" rIns="0" bIns="0"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train.py / evaluate.py</a:t>
            </a:r>
            <a:endParaRPr lang="en-US" sz="1400" dirty="0"/>
          </a:p>
        </p:txBody>
      </p:sp>
      <p:sp>
        <p:nvSpPr>
          <p:cNvPr id="27" name="Shape 25"/>
          <p:cNvSpPr/>
          <p:nvPr/>
        </p:nvSpPr>
        <p:spPr>
          <a:xfrm>
            <a:off x="1188720" y="6062472"/>
            <a:ext cx="10058400" cy="0"/>
          </a:xfrm>
          <a:prstGeom prst="line">
            <a:avLst/>
          </a:prstGeom>
          <a:noFill/>
          <a:ln w="12700">
            <a:solidFill>
              <a:srgbClr val="E3E9ED"/>
            </a:solidFill>
            <a:prstDash val="solid"/>
          </a:ln>
        </p:spPr>
      </p:sp>
      <p:sp>
        <p:nvSpPr>
          <p:cNvPr id="28" name="Text 26"/>
          <p:cNvSpPr/>
          <p:nvPr/>
        </p:nvSpPr>
        <p:spPr>
          <a:xfrm>
            <a:off x="4937760" y="5376672"/>
            <a:ext cx="6400800" cy="685800"/>
          </a:xfrm>
          <a:prstGeom prst="rect">
            <a:avLst/>
          </a:prstGeom>
          <a:noFill/>
          <a:ln/>
        </p:spPr>
        <p:txBody>
          <a:bodyPr wrap="square" lIns="0" tIns="0" rIns="0" bIns="0" rtlCol="0" anchor="ctr"/>
          <a:lstStyle/>
          <a:p>
            <a:pPr marL="0" indent="0">
              <a:buNone/>
            </a:pPr>
            <a:r>
              <a:rPr lang="en-US" sz="1150" dirty="0">
                <a:solidFill>
                  <a:srgbClr val="26333D"/>
                </a:solidFill>
                <a:latin typeface="Calibri" pitchFamily="34" charset="0"/>
                <a:ea typeface="Calibri" pitchFamily="34" charset="-122"/>
                <a:cs typeface="Calibri" pitchFamily="34" charset="-120"/>
              </a:rPr>
              <a:t>CLI entry points — fully config-driven, no hardcoded paths</a:t>
            </a:r>
            <a:endParaRPr lang="en-US" sz="1150" dirty="0"/>
          </a:p>
        </p:txBody>
      </p:sp>
      <p:sp>
        <p:nvSpPr>
          <p:cNvPr id="29" name="Text 27"/>
          <p:cNvSpPr/>
          <p:nvPr/>
        </p:nvSpPr>
        <p:spPr>
          <a:xfrm>
            <a:off x="548640" y="6400800"/>
            <a:ext cx="11064240" cy="365760"/>
          </a:xfrm>
          <a:prstGeom prst="rect">
            <a:avLst/>
          </a:prstGeom>
          <a:noFill/>
          <a:ln/>
        </p:spPr>
        <p:txBody>
          <a:bodyPr wrap="square" lIns="0" tIns="0" rIns="0" bIns="0" rtlCol="0" anchor="ctr"/>
          <a:lstStyle/>
          <a:p>
            <a:pPr marL="0" indent="0">
              <a:buNone/>
            </a:pPr>
            <a:r>
              <a:rPr lang="en-US" sz="1150" i="1" dirty="0">
                <a:solidFill>
                  <a:srgbClr val="5D6C77"/>
                </a:solidFill>
                <a:latin typeface="Calibri" pitchFamily="34" charset="0"/>
                <a:ea typeface="Calibri" pitchFamily="34" charset="-122"/>
                <a:cs typeface="Calibri" pitchFamily="34" charset="-120"/>
              </a:rPr>
              <a:t>Full module inventory: 20+ Python files across 6 sub-packages, each independently unit-testable.</a:t>
            </a:r>
            <a:endParaRPr lang="en-US" sz="1150" dirty="0"/>
          </a:p>
        </p:txBody>
      </p:sp>
      <p:sp>
        <p:nvSpPr>
          <p:cNvPr id="30" name="Text 28"/>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RESEARCH CONTRIBUTIONS</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What's Novel Here</a:t>
            </a:r>
            <a:endParaRPr lang="en-US" sz="2800" dirty="0"/>
          </a:p>
        </p:txBody>
      </p:sp>
      <p:sp>
        <p:nvSpPr>
          <p:cNvPr id="4" name="Shape 2"/>
          <p:cNvSpPr/>
          <p:nvPr/>
        </p:nvSpPr>
        <p:spPr>
          <a:xfrm>
            <a:off x="548640" y="1600200"/>
            <a:ext cx="5349240" cy="1828800"/>
          </a:xfrm>
          <a:prstGeom prst="roundRect">
            <a:avLst>
              <a:gd name="adj" fmla="val 5000"/>
            </a:avLst>
          </a:prstGeom>
          <a:solidFill>
            <a:srgbClr val="F5F7F9"/>
          </a:solidFill>
          <a:ln/>
        </p:spPr>
      </p:sp>
      <p:sp>
        <p:nvSpPr>
          <p:cNvPr id="5" name="Shape 3"/>
          <p:cNvSpPr/>
          <p:nvPr/>
        </p:nvSpPr>
        <p:spPr>
          <a:xfrm>
            <a:off x="777240" y="1801368"/>
            <a:ext cx="1371600" cy="320040"/>
          </a:xfrm>
          <a:prstGeom prst="roundRect">
            <a:avLst>
              <a:gd name="adj" fmla="val 71429"/>
            </a:avLst>
          </a:prstGeom>
          <a:solidFill>
            <a:srgbClr val="0A4C7A"/>
          </a:solidFill>
          <a:ln/>
        </p:spPr>
      </p:sp>
      <p:sp>
        <p:nvSpPr>
          <p:cNvPr id="6" name="Text 4"/>
          <p:cNvSpPr/>
          <p:nvPr/>
        </p:nvSpPr>
        <p:spPr>
          <a:xfrm>
            <a:off x="777240" y="1801368"/>
            <a:ext cx="1371600" cy="3200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RESEARCH</a:t>
            </a:r>
            <a:endParaRPr lang="en-US" sz="950" dirty="0"/>
          </a:p>
        </p:txBody>
      </p:sp>
      <p:sp>
        <p:nvSpPr>
          <p:cNvPr id="7" name="Text 5"/>
          <p:cNvSpPr/>
          <p:nvPr/>
        </p:nvSpPr>
        <p:spPr>
          <a:xfrm>
            <a:off x="777240" y="2221992"/>
            <a:ext cx="4892040" cy="457200"/>
          </a:xfrm>
          <a:prstGeom prst="rect">
            <a:avLst/>
          </a:prstGeom>
          <a:noFill/>
          <a:ln/>
        </p:spPr>
        <p:txBody>
          <a:bodyPr wrap="square" lIns="0" tIns="0" rIns="0" bIns="0" rtlCol="0" anchor="ctr"/>
          <a:lstStyle/>
          <a:p>
            <a:pPr marL="0" indent="0">
              <a:lnSpc>
                <a:spcPts val="1700"/>
              </a:lnSpc>
              <a:buNone/>
            </a:pPr>
            <a:r>
              <a:rPr lang="en-US" sz="1450" b="1" dirty="0">
                <a:solidFill>
                  <a:srgbClr val="17233D"/>
                </a:solidFill>
                <a:latin typeface="Cambria" pitchFamily="34" charset="0"/>
                <a:ea typeface="Cambria" pitchFamily="34" charset="-122"/>
                <a:cs typeface="Cambria" pitchFamily="34" charset="-120"/>
              </a:rPr>
              <a:t>First OUC-CGE ↔ COLER cross-dataset study</a:t>
            </a:r>
            <a:endParaRPr lang="en-US" sz="1450" dirty="0"/>
          </a:p>
        </p:txBody>
      </p:sp>
      <p:sp>
        <p:nvSpPr>
          <p:cNvPr id="8" name="Text 6"/>
          <p:cNvSpPr/>
          <p:nvPr/>
        </p:nvSpPr>
        <p:spPr>
          <a:xfrm>
            <a:off x="777240" y="2715768"/>
            <a:ext cx="4892040" cy="64008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No prior work has harmonized these two benchmarks or tested transfer between them</a:t>
            </a:r>
            <a:endParaRPr lang="en-US" sz="1100" dirty="0"/>
          </a:p>
        </p:txBody>
      </p:sp>
      <p:sp>
        <p:nvSpPr>
          <p:cNvPr id="9" name="Shape 7"/>
          <p:cNvSpPr/>
          <p:nvPr/>
        </p:nvSpPr>
        <p:spPr>
          <a:xfrm>
            <a:off x="6217920" y="1600200"/>
            <a:ext cx="5349240" cy="1828800"/>
          </a:xfrm>
          <a:prstGeom prst="roundRect">
            <a:avLst>
              <a:gd name="adj" fmla="val 5000"/>
            </a:avLst>
          </a:prstGeom>
          <a:solidFill>
            <a:srgbClr val="F5F7F9"/>
          </a:solidFill>
          <a:ln/>
        </p:spPr>
      </p:sp>
      <p:sp>
        <p:nvSpPr>
          <p:cNvPr id="10" name="Shape 8"/>
          <p:cNvSpPr/>
          <p:nvPr/>
        </p:nvSpPr>
        <p:spPr>
          <a:xfrm>
            <a:off x="6446520" y="1801368"/>
            <a:ext cx="1371600" cy="320040"/>
          </a:xfrm>
          <a:prstGeom prst="roundRect">
            <a:avLst>
              <a:gd name="adj" fmla="val 71429"/>
            </a:avLst>
          </a:prstGeom>
          <a:solidFill>
            <a:srgbClr val="1C7293"/>
          </a:solidFill>
          <a:ln/>
        </p:spPr>
      </p:sp>
      <p:sp>
        <p:nvSpPr>
          <p:cNvPr id="11" name="Text 9"/>
          <p:cNvSpPr/>
          <p:nvPr/>
        </p:nvSpPr>
        <p:spPr>
          <a:xfrm>
            <a:off x="6446520" y="1801368"/>
            <a:ext cx="1371600" cy="3200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ENGINEERING</a:t>
            </a:r>
            <a:endParaRPr lang="en-US" sz="950" dirty="0"/>
          </a:p>
        </p:txBody>
      </p:sp>
      <p:sp>
        <p:nvSpPr>
          <p:cNvPr id="12" name="Text 10"/>
          <p:cNvSpPr/>
          <p:nvPr/>
        </p:nvSpPr>
        <p:spPr>
          <a:xfrm>
            <a:off x="6446520" y="2221992"/>
            <a:ext cx="4892040" cy="457200"/>
          </a:xfrm>
          <a:prstGeom prst="rect">
            <a:avLst/>
          </a:prstGeom>
          <a:noFill/>
          <a:ln/>
        </p:spPr>
        <p:txBody>
          <a:bodyPr wrap="square" lIns="0" tIns="0" rIns="0" bIns="0" rtlCol="0" anchor="ctr"/>
          <a:lstStyle/>
          <a:p>
            <a:pPr marL="0" indent="0">
              <a:lnSpc>
                <a:spcPts val="1700"/>
              </a:lnSpc>
              <a:buNone/>
            </a:pPr>
            <a:r>
              <a:rPr lang="en-US" sz="1450" b="1" dirty="0">
                <a:solidFill>
                  <a:srgbClr val="17233D"/>
                </a:solidFill>
                <a:latin typeface="Cambria" pitchFamily="34" charset="0"/>
                <a:ea typeface="Cambria" pitchFamily="34" charset="-122"/>
                <a:cs typeface="Cambria" pitchFamily="34" charset="-120"/>
              </a:rPr>
              <a:t>Zero-mutation, fully auditable pipeline</a:t>
            </a:r>
            <a:endParaRPr lang="en-US" sz="1450" dirty="0"/>
          </a:p>
        </p:txBody>
      </p:sp>
      <p:sp>
        <p:nvSpPr>
          <p:cNvPr id="13" name="Text 11"/>
          <p:cNvSpPr/>
          <p:nvPr/>
        </p:nvSpPr>
        <p:spPr>
          <a:xfrm>
            <a:off x="6446520" y="2715768"/>
            <a:ext cx="4892040" cy="64008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Every transformation is logged and reversible — raw datasets are never modified on disk</a:t>
            </a:r>
            <a:endParaRPr lang="en-US" sz="1100" dirty="0"/>
          </a:p>
        </p:txBody>
      </p:sp>
      <p:sp>
        <p:nvSpPr>
          <p:cNvPr id="14" name="Shape 12"/>
          <p:cNvSpPr/>
          <p:nvPr/>
        </p:nvSpPr>
        <p:spPr>
          <a:xfrm>
            <a:off x="548640" y="3749040"/>
            <a:ext cx="5349240" cy="1828800"/>
          </a:xfrm>
          <a:prstGeom prst="roundRect">
            <a:avLst>
              <a:gd name="adj" fmla="val 5000"/>
            </a:avLst>
          </a:prstGeom>
          <a:solidFill>
            <a:srgbClr val="F5F7F9"/>
          </a:solidFill>
          <a:ln/>
        </p:spPr>
      </p:sp>
      <p:sp>
        <p:nvSpPr>
          <p:cNvPr id="15" name="Shape 13"/>
          <p:cNvSpPr/>
          <p:nvPr/>
        </p:nvSpPr>
        <p:spPr>
          <a:xfrm>
            <a:off x="777240" y="3950208"/>
            <a:ext cx="1371600" cy="320040"/>
          </a:xfrm>
          <a:prstGeom prst="roundRect">
            <a:avLst>
              <a:gd name="adj" fmla="val 71429"/>
            </a:avLst>
          </a:prstGeom>
          <a:solidFill>
            <a:srgbClr val="E0A030"/>
          </a:solidFill>
          <a:ln/>
        </p:spPr>
      </p:sp>
      <p:sp>
        <p:nvSpPr>
          <p:cNvPr id="16" name="Text 14"/>
          <p:cNvSpPr/>
          <p:nvPr/>
        </p:nvSpPr>
        <p:spPr>
          <a:xfrm>
            <a:off x="777240" y="3950208"/>
            <a:ext cx="1371600" cy="3200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FRAMEWORK</a:t>
            </a:r>
            <a:endParaRPr lang="en-US" sz="950" dirty="0"/>
          </a:p>
        </p:txBody>
      </p:sp>
      <p:sp>
        <p:nvSpPr>
          <p:cNvPr id="17" name="Text 15"/>
          <p:cNvSpPr/>
          <p:nvPr/>
        </p:nvSpPr>
        <p:spPr>
          <a:xfrm>
            <a:off x="777240" y="4370832"/>
            <a:ext cx="4892040" cy="457200"/>
          </a:xfrm>
          <a:prstGeom prst="rect">
            <a:avLst/>
          </a:prstGeom>
          <a:noFill/>
          <a:ln/>
        </p:spPr>
        <p:txBody>
          <a:bodyPr wrap="square" lIns="0" tIns="0" rIns="0" bIns="0" rtlCol="0" anchor="ctr"/>
          <a:lstStyle/>
          <a:p>
            <a:pPr marL="0" indent="0">
              <a:lnSpc>
                <a:spcPts val="1700"/>
              </a:lnSpc>
              <a:buNone/>
            </a:pPr>
            <a:r>
              <a:rPr lang="en-US" sz="1450" b="1" dirty="0">
                <a:solidFill>
                  <a:srgbClr val="17233D"/>
                </a:solidFill>
                <a:latin typeface="Cambria" pitchFamily="34" charset="0"/>
                <a:ea typeface="Cambria" pitchFamily="34" charset="-122"/>
                <a:cs typeface="Cambria" pitchFamily="34" charset="-120"/>
              </a:rPr>
              <a:t>Configurable, dataset-agnostic architecture</a:t>
            </a:r>
            <a:endParaRPr lang="en-US" sz="1450" dirty="0"/>
          </a:p>
        </p:txBody>
      </p:sp>
      <p:sp>
        <p:nvSpPr>
          <p:cNvPr id="18" name="Text 16"/>
          <p:cNvSpPr/>
          <p:nvPr/>
        </p:nvSpPr>
        <p:spPr>
          <a:xfrm>
            <a:off x="777240" y="4864608"/>
            <a:ext cx="4892040" cy="64008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New datasets can be added via JSON label config — no code changes to the training loop</a:t>
            </a:r>
            <a:endParaRPr lang="en-US" sz="1100" dirty="0"/>
          </a:p>
        </p:txBody>
      </p:sp>
      <p:sp>
        <p:nvSpPr>
          <p:cNvPr id="19" name="Shape 17"/>
          <p:cNvSpPr/>
          <p:nvPr/>
        </p:nvSpPr>
        <p:spPr>
          <a:xfrm>
            <a:off x="6217920" y="3749040"/>
            <a:ext cx="5349240" cy="1828800"/>
          </a:xfrm>
          <a:prstGeom prst="roundRect">
            <a:avLst>
              <a:gd name="adj" fmla="val 5000"/>
            </a:avLst>
          </a:prstGeom>
          <a:solidFill>
            <a:srgbClr val="F5F7F9"/>
          </a:solidFill>
          <a:ln/>
        </p:spPr>
      </p:sp>
      <p:sp>
        <p:nvSpPr>
          <p:cNvPr id="20" name="Shape 18"/>
          <p:cNvSpPr/>
          <p:nvPr/>
        </p:nvSpPr>
        <p:spPr>
          <a:xfrm>
            <a:off x="6446520" y="3950208"/>
            <a:ext cx="1371600" cy="320040"/>
          </a:xfrm>
          <a:prstGeom prst="roundRect">
            <a:avLst>
              <a:gd name="adj" fmla="val 71429"/>
            </a:avLst>
          </a:prstGeom>
          <a:solidFill>
            <a:srgbClr val="3E8E5B"/>
          </a:solidFill>
          <a:ln/>
        </p:spPr>
      </p:sp>
      <p:sp>
        <p:nvSpPr>
          <p:cNvPr id="21" name="Text 19"/>
          <p:cNvSpPr/>
          <p:nvPr/>
        </p:nvSpPr>
        <p:spPr>
          <a:xfrm>
            <a:off x="6446520" y="3950208"/>
            <a:ext cx="1371600" cy="3200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REUSABILITY</a:t>
            </a:r>
            <a:endParaRPr lang="en-US" sz="950" dirty="0"/>
          </a:p>
        </p:txBody>
      </p:sp>
      <p:sp>
        <p:nvSpPr>
          <p:cNvPr id="22" name="Text 20"/>
          <p:cNvSpPr/>
          <p:nvPr/>
        </p:nvSpPr>
        <p:spPr>
          <a:xfrm>
            <a:off x="6446520" y="4370832"/>
            <a:ext cx="4892040" cy="457200"/>
          </a:xfrm>
          <a:prstGeom prst="rect">
            <a:avLst/>
          </a:prstGeom>
          <a:noFill/>
          <a:ln/>
        </p:spPr>
        <p:txBody>
          <a:bodyPr wrap="square" lIns="0" tIns="0" rIns="0" bIns="0" rtlCol="0" anchor="ctr"/>
          <a:lstStyle/>
          <a:p>
            <a:pPr marL="0" indent="0">
              <a:lnSpc>
                <a:spcPts val="1700"/>
              </a:lnSpc>
              <a:buNone/>
            </a:pPr>
            <a:r>
              <a:rPr lang="en-US" sz="1450" b="1" dirty="0">
                <a:solidFill>
                  <a:srgbClr val="17233D"/>
                </a:solidFill>
                <a:latin typeface="Cambria" pitchFamily="34" charset="0"/>
                <a:ea typeface="Cambria" pitchFamily="34" charset="-122"/>
                <a:cs typeface="Cambria" pitchFamily="34" charset="-120"/>
              </a:rPr>
              <a:t>6 independently testable sub-packages</a:t>
            </a:r>
            <a:endParaRPr lang="en-US" sz="1450" dirty="0"/>
          </a:p>
        </p:txBody>
      </p:sp>
      <p:sp>
        <p:nvSpPr>
          <p:cNvPr id="23" name="Text 21"/>
          <p:cNvSpPr/>
          <p:nvPr/>
        </p:nvSpPr>
        <p:spPr>
          <a:xfrm>
            <a:off x="6446520" y="4864608"/>
            <a:ext cx="4892040" cy="640080"/>
          </a:xfrm>
          <a:prstGeom prst="rect">
            <a:avLst/>
          </a:prstGeom>
          <a:noFill/>
          <a:ln/>
        </p:spPr>
        <p:txBody>
          <a:bodyPr wrap="square" lIns="0" tIns="0" rIns="0" bIns="0" rtlCol="0" anchor="ctr"/>
          <a:lstStyle/>
          <a:p>
            <a:pPr marL="0" indent="0">
              <a:lnSpc>
                <a:spcPts val="1450"/>
              </a:lnSpc>
              <a:buNone/>
            </a:pPr>
            <a:r>
              <a:rPr lang="en-US" sz="1100" dirty="0">
                <a:solidFill>
                  <a:srgbClr val="26333D"/>
                </a:solidFill>
                <a:latin typeface="Calibri" pitchFamily="34" charset="0"/>
                <a:ea typeface="Calibri" pitchFamily="34" charset="-122"/>
                <a:cs typeface="Calibri" pitchFamily="34" charset="-120"/>
              </a:rPr>
              <a:t>preprocessing, extraction, representation, datasets, training, and validation modules are reusable beyond this project</a:t>
            </a:r>
            <a:endParaRPr lang="en-US" sz="1100" dirty="0"/>
          </a:p>
        </p:txBody>
      </p:sp>
      <p:sp>
        <p:nvSpPr>
          <p:cNvPr id="24" name="Text 22"/>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548640" y="365760"/>
            <a:ext cx="11094415" cy="777240"/>
          </a:xfrm>
          <a:prstGeom prst="rect">
            <a:avLst/>
          </a:prstGeom>
          <a:noFill/>
          <a:ln/>
        </p:spPr>
        <p:txBody>
          <a:bodyPr wrap="square" lIns="0" tIns="0" rIns="0" bIns="0" rtlCol="0" anchor="ctr"/>
          <a:lstStyle/>
          <a:p>
            <a:pPr marL="0" indent="0">
              <a:buNone/>
            </a:pPr>
            <a:r>
              <a:rPr lang="en-US" sz="2800" b="1" dirty="0">
                <a:solidFill>
                  <a:srgbClr val="17233D"/>
                </a:solidFill>
                <a:latin typeface="Cambria" pitchFamily="34" charset="0"/>
                <a:ea typeface="Cambria" pitchFamily="34" charset="-122"/>
                <a:cs typeface="Cambria" pitchFamily="34" charset="-120"/>
              </a:rPr>
              <a:t>What Comes Next</a:t>
            </a:r>
            <a:endParaRPr lang="en-US" sz="2800" dirty="0"/>
          </a:p>
        </p:txBody>
      </p:sp>
      <p:sp>
        <p:nvSpPr>
          <p:cNvPr id="4" name="Shape 2"/>
          <p:cNvSpPr/>
          <p:nvPr/>
        </p:nvSpPr>
        <p:spPr>
          <a:xfrm>
            <a:off x="548640" y="1600200"/>
            <a:ext cx="1188720" cy="1051560"/>
          </a:xfrm>
          <a:prstGeom prst="roundRect">
            <a:avLst>
              <a:gd name="adj" fmla="val 6957"/>
            </a:avLst>
          </a:prstGeom>
          <a:solidFill>
            <a:srgbClr val="0A4C7A"/>
          </a:solidFill>
          <a:ln/>
        </p:spPr>
      </p:sp>
      <p:sp>
        <p:nvSpPr>
          <p:cNvPr id="5" name="Text 3"/>
          <p:cNvSpPr/>
          <p:nvPr/>
        </p:nvSpPr>
        <p:spPr>
          <a:xfrm>
            <a:off x="548640" y="1600200"/>
            <a:ext cx="118872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Now</a:t>
            </a:r>
            <a:endParaRPr lang="en-US" sz="1200" dirty="0"/>
          </a:p>
        </p:txBody>
      </p:sp>
      <p:sp>
        <p:nvSpPr>
          <p:cNvPr id="6" name="Shape 4"/>
          <p:cNvSpPr/>
          <p:nvPr/>
        </p:nvSpPr>
        <p:spPr>
          <a:xfrm>
            <a:off x="1874520" y="1600200"/>
            <a:ext cx="9738360" cy="1051560"/>
          </a:xfrm>
          <a:prstGeom prst="roundRect">
            <a:avLst>
              <a:gd name="adj" fmla="val 6957"/>
            </a:avLst>
          </a:prstGeom>
          <a:solidFill>
            <a:srgbClr val="F5F7F9"/>
          </a:solidFill>
          <a:ln/>
        </p:spPr>
      </p:sp>
      <p:sp>
        <p:nvSpPr>
          <p:cNvPr id="7" name="Text 5"/>
          <p:cNvSpPr/>
          <p:nvPr/>
        </p:nvSpPr>
        <p:spPr>
          <a:xfrm>
            <a:off x="2103120" y="1691640"/>
            <a:ext cx="9326880" cy="365760"/>
          </a:xfrm>
          <a:prstGeom prst="rect">
            <a:avLst/>
          </a:prstGeom>
          <a:noFill/>
          <a:ln/>
        </p:spPr>
        <p:txBody>
          <a:bodyPr wrap="square" lIns="0" tIns="0" rIns="0" bIns="0" rtlCol="0" anchor="ctr"/>
          <a:lstStyle/>
          <a:p>
            <a:pPr marL="0" indent="0">
              <a:buNone/>
            </a:pPr>
            <a:r>
              <a:rPr lang="en-US" sz="1450" b="1" dirty="0">
                <a:solidFill>
                  <a:srgbClr val="17233D"/>
                </a:solidFill>
                <a:latin typeface="Cambria" pitchFamily="34" charset="0"/>
                <a:ea typeface="Cambria" pitchFamily="34" charset="-122"/>
                <a:cs typeface="Cambria" pitchFamily="34" charset="-120"/>
              </a:rPr>
              <a:t>Complete Experiment A</a:t>
            </a:r>
            <a:endParaRPr lang="en-US" sz="1450" dirty="0"/>
          </a:p>
        </p:txBody>
      </p:sp>
      <p:sp>
        <p:nvSpPr>
          <p:cNvPr id="8" name="Text 6"/>
          <p:cNvSpPr/>
          <p:nvPr/>
        </p:nvSpPr>
        <p:spPr>
          <a:xfrm>
            <a:off x="2103120" y="2057400"/>
            <a:ext cx="9326880" cy="502920"/>
          </a:xfrm>
          <a:prstGeom prst="rect">
            <a:avLst/>
          </a:prstGeom>
          <a:noFill/>
          <a:ln/>
        </p:spPr>
        <p:txBody>
          <a:bodyPr wrap="square" lIns="0" tIns="0" rIns="0" bIns="0" rtlCol="0" anchor="ctr"/>
          <a:lstStyle/>
          <a:p>
            <a:pPr marL="0" indent="0">
              <a:lnSpc>
                <a:spcPts val="1450"/>
              </a:lnSpc>
              <a:buNone/>
            </a:pPr>
            <a:r>
              <a:rPr lang="en-US" sz="1150" dirty="0">
                <a:solidFill>
                  <a:srgbClr val="26333D"/>
                </a:solidFill>
                <a:latin typeface="Calibri" pitchFamily="34" charset="0"/>
                <a:ea typeface="Calibri" pitchFamily="34" charset="-122"/>
                <a:cs typeface="Calibri" pitchFamily="34" charset="-120"/>
              </a:rPr>
              <a:t>Run full 35–50 epoch training for Settings 1–4; quantify the domain-shift accuracy gap</a:t>
            </a:r>
            <a:endParaRPr lang="en-US" sz="1150" dirty="0"/>
          </a:p>
        </p:txBody>
      </p:sp>
      <p:sp>
        <p:nvSpPr>
          <p:cNvPr id="9" name="Shape 7"/>
          <p:cNvSpPr/>
          <p:nvPr/>
        </p:nvSpPr>
        <p:spPr>
          <a:xfrm>
            <a:off x="1051560" y="2660904"/>
            <a:ext cx="182880" cy="91440"/>
          </a:xfrm>
          <a:prstGeom prst="downArrow">
            <a:avLst/>
          </a:prstGeom>
          <a:solidFill>
            <a:srgbClr val="8593A0"/>
          </a:solidFill>
          <a:ln/>
        </p:spPr>
      </p:sp>
      <p:sp>
        <p:nvSpPr>
          <p:cNvPr id="10" name="Shape 8"/>
          <p:cNvSpPr/>
          <p:nvPr/>
        </p:nvSpPr>
        <p:spPr>
          <a:xfrm>
            <a:off x="548640" y="2761488"/>
            <a:ext cx="1188720" cy="1051560"/>
          </a:xfrm>
          <a:prstGeom prst="roundRect">
            <a:avLst>
              <a:gd name="adj" fmla="val 6957"/>
            </a:avLst>
          </a:prstGeom>
          <a:solidFill>
            <a:srgbClr val="1C7293"/>
          </a:solidFill>
          <a:ln/>
        </p:spPr>
      </p:sp>
      <p:sp>
        <p:nvSpPr>
          <p:cNvPr id="11" name="Text 9"/>
          <p:cNvSpPr/>
          <p:nvPr/>
        </p:nvSpPr>
        <p:spPr>
          <a:xfrm>
            <a:off x="548640" y="2761488"/>
            <a:ext cx="118872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3</a:t>
            </a:r>
            <a:endParaRPr lang="en-US" sz="1200" dirty="0"/>
          </a:p>
        </p:txBody>
      </p:sp>
      <p:sp>
        <p:nvSpPr>
          <p:cNvPr id="12" name="Shape 10"/>
          <p:cNvSpPr/>
          <p:nvPr/>
        </p:nvSpPr>
        <p:spPr>
          <a:xfrm>
            <a:off x="1874520" y="2761488"/>
            <a:ext cx="9738360" cy="1051560"/>
          </a:xfrm>
          <a:prstGeom prst="roundRect">
            <a:avLst>
              <a:gd name="adj" fmla="val 6957"/>
            </a:avLst>
          </a:prstGeom>
          <a:solidFill>
            <a:srgbClr val="F5F7F9"/>
          </a:solidFill>
          <a:ln/>
        </p:spPr>
      </p:sp>
      <p:sp>
        <p:nvSpPr>
          <p:cNvPr id="13" name="Text 11"/>
          <p:cNvSpPr/>
          <p:nvPr/>
        </p:nvSpPr>
        <p:spPr>
          <a:xfrm>
            <a:off x="2103120" y="2852928"/>
            <a:ext cx="9326880" cy="365760"/>
          </a:xfrm>
          <a:prstGeom prst="rect">
            <a:avLst/>
          </a:prstGeom>
          <a:noFill/>
          <a:ln/>
        </p:spPr>
        <p:txBody>
          <a:bodyPr wrap="square" lIns="0" tIns="0" rIns="0" bIns="0" rtlCol="0" anchor="ctr"/>
          <a:lstStyle/>
          <a:p>
            <a:pPr marL="0" indent="0">
              <a:buNone/>
            </a:pPr>
            <a:r>
              <a:rPr lang="en-US" sz="1450" b="1" dirty="0">
                <a:solidFill>
                  <a:srgbClr val="17233D"/>
                </a:solidFill>
                <a:latin typeface="Cambria" pitchFamily="34" charset="0"/>
                <a:ea typeface="Cambria" pitchFamily="34" charset="-122"/>
                <a:cs typeface="Cambria" pitchFamily="34" charset="-120"/>
              </a:rPr>
              <a:t>Experiment B — Video-Level Transfer</a:t>
            </a:r>
            <a:endParaRPr lang="en-US" sz="1450" dirty="0"/>
          </a:p>
        </p:txBody>
      </p:sp>
      <p:sp>
        <p:nvSpPr>
          <p:cNvPr id="14" name="Text 12"/>
          <p:cNvSpPr/>
          <p:nvPr/>
        </p:nvSpPr>
        <p:spPr>
          <a:xfrm>
            <a:off x="2103120" y="3218688"/>
            <a:ext cx="9326880" cy="502920"/>
          </a:xfrm>
          <a:prstGeom prst="rect">
            <a:avLst/>
          </a:prstGeom>
          <a:noFill/>
          <a:ln/>
        </p:spPr>
        <p:txBody>
          <a:bodyPr wrap="square" lIns="0" tIns="0" rIns="0" bIns="0" rtlCol="0" anchor="ctr"/>
          <a:lstStyle/>
          <a:p>
            <a:pPr marL="0" indent="0">
              <a:lnSpc>
                <a:spcPts val="1450"/>
              </a:lnSpc>
              <a:buNone/>
            </a:pPr>
            <a:r>
              <a:rPr lang="en-US" sz="1150" dirty="0">
                <a:solidFill>
                  <a:srgbClr val="26333D"/>
                </a:solidFill>
                <a:latin typeface="Calibri" pitchFamily="34" charset="0"/>
                <a:ea typeface="Calibri" pitchFamily="34" charset="-122"/>
                <a:cs typeface="Calibri" pitchFamily="34" charset="-120"/>
              </a:rPr>
              <a:t>3D CNNs (SlowFast, X3D) operating on [C,T,H,W] temporal sequences instead of single frames</a:t>
            </a:r>
            <a:endParaRPr lang="en-US" sz="1150" dirty="0"/>
          </a:p>
        </p:txBody>
      </p:sp>
      <p:sp>
        <p:nvSpPr>
          <p:cNvPr id="15" name="Shape 13"/>
          <p:cNvSpPr/>
          <p:nvPr/>
        </p:nvSpPr>
        <p:spPr>
          <a:xfrm>
            <a:off x="1051560" y="3822192"/>
            <a:ext cx="182880" cy="91440"/>
          </a:xfrm>
          <a:prstGeom prst="downArrow">
            <a:avLst/>
          </a:prstGeom>
          <a:solidFill>
            <a:srgbClr val="8593A0"/>
          </a:solidFill>
          <a:ln/>
        </p:spPr>
      </p:sp>
      <p:sp>
        <p:nvSpPr>
          <p:cNvPr id="16" name="Shape 14"/>
          <p:cNvSpPr/>
          <p:nvPr/>
        </p:nvSpPr>
        <p:spPr>
          <a:xfrm>
            <a:off x="548640" y="3922776"/>
            <a:ext cx="1188720" cy="1051560"/>
          </a:xfrm>
          <a:prstGeom prst="roundRect">
            <a:avLst>
              <a:gd name="adj" fmla="val 6957"/>
            </a:avLst>
          </a:prstGeom>
          <a:solidFill>
            <a:srgbClr val="E0A030"/>
          </a:solidFill>
          <a:ln/>
        </p:spPr>
      </p:sp>
      <p:sp>
        <p:nvSpPr>
          <p:cNvPr id="17" name="Text 15"/>
          <p:cNvSpPr/>
          <p:nvPr/>
        </p:nvSpPr>
        <p:spPr>
          <a:xfrm>
            <a:off x="548640" y="3922776"/>
            <a:ext cx="118872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4</a:t>
            </a:r>
            <a:endParaRPr lang="en-US" sz="1200" dirty="0"/>
          </a:p>
        </p:txBody>
      </p:sp>
      <p:sp>
        <p:nvSpPr>
          <p:cNvPr id="18" name="Shape 16"/>
          <p:cNvSpPr/>
          <p:nvPr/>
        </p:nvSpPr>
        <p:spPr>
          <a:xfrm>
            <a:off x="1874520" y="3922776"/>
            <a:ext cx="9738360" cy="1051560"/>
          </a:xfrm>
          <a:prstGeom prst="roundRect">
            <a:avLst>
              <a:gd name="adj" fmla="val 6957"/>
            </a:avLst>
          </a:prstGeom>
          <a:solidFill>
            <a:srgbClr val="F5F7F9"/>
          </a:solidFill>
          <a:ln/>
        </p:spPr>
      </p:sp>
      <p:sp>
        <p:nvSpPr>
          <p:cNvPr id="19" name="Text 17"/>
          <p:cNvSpPr/>
          <p:nvPr/>
        </p:nvSpPr>
        <p:spPr>
          <a:xfrm>
            <a:off x="2103120" y="4014216"/>
            <a:ext cx="9326880" cy="365760"/>
          </a:xfrm>
          <a:prstGeom prst="rect">
            <a:avLst/>
          </a:prstGeom>
          <a:noFill/>
          <a:ln/>
        </p:spPr>
        <p:txBody>
          <a:bodyPr wrap="square" lIns="0" tIns="0" rIns="0" bIns="0" rtlCol="0" anchor="ctr"/>
          <a:lstStyle/>
          <a:p>
            <a:pPr marL="0" indent="0">
              <a:buNone/>
            </a:pPr>
            <a:r>
              <a:rPr lang="en-US" sz="1450" b="1" dirty="0">
                <a:solidFill>
                  <a:srgbClr val="17233D"/>
                </a:solidFill>
                <a:latin typeface="Cambria" pitchFamily="34" charset="0"/>
                <a:ea typeface="Cambria" pitchFamily="34" charset="-122"/>
                <a:cs typeface="Cambria" pitchFamily="34" charset="-120"/>
              </a:rPr>
              <a:t>Experiment C — Joint Multi-Dataset Training</a:t>
            </a:r>
            <a:endParaRPr lang="en-US" sz="1450" dirty="0"/>
          </a:p>
        </p:txBody>
      </p:sp>
      <p:sp>
        <p:nvSpPr>
          <p:cNvPr id="20" name="Text 18"/>
          <p:cNvSpPr/>
          <p:nvPr/>
        </p:nvSpPr>
        <p:spPr>
          <a:xfrm>
            <a:off x="2103120" y="4379976"/>
            <a:ext cx="9326880" cy="502920"/>
          </a:xfrm>
          <a:prstGeom prst="rect">
            <a:avLst/>
          </a:prstGeom>
          <a:noFill/>
          <a:ln/>
        </p:spPr>
        <p:txBody>
          <a:bodyPr wrap="square" lIns="0" tIns="0" rIns="0" bIns="0" rtlCol="0" anchor="ctr"/>
          <a:lstStyle/>
          <a:p>
            <a:pPr marL="0" indent="0">
              <a:lnSpc>
                <a:spcPts val="1450"/>
              </a:lnSpc>
              <a:buNone/>
            </a:pPr>
            <a:r>
              <a:rPr lang="en-US" sz="1150" dirty="0">
                <a:solidFill>
                  <a:srgbClr val="26333D"/>
                </a:solidFill>
                <a:latin typeface="Calibri" pitchFamily="34" charset="0"/>
                <a:ea typeface="Calibri" pitchFamily="34" charset="-122"/>
                <a:cs typeface="Calibri" pitchFamily="34" charset="-120"/>
              </a:rPr>
              <a:t>Shared backbone + dataset-specific heads, trained on both datasets simultaneously</a:t>
            </a:r>
            <a:endParaRPr lang="en-US" sz="1150" dirty="0"/>
          </a:p>
        </p:txBody>
      </p:sp>
      <p:sp>
        <p:nvSpPr>
          <p:cNvPr id="21" name="Shape 19"/>
          <p:cNvSpPr/>
          <p:nvPr/>
        </p:nvSpPr>
        <p:spPr>
          <a:xfrm>
            <a:off x="1051560" y="4983480"/>
            <a:ext cx="182880" cy="91440"/>
          </a:xfrm>
          <a:prstGeom prst="downArrow">
            <a:avLst/>
          </a:prstGeom>
          <a:solidFill>
            <a:srgbClr val="8593A0"/>
          </a:solidFill>
          <a:ln/>
        </p:spPr>
      </p:sp>
      <p:sp>
        <p:nvSpPr>
          <p:cNvPr id="22" name="Shape 20"/>
          <p:cNvSpPr/>
          <p:nvPr/>
        </p:nvSpPr>
        <p:spPr>
          <a:xfrm>
            <a:off x="548640" y="5084064"/>
            <a:ext cx="1188720" cy="1051560"/>
          </a:xfrm>
          <a:prstGeom prst="roundRect">
            <a:avLst>
              <a:gd name="adj" fmla="val 6957"/>
            </a:avLst>
          </a:prstGeom>
          <a:solidFill>
            <a:srgbClr val="3E8E5B"/>
          </a:solidFill>
          <a:ln/>
        </p:spPr>
      </p:sp>
      <p:sp>
        <p:nvSpPr>
          <p:cNvPr id="23" name="Text 21"/>
          <p:cNvSpPr/>
          <p:nvPr/>
        </p:nvSpPr>
        <p:spPr>
          <a:xfrm>
            <a:off x="548640" y="5084064"/>
            <a:ext cx="118872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Later</a:t>
            </a:r>
            <a:endParaRPr lang="en-US" sz="1200" dirty="0"/>
          </a:p>
        </p:txBody>
      </p:sp>
      <p:sp>
        <p:nvSpPr>
          <p:cNvPr id="24" name="Shape 22"/>
          <p:cNvSpPr/>
          <p:nvPr/>
        </p:nvSpPr>
        <p:spPr>
          <a:xfrm>
            <a:off x="1874520" y="5084064"/>
            <a:ext cx="9738360" cy="1051560"/>
          </a:xfrm>
          <a:prstGeom prst="roundRect">
            <a:avLst>
              <a:gd name="adj" fmla="val 6957"/>
            </a:avLst>
          </a:prstGeom>
          <a:solidFill>
            <a:srgbClr val="F5F7F9"/>
          </a:solidFill>
          <a:ln/>
        </p:spPr>
      </p:sp>
      <p:sp>
        <p:nvSpPr>
          <p:cNvPr id="25" name="Text 23"/>
          <p:cNvSpPr/>
          <p:nvPr/>
        </p:nvSpPr>
        <p:spPr>
          <a:xfrm>
            <a:off x="2103120" y="5175504"/>
            <a:ext cx="9326880" cy="365760"/>
          </a:xfrm>
          <a:prstGeom prst="rect">
            <a:avLst/>
          </a:prstGeom>
          <a:noFill/>
          <a:ln/>
        </p:spPr>
        <p:txBody>
          <a:bodyPr wrap="square" lIns="0" tIns="0" rIns="0" bIns="0" rtlCol="0" anchor="ctr"/>
          <a:lstStyle/>
          <a:p>
            <a:pPr marL="0" indent="0">
              <a:buNone/>
            </a:pPr>
            <a:r>
              <a:rPr lang="en-US" sz="1450" b="1" dirty="0">
                <a:solidFill>
                  <a:srgbClr val="17233D"/>
                </a:solidFill>
                <a:latin typeface="Cambria" pitchFamily="34" charset="0"/>
                <a:ea typeface="Cambria" pitchFamily="34" charset="-122"/>
                <a:cs typeface="Cambria" pitchFamily="34" charset="-120"/>
              </a:rPr>
              <a:t>Transfer Learning &amp; Fine-Tuning Curves</a:t>
            </a:r>
            <a:endParaRPr lang="en-US" sz="1450" dirty="0"/>
          </a:p>
        </p:txBody>
      </p:sp>
      <p:sp>
        <p:nvSpPr>
          <p:cNvPr id="26" name="Text 24"/>
          <p:cNvSpPr/>
          <p:nvPr/>
        </p:nvSpPr>
        <p:spPr>
          <a:xfrm>
            <a:off x="2103120" y="5541264"/>
            <a:ext cx="9326880" cy="502920"/>
          </a:xfrm>
          <a:prstGeom prst="rect">
            <a:avLst/>
          </a:prstGeom>
          <a:noFill/>
          <a:ln/>
        </p:spPr>
        <p:txBody>
          <a:bodyPr wrap="square" lIns="0" tIns="0" rIns="0" bIns="0" rtlCol="0" anchor="ctr"/>
          <a:lstStyle/>
          <a:p>
            <a:pPr marL="0" indent="0">
              <a:lnSpc>
                <a:spcPts val="1450"/>
              </a:lnSpc>
              <a:buNone/>
            </a:pPr>
            <a:r>
              <a:rPr lang="en-US" sz="1150" dirty="0">
                <a:solidFill>
                  <a:srgbClr val="26333D"/>
                </a:solidFill>
                <a:latin typeface="Calibri" pitchFamily="34" charset="0"/>
                <a:ea typeface="Calibri" pitchFamily="34" charset="-122"/>
                <a:cs typeface="Calibri" pitchFamily="34" charset="-120"/>
              </a:rPr>
              <a:t>Measure how much target-domain data is needed to close the transfer gap</a:t>
            </a:r>
            <a:endParaRPr lang="en-US" sz="1150" dirty="0"/>
          </a:p>
        </p:txBody>
      </p:sp>
      <p:sp>
        <p:nvSpPr>
          <p:cNvPr id="27" name="Text 25"/>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233D"/>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Discussion</a:t>
            </a:r>
            <a:endParaRPr lang="en-US" sz="3000" dirty="0"/>
          </a:p>
        </p:txBody>
      </p:sp>
      <p:sp>
        <p:nvSpPr>
          <p:cNvPr id="3" name="Shape 1"/>
          <p:cNvSpPr/>
          <p:nvPr/>
        </p:nvSpPr>
        <p:spPr>
          <a:xfrm>
            <a:off x="9418320" y="320040"/>
            <a:ext cx="2194560" cy="2194560"/>
          </a:xfrm>
          <a:prstGeom prst="ellipse">
            <a:avLst/>
          </a:prstGeom>
          <a:solidFill>
            <a:srgbClr val="0A4C7A">
              <a:alpha val="70000"/>
            </a:srgbClr>
          </a:solidFill>
          <a:ln/>
        </p:spPr>
      </p:sp>
      <p:sp>
        <p:nvSpPr>
          <p:cNvPr id="4" name="Shape 2"/>
          <p:cNvSpPr/>
          <p:nvPr/>
        </p:nvSpPr>
        <p:spPr>
          <a:xfrm>
            <a:off x="10332720" y="960120"/>
            <a:ext cx="1554480" cy="1554480"/>
          </a:xfrm>
          <a:prstGeom prst="ellipse">
            <a:avLst/>
          </a:prstGeom>
          <a:solidFill>
            <a:srgbClr val="1C7293">
              <a:alpha val="85000"/>
            </a:srgbClr>
          </a:solidFill>
          <a:ln/>
        </p:spPr>
      </p:sp>
      <p:sp>
        <p:nvSpPr>
          <p:cNvPr id="5" name="Text 3"/>
          <p:cNvSpPr/>
          <p:nvPr/>
        </p:nvSpPr>
        <p:spPr>
          <a:xfrm>
            <a:off x="640080" y="1554480"/>
            <a:ext cx="5120640" cy="274320"/>
          </a:xfrm>
          <a:prstGeom prst="rect">
            <a:avLst/>
          </a:prstGeom>
          <a:noFill/>
          <a:ln/>
        </p:spPr>
        <p:txBody>
          <a:bodyPr wrap="square" lIns="0" tIns="0" rIns="0" bIns="0" rtlCol="0" anchor="ctr"/>
          <a:lstStyle/>
          <a:p>
            <a:pPr marL="0" indent="0">
              <a:buNone/>
            </a:pPr>
            <a:r>
              <a:rPr lang="en-US" sz="1100" b="1" kern="0" spc="150" dirty="0">
                <a:solidFill>
                  <a:srgbClr val="E0A030"/>
                </a:solidFill>
                <a:latin typeface="Calibri" pitchFamily="34" charset="0"/>
                <a:ea typeface="Calibri" pitchFamily="34" charset="-122"/>
                <a:cs typeface="Calibri" pitchFamily="34" charset="-120"/>
              </a:rPr>
              <a:t>CURRENT STATUS</a:t>
            </a:r>
            <a:endParaRPr lang="en-US" sz="1100" dirty="0"/>
          </a:p>
        </p:txBody>
      </p:sp>
      <p:sp>
        <p:nvSpPr>
          <p:cNvPr id="6" name="Text 4"/>
          <p:cNvSpPr/>
          <p:nvPr/>
        </p:nvSpPr>
        <p:spPr>
          <a:xfrm>
            <a:off x="640080" y="1847088"/>
            <a:ext cx="5120640" cy="1005840"/>
          </a:xfrm>
          <a:prstGeom prst="rect">
            <a:avLst/>
          </a:prstGeom>
          <a:noFill/>
          <a:ln/>
        </p:spPr>
        <p:txBody>
          <a:bodyPr wrap="square" lIns="0" tIns="0" rIns="0" bIns="0" rtlCol="0" anchor="ctr"/>
          <a:lstStyle/>
          <a:p>
            <a:pPr marL="0" indent="0">
              <a:lnSpc>
                <a:spcPts val="1600"/>
              </a:lnSpc>
              <a:buNone/>
            </a:pPr>
            <a:r>
              <a:rPr lang="en-US" sz="1250" dirty="0">
                <a:solidFill>
                  <a:srgbClr val="D7E3EC"/>
                </a:solidFill>
                <a:latin typeface="Calibri" pitchFamily="34" charset="0"/>
                <a:ea typeface="Calibri" pitchFamily="34" charset="-122"/>
                <a:cs typeface="Calibri" pitchFamily="34" charset="-120"/>
              </a:rPr>
              <a:t>Phase 1 (OUC-CGE baseline) complete. Cross-dataset infrastructure and Experiment A framework fully implemented and validated — zero data-integrity errors across 14,864 checks.</a:t>
            </a:r>
            <a:endParaRPr lang="en-US" sz="1250" dirty="0"/>
          </a:p>
        </p:txBody>
      </p:sp>
      <p:sp>
        <p:nvSpPr>
          <p:cNvPr id="7" name="Text 5"/>
          <p:cNvSpPr/>
          <p:nvPr/>
        </p:nvSpPr>
        <p:spPr>
          <a:xfrm>
            <a:off x="640080" y="2971800"/>
            <a:ext cx="5120640" cy="274320"/>
          </a:xfrm>
          <a:prstGeom prst="rect">
            <a:avLst/>
          </a:prstGeom>
          <a:noFill/>
          <a:ln/>
        </p:spPr>
        <p:txBody>
          <a:bodyPr wrap="square" lIns="0" tIns="0" rIns="0" bIns="0" rtlCol="0" anchor="ctr"/>
          <a:lstStyle/>
          <a:p>
            <a:pPr marL="0" indent="0">
              <a:buNone/>
            </a:pPr>
            <a:r>
              <a:rPr lang="en-US" sz="1100" b="1" kern="0" spc="150" dirty="0">
                <a:solidFill>
                  <a:srgbClr val="E0A030"/>
                </a:solidFill>
                <a:latin typeface="Calibri" pitchFamily="34" charset="0"/>
                <a:ea typeface="Calibri" pitchFamily="34" charset="-122"/>
                <a:cs typeface="Calibri" pitchFamily="34" charset="-120"/>
              </a:rPr>
              <a:t>KEY TAKEAWAYS</a:t>
            </a:r>
            <a:endParaRPr lang="en-US" sz="1100" dirty="0"/>
          </a:p>
        </p:txBody>
      </p:sp>
      <p:sp>
        <p:nvSpPr>
          <p:cNvPr id="8" name="Text 6"/>
          <p:cNvSpPr/>
          <p:nvPr/>
        </p:nvSpPr>
        <p:spPr>
          <a:xfrm>
            <a:off x="640080" y="3291840"/>
            <a:ext cx="5120640" cy="2377440"/>
          </a:xfrm>
          <a:prstGeom prst="rect">
            <a:avLst/>
          </a:prstGeom>
          <a:noFill/>
          <a:ln/>
        </p:spPr>
        <p:txBody>
          <a:bodyPr wrap="square" lIns="0" tIns="0" rIns="0" bIns="0" rtlCol="0" anchor="t"/>
          <a:lstStyle/>
          <a:p>
            <a:pPr marL="203200" indent="-203200">
              <a:spcAft>
                <a:spcPts val="1000"/>
              </a:spcAft>
              <a:buSzPct val="100000"/>
              <a:buChar char="•"/>
            </a:pPr>
            <a:r>
              <a:rPr lang="en-US" sz="1200" dirty="0">
                <a:solidFill>
                  <a:srgbClr val="D7E3EC"/>
                </a:solidFill>
                <a:latin typeface="Calibri" pitchFamily="34" charset="0"/>
                <a:ea typeface="Calibri" pitchFamily="34" charset="-122"/>
                <a:cs typeface="Calibri" pitchFamily="34" charset="-120"/>
              </a:rPr>
              <a:t>A rigorous, auditable pipeline now exists to unify two structurally different classroom datasets</a:t>
            </a:r>
            <a:endParaRPr lang="en-US" sz="1200" dirty="0"/>
          </a:p>
          <a:p>
            <a:pPr marL="203200" indent="-203200">
              <a:spcAft>
                <a:spcPts val="1000"/>
              </a:spcAft>
              <a:buSzPct val="100000"/>
              <a:buChar char="•"/>
            </a:pPr>
            <a:r>
              <a:rPr lang="en-US" sz="1200" dirty="0">
                <a:solidFill>
                  <a:srgbClr val="D7E3EC"/>
                </a:solidFill>
                <a:latin typeface="Calibri" pitchFamily="34" charset="0"/>
                <a:ea typeface="Calibri" pitchFamily="34" charset="-122"/>
                <a:cs typeface="Calibri" pitchFamily="34" charset="-120"/>
              </a:rPr>
              <a:t>All engineering blockers (Unicode, collate, AMP bugs) are resolved</a:t>
            </a:r>
            <a:endParaRPr lang="en-US" sz="1200" dirty="0"/>
          </a:p>
          <a:p>
            <a:pPr marL="203200" indent="-203200">
              <a:spcAft>
                <a:spcPts val="1000"/>
              </a:spcAft>
              <a:buSzPct val="100000"/>
              <a:buChar char="•"/>
            </a:pPr>
            <a:r>
              <a:rPr lang="en-US" sz="1200" dirty="0">
                <a:solidFill>
                  <a:srgbClr val="D7E3EC"/>
                </a:solidFill>
                <a:latin typeface="Calibri" pitchFamily="34" charset="0"/>
                <a:ea typeface="Calibri" pitchFamily="34" charset="-122"/>
                <a:cs typeface="Calibri" pitchFamily="34" charset="-120"/>
              </a:rPr>
              <a:t>The framework is ready to run Experiment A and start measuring domain shift directly</a:t>
            </a:r>
            <a:endParaRPr lang="en-US" sz="1200" dirty="0"/>
          </a:p>
        </p:txBody>
      </p:sp>
      <p:sp>
        <p:nvSpPr>
          <p:cNvPr id="9" name="Shape 7"/>
          <p:cNvSpPr/>
          <p:nvPr/>
        </p:nvSpPr>
        <p:spPr>
          <a:xfrm>
            <a:off x="6126480" y="1554480"/>
            <a:ext cx="5440680" cy="4206240"/>
          </a:xfrm>
          <a:prstGeom prst="roundRect">
            <a:avLst>
              <a:gd name="adj" fmla="val 2609"/>
            </a:avLst>
          </a:prstGeom>
          <a:solidFill>
            <a:srgbClr val="1F2E4D"/>
          </a:solidFill>
          <a:ln/>
        </p:spPr>
      </p:sp>
      <p:sp>
        <p:nvSpPr>
          <p:cNvPr id="10" name="Text 8"/>
          <p:cNvSpPr/>
          <p:nvPr/>
        </p:nvSpPr>
        <p:spPr>
          <a:xfrm>
            <a:off x="6355080" y="1737360"/>
            <a:ext cx="4983480" cy="274320"/>
          </a:xfrm>
          <a:prstGeom prst="rect">
            <a:avLst/>
          </a:prstGeom>
          <a:noFill/>
          <a:ln/>
        </p:spPr>
        <p:txBody>
          <a:bodyPr wrap="square" lIns="0" tIns="0" rIns="0" bIns="0" rtlCol="0" anchor="ctr"/>
          <a:lstStyle/>
          <a:p>
            <a:pPr marL="0" indent="0">
              <a:buNone/>
            </a:pPr>
            <a:r>
              <a:rPr lang="en-US" sz="1100" b="1" kern="0" spc="100" dirty="0">
                <a:solidFill>
                  <a:srgbClr val="E0A030"/>
                </a:solidFill>
                <a:latin typeface="Calibri" pitchFamily="34" charset="0"/>
                <a:ea typeface="Calibri" pitchFamily="34" charset="-122"/>
                <a:cs typeface="Calibri" pitchFamily="34" charset="-120"/>
              </a:rPr>
              <a:t>DISCUSSION POINTS FOR MY ADVISOR</a:t>
            </a:r>
            <a:endParaRPr lang="en-US" sz="1100" dirty="0"/>
          </a:p>
        </p:txBody>
      </p:sp>
      <p:sp>
        <p:nvSpPr>
          <p:cNvPr id="11" name="Text 9"/>
          <p:cNvSpPr/>
          <p:nvPr/>
        </p:nvSpPr>
        <p:spPr>
          <a:xfrm>
            <a:off x="6355080" y="2103120"/>
            <a:ext cx="4983480" cy="3566160"/>
          </a:xfrm>
          <a:prstGeom prst="rect">
            <a:avLst/>
          </a:prstGeom>
          <a:noFill/>
          <a:ln/>
        </p:spPr>
        <p:txBody>
          <a:bodyPr wrap="square" lIns="0" tIns="0" rIns="0" bIns="0" rtlCol="0" anchor="t"/>
          <a:lstStyle/>
          <a:p>
            <a:pPr marL="228600" indent="-228600">
              <a:spcAft>
                <a:spcPts val="1600"/>
              </a:spcAft>
              <a:buSzPct val="100000"/>
              <a:buChar char="•"/>
            </a:pPr>
            <a:r>
              <a:rPr lang="en-US" sz="1300" dirty="0">
                <a:solidFill>
                  <a:srgbClr val="FFFFFF"/>
                </a:solidFill>
                <a:latin typeface="Calibri" pitchFamily="34" charset="0"/>
                <a:ea typeface="Calibri" pitchFamily="34" charset="-122"/>
                <a:cs typeface="Calibri" pitchFamily="34" charset="-120"/>
              </a:rPr>
              <a:t>Should we prioritize completing Experiment A (Settings 1–4) before starting Experiment B?</a:t>
            </a:r>
            <a:endParaRPr lang="en-US" sz="1300" dirty="0"/>
          </a:p>
          <a:p>
            <a:pPr marL="228600" indent="-228600">
              <a:spcAft>
                <a:spcPts val="1600"/>
              </a:spcAft>
              <a:buSzPct val="100000"/>
              <a:buChar char="•"/>
            </a:pPr>
            <a:r>
              <a:rPr lang="en-US" sz="1300" dirty="0">
                <a:solidFill>
                  <a:srgbClr val="FFFFFF"/>
                </a:solidFill>
                <a:latin typeface="Calibri" pitchFamily="34" charset="0"/>
                <a:ea typeface="Calibri" pitchFamily="34" charset="-122"/>
                <a:cs typeface="Calibri" pitchFamily="34" charset="-120"/>
              </a:rPr>
              <a:t>Is the 3-class taxonomy the right primary target, or should binary be primary instead?</a:t>
            </a:r>
            <a:endParaRPr lang="en-US" sz="1300" dirty="0"/>
          </a:p>
          <a:p>
            <a:pPr marL="228600" indent="-228600">
              <a:spcAft>
                <a:spcPts val="1600"/>
              </a:spcAft>
              <a:buSzPct val="100000"/>
              <a:buChar char="•"/>
            </a:pPr>
            <a:r>
              <a:rPr lang="en-US" sz="1300" dirty="0">
                <a:solidFill>
                  <a:srgbClr val="FFFFFF"/>
                </a:solidFill>
                <a:latin typeface="Calibri" pitchFamily="34" charset="0"/>
                <a:ea typeface="Calibri" pitchFamily="34" charset="-122"/>
                <a:cs typeface="Calibri" pitchFamily="34" charset="-120"/>
              </a:rPr>
              <a:t>Given the framework is now reusable, is this worth packaging as a standalone tool/paper contribution?</a:t>
            </a:r>
            <a:endParaRPr lang="en-US" sz="1300" dirty="0"/>
          </a:p>
          <a:p>
            <a:pPr marL="228600" indent="-228600">
              <a:spcAft>
                <a:spcPts val="1600"/>
              </a:spcAft>
              <a:buSzPct val="100000"/>
              <a:buChar char="•"/>
            </a:pPr>
            <a:r>
              <a:rPr lang="en-US" sz="1300" dirty="0">
                <a:solidFill>
                  <a:srgbClr val="FFFFFF"/>
                </a:solidFill>
                <a:latin typeface="Calibri" pitchFamily="34" charset="0"/>
                <a:ea typeface="Calibri" pitchFamily="34" charset="-122"/>
                <a:cs typeface="Calibri" pitchFamily="34" charset="-120"/>
              </a:rPr>
              <a:t>What's the target venue, and does its scope favor deep single-experiment analysis or full breadth (A + B + C)?</a:t>
            </a:r>
            <a:endParaRPr lang="en-US" sz="1300" dirty="0"/>
          </a:p>
        </p:txBody>
      </p:sp>
      <p:sp>
        <p:nvSpPr>
          <p:cNvPr id="12" name="Text 10"/>
          <p:cNvSpPr/>
          <p:nvPr/>
        </p:nvSpPr>
        <p:spPr>
          <a:xfrm>
            <a:off x="640080" y="6217920"/>
            <a:ext cx="5486400" cy="365760"/>
          </a:xfrm>
          <a:prstGeom prst="rect">
            <a:avLst/>
          </a:prstGeom>
          <a:noFill/>
          <a:ln/>
        </p:spPr>
        <p:txBody>
          <a:bodyPr wrap="square" lIns="0" tIns="0" rIns="0" bIns="0" rtlCol="0" anchor="ctr"/>
          <a:lstStyle/>
          <a:p>
            <a:pPr marL="0" indent="0">
              <a:buNone/>
            </a:pPr>
            <a:r>
              <a:rPr lang="en-US" sz="1200" i="1" dirty="0">
                <a:solidFill>
                  <a:srgbClr val="8FA8BE"/>
                </a:solidFill>
                <a:latin typeface="Calibri" pitchFamily="34" charset="0"/>
                <a:ea typeface="Calibri" pitchFamily="34" charset="-122"/>
                <a:cs typeface="Calibri" pitchFamily="34" charset="-120"/>
              </a:rPr>
              <a:t>Thank you — questions and feedback welcome.</a:t>
            </a:r>
            <a:endParaRPr lang="en-US" sz="1200" dirty="0"/>
          </a:p>
        </p:txBody>
      </p:sp>
      <p:sp>
        <p:nvSpPr>
          <p:cNvPr id="13" name="Text 11"/>
          <p:cNvSpPr/>
          <p:nvPr/>
        </p:nvSpPr>
        <p:spPr>
          <a:xfrm>
            <a:off x="11368735" y="6400800"/>
            <a:ext cx="457200" cy="320040"/>
          </a:xfrm>
          <a:prstGeom prst="rect">
            <a:avLst/>
          </a:prstGeom>
          <a:noFill/>
          <a:ln/>
        </p:spPr>
        <p:txBody>
          <a:bodyPr wrap="square" lIns="0" tIns="0" rIns="0" bIns="0" rtlCol="0" anchor="ctr"/>
          <a:lstStyle/>
          <a:p>
            <a:pPr marL="0" indent="0" algn="r">
              <a:buNone/>
            </a:pPr>
            <a:r>
              <a:rPr lang="en-US" sz="1050" dirty="0">
                <a:solidFill>
                  <a:srgbClr val="5D6C77"/>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TotalTime>
  <Words>3936</Words>
  <Application>Microsoft Office PowerPoint</Application>
  <PresentationFormat>Widescreen</PresentationFormat>
  <Paragraphs>450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Koppesh P</cp:lastModifiedBy>
  <cp:revision>2</cp:revision>
  <dcterms:created xsi:type="dcterms:W3CDTF">2026-08-02T10:30:21Z</dcterms:created>
  <dcterms:modified xsi:type="dcterms:W3CDTF">2026-08-02T18:36:50Z</dcterms:modified>
</cp:coreProperties>
</file>