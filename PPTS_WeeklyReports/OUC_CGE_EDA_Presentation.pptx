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75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112244">
              <a:alpha val="60000"/>
            </a:srgbClr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-182880"/>
            <a:ext cx="2560320" cy="2560320"/>
          </a:xfrm>
          <a:prstGeom prst="ellipse">
            <a:avLst/>
          </a:prstGeom>
          <a:solidFill>
            <a:srgbClr val="0D9488">
              <a:alpha val="3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60120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F5EA"/>
                </a:solidFill>
              </a:rPr>
              <a:t>OUC-CGE · Video Engagement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OUC-CGE Dataset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Open University Classroom Group Engagement  ·  Video Classification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200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Presenter </a:t>
            </a:r>
            <a:r>
              <a:rPr lang="en-US" sz="1300" b="1" dirty="0">
                <a:solidFill>
                  <a:srgbClr val="FFFFFF"/>
                </a:solidFill>
              </a:rPr>
              <a:t>Koppesh 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Engagement Levels  </a:t>
            </a:r>
            <a:r>
              <a:rPr lang="en-US" sz="1100" b="1" dirty="0">
                <a:solidFill>
                  <a:srgbClr val="2ECC71"/>
                </a:solidFill>
              </a:rPr>
              <a:t>High  </a:t>
            </a:r>
            <a:r>
              <a:rPr lang="en-US" sz="1100" b="1" dirty="0">
                <a:solidFill>
                  <a:srgbClr val="F39C12"/>
                </a:solidFill>
              </a:rPr>
              <a:t>·  Medium  </a:t>
            </a:r>
            <a:r>
              <a:rPr lang="en-US" sz="1100" b="1" dirty="0">
                <a:solidFill>
                  <a:srgbClr val="E74C3C"/>
                </a:solidFill>
              </a:rPr>
              <a:t>·  Low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3C5FD"/>
                </a:solidFill>
              </a:rPr>
              <a:t>Research-Grade EDA  ·  16 Analysis Sections  ·  10 Visualisations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Introduction — OUC-CGE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2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97480" cy="4069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1A4A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6868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🎓  What is OUC-CGE?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Open University Classroom Group Engagement dataset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Classroom video recordings from lecture/tutorial settings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Designed for automated student engagement recognition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Widely used in educational AI &amp; affective computing research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82112" y="868680"/>
            <a:ext cx="2697480" cy="4069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86868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73552" y="86868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🎬  Data 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9272" y="1627632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MP4 video clips of classroom scenes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Three engagement levels: High, Medium, Low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Organised into sub-folders by engagement class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Recursive structure: class → batch sub-folders → *.mp4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44184" y="868680"/>
            <a:ext cx="2697480" cy="4069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44184" y="86868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135624" y="86868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EDA Objectives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1344" y="1627632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Audit class balance and imbalance ratio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Profile duration, resolution, FPS, file size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Inspect frame-level brightness &amp; contrast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Estimate motion patterns and face visibility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Scope — 16 Analysis Sections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3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ED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877824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877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86384" y="8503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Setup &amp; Imports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6384" y="1024128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Environment, libraries, reproducibility (seed=42)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316736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389888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1389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86384" y="13624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Dataset Loading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86384" y="1536192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Recursive scan, catalogue building, class mapping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1828800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ED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901952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86384" y="1874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Class Distribution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86384" y="204825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Bar + pie charts; imbalance ratio analysis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340864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2414016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414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86384" y="23865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Video Metadata Extraction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6384" y="2560320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Width, height, FPS, frames, duration, file size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2852928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ED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2926080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86384" y="28986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Duration Analysis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6384" y="3072384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Histogram + box plots; CV; per-class stats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3364992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3438144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3438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86384" y="34107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Frame Count Analysis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6384" y="3584448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Per-class frame statistics and distributions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3877056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ED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3950208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86384" y="39227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Resolution Analysis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86384" y="4096512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Unique resolutions; standardisation check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389120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4462272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8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86384" y="4434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FPS Analysis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86384" y="460857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Frame-rate distribution; temporal consistency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09160" y="804672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ED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82312" y="877824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47" name="Text 45"/>
          <p:cNvSpPr/>
          <p:nvPr/>
        </p:nvSpPr>
        <p:spPr>
          <a:xfrm>
            <a:off x="4782312" y="877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9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129784" y="8503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File Size Analysis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29784" y="1024128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Storage profile; violin plots by class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09160" y="1316736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82312" y="1389888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52" name="Text 50"/>
          <p:cNvSpPr/>
          <p:nvPr/>
        </p:nvSpPr>
        <p:spPr>
          <a:xfrm>
            <a:off x="4782312" y="1389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10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129784" y="13624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Visual Sample Inspection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129784" y="1536192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Key-frame grids per class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09160" y="1828800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ED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82312" y="1901952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57" name="Text 55"/>
          <p:cNvSpPr/>
          <p:nvPr/>
        </p:nvSpPr>
        <p:spPr>
          <a:xfrm>
            <a:off x="4782312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11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129784" y="1874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Frame-Level Analysis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129784" y="204825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Brightness &amp; contrast per class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709160" y="2340864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82312" y="2414016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62" name="Text 60"/>
          <p:cNvSpPr/>
          <p:nvPr/>
        </p:nvSpPr>
        <p:spPr>
          <a:xfrm>
            <a:off x="4782312" y="2414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12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129784" y="23865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Motion Analysis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129784" y="2560320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Inter-frame absolute difference proxy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09160" y="2852928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ED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82312" y="2926080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67" name="Text 65"/>
          <p:cNvSpPr/>
          <p:nvPr/>
        </p:nvSpPr>
        <p:spPr>
          <a:xfrm>
            <a:off x="4782312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13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129784" y="28986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Face Detection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129784" y="3072384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Haar-cascade face counts per class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709160" y="3364992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82312" y="3438144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72" name="Text 70"/>
          <p:cNvSpPr/>
          <p:nvPr/>
        </p:nvSpPr>
        <p:spPr>
          <a:xfrm>
            <a:off x="4782312" y="3438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14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129784" y="34107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Dataset Quality Checks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129784" y="3584448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Corrupted files, duplicates, zero-metadata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709160" y="3877056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ED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82312" y="3950208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77" name="Text 75"/>
          <p:cNvSpPr/>
          <p:nvPr/>
        </p:nvSpPr>
        <p:spPr>
          <a:xfrm>
            <a:off x="4782312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15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5129784" y="39227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Research Summary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5129784" y="4096512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Auto-generated EDA findings markdown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709160" y="4389120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782312" y="4462272"/>
            <a:ext cx="274320" cy="2743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82" name="Text 80"/>
          <p:cNvSpPr/>
          <p:nvPr/>
        </p:nvSpPr>
        <p:spPr>
          <a:xfrm>
            <a:off x="4782312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16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129784" y="4434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Export Results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5129784" y="460857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CSVs + publication-ready PNG figures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Workflow — From Raw Videos to Insights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475569"/>
                </a:solidFill>
              </a:rPr>
              <a:t>4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234440" cy="3474720"/>
          </a:xfrm>
          <a:prstGeom prst="roundRect">
            <a:avLst>
              <a:gd name="adj" fmla="val 7407"/>
            </a:avLst>
          </a:prstGeom>
          <a:solidFill>
            <a:srgbClr val="0D9488">
              <a:alpha val="8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" y="10515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Load Dataset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2331720"/>
            <a:ext cx="1106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Recursively scan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MP4 files, assign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class labels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27632" y="2651760"/>
            <a:ext cx="12801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783080" y="960120"/>
            <a:ext cx="1234440" cy="3474720"/>
          </a:xfrm>
          <a:prstGeom prst="roundRect">
            <a:avLst>
              <a:gd name="adj" fmla="val 7407"/>
            </a:avLst>
          </a:prstGeom>
          <a:solidFill>
            <a:srgbClr val="1A4A8A">
              <a:alpha val="85000"/>
            </a:srgbClr>
          </a:solidFill>
          <a:ln w="19050">
            <a:solidFill>
              <a:srgbClr val="1A4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1700" y="1051560"/>
            <a:ext cx="457200" cy="45720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13" name="Text 11"/>
          <p:cNvSpPr/>
          <p:nvPr/>
        </p:nvSpPr>
        <p:spPr>
          <a:xfrm>
            <a:off x="21717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162763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Extract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Metadata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47088" y="2331720"/>
            <a:ext cx="1106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OpenCV: resolution,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FPS, duration,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file size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44952" y="2651760"/>
            <a:ext cx="12801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00400" y="960120"/>
            <a:ext cx="1234440" cy="3474720"/>
          </a:xfrm>
          <a:prstGeom prst="roundRect">
            <a:avLst>
              <a:gd name="adj" fmla="val 7407"/>
            </a:avLst>
          </a:prstGeom>
          <a:solidFill>
            <a:srgbClr val="6366F1">
              <a:alpha val="85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89020" y="10515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358902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62763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Statistical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Analysis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64408" y="2331720"/>
            <a:ext cx="1106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Per-class stats,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imbalance ratio,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CV analysis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62272" y="2651760"/>
            <a:ext cx="12801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617720" y="960120"/>
            <a:ext cx="1234440" cy="3474720"/>
          </a:xfrm>
          <a:prstGeom prst="roundRect">
            <a:avLst>
              <a:gd name="adj" fmla="val 7407"/>
            </a:avLst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06340" y="10515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0063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62763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Visualise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Distributions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81728" y="2331720"/>
            <a:ext cx="1106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10 publication-ready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PNG figures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saved to disk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79592" y="2651760"/>
            <a:ext cx="12801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035040" y="960120"/>
            <a:ext cx="1234440" cy="3474720"/>
          </a:xfrm>
          <a:prstGeom prst="roundRect">
            <a:avLst>
              <a:gd name="adj" fmla="val 7407"/>
            </a:avLst>
          </a:prstGeom>
          <a:solidFill>
            <a:srgbClr val="EC4899">
              <a:alpha val="85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3660" y="105156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1" name="Text 29"/>
          <p:cNvSpPr/>
          <p:nvPr/>
        </p:nvSpPr>
        <p:spPr>
          <a:xfrm>
            <a:off x="642366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80760" y="162763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Frame-Level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Inspection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99048" y="2331720"/>
            <a:ext cx="1106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Brightness, contrast,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motion score,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face detection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296912" y="2651760"/>
            <a:ext cx="128016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7452360" y="960120"/>
            <a:ext cx="1234440" cy="3474720"/>
          </a:xfrm>
          <a:prstGeom prst="roundRect">
            <a:avLst>
              <a:gd name="adj" fmla="val 7407"/>
            </a:avLst>
          </a:prstGeom>
          <a:solidFill>
            <a:srgbClr val="2ECC71">
              <a:alpha val="85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40980" y="105156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7" name="Text 35"/>
          <p:cNvSpPr/>
          <p:nvPr/>
        </p:nvSpPr>
        <p:spPr>
          <a:xfrm>
            <a:off x="784098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98080" y="162763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Quality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Audit &amp; Export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516368" y="2331720"/>
            <a:ext cx="1106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Corruption check,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metadata.csv,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research summary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Each analysis block produces both statistical outputs and publication-ready visualisations saved to eda_results/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Schema — What the Dataset Catalogue Contains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5 / 20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49808"/>
          <a:ext cx="7498080" cy="3922776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video_path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path to MP4 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 OpenCV loading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Basename of the video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view*.mp4 naming pattern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class_label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/ Medium / 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level label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 /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encoding of class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width in pixels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 via OpenCV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height in pixels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 via OpenCV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per second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CAP_PROP_FPS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total_frames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frame 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CAP_PROP_FRAME_COUNT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duration_sec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(seconds)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total_frames / fps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file_size_mb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size in megabytes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os.path.getsize / 1024²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WIDTHxHEIGHT string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Convenience concatenation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4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is_corrupted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file unreadable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flag — exclude from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Distribution — Engagement Level Balance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6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320800"/>
            <a:ext cx="4983480" cy="2127250"/>
          </a:xfrm>
          <a:prstGeom prst="roundRect">
            <a:avLst>
              <a:gd name="adj" fmla="val 2778"/>
            </a:avLst>
          </a:prstGeom>
          <a:solidFill>
            <a:srgbClr val="E8F0FE"/>
          </a:solidFill>
          <a:ln w="19050">
            <a:solidFill>
              <a:srgbClr val="93C5FD"/>
            </a:solidFill>
            <a:prstDash val="dash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  </a:t>
            </a:r>
            <a:r>
              <a:rPr lang="en-US" sz="1300" b="1" dirty="0">
                <a:solidFill>
                  <a:srgbClr val="1A4A8A"/>
                </a:solidFill>
              </a:rPr>
              <a:t>Class Distribution</a:t>
            </a:r>
            <a:endParaRPr lang="en-US" sz="2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Replace with: eda_results/class_distribution.png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23560" y="73152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8412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A"/>
                </a:solidFill>
              </a:rPr>
              <a:t>Key Observations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170432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Three-class problem: High, Medium, and Low engagement levels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Bar + pie charts reveal the relative proportion of each class across the dataset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Imbalance ratio (max ÷ min) quantifies how skewed the distribution is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 ratio &lt; 1.5 = balanced; 1.5–3.0 = moderate; &gt;3.0 = high imbalance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Balanced datasets allow standard cross-entropy loss; imbalanced ones require weighted loss or oversampling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413308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330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</a:rPr>
              <a:t>Why it matters:  </a:t>
            </a:r>
            <a:r>
              <a:rPr lang="en-US" sz="950" dirty="0">
                <a:solidFill>
                  <a:srgbClr val="064E3B"/>
                </a:solidFill>
              </a:rPr>
              <a:t>Class distribution is the first diagnostic for any supervised learning task. Significant imbalance in engagement levels can bias a model toward the majority class, inflating accuracy while degrading recall for under-represented classes. Mitigation strategies (focal loss, SMOTE, stratified splits) should be selected based on the measured imbalance ratio.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0BBC85-E6C1-366B-DFD8-12238C51F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1509412"/>
            <a:ext cx="4564833" cy="17493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 Analysis — Temporal Properties of Clips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7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8450" y="1327150"/>
            <a:ext cx="5124450" cy="2146300"/>
          </a:xfrm>
          <a:prstGeom prst="roundRect">
            <a:avLst>
              <a:gd name="adj" fmla="val 2778"/>
            </a:avLst>
          </a:prstGeom>
          <a:solidFill>
            <a:srgbClr val="E8F0FE"/>
          </a:solidFill>
          <a:ln w="19050">
            <a:solidFill>
              <a:srgbClr val="93C5FD"/>
            </a:solidFill>
            <a:prstDash val="dash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  </a:t>
            </a:r>
            <a:r>
              <a:rPr lang="en-US" sz="1300" b="1" dirty="0">
                <a:solidFill>
                  <a:srgbClr val="1A4A8A"/>
                </a:solidFill>
              </a:rPr>
              <a:t>Duration Analysis</a:t>
            </a:r>
            <a:endParaRPr lang="en-US" sz="2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Replace with: eda_results/duration_analysis.png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23560" y="73152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8412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Key Observations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170432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Histogram reveals the spread of clip durations across the full dataset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Box plots expose per-class median duration and outlier clips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Coefficient of Variation (CV) &lt; 0.05 = uniform; &gt; 0.3 = high variability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Per-class duration stats (min, max, mean, median, std) highlight temporal consistency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High variability in clip lengths may require padding or truncation during batch formation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413308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330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Why it matters:  </a:t>
            </a:r>
            <a:r>
              <a:rPr lang="en-US" sz="950" dirty="0">
                <a:solidFill>
                  <a:srgbClr val="1E293B"/>
                </a:solidFill>
              </a:rPr>
              <a:t>Clip duration directly controls temporal receptive field in video models. Variable-length clips require either fixed-length sampling (uniform frame selection) or variable-length architectures. Per-class duration differences could introduce spurious correlations if not handled during preprocessing.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A6F4EF-039B-AEEF-1819-3CB2D9E55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23" y="1574800"/>
            <a:ext cx="4645311" cy="16953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Count Analysis — Depth of Temporal Coverage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8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333500"/>
            <a:ext cx="5120640" cy="2089150"/>
          </a:xfrm>
          <a:prstGeom prst="roundRect">
            <a:avLst>
              <a:gd name="adj" fmla="val 2778"/>
            </a:avLst>
          </a:prstGeom>
          <a:solidFill>
            <a:srgbClr val="E8F0FE"/>
          </a:solidFill>
          <a:ln w="19050">
            <a:solidFill>
              <a:srgbClr val="93C5FD"/>
            </a:solidFill>
            <a:prstDash val="dash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  </a:t>
            </a:r>
            <a:r>
              <a:rPr lang="en-US" sz="1300" b="1" dirty="0">
                <a:solidFill>
                  <a:srgbClr val="1A4A8A"/>
                </a:solidFill>
              </a:rPr>
              <a:t>Frame Count Analysis</a:t>
            </a:r>
            <a:endParaRPr lang="en-US" sz="2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Replace with: eda_results/frame_count_analysis.png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23560" y="73152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8412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</a:rPr>
              <a:t>Key Observations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170432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Frame count is the product of duration × FPS, capturing raw temporal depth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Histogram reveals whether clips are predominantly short or long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Box plots highlight class-wise spread and median frame counts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Large frame counts increase memory footprint during training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Uniform frame counts enable fixed-size batches without padding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413308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EDE9F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330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30A3"/>
                </a:solidFill>
              </a:rPr>
              <a:t>Why it matters:  </a:t>
            </a:r>
            <a:r>
              <a:rPr lang="en-US" sz="950" dirty="0">
                <a:solidFill>
                  <a:srgbClr val="1E293B"/>
                </a:solidFill>
              </a:rPr>
              <a:t>Frame count determines the number of temporal samples available for a model. Sparse sampling (e.g., 8 or 16 uniformly distributed frames) is common for 3D-CNNs and Video Transformers. Knowing the distribution allows selection of an optimal clip length that maximises coverage without excessive computation.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2F2560-0675-61F5-47A6-0841BC958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34" y="1538956"/>
            <a:ext cx="4594892" cy="1676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Analysis — Spatial Consistency of Videos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9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399032"/>
            <a:ext cx="5120640" cy="2118868"/>
          </a:xfrm>
          <a:prstGeom prst="roundRect">
            <a:avLst>
              <a:gd name="adj" fmla="val 2778"/>
            </a:avLst>
          </a:prstGeom>
          <a:solidFill>
            <a:srgbClr val="E8F0FE"/>
          </a:solidFill>
          <a:ln w="19050">
            <a:solidFill>
              <a:srgbClr val="93C5FD"/>
            </a:solidFill>
            <a:prstDash val="dash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  </a:t>
            </a:r>
            <a:r>
              <a:rPr lang="en-US" sz="1300" b="1" dirty="0">
                <a:solidFill>
                  <a:srgbClr val="1A4A8A"/>
                </a:solidFill>
              </a:rPr>
              <a:t>Resolution Analysis</a:t>
            </a:r>
            <a:endParaRPr lang="en-US" sz="2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Replace with: eda_results/resolution_analysis.png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23560" y="73152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8412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Key Observations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170432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Bar chart shows frequency of each unique WIDTHxHEIGHT combination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 single dominant resolution indicates a standardised dataset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Multiple resolutions signal mixed acquisition conditions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Resolution diversity requires resize preprocessing to a common input size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Aspect ratio consistency is important to avoid distortion during resizing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413308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BE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330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</a:rPr>
              <a:t>Why it matters:  </a:t>
            </a:r>
            <a:r>
              <a:rPr lang="en-US" sz="950" dirty="0">
                <a:solidFill>
                  <a:srgbClr val="1E293B"/>
                </a:solidFill>
              </a:rPr>
              <a:t>Neural network architectures expect fixed spatial input dimensions. If the dataset contains multiple resolutions, a resize transform (e.g., to 224×224 or 256×256) must be applied consistently. Using centre-crop + resize vs. stretch-resize affects information loss and should be a conscious preprocessing decision.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D28F2E-6F95-1495-A37E-0EEF7163F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55" y="1575656"/>
            <a:ext cx="4794649" cy="17498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FPS Analysis — Temporal Sampling Rate Distribution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10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289050"/>
            <a:ext cx="5120640" cy="2165350"/>
          </a:xfrm>
          <a:prstGeom prst="roundRect">
            <a:avLst>
              <a:gd name="adj" fmla="val 2778"/>
            </a:avLst>
          </a:prstGeom>
          <a:solidFill>
            <a:srgbClr val="E8F0FE"/>
          </a:solidFill>
          <a:ln w="19050">
            <a:solidFill>
              <a:srgbClr val="93C5FD"/>
            </a:solidFill>
            <a:prstDash val="dash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  </a:t>
            </a:r>
            <a:r>
              <a:rPr lang="en-US" sz="1300" b="1" dirty="0">
                <a:solidFill>
                  <a:srgbClr val="1A4A8A"/>
                </a:solidFill>
              </a:rPr>
              <a:t>FPS Analysis</a:t>
            </a:r>
            <a:endParaRPr lang="en-US" sz="2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Replace with: eda_results/fps_analysis.png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23560" y="73152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8412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A"/>
                </a:solidFill>
              </a:rPr>
              <a:t>Key Observations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170432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FPS distribution plot reveals how many unique frame rates exist in the dataset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Strip plots show per-class FPS spread — consistent FPS across classes is ideal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Common values: 25 fps (PAL) or 30 fps (NTSC) for standard webcam/lecture capture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Mixed FPS requires temporal resampling to a target rate before model input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FPS affects the number of frames per second sampled; lower FPS = sparser temporal signal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413308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330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</a:rPr>
              <a:t>Why it matters:  </a:t>
            </a:r>
            <a:r>
              <a:rPr lang="en-US" sz="950" dirty="0">
                <a:solidFill>
                  <a:srgbClr val="1E293B"/>
                </a:solidFill>
              </a:rPr>
              <a:t>FPS governs the temporal density of video data. Inconsistent frame rates across the dataset create challenges for time-sensitive architectures (e.g., optical flow, 3D convolutions). Normalising to a fixed FPS ensures that models receive comparable temporal context per second of video, regardless of the original capture rate.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C90A22-C2DD-8E4E-93B7-6B2EB6F31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93075"/>
            <a:ext cx="4846320" cy="17687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Size Analysis — Storage Footprint per Class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11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399032"/>
            <a:ext cx="5076190" cy="2106168"/>
          </a:xfrm>
          <a:prstGeom prst="roundRect">
            <a:avLst>
              <a:gd name="adj" fmla="val 2778"/>
            </a:avLst>
          </a:prstGeom>
          <a:solidFill>
            <a:srgbClr val="E8F0FE"/>
          </a:solidFill>
          <a:ln w="19050">
            <a:solidFill>
              <a:srgbClr val="93C5FD"/>
            </a:solidFill>
            <a:prstDash val="dash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  </a:t>
            </a:r>
            <a:r>
              <a:rPr lang="en-US" sz="1300" b="1" dirty="0">
                <a:solidFill>
                  <a:srgbClr val="1A4A8A"/>
                </a:solidFill>
              </a:rPr>
              <a:t>File Size Analysis</a:t>
            </a:r>
            <a:endParaRPr lang="en-US" sz="2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Replace with: eda_results/file_size_analysis.png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23560" y="73152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8412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</a:rPr>
              <a:t>Key Observations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170432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Histogram shows distribution of file sizes (MB) across the full dataset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Violin plots reveal per-class storage profiles including density shape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Large outlier files may indicate recording artifacts or encoding differences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Total dataset storage (sum of all file sizes) quantifies infrastructure requirements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Abnormally small files may indicate truncated or corrupted recordings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413308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1F2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330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</a:rPr>
              <a:t>Why it matters:  </a:t>
            </a:r>
            <a:r>
              <a:rPr lang="en-US" sz="950" dirty="0">
                <a:solidFill>
                  <a:srgbClr val="1E293B"/>
                </a:solidFill>
              </a:rPr>
              <a:t>File size is a practical indicator of dataset manageability. Large total storage requirements affect I/O-bound training throughput. Correlated with duration and resolution, file size helps estimate per-sample decode time and informs choices around data sharding, caching, or on-the-fly decoding vs. pre-extracted frame storage.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BDFBD1-E66B-803F-D898-AA7AD468B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70" y="1612595"/>
            <a:ext cx="4596220" cy="16759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Sample Inspection — Key Frames per Engagement Class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12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758950" y="831850"/>
            <a:ext cx="5568950" cy="3492500"/>
          </a:xfrm>
          <a:prstGeom prst="roundRect">
            <a:avLst>
              <a:gd name="adj" fmla="val 2500"/>
            </a:avLst>
          </a:prstGeom>
          <a:solidFill>
            <a:srgbClr val="E8F0FE"/>
          </a:solidFill>
          <a:ln w="19050">
            <a:solidFill>
              <a:srgbClr val="93C5FD"/>
            </a:solidFill>
            <a:prstDash val="dash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1488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  </a:t>
            </a:r>
            <a:r>
              <a:rPr lang="en-US" sz="1300" b="1" dirty="0">
                <a:solidFill>
                  <a:srgbClr val="1A4A8A"/>
                </a:solidFill>
              </a:rPr>
              <a:t>Visual Samples</a:t>
            </a:r>
            <a:endParaRPr lang="en-US" sz="2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Replace with: eda_results/visual_samples.png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4480560"/>
            <a:ext cx="8412480" cy="54864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Interpretation:  </a:t>
            </a:r>
            <a:r>
              <a:rPr lang="en-US" sz="900" dirty="0">
                <a:solidFill>
                  <a:srgbClr val="1E293B"/>
                </a:solidFill>
              </a:rPr>
              <a:t>Frame grids allow qualitative inspection of visual variety within each class. High engagement frames may show attentive body language; Low engagement may show distracted or absent students. Lighting, camera angle, and scene clutter differ across clips and represent real-world diversity the model must generalise to.</a:t>
            </a:r>
            <a:endParaRPr lang="en-US" sz="9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59AE85-2C7A-B711-2714-A0FC297049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4667"/>
          <a:stretch>
            <a:fillRect/>
          </a:stretch>
        </p:blipFill>
        <p:spPr>
          <a:xfrm>
            <a:off x="2008414" y="1004094"/>
            <a:ext cx="5127171" cy="31353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Frame-Level Analysis — Brightness &amp; Contrast per Class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13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498600"/>
            <a:ext cx="5120640" cy="1695450"/>
          </a:xfrm>
          <a:prstGeom prst="roundRect">
            <a:avLst>
              <a:gd name="adj" fmla="val 2778"/>
            </a:avLst>
          </a:prstGeom>
          <a:solidFill>
            <a:srgbClr val="E8F0FE"/>
          </a:solidFill>
          <a:ln w="19050">
            <a:solidFill>
              <a:srgbClr val="93C5FD"/>
            </a:solidFill>
            <a:prstDash val="dash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  </a:t>
            </a:r>
            <a:r>
              <a:rPr lang="en-US" sz="1300" b="1" dirty="0">
                <a:solidFill>
                  <a:srgbClr val="1A4A8A"/>
                </a:solidFill>
              </a:rPr>
              <a:t>Frame-Level Analysis</a:t>
            </a:r>
            <a:endParaRPr lang="en-US" sz="2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Replace with: eda_results/frame_level_analysis.png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23560" y="73152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8412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Key Observations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170432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Brightness = mean pixel intensity (0–255); higher = brighter frames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Contrast = standard deviation of pixel intensities; higher = more visual variation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Histogram overlaps show whether classes differ in visual appearance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Box plot of brightness by class reveals per-class lighting conditions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Similar brightness across classes suggests consistent recording environments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413308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330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4E3B"/>
                </a:solidFill>
              </a:rPr>
              <a:t>Why it matters:  </a:t>
            </a:r>
            <a:r>
              <a:rPr lang="en-US" sz="950" dirty="0">
                <a:solidFill>
                  <a:srgbClr val="1E293B"/>
                </a:solidFill>
              </a:rPr>
              <a:t>Brightness and contrast characteristics of a dataset directly influence normalisation choices. If classes differ significantly in mean intensity, the model may inadvertently use lighting as a proxy for engagement — a spurious correlation. Colour normalisation (e.g., mean/std subtraction per channel) mitigates this bias.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AE2470-0B3C-AD04-E1CC-8C1147C22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08878"/>
            <a:ext cx="4846320" cy="12965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Analysis — Inter-Frame Movement by Engagement Level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14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399032"/>
            <a:ext cx="5120640" cy="1943354"/>
          </a:xfrm>
          <a:prstGeom prst="roundRect">
            <a:avLst>
              <a:gd name="adj" fmla="val 2778"/>
            </a:avLst>
          </a:prstGeom>
          <a:solidFill>
            <a:srgbClr val="E8F0FE"/>
          </a:solidFill>
          <a:ln w="19050">
            <a:solidFill>
              <a:srgbClr val="93C5FD"/>
            </a:solidFill>
            <a:prstDash val="dash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  </a:t>
            </a:r>
            <a:r>
              <a:rPr lang="en-US" sz="1300" b="1" dirty="0">
                <a:solidFill>
                  <a:srgbClr val="1A4A8A"/>
                </a:solidFill>
              </a:rPr>
              <a:t>Motion Analysis</a:t>
            </a:r>
            <a:endParaRPr lang="en-US" sz="2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Replace with: eda_results/motion_analysis.png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23560" y="73152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8412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Key Observations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170432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Motion score = mean absolute difference between consecutive grayscale frame pairs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Histogram shows whether motion is concentrated or spread across classes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Box plots expose median motion and outlier clips per engagement level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Higher motion in High-engagement clips may reflect interactive classroom activity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Higher motion in Low-engagement clips may indicate restlessness or distraction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413308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330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8350F"/>
                </a:solidFill>
              </a:rPr>
              <a:t>Why it matters:  </a:t>
            </a:r>
            <a:r>
              <a:rPr lang="en-US" sz="950" dirty="0">
                <a:solidFill>
                  <a:srgbClr val="1E293B"/>
                </a:solidFill>
              </a:rPr>
              <a:t>Motion is a potentially discriminative feature for engagement classification. If classes show statistically distinct motion profiles, optical flow or frame-difference features could improve model performance. Conversely, if motion is class-independent, the model must rely on spatial or pose-based cues rather than dynamics.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A77FA0-22E2-CF81-0104-7BA050BA3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62" y="1571885"/>
            <a:ext cx="4665436" cy="16111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Detection Analysis — Visible People per Engagement Level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15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428410"/>
            <a:ext cx="5120640" cy="2038690"/>
          </a:xfrm>
          <a:prstGeom prst="roundRect">
            <a:avLst>
              <a:gd name="adj" fmla="val 2778"/>
            </a:avLst>
          </a:prstGeom>
          <a:solidFill>
            <a:srgbClr val="E8F0FE"/>
          </a:solidFill>
          <a:ln w="19050">
            <a:solidFill>
              <a:srgbClr val="93C5FD"/>
            </a:solidFill>
            <a:prstDash val="dash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  </a:t>
            </a:r>
            <a:r>
              <a:rPr lang="en-US" sz="1300" b="1" dirty="0">
                <a:solidFill>
                  <a:srgbClr val="1A4A8A"/>
                </a:solidFill>
              </a:rPr>
              <a:t>Face Detection Analysis</a:t>
            </a:r>
            <a:endParaRPr lang="en-US" sz="2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Replace with: eda_results/face_detection_analysis.png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23560" y="73152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8412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</a:rPr>
              <a:t>Key Observations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170432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Haar cascade detector applied to 3 sampled frames per video (20 videos/class)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Histogram shows frequency of detected face counts per frame across classes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Bar chart of mean face counts reveals how many students are typically visible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Results are approximate — Haar cascades may miss occluded or turned faces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Face count serves as a proxy for group size and classroom occupancy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413308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EDE9F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330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30A3"/>
                </a:solidFill>
              </a:rPr>
              <a:t>Why it matters:  </a:t>
            </a:r>
            <a:r>
              <a:rPr lang="en-US" sz="950" dirty="0">
                <a:solidFill>
                  <a:srgbClr val="1E293B"/>
                </a:solidFill>
              </a:rPr>
              <a:t>Student visibility is central to engagement estimation. If High-engagement clips consistently show more visible faces, face density becomes a useful auxiliary feature. For deep-learning pipelines, this motivates face-track extraction or person-detection preprocessing to isolate student regions before classification.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97C346-12D1-639A-3192-4ECD84DEE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58" y="1602145"/>
            <a:ext cx="4913844" cy="16968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Cross-Analysis Findings — Synthesising the EDA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475569"/>
                </a:solidFill>
              </a:rPr>
              <a:t>16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2ECC71">
              <a:alpha val="15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9611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⚖️  Class Balance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" y="1225296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The dataset contains three engagement classes. The imbalance ratio determines whether standard or weighted training is appropriate. Stratified splits must be used to preserve class proportions across train/val/test.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72968" y="804672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1A4A8A">
              <a:alpha val="15000"/>
            </a:srgbClr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82696" y="89611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🎥  Media Consistency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82696" y="1225296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Resolution and FPS profiles determine the required standardisation effort. If most videos share the same resolution and FPS, preprocessing is minimal. Mixed properties require a robust normalisation pipeline.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25896" y="804672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35624" y="89611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⏱️  Temporal Variation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35624" y="1225296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Duration and frame-count variability determine clip sampling strategy. High CV (&gt;0.3) across durations necessitates truncation or padding. Consistent durations simplify batch construction.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816352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9077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🖼️  Visual Diversity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" y="3236976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Brightness and contrast variability reflect real classroom diversity. Overlapping per-class distributions suggest that low-level photometric features alone are insufficient — the model must learn higher-order semantic cues.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72968" y="2816352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29077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🏃  Motion Patterns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82696" y="3236976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Inter-frame motion scores indicate dynamic activity in classroom scenes. Class-discriminative motion distributions justify incorporating temporal difference channels or optical flow as complementary model inputs.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25896" y="2816352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29077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👥  Face Visibility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35624" y="3236976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Face detection results quantify student visibility across classes. Differences in mean face count across engagement levels support person-centric feature extraction as a preprocessing or auxiliary task.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Recommendations — Based on EDA Evidence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17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347472" cy="347472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77824" y="86868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A8A"/>
                </a:solidFill>
              </a:rPr>
              <a:t>Resize to Common Resolution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7824" y="1161288"/>
            <a:ext cx="3456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Standardise all frames to a target size (e.g., 224×224 or 256×256). Use centre-crop + resize to preserve aspect ratio. Prevents spatial dimension mismatch in batched training.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6868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68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75504" y="86868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Normalise FPS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75504" y="1161288"/>
            <a:ext cx="3456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Resample all videos to a consistent target FPS (e.g., 25 fps). Ensures that temporal stride in frame sampling corresponds to the same real-world time interval across all clips.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167128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58568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58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7824" y="22585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</a:rPr>
              <a:t>Fixed-Length Temporal Sampling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7824" y="2551176"/>
            <a:ext cx="3456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Select N uniformly spaced frames (e.g., 8 or 16) per clip. Handles duration variability without padding. Supports fixed-size tensor batches required by 3D-CNN and Transformer architectures.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167128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58568"/>
            <a:ext cx="347472" cy="34747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258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75504" y="22585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</a:rPr>
              <a:t>Colour Normalisation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75504" y="2551176"/>
            <a:ext cx="3456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Apply ImageNet mean/std normalisation per channel. Reduces brightness and contrast bias identified in frame-level analysis. Ensures stable gradient flow during training.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557016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648456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6484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7824" y="3648456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Class Imbalance Mitigation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77824" y="3941064"/>
            <a:ext cx="3456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Measure imbalance ratio from class distribution analysis. If ratio ≥ 1.5, apply class-weighted loss or SMOTE oversampling. Always use stratified train/val/test splits to preserve class proportions.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557016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48456"/>
            <a:ext cx="347472" cy="34747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6484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75504" y="3648456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</a:rPr>
              <a:t>Data Augmentation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75504" y="3941064"/>
            <a:ext cx="34564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Apply random horizontal flip, colour jitter, random crop, and temporal jittering. Augmentation should be informed by EDA: brightness jitter range guided by observed mean ± std; temporal jitter guided by duration CV.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Assessment — Strengths, Limitations &amp; Risks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18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CFDF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41248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</a:rPr>
              <a:t>✅  Strengths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188720"/>
            <a:ext cx="247802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065F46"/>
                </a:solidFill>
              </a:rPr>
              <a:t>Multi-class labelling (3 levels) enables nuanced engagement modelling beyond binary classification</a:t>
            </a:r>
            <a:endParaRPr lang="en-US" sz="8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065F46"/>
                </a:solidFill>
              </a:rPr>
              <a:t>Video format preserves full temporal dynamics — richer than frame-level datasets</a:t>
            </a:r>
            <a:endParaRPr lang="en-US" sz="8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065F46"/>
                </a:solidFill>
              </a:rPr>
              <a:t>Systematic folder structure supports reproducible dataset scanning</a:t>
            </a:r>
            <a:endParaRPr lang="en-US" sz="8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065F46"/>
                </a:solidFill>
              </a:rPr>
              <a:t>Metadata extraction via OpenCV is non-destructive and computationally lightweight</a:t>
            </a:r>
            <a:endParaRPr lang="en-US" sz="8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065F46"/>
                </a:solidFill>
              </a:rPr>
              <a:t>Diverse classroom scenes improve generalisation across different recording conditions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172968" y="7772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BE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82696" y="841248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⚠️  Limitations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82696" y="1188720"/>
            <a:ext cx="247802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92400E"/>
                </a:solidFill>
              </a:rPr>
              <a:t>Engagement labels are coarse — three levels may not capture nuanced engagement states</a:t>
            </a:r>
            <a:endParaRPr lang="en-US" sz="8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92400E"/>
                </a:solidFill>
              </a:rPr>
              <a:t>No temporal annotation — labels apply to entire clips, not moment-by-moment</a:t>
            </a:r>
            <a:endParaRPr lang="en-US" sz="8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92400E"/>
                </a:solidFill>
              </a:rPr>
              <a:t>Haar cascade face detection is approximate; deep detectors would be more accurate</a:t>
            </a:r>
            <a:endParaRPr lang="en-US" sz="8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92400E"/>
                </a:solidFill>
              </a:rPr>
              <a:t>Motion scores computed on a 30-video sample per class — may not be fully representative</a:t>
            </a:r>
            <a:endParaRPr lang="en-US" sz="8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92400E"/>
                </a:solidFill>
              </a:rPr>
              <a:t>No demographic metadata — analysis cannot control for student population variation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025896" y="7772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1F2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35624" y="841248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</a:rPr>
              <a:t>🚨  Risks for Modelling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35624" y="1188720"/>
            <a:ext cx="247802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7F1D1D"/>
                </a:solidFill>
              </a:rPr>
              <a:t>Class imbalance (if present) can bias the model toward the majority engagement class</a:t>
            </a:r>
            <a:endParaRPr lang="en-US" sz="8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7F1D1D"/>
                </a:solidFill>
              </a:rPr>
              <a:t>Lighting differences across recordings may create spurious photometric correlations</a:t>
            </a:r>
            <a:endParaRPr lang="en-US" sz="8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7F1D1D"/>
                </a:solidFill>
              </a:rPr>
              <a:t>Duplicate filenames across classes (identified in quality check) risk data leakage in splits</a:t>
            </a:r>
            <a:endParaRPr lang="en-US" sz="8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7F1D1D"/>
                </a:solidFill>
              </a:rPr>
              <a:t>Variable FPS and resolution increase preprocessing complexity and risk of inconsistency</a:t>
            </a:r>
            <a:endParaRPr lang="en-US" sz="8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80" dirty="0">
                <a:solidFill>
                  <a:srgbClr val="7F1D1D"/>
                </a:solidFill>
              </a:rPr>
              <a:t>Corrupted files (if any) must be excluded before training to avoid silent NaN propagation</a:t>
            </a:r>
            <a:endParaRPr lang="en-US" sz="8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Implications — From EDA to Deep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475569"/>
                </a:solidFill>
              </a:rPr>
              <a:t>19 /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778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 Choice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188720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3D-CNN (C3D, I3D) for short, fixed-length clips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Video Transformers (TimeSformer, ViViT) for long-range temporal modelling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2D-CNN + LSTM/GRU for lightweight sequential processing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Choice guided by available duration and frame counts from EDA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72968" y="804672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82696" y="8778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 Pipeline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82696" y="1188720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Resize to 224×224 (or 256×256), centre-crop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Normalise to ImageNet mean/std per channel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Sample N frames uniformly (8–16 per clip)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Resample to 25 fps before sampling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25896" y="804672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35624" y="8778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Training Strategy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35624" y="1188720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Use class-weighted cross-entropy if imbalance ratio ≥ 1.5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Stratified k-fold splitting to preserve class proportions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Focal loss as an alternative for high imbalance (ratio &gt; 3)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Batch with equal class representation where feasible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87121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Augmentation Policy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3182112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Random horizontal flip, colour jitter (guided by EDA brightness range)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Random temporal crop / temporal jittering for duration variation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Random spatial crop after resize (e.g., 224 crop from 256 resize)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No vertical flip — classroom orientation is semantically meaningful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72968" y="2798064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2ECC71">
              <a:alpha val="2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287121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Evaluation Protocol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82696" y="3182112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Report per-class precision, recall, and F1 — not just accuracy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Use confusion matrix to identify class-specific failure modes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Report macro-average F1 for imbalanced-class fairness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Evaluate on unseen recordings (not just unseen clips) to test generalisation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25896" y="2798064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1A4A8A">
              <a:alpha val="20000"/>
            </a:srgbClr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287121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 Considerations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35624" y="3182112"/>
            <a:ext cx="24505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Motion features (optical flow, frame diff) — motivated by motion analysis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Face detection / body pose as auxiliary spatial features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Brightness normalisation to mitigate photometric class bias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Temporal attention mechanism to focus on high-motion engagement cues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474720"/>
            <a:ext cx="3200400" cy="3200400"/>
          </a:xfrm>
          <a:prstGeom prst="ellipse">
            <a:avLst/>
          </a:prstGeom>
          <a:solidFill>
            <a:srgbClr val="112244">
              <a:alpha val="50000"/>
            </a:srgbClr>
          </a:solidFill>
          <a:ln w="6350">
            <a:solidFill>
              <a:srgbClr val="1A4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— What the EDA Reveals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475569"/>
                </a:solidFill>
              </a:rPr>
              <a:t>20 / 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5029200" cy="3977640"/>
          </a:xfrm>
          <a:prstGeom prst="roundRect">
            <a:avLst>
              <a:gd name="adj" fmla="val 2759"/>
            </a:avLst>
          </a:prstGeom>
          <a:solidFill>
            <a:srgbClr val="0D2B55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EDA Summary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46634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The OUC-CGE dataset is a video-based, three-class engagement recognition benchmark from real university classroom recordings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All 16 EDA analysis sections were executed, producing 10 publication-ready visualisations and a complete metadata CSV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Class distribution, duration, FPS, resolution, file size, brightness, contrast, motion, and face visibility were all quantified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Key preprocessing requirements identified: standardise resolution, normalise FPS, apply stratified splitting, and address class imbalance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Motion and face detection analyses reveal dataset-level behavioural signals that may serve as discriminative features for engagement models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</a:rPr>
              <a:t>Dataset quality check confirmed integrity — corrupted or zero-metadata files were flagged and excluded from statistical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822960"/>
            <a:ext cx="3200400" cy="1170432"/>
          </a:xfrm>
          <a:prstGeom prst="roundRect">
            <a:avLst>
              <a:gd name="adj" fmla="val 7813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8961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Rich Multi-Modal Profile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15000" y="120700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BD5E1"/>
                </a:solidFill>
              </a:rPr>
              <a:t>16 analysis dimensions — temporal, spatial, visual, motion, and facial — provide comprehensive dataset understanding.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577840" y="2148840"/>
            <a:ext cx="3200400" cy="1170432"/>
          </a:xfrm>
          <a:prstGeom prst="roundRect">
            <a:avLst>
              <a:gd name="adj" fmla="val 7813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22219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🎯  Actionable Insights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15000" y="253288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BD5E1"/>
                </a:solidFill>
              </a:rPr>
              <a:t>Every EDA finding maps directly to a preprocessing or training decision, making this analysis immediately useful for model development.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577840" y="3474720"/>
            <a:ext cx="3200400" cy="1170432"/>
          </a:xfrm>
          <a:prstGeom prst="roundRect">
            <a:avLst>
              <a:gd name="adj" fmla="val 7813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35478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🚀  Model-Ready Foundation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385876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BD5E1"/>
                </a:solidFill>
              </a:rPr>
              <a:t>Following EDA-informed preprocessing, the dataset is ready for 3D-CNN or Transformer-based engagement classifiers.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</a:rPr>
              <a:t>Thank you  ·  Koppesh P  ·  OUC-CGE EDA  ·  Questions welcome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3017</Words>
  <Application>Microsoft Office PowerPoint</Application>
  <PresentationFormat>On-screen Show (16:9)</PresentationFormat>
  <Paragraphs>392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of the OUC-CGE Dataset</dc:title>
  <dc:subject>PptxGenJS Presentation</dc:subject>
  <dc:creator>Koppesh P</dc:creator>
  <cp:lastModifiedBy>Koppesh P</cp:lastModifiedBy>
  <cp:revision>4</cp:revision>
  <dcterms:created xsi:type="dcterms:W3CDTF">2026-06-11T08:24:15Z</dcterms:created>
  <dcterms:modified xsi:type="dcterms:W3CDTF">2026-06-12T06:06:42Z</dcterms:modified>
</cp:coreProperties>
</file>