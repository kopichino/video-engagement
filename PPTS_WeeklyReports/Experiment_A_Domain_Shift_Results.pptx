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0B2545"/>
            </a:solidFill>
            <a:effectLst/>
          </c:spPr>
          <c:invertIfNegative val="0"/>
          <c:dLbls>
            <c:numFmt formatCode="0.00&quot;%&quot;" sourceLinked="0"/>
            <c:txPr>
              <a:bodyPr/>
              <a:lstStyle/>
              <a:p>
                <a:pPr>
                  <a:defRPr b="1" i="0" strike="noStrike" sz="1500" u="none">
                    <a:solidFill>
                      <a:srgbClr val="1E2A38"/>
                    </a:solidFill>
                    <a:latin typeface="Arial"/>
                  </a:defRPr>
                </a:pPr>
              </a:p>
            </c:txPr>
            <c:showLegendKey val="0"/>
            <c:showVal val="1"/>
            <c:showCatName val="0"/>
            <c:showSerName val="0"/>
            <c:showPercent val="0"/>
            <c:showBubbleSize val="0"/>
            <c:showLeaderLines val="0"/>
          </c:dLbls>
          <c:dPt>
            <c:idx val="0"/>
            <c:invertIfNegative val="0"/>
            <c:bubble3D val="0"/>
            <c:spPr>
              <a:solidFill>
                <a:srgbClr val="0B2545"/>
              </a:solidFill>
              <a:effectLst/>
            </c:spPr>
          </c:dPt>
          <c:dPt>
            <c:idx val="1"/>
            <c:invertIfNegative val="0"/>
            <c:bubble3D val="0"/>
            <c:spPr>
              <a:solidFill>
                <a:srgbClr val="0B2545"/>
              </a:solidFill>
              <a:effectLst/>
            </c:spPr>
          </c:dPt>
          <c:dPt>
            <c:idx val="2"/>
            <c:invertIfNegative val="0"/>
            <c:bubble3D val="0"/>
            <c:spPr>
              <a:solidFill>
                <a:srgbClr val="C0392B"/>
              </a:solidFill>
              <a:effectLst/>
            </c:spPr>
          </c:dPt>
          <c:dPt>
            <c:idx val="3"/>
            <c:invertIfNegative val="0"/>
            <c:bubble3D val="0"/>
            <c:spPr>
              <a:solidFill>
                <a:srgbClr val="C0392B"/>
              </a:solidFill>
              <a:effectLst/>
            </c:spPr>
          </c:dPt>
          <c:cat>
            <c:multiLvlStrRef>
              <c:f>Sheet1!$A$2:$A$5</c:f>
              <c:multiLvlStrCache>
                <c:ptCount val="4"/>
                <c:lvl>
                  <c:pt idx="0">
                    <c:v>OUC → OUC</c:v>
                  </c:pt>
                  <c:pt idx="1">
                    <c:v>COLER → COLER</c:v>
                  </c:pt>
                  <c:pt idx="2">
                    <c:v>OUC → COLER</c:v>
                  </c:pt>
                  <c:pt idx="3">
                    <c:v>COLER → OUC</c:v>
                  </c:pt>
                </c:lvl>
              </c:multiLvlStrCache>
            </c:multiLvlStrRef>
          </c:cat>
          <c:val>
            <c:numRef>
              <c:f>Sheet1!$B$2:$B$5</c:f>
              <c:numCache>
                <c:formatCode>General</c:formatCode>
                <c:ptCount val="4"/>
                <c:pt idx="0">
                  <c:v>99.25</c:v>
                </c:pt>
                <c:pt idx="1">
                  <c:v>96.38</c:v>
                </c:pt>
                <c:pt idx="2">
                  <c:v>52.84</c:v>
                </c:pt>
                <c:pt idx="3">
                  <c:v>29.15</c:v>
                </c:pt>
              </c:numCache>
            </c:numRef>
          </c:val>
        </c:ser>
        <c:dLbls>
          <c:numFmt formatCode="0.00&quot;%&quot;" sourceLinked="0"/>
          <c:txPr>
            <a:bodyPr/>
            <a:lstStyle/>
            <a:p>
              <a:pPr>
                <a:defRPr b="1" i="0" strike="noStrike" sz="1500" u="none">
                  <a:solidFill>
                    <a:srgbClr val="1E2A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1" i="0" u="none" strike="noStrike">
                <a:solidFill>
                  <a:srgbClr val="1E2A3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EF1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7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B2545"/>
                </a:solidFill>
                <a:latin typeface="Arial"/>
              </a:defRPr>
            </a:pPr>
            <a:r>
              <a:rPr sz="1250" b="0" i="0" u="none" strike="noStrike">
                <a:solidFill>
                  <a:srgbClr val="0B2545"/>
                </a:solidFill>
                <a:latin typeface="Arial"/>
              </a:rPr>
              <a:t>5-Fold Validation Accuracy (%)</a:t>
            </a:r>
          </a:p>
        </c:rich>
      </c:tx>
      <c:layout/>
      <c:overlay val="0"/>
    </c:title>
    <c:autoTitleDeleted val="0"/>
    <c:plotArea>
      <c:layout/>
      <c:barChart>
        <c:barDir val="col"/>
        <c:grouping val="clustered"/>
        <c:varyColors val="0"/>
        <c:ser>
          <c:idx val="0"/>
          <c:order val="0"/>
          <c:tx>
            <c:strRef>
              <c:f>Sheet1!$B$1</c:f>
              <c:strCache>
                <c:ptCount val="1"/>
                <c:pt idx="0">
                  <c:v>Fold Accuracy</c:v>
                </c:pt>
              </c:strCache>
            </c:strRef>
          </c:tx>
          <c:spPr>
            <a:solidFill>
              <a:srgbClr val="0B2545"/>
            </a:solidFill>
            <a:effectLst/>
          </c:spPr>
          <c:invertIfNegative val="0"/>
          <c:dLbls>
            <c:numFmt formatCode="0.00" sourceLinked="0"/>
            <c:txPr>
              <a:bodyPr/>
              <a:lstStyle/>
              <a:p>
                <a:pPr>
                  <a:defRPr b="0" i="0" strike="noStrike" sz="1100" u="none">
                    <a:solidFill>
                      <a:srgbClr val="1E2A38"/>
                    </a:solidFill>
                    <a:latin typeface="Arial"/>
                  </a:defRPr>
                </a:pPr>
              </a:p>
            </c:txPr>
            <c:showLegendKey val="0"/>
            <c:showVal val="1"/>
            <c:showCatName val="0"/>
            <c:showSerName val="0"/>
            <c:showPercent val="0"/>
            <c:showBubbleSize val="0"/>
            <c:showLeaderLines val="0"/>
          </c:dLbls>
          <c:cat>
            <c:multiLvlStrRef>
              <c:f>Sheet1!$A$2:$A$6</c:f>
              <c:multiLvlStrCache>
                <c:ptCount val="5"/>
                <c:lvl>
                  <c:pt idx="0">
                    <c:v>Fold 0</c:v>
                  </c:pt>
                  <c:pt idx="1">
                    <c:v>Fold 1</c:v>
                  </c:pt>
                  <c:pt idx="2">
                    <c:v>Fold 2</c:v>
                  </c:pt>
                  <c:pt idx="3">
                    <c:v>Fold 3</c:v>
                  </c:pt>
                  <c:pt idx="4">
                    <c:v>Fold 4</c:v>
                  </c:pt>
                </c:lvl>
              </c:multiLvlStrCache>
            </c:multiLvlStrRef>
          </c:cat>
          <c:val>
            <c:numRef>
              <c:f>Sheet1!$B$2:$B$6</c:f>
              <c:numCache>
                <c:formatCode>General</c:formatCode>
                <c:ptCount val="5"/>
                <c:pt idx="0">
                  <c:v>99.52</c:v>
                </c:pt>
                <c:pt idx="1">
                  <c:v>99</c:v>
                </c:pt>
                <c:pt idx="2">
                  <c:v>99.09</c:v>
                </c:pt>
                <c:pt idx="3">
                  <c:v>99.02</c:v>
                </c:pt>
                <c:pt idx="4">
                  <c:v>99.61</c:v>
                </c:pt>
              </c:numCache>
            </c:numRef>
          </c:val>
        </c:ser>
        <c:dLbls>
          <c:numFmt formatCode="0.00" sourceLinked="0"/>
          <c:txPr>
            <a:bodyPr/>
            <a:lstStyle/>
            <a:p>
              <a:pPr>
                <a:defRPr b="0" i="0" strike="noStrike" sz="1100" u="none">
                  <a:solidFill>
                    <a:srgbClr val="1E2A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A38"/>
                </a:solidFill>
                <a:latin typeface="Arial"/>
              </a:defRPr>
            </a:pPr>
            <a:endParaRPr lang="en-US"/>
          </a:p>
        </c:txPr>
        <c:crossAx val="2094734552"/>
        <c:crosses val="autoZero"/>
        <c:auto val="1"/>
        <c:lblAlgn val="ctr"/>
        <c:noMultiLvlLbl val="1"/>
      </c:catAx>
      <c:valAx>
        <c:axId val="2094734552"/>
        <c:scaling>
          <c:orientation val="minMax"/>
          <c:max val="100"/>
          <c:min val="95"/>
        </c:scaling>
        <c:delete val="0"/>
        <c:axPos val="l"/>
        <c:majorGridlines>
          <c:spPr>
            <a:ln w="12700" cap="flat">
              <a:solidFill>
                <a:srgbClr val="EEF1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7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B2545"/>
                </a:solidFill>
                <a:latin typeface="Arial"/>
              </a:defRPr>
            </a:pPr>
            <a:r>
              <a:rPr sz="1250" b="0" i="0" u="none" strike="noStrike">
                <a:solidFill>
                  <a:srgbClr val="0B2545"/>
                </a:solidFill>
                <a:latin typeface="Arial"/>
              </a:rPr>
              <a:t>5-Fold Validation Accuracy (%)</a:t>
            </a:r>
          </a:p>
        </c:rich>
      </c:tx>
      <c:layout/>
      <c:overlay val="0"/>
    </c:title>
    <c:autoTitleDeleted val="0"/>
    <c:plotArea>
      <c:layout/>
      <c:barChart>
        <c:barDir val="col"/>
        <c:grouping val="clustered"/>
        <c:varyColors val="0"/>
        <c:ser>
          <c:idx val="0"/>
          <c:order val="0"/>
          <c:tx>
            <c:strRef>
              <c:f>Sheet1!$B$1</c:f>
              <c:strCache>
                <c:ptCount val="1"/>
                <c:pt idx="0">
                  <c:v>Fold Accuracy</c:v>
                </c:pt>
              </c:strCache>
            </c:strRef>
          </c:tx>
          <c:spPr>
            <a:solidFill>
              <a:srgbClr val="2C6E9E"/>
            </a:solidFill>
            <a:effectLst/>
          </c:spPr>
          <c:invertIfNegative val="0"/>
          <c:dLbls>
            <c:numFmt formatCode="0.00" sourceLinked="0"/>
            <c:txPr>
              <a:bodyPr/>
              <a:lstStyle/>
              <a:p>
                <a:pPr>
                  <a:defRPr b="0" i="0" strike="noStrike" sz="1100" u="none">
                    <a:solidFill>
                      <a:srgbClr val="1E2A38"/>
                    </a:solidFill>
                    <a:latin typeface="Arial"/>
                  </a:defRPr>
                </a:pPr>
              </a:p>
            </c:txPr>
            <c:showLegendKey val="0"/>
            <c:showVal val="1"/>
            <c:showCatName val="0"/>
            <c:showSerName val="0"/>
            <c:showPercent val="0"/>
            <c:showBubbleSize val="0"/>
            <c:showLeaderLines val="0"/>
          </c:dLbls>
          <c:cat>
            <c:multiLvlStrRef>
              <c:f>Sheet1!$A$2:$A$6</c:f>
              <c:multiLvlStrCache>
                <c:ptCount val="5"/>
                <c:lvl>
                  <c:pt idx="0">
                    <c:v>Fold 0</c:v>
                  </c:pt>
                  <c:pt idx="1">
                    <c:v>Fold 1</c:v>
                  </c:pt>
                  <c:pt idx="2">
                    <c:v>Fold 2</c:v>
                  </c:pt>
                  <c:pt idx="3">
                    <c:v>Fold 3</c:v>
                  </c:pt>
                  <c:pt idx="4">
                    <c:v>Fold 4</c:v>
                  </c:pt>
                </c:lvl>
              </c:multiLvlStrCache>
            </c:multiLvlStrRef>
          </c:cat>
          <c:val>
            <c:numRef>
              <c:f>Sheet1!$B$2:$B$6</c:f>
              <c:numCache>
                <c:formatCode>General</c:formatCode>
                <c:ptCount val="5"/>
                <c:pt idx="0">
                  <c:v>90.49</c:v>
                </c:pt>
                <c:pt idx="1">
                  <c:v>96.86</c:v>
                </c:pt>
                <c:pt idx="2">
                  <c:v>98.8</c:v>
                </c:pt>
                <c:pt idx="3">
                  <c:v>97.99</c:v>
                </c:pt>
                <c:pt idx="4">
                  <c:v>97.78</c:v>
                </c:pt>
              </c:numCache>
            </c:numRef>
          </c:val>
        </c:ser>
        <c:dLbls>
          <c:numFmt formatCode="0.00" sourceLinked="0"/>
          <c:txPr>
            <a:bodyPr/>
            <a:lstStyle/>
            <a:p>
              <a:pPr>
                <a:defRPr b="0" i="0" strike="noStrike" sz="1100" u="none">
                  <a:solidFill>
                    <a:srgbClr val="1E2A3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E2A38"/>
                </a:solidFill>
                <a:latin typeface="Arial"/>
              </a:defRPr>
            </a:pPr>
            <a:endParaRPr lang="en-US"/>
          </a:p>
        </c:txPr>
        <c:crossAx val="2094734552"/>
        <c:crosses val="autoZero"/>
        <c:auto val="1"/>
        <c:lblAlgn val="ctr"/>
        <c:noMultiLvlLbl val="1"/>
      </c:catAx>
      <c:valAx>
        <c:axId val="2094734552"/>
        <c:scaling>
          <c:orientation val="minMax"/>
          <c:max val="100"/>
          <c:min val="80"/>
        </c:scaling>
        <c:delete val="0"/>
        <c:axPos val="l"/>
        <c:majorGridlines>
          <c:spPr>
            <a:ln w="12700" cap="flat">
              <a:solidFill>
                <a:srgbClr val="EEF1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78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presentation covers Experiment A of my cross-dataset engagement recognition project — a frame-level transfer learning study that is now 100% complete and verified across all four experimental settings and five cross-validation folds. The headline finding is one I want to be upfront about: strong in-domain performance does not mean the model generalizes across datasets, and that negative result is actually the most important contribution of this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driving Experiment A is simple to state: can spatial engagement features learned on one classroom dataset generalize to a completely different one? I test this in both directions — training on OUC-CGE and evaluating zero-shot on COLER, and the reverse — with no fine-tuning at all on the target domain. That zero-shot, no-fine-tuning condition is critical; it's what makes this a genuine test of generalization rather than adaptation.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results, it's worth seeing just how different these two datasets are. OUC-CGE gives us 21,970 frames of whole-classroom, group-level views. COLER gives us 6,845 frames, but each one is a tightly cropped individual student. These aren't just different datasets — they're describing engagement at fundamentally different visual granularities, and that difference turns out to matter enormously for what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 A breaks down into four settings, laid out here as a 2-by-2. Settings 1 and 2 are in-domain — train and test on the same dataset, establishing a ceiling. Settings 3 and 4 are the zero-shot transfers in each direction. I'd point your attention to the visual contrast here: two settings colored to indicate 'in-domain' and two colored to indicate 'transfer' — that color coding will carry through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Mechanically, the pipeline is straightforward: raw frames go through a frame-level representation step, into an ImageNet-pretrained ResNet-50, trained with 5-fold cross-validation, and each fold's checkpoint is then used for zero-shot cross-dataset evaluation. All three classes — Low, Mid, and High — are harmonized into the same integer taxonomy across both datasets, which is what actually makes a shared model and shared metrics possible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result of the entire experiment, so I want to spend real time here. In-domain, this model is essentially excellent — 99.25% on OUC-CGE, 96.38% on COLER. But the moment we transfer across datasets with zero fine-tuning, accuracy falls to 52.84% one direction and just 29.15% the other. Near-perfect in-domain accuracy is masking a severe domain shift that only becomes visible once you actually test across datasets — which almost no prior work in this space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complete numerical record of all four settings — accuracy, macro F1, precision, recall, and QWK, plus the domain-shift drop relative to each in-domain baseline. I've highlighted the six numbers that matter most: the two in-domain accuracies, the two transfer accuracies, and the two shift magnitudes. Everything else in the next several slides is really just unpacking this one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Focusing in on Setting 1: OUC-CGE in-domain is remarkably consistent — 99.25% average accuracy with a standard deviation of just 0.26%, and every single fold lands between 99.0% and 99.6%. This isn't one lucky fold; it's genuinely stable, high performance across five independent validation splits.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actual confusion matrix from Fold 0, which is representative of the pattern across all folds. All three classes — Low, Mid, and High — are recognized above 99% accuracy, with very few off-diagonal errors. In-domain, on OUC-CGE, this model has essentially solved the 3-class engagement recognition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2, COLER in-domain, is also strong — 96.38% average — but notably more variable, with a standard deviation of 3.01% compared to OUC-CGE's 0.26%. Fold 0 in particular came in at just 90.49% and stopped early at epoch 7, well below the other four folds which all cleared 96%. This variability is itself a small hint that COLER, with its smaller sample size, is a somewhat less stable training target — worth keeping in mind before we get to the transfer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the core finding of this experiment. When we take the OUC-trained model and test it zero-shot on COLER, accuracy drops by 46.41 percentage points, from 99.25% to 52.84%. When we go the other direction — COLER-trained model tested on OUC — the drop is even steeper: 67.23 points, from 96.38% down to just 29.15%. I want to let that sit for a moment: this is not a modest degradation, it's a collapse, in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Digging into Setting 3 specifically: the OUC-trained model gets 52.84% accuracy on COLER overall, but the class-level breakdown tells the real story. Look at the High class specifically — 0.00% accuracy. Zero out of 461 COLER 'High engagement' samples were correctly recognized by a model that was 99% accurate on its own domain. Every single one was misclassified as Low or 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4 is worse still. Accuracy falls to 29.15%, and the QWK score actually goes negative — meaning the model's ordinal predictions are performing worse than random chance would on this metric. The confusion matrix shows why: the model has essentially collapsed to predicting 'High' for almost everything. 0% of Low samples and just 2.94% of Mid samples are correctly classified, while 91.73% of actual High samples are — because nearly everything gets called High regardless of the true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is COLER-to-OUC so much worse than OUC-to-COLER — 67 points down versus 46? My interpretation centers on what each model actually learned to look at. COLER trains the model on tight, single-student crops, so it learns student-centric visual patterns. When that model then sees a wide OUC-CGE classroom view with multiple people and background clutter, that representation is fundamentally incompatible with what it's being asked to interpret — it's not just harder, it's the wrong kind of image for what the model knows how to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scientific inference here is about what's actually being learned. Both in-domain models look excellent, but the report's interpretation is that a 2D ResNet-50 has more than enough capacity to memorize spatial patterns specific to one dataset — backgrounds, particular students, lighting conditions — without actually learning a domain-invariant concept of 'engagement.' I want to be careful here: this is offered as interpretation, not something the report experimentally isolated and proved in a controlled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inference formalizes the granularity story I mentioned earlier: COLER teaches a student-centric representation, OUC-CGE requires a multi-person, group-level spatial representation, and those two are just not compatible. The COLER-to-OUC numbers — 0% Low accuracy, 2.94% Mid accuracy — are the clearest evidence of this mismatch in the entire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inference is the most speculative, and I want to phrase it exactly as carefully as the report does. Zero out of 461 COLER High samples were recognized by the OUC-trained model. One explanation consistent with this pattern is that annotation criteria genuinely differ between the two datasets — OUC-CGE annotators may define 'High' engagement around visible forward-leaning and hand-raising, while COLER annotators may define it around calm, attentive posture. I want to stress that this is evidence consistent with annotation drift, not something independently verified as ground truth by this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everything together into one scientific chain: high in-domain accuracy, followed by low zero-shot transfer, driven by genuine domain shift, which itself traces back to visual granularity mismatch and potentially annotation drift. The conclusion that falls out of this chain is direct: single-dataset engagement recognition models are not robust across classroom domains. That's the core validated hypothesis of this entire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exactly why Experiment A isn't just a negative result sitting on its own — it directly motivates what comes next. Experiment B moves to video-level modeling with SlowFast or X3D, capturing temporal motion instead of relying purely on static spatial frames. Experiment C pursues joint multi-dataset training with a shared backbone and dataset-specific heads, explicitly aimed at learning representations that are domain-invariant rather than dataset-specific.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this fits in the overall research roadmap. Phase 1 and Phase 2 — the baseline and the cross-dataset infrastructure — are done. Experiment A, which I've just walked through, is also done. Experiments B and C are next, and Experiment A's results — especially the negative transfer findings — are what justify prioritizing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to close on: excellent in-domain performance, dramatic and asymmetric zero-shot collapse, a failure pattern tied clearly to visual granularity differences, and empirical motivation for temporal and joint-training approaches going forward. Experiment A is complete, and — importantly — its negative results are not a setback, they're the empirical foundation the rest of this research program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for reproducibility: here are the exact four commands used to generate every number in this presentation, one per setting. Happy to walk through any of these in more detail, or take questions on any part of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2C6E9E"/>
          </a:solidFill>
          <a:ln/>
        </p:spPr>
      </p:sp>
      <p:sp>
        <p:nvSpPr>
          <p:cNvPr id="3" name="Text 1"/>
          <p:cNvSpPr/>
          <p:nvPr/>
        </p:nvSpPr>
        <p:spPr>
          <a:xfrm>
            <a:off x="822960" y="1965960"/>
            <a:ext cx="7315200" cy="365760"/>
          </a:xfrm>
          <a:prstGeom prst="rect">
            <a:avLst/>
          </a:prstGeom>
          <a:noFill/>
          <a:ln/>
        </p:spPr>
        <p:txBody>
          <a:bodyPr wrap="square" lIns="0" tIns="0" rIns="0" bIns="0" rtlCol="0" anchor="ctr"/>
          <a:lstStyle/>
          <a:p>
            <a:pPr indent="0" marL="0">
              <a:buNone/>
            </a:pPr>
            <a:r>
              <a:rPr lang="en-US" sz="1400" b="1" spc="300" kern="0" dirty="0">
                <a:solidFill>
                  <a:srgbClr val="7FAFD4"/>
                </a:solidFill>
                <a:latin typeface="Calibri" pitchFamily="34" charset="0"/>
                <a:ea typeface="Calibri" pitchFamily="34" charset="-122"/>
                <a:cs typeface="Calibri" pitchFamily="34" charset="-120"/>
              </a:rPr>
              <a:t>EXPERIMENT A</a:t>
            </a:r>
            <a:endParaRPr lang="en-US" sz="1400" dirty="0"/>
          </a:p>
        </p:txBody>
      </p:sp>
      <p:sp>
        <p:nvSpPr>
          <p:cNvPr id="4" name="Text 2"/>
          <p:cNvSpPr/>
          <p:nvPr/>
        </p:nvSpPr>
        <p:spPr>
          <a:xfrm>
            <a:off x="822960" y="2377440"/>
            <a:ext cx="9875520" cy="1188720"/>
          </a:xfrm>
          <a:prstGeom prst="rect">
            <a:avLst/>
          </a:prstGeom>
          <a:noFill/>
          <a:ln/>
        </p:spPr>
        <p:txBody>
          <a:bodyPr wrap="square" lIns="0" tIns="0" rIns="0" bIns="0" rtlCol="0" anchor="ctr"/>
          <a:lstStyle/>
          <a:p>
            <a:pPr indent="0" marL="0">
              <a:lnSpc>
                <a:spcPts val="4100"/>
              </a:lnSpc>
              <a:buNone/>
            </a:pPr>
            <a:r>
              <a:rPr lang="en-US" sz="3600" b="1" dirty="0">
                <a:solidFill>
                  <a:srgbClr val="FFFFFF"/>
                </a:solidFill>
                <a:latin typeface="Cambria" pitchFamily="34" charset="0"/>
                <a:ea typeface="Cambria" pitchFamily="34" charset="-122"/>
                <a:cs typeface="Cambria" pitchFamily="34" charset="-120"/>
              </a:rPr>
              <a:t>Cross-Dataset Video Engagement Recognition</a:t>
            </a:r>
            <a:endParaRPr lang="en-US" sz="3600" dirty="0"/>
          </a:p>
        </p:txBody>
      </p:sp>
      <p:sp>
        <p:nvSpPr>
          <p:cNvPr id="5" name="Text 3"/>
          <p:cNvSpPr/>
          <p:nvPr/>
        </p:nvSpPr>
        <p:spPr>
          <a:xfrm>
            <a:off x="822960" y="3520440"/>
            <a:ext cx="8686800" cy="502920"/>
          </a:xfrm>
          <a:prstGeom prst="rect">
            <a:avLst/>
          </a:prstGeom>
          <a:noFill/>
          <a:ln/>
        </p:spPr>
        <p:txBody>
          <a:bodyPr wrap="square" lIns="0" tIns="0" rIns="0" bIns="0" rtlCol="0" anchor="ctr"/>
          <a:lstStyle/>
          <a:p>
            <a:pPr indent="0" marL="0">
              <a:buNone/>
            </a:pPr>
            <a:r>
              <a:rPr lang="en-US" sz="1800" i="1" dirty="0">
                <a:solidFill>
                  <a:srgbClr val="AFC4D9"/>
                </a:solidFill>
                <a:latin typeface="Calibri" pitchFamily="34" charset="0"/>
                <a:ea typeface="Calibri" pitchFamily="34" charset="-122"/>
                <a:cs typeface="Calibri" pitchFamily="34" charset="-120"/>
              </a:rPr>
              <a:t>Frame-Level Transfer Learning &amp; Domain Shift Analysis</a:t>
            </a:r>
            <a:endParaRPr lang="en-US" sz="1800" dirty="0"/>
          </a:p>
        </p:txBody>
      </p:sp>
      <p:sp>
        <p:nvSpPr>
          <p:cNvPr id="6" name="Shape 4"/>
          <p:cNvSpPr/>
          <p:nvPr/>
        </p:nvSpPr>
        <p:spPr>
          <a:xfrm>
            <a:off x="822960" y="4160520"/>
            <a:ext cx="1828800" cy="0"/>
          </a:xfrm>
          <a:prstGeom prst="line">
            <a:avLst/>
          </a:prstGeom>
          <a:noFill/>
          <a:ln w="31750">
            <a:solidFill>
              <a:srgbClr val="2C6E9E"/>
            </a:solidFill>
            <a:prstDash val="solid"/>
          </a:ln>
        </p:spPr>
      </p:sp>
      <p:sp>
        <p:nvSpPr>
          <p:cNvPr id="7" name="Text 5"/>
          <p:cNvSpPr/>
          <p:nvPr/>
        </p:nvSpPr>
        <p:spPr>
          <a:xfrm>
            <a:off x="822960" y="4389120"/>
            <a:ext cx="5486400" cy="685800"/>
          </a:xfrm>
          <a:prstGeom prst="rect">
            <a:avLst/>
          </a:prstGeom>
          <a:noFill/>
          <a:ln/>
        </p:spPr>
        <p:txBody>
          <a:bodyPr wrap="square" lIns="0" tIns="0" rIns="0" bIns="0" rtlCol="0" anchor="ctr"/>
          <a:lstStyle/>
          <a:p>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Koppesh</a:t>
            </a:r>
            <a:endParaRPr lang="en-US" sz="1400" dirty="0"/>
          </a:p>
          <a:p>
            <a:pPr indent="0" marL="0">
              <a:lnSpc>
                <a:spcPct val="135000"/>
              </a:lnSpc>
              <a:buNone/>
            </a:pPr>
            <a:r>
              <a:rPr lang="en-US" sz="1250" dirty="0">
                <a:solidFill>
                  <a:srgbClr val="8FA8C4"/>
                </a:solidFill>
                <a:latin typeface="Calibri" pitchFamily="34" charset="0"/>
                <a:ea typeface="Calibri" pitchFamily="34" charset="-122"/>
                <a:cs typeface="Calibri" pitchFamily="34" charset="-120"/>
              </a:rPr>
              <a:t>August 8, 2026</a:t>
            </a:r>
            <a:endParaRPr lang="en-US" sz="1400" dirty="0"/>
          </a:p>
        </p:txBody>
      </p:sp>
      <p:sp>
        <p:nvSpPr>
          <p:cNvPr id="8" name="Text 6"/>
          <p:cNvSpPr/>
          <p:nvPr/>
        </p:nvSpPr>
        <p:spPr>
          <a:xfrm>
            <a:off x="822960" y="5989320"/>
            <a:ext cx="8229600" cy="365760"/>
          </a:xfrm>
          <a:prstGeom prst="rect">
            <a:avLst/>
          </a:prstGeom>
          <a:noFill/>
          <a:ln/>
        </p:spPr>
        <p:txBody>
          <a:bodyPr wrap="square" lIns="0" tIns="0" rIns="0" bIns="0" rtlCol="0" anchor="ctr"/>
          <a:lstStyle/>
          <a:p>
            <a:pPr indent="0" marL="0">
              <a:buNone/>
            </a:pPr>
            <a:r>
              <a:rPr lang="en-US" sz="1050" b="1" spc="100" kern="0" dirty="0">
                <a:solidFill>
                  <a:srgbClr val="7FAFD4"/>
                </a:solidFill>
                <a:latin typeface="Calibri" pitchFamily="34" charset="0"/>
                <a:ea typeface="Calibri" pitchFamily="34" charset="-122"/>
                <a:cs typeface="Calibri" pitchFamily="34" charset="-120"/>
              </a:rPr>
              <a:t>STATUS:  100% COMPLETE &amp; VERIFIED  —  4 SETTINGS × 5-FOLD CV</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RESEARCH QUESTION</a:t>
            </a:r>
            <a:endParaRPr lang="en-US" sz="1200" dirty="0"/>
          </a:p>
        </p:txBody>
      </p:sp>
      <p:sp>
        <p:nvSpPr>
          <p:cNvPr id="3" name="Text 1"/>
          <p:cNvSpPr/>
          <p:nvPr/>
        </p:nvSpPr>
        <p:spPr>
          <a:xfrm>
            <a:off x="548640" y="384048"/>
            <a:ext cx="11094415" cy="1188720"/>
          </a:xfrm>
          <a:prstGeom prst="rect">
            <a:avLst/>
          </a:prstGeom>
          <a:noFill/>
          <a:ln/>
        </p:spPr>
        <p:txBody>
          <a:bodyPr wrap="square" lIns="0" tIns="0" rIns="0" bIns="0" rtlCol="0" anchor="ctr"/>
          <a:lstStyle/>
          <a:p>
            <a:pPr indent="0" marL="0">
              <a:lnSpc>
                <a:spcPts val="2900"/>
              </a:lnSpc>
              <a:buNone/>
            </a:pPr>
            <a:r>
              <a:rPr lang="en-US" sz="2400" b="1" dirty="0">
                <a:solidFill>
                  <a:srgbClr val="0B2545"/>
                </a:solidFill>
                <a:latin typeface="Cambria" pitchFamily="34" charset="0"/>
                <a:ea typeface="Cambria" pitchFamily="34" charset="-122"/>
                <a:cs typeface="Cambria" pitchFamily="34" charset="-120"/>
              </a:rPr>
              <a:t>Can Spatial Engagement Features Learned From</a:t>
            </a:r>
            <a:endParaRPr lang="en-US" sz="2400" dirty="0"/>
          </a:p>
          <a:p>
            <a:pPr indent="0" marL="0">
              <a:lnSpc>
                <a:spcPts val="2900"/>
              </a:lnSpc>
              <a:buNone/>
            </a:pPr>
            <a:r>
              <a:rPr lang="en-US" sz="2400" b="1" dirty="0">
                <a:solidFill>
                  <a:srgbClr val="0B2545"/>
                </a:solidFill>
                <a:latin typeface="Cambria" pitchFamily="34" charset="0"/>
                <a:ea typeface="Cambria" pitchFamily="34" charset="-122"/>
                <a:cs typeface="Cambria" pitchFamily="34" charset="-120"/>
              </a:rPr>
              <a:t>One Classroom Dataset Generalize to Another?</a:t>
            </a:r>
            <a:endParaRPr lang="en-US" sz="2400" dirty="0"/>
          </a:p>
        </p:txBody>
      </p:sp>
      <p:sp>
        <p:nvSpPr>
          <p:cNvPr id="4" name="Shape 2"/>
          <p:cNvSpPr/>
          <p:nvPr/>
        </p:nvSpPr>
        <p:spPr>
          <a:xfrm>
            <a:off x="2514600" y="1965960"/>
            <a:ext cx="914400" cy="914400"/>
          </a:xfrm>
          <a:prstGeom prst="ellipse">
            <a:avLst/>
          </a:prstGeom>
          <a:solidFill>
            <a:srgbClr val="0B2545"/>
          </a:solidFill>
          <a:ln/>
        </p:spPr>
      </p:sp>
      <p:sp>
        <p:nvSpPr>
          <p:cNvPr id="5" name="Text 3"/>
          <p:cNvSpPr/>
          <p:nvPr/>
        </p:nvSpPr>
        <p:spPr>
          <a:xfrm>
            <a:off x="2514600" y="1965960"/>
            <a:ext cx="91440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OUC</a:t>
            </a:r>
            <a:endParaRPr lang="en-US" sz="1800" dirty="0"/>
          </a:p>
        </p:txBody>
      </p:sp>
      <p:sp>
        <p:nvSpPr>
          <p:cNvPr id="6" name="Shape 4"/>
          <p:cNvSpPr/>
          <p:nvPr/>
        </p:nvSpPr>
        <p:spPr>
          <a:xfrm>
            <a:off x="2852928" y="2971800"/>
            <a:ext cx="237744" cy="237744"/>
          </a:xfrm>
          <a:prstGeom prst="downArrow">
            <a:avLst/>
          </a:prstGeom>
          <a:solidFill>
            <a:srgbClr val="6B7785"/>
          </a:solidFill>
          <a:ln/>
        </p:spPr>
      </p:sp>
      <p:sp>
        <p:nvSpPr>
          <p:cNvPr id="7" name="Shape 5"/>
          <p:cNvSpPr/>
          <p:nvPr/>
        </p:nvSpPr>
        <p:spPr>
          <a:xfrm>
            <a:off x="2011680" y="3337560"/>
            <a:ext cx="1920240" cy="502920"/>
          </a:xfrm>
          <a:prstGeom prst="roundRect">
            <a:avLst>
              <a:gd name="adj" fmla="val 14545"/>
            </a:avLst>
          </a:prstGeom>
          <a:solidFill>
            <a:srgbClr val="EEF3F8"/>
          </a:solidFill>
          <a:ln/>
        </p:spPr>
      </p:sp>
      <p:sp>
        <p:nvSpPr>
          <p:cNvPr id="8" name="Text 6"/>
          <p:cNvSpPr/>
          <p:nvPr/>
        </p:nvSpPr>
        <p:spPr>
          <a:xfrm>
            <a:off x="2011680" y="3337560"/>
            <a:ext cx="1920240" cy="50292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ResNet-50</a:t>
            </a:r>
            <a:endParaRPr lang="en-US" sz="1300" dirty="0"/>
          </a:p>
        </p:txBody>
      </p:sp>
      <p:sp>
        <p:nvSpPr>
          <p:cNvPr id="9" name="Shape 7"/>
          <p:cNvSpPr/>
          <p:nvPr/>
        </p:nvSpPr>
        <p:spPr>
          <a:xfrm>
            <a:off x="2852928" y="3968496"/>
            <a:ext cx="237744" cy="237744"/>
          </a:xfrm>
          <a:prstGeom prst="downArrow">
            <a:avLst/>
          </a:prstGeom>
          <a:solidFill>
            <a:srgbClr val="6B7785"/>
          </a:solidFill>
          <a:ln/>
        </p:spPr>
      </p:sp>
      <p:sp>
        <p:nvSpPr>
          <p:cNvPr id="10" name="Shape 8"/>
          <p:cNvSpPr/>
          <p:nvPr/>
        </p:nvSpPr>
        <p:spPr>
          <a:xfrm>
            <a:off x="2514600" y="4334256"/>
            <a:ext cx="914400" cy="914400"/>
          </a:xfrm>
          <a:prstGeom prst="ellipse">
            <a:avLst/>
          </a:prstGeom>
          <a:solidFill>
            <a:srgbClr val="2C6E9E"/>
          </a:solidFill>
          <a:ln/>
        </p:spPr>
      </p:sp>
      <p:sp>
        <p:nvSpPr>
          <p:cNvPr id="11" name="Text 9"/>
          <p:cNvSpPr/>
          <p:nvPr/>
        </p:nvSpPr>
        <p:spPr>
          <a:xfrm>
            <a:off x="2514600" y="4334256"/>
            <a:ext cx="91440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COL</a:t>
            </a:r>
            <a:endParaRPr lang="en-US" sz="1800" dirty="0"/>
          </a:p>
        </p:txBody>
      </p:sp>
      <p:sp>
        <p:nvSpPr>
          <p:cNvPr id="12" name="Shape 10"/>
          <p:cNvSpPr/>
          <p:nvPr/>
        </p:nvSpPr>
        <p:spPr>
          <a:xfrm>
            <a:off x="8275320" y="1965960"/>
            <a:ext cx="914400" cy="914400"/>
          </a:xfrm>
          <a:prstGeom prst="ellipse">
            <a:avLst/>
          </a:prstGeom>
          <a:solidFill>
            <a:srgbClr val="2C6E9E"/>
          </a:solidFill>
          <a:ln/>
        </p:spPr>
      </p:sp>
      <p:sp>
        <p:nvSpPr>
          <p:cNvPr id="13" name="Text 11"/>
          <p:cNvSpPr/>
          <p:nvPr/>
        </p:nvSpPr>
        <p:spPr>
          <a:xfrm>
            <a:off x="8275320" y="1965960"/>
            <a:ext cx="91440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COL</a:t>
            </a:r>
            <a:endParaRPr lang="en-US" sz="1800" dirty="0"/>
          </a:p>
        </p:txBody>
      </p:sp>
      <p:sp>
        <p:nvSpPr>
          <p:cNvPr id="14" name="Shape 12"/>
          <p:cNvSpPr/>
          <p:nvPr/>
        </p:nvSpPr>
        <p:spPr>
          <a:xfrm>
            <a:off x="8613648" y="2971800"/>
            <a:ext cx="237744" cy="237744"/>
          </a:xfrm>
          <a:prstGeom prst="downArrow">
            <a:avLst/>
          </a:prstGeom>
          <a:solidFill>
            <a:srgbClr val="6B7785"/>
          </a:solidFill>
          <a:ln/>
        </p:spPr>
      </p:sp>
      <p:sp>
        <p:nvSpPr>
          <p:cNvPr id="15" name="Shape 13"/>
          <p:cNvSpPr/>
          <p:nvPr/>
        </p:nvSpPr>
        <p:spPr>
          <a:xfrm>
            <a:off x="7772400" y="3337560"/>
            <a:ext cx="1920240" cy="502920"/>
          </a:xfrm>
          <a:prstGeom prst="roundRect">
            <a:avLst>
              <a:gd name="adj" fmla="val 14545"/>
            </a:avLst>
          </a:prstGeom>
          <a:solidFill>
            <a:srgbClr val="EEF3F8"/>
          </a:solidFill>
          <a:ln/>
        </p:spPr>
      </p:sp>
      <p:sp>
        <p:nvSpPr>
          <p:cNvPr id="16" name="Text 14"/>
          <p:cNvSpPr/>
          <p:nvPr/>
        </p:nvSpPr>
        <p:spPr>
          <a:xfrm>
            <a:off x="7772400" y="3337560"/>
            <a:ext cx="1920240" cy="50292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ResNet-50</a:t>
            </a:r>
            <a:endParaRPr lang="en-US" sz="1300" dirty="0"/>
          </a:p>
        </p:txBody>
      </p:sp>
      <p:sp>
        <p:nvSpPr>
          <p:cNvPr id="17" name="Shape 15"/>
          <p:cNvSpPr/>
          <p:nvPr/>
        </p:nvSpPr>
        <p:spPr>
          <a:xfrm>
            <a:off x="8613648" y="3968496"/>
            <a:ext cx="237744" cy="237744"/>
          </a:xfrm>
          <a:prstGeom prst="downArrow">
            <a:avLst/>
          </a:prstGeom>
          <a:solidFill>
            <a:srgbClr val="6B7785"/>
          </a:solidFill>
          <a:ln/>
        </p:spPr>
      </p:sp>
      <p:sp>
        <p:nvSpPr>
          <p:cNvPr id="18" name="Shape 16"/>
          <p:cNvSpPr/>
          <p:nvPr/>
        </p:nvSpPr>
        <p:spPr>
          <a:xfrm>
            <a:off x="8275320" y="4334256"/>
            <a:ext cx="914400" cy="914400"/>
          </a:xfrm>
          <a:prstGeom prst="ellipse">
            <a:avLst/>
          </a:prstGeom>
          <a:solidFill>
            <a:srgbClr val="0B2545"/>
          </a:solidFill>
          <a:ln/>
        </p:spPr>
      </p:sp>
      <p:sp>
        <p:nvSpPr>
          <p:cNvPr id="19" name="Text 17"/>
          <p:cNvSpPr/>
          <p:nvPr/>
        </p:nvSpPr>
        <p:spPr>
          <a:xfrm>
            <a:off x="8275320" y="4334256"/>
            <a:ext cx="914400"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OUC</a:t>
            </a:r>
            <a:endParaRPr lang="en-US" sz="1800" dirty="0"/>
          </a:p>
        </p:txBody>
      </p:sp>
      <p:sp>
        <p:nvSpPr>
          <p:cNvPr id="20" name="Text 18"/>
          <p:cNvSpPr/>
          <p:nvPr/>
        </p:nvSpPr>
        <p:spPr>
          <a:xfrm>
            <a:off x="548640" y="1645920"/>
            <a:ext cx="4846320" cy="274320"/>
          </a:xfrm>
          <a:prstGeom prst="rect">
            <a:avLst/>
          </a:prstGeom>
          <a:noFill/>
          <a:ln/>
        </p:spPr>
        <p:txBody>
          <a:bodyPr wrap="square" lIns="0" tIns="0" rIns="0" bIns="0" rtlCol="0" anchor="ctr"/>
          <a:lstStyle/>
          <a:p>
            <a:pPr algn="ctr" indent="0" marL="0">
              <a:buNone/>
            </a:pPr>
            <a:r>
              <a:rPr lang="en-US" sz="1100" b="1" dirty="0">
                <a:solidFill>
                  <a:srgbClr val="6B7785"/>
                </a:solidFill>
                <a:latin typeface="Calibri" pitchFamily="34" charset="0"/>
                <a:ea typeface="Calibri" pitchFamily="34" charset="-122"/>
                <a:cs typeface="Calibri" pitchFamily="34" charset="-120"/>
              </a:rPr>
              <a:t>OUC-CGE</a:t>
            </a:r>
            <a:endParaRPr lang="en-US" sz="1100" dirty="0"/>
          </a:p>
        </p:txBody>
      </p:sp>
      <p:sp>
        <p:nvSpPr>
          <p:cNvPr id="21" name="Text 19"/>
          <p:cNvSpPr/>
          <p:nvPr/>
        </p:nvSpPr>
        <p:spPr>
          <a:xfrm>
            <a:off x="548640" y="5330952"/>
            <a:ext cx="4846320" cy="274320"/>
          </a:xfrm>
          <a:prstGeom prst="rect">
            <a:avLst/>
          </a:prstGeom>
          <a:noFill/>
          <a:ln/>
        </p:spPr>
        <p:txBody>
          <a:bodyPr wrap="square" lIns="0" tIns="0" rIns="0" bIns="0" rtlCol="0" anchor="ctr"/>
          <a:lstStyle/>
          <a:p>
            <a:pPr algn="ctr" indent="0" marL="0">
              <a:buNone/>
            </a:pPr>
            <a:r>
              <a:rPr lang="en-US" sz="1100" b="1" dirty="0">
                <a:solidFill>
                  <a:srgbClr val="6B7785"/>
                </a:solidFill>
                <a:latin typeface="Calibri" pitchFamily="34" charset="0"/>
                <a:ea typeface="Calibri" pitchFamily="34" charset="-122"/>
                <a:cs typeface="Calibri" pitchFamily="34" charset="-120"/>
              </a:rPr>
              <a:t>COLER</a:t>
            </a:r>
            <a:endParaRPr lang="en-US" sz="1100" dirty="0"/>
          </a:p>
        </p:txBody>
      </p:sp>
      <p:sp>
        <p:nvSpPr>
          <p:cNvPr id="22" name="Text 20"/>
          <p:cNvSpPr/>
          <p:nvPr/>
        </p:nvSpPr>
        <p:spPr>
          <a:xfrm>
            <a:off x="6309360" y="1645920"/>
            <a:ext cx="4846320" cy="274320"/>
          </a:xfrm>
          <a:prstGeom prst="rect">
            <a:avLst/>
          </a:prstGeom>
          <a:noFill/>
          <a:ln/>
        </p:spPr>
        <p:txBody>
          <a:bodyPr wrap="square" lIns="0" tIns="0" rIns="0" bIns="0" rtlCol="0" anchor="ctr"/>
          <a:lstStyle/>
          <a:p>
            <a:pPr algn="ctr" indent="0" marL="0">
              <a:buNone/>
            </a:pPr>
            <a:r>
              <a:rPr lang="en-US" sz="1100" b="1" dirty="0">
                <a:solidFill>
                  <a:srgbClr val="6B7785"/>
                </a:solidFill>
                <a:latin typeface="Calibri" pitchFamily="34" charset="0"/>
                <a:ea typeface="Calibri" pitchFamily="34" charset="-122"/>
                <a:cs typeface="Calibri" pitchFamily="34" charset="-120"/>
              </a:rPr>
              <a:t>COLER</a:t>
            </a:r>
            <a:endParaRPr lang="en-US" sz="1100" dirty="0"/>
          </a:p>
        </p:txBody>
      </p:sp>
      <p:sp>
        <p:nvSpPr>
          <p:cNvPr id="23" name="Text 21"/>
          <p:cNvSpPr/>
          <p:nvPr/>
        </p:nvSpPr>
        <p:spPr>
          <a:xfrm>
            <a:off x="6309360" y="5330952"/>
            <a:ext cx="4846320" cy="274320"/>
          </a:xfrm>
          <a:prstGeom prst="rect">
            <a:avLst/>
          </a:prstGeom>
          <a:noFill/>
          <a:ln/>
        </p:spPr>
        <p:txBody>
          <a:bodyPr wrap="square" lIns="0" tIns="0" rIns="0" bIns="0" rtlCol="0" anchor="ctr"/>
          <a:lstStyle/>
          <a:p>
            <a:pPr algn="ctr" indent="0" marL="0">
              <a:buNone/>
            </a:pPr>
            <a:r>
              <a:rPr lang="en-US" sz="1100" b="1" dirty="0">
                <a:solidFill>
                  <a:srgbClr val="6B7785"/>
                </a:solidFill>
                <a:latin typeface="Calibri" pitchFamily="34" charset="0"/>
                <a:ea typeface="Calibri" pitchFamily="34" charset="-122"/>
                <a:cs typeface="Calibri" pitchFamily="34" charset="-120"/>
              </a:rPr>
              <a:t>OUC-CGE</a:t>
            </a:r>
            <a:endParaRPr lang="en-US" sz="1100" dirty="0"/>
          </a:p>
        </p:txBody>
      </p:sp>
      <p:sp>
        <p:nvSpPr>
          <p:cNvPr id="24" name="Shape 22"/>
          <p:cNvSpPr/>
          <p:nvPr/>
        </p:nvSpPr>
        <p:spPr>
          <a:xfrm>
            <a:off x="5852160" y="1874520"/>
            <a:ext cx="0" cy="3611880"/>
          </a:xfrm>
          <a:prstGeom prst="line">
            <a:avLst/>
          </a:prstGeom>
          <a:noFill/>
          <a:ln w="12700">
            <a:solidFill>
              <a:srgbClr val="E3E9ED"/>
            </a:solidFill>
            <a:prstDash val="dash"/>
          </a:ln>
        </p:spPr>
      </p:sp>
      <p:sp>
        <p:nvSpPr>
          <p:cNvPr id="25" name="Shape 23"/>
          <p:cNvSpPr/>
          <p:nvPr/>
        </p:nvSpPr>
        <p:spPr>
          <a:xfrm>
            <a:off x="3901288" y="5760720"/>
            <a:ext cx="4389120" cy="502920"/>
          </a:xfrm>
          <a:prstGeom prst="roundRect">
            <a:avLst>
              <a:gd name="adj" fmla="val 50909"/>
            </a:avLst>
          </a:prstGeom>
          <a:solidFill>
            <a:srgbClr val="C0392B"/>
          </a:solidFill>
          <a:ln/>
        </p:spPr>
      </p:sp>
      <p:sp>
        <p:nvSpPr>
          <p:cNvPr id="26" name="Text 24"/>
          <p:cNvSpPr/>
          <p:nvPr/>
        </p:nvSpPr>
        <p:spPr>
          <a:xfrm>
            <a:off x="3901288" y="5760720"/>
            <a:ext cx="43891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ZERO-SHOT · NO FINE-TUNING</a:t>
            </a:r>
            <a:endParaRPr lang="en-US" sz="1300" dirty="0"/>
          </a:p>
        </p:txBody>
      </p:sp>
      <p:sp>
        <p:nvSpPr>
          <p:cNvPr id="27" name="Text 25"/>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DATASETS</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Two Datasets at Fundamentally Different Visual Granularities</a:t>
            </a:r>
            <a:endParaRPr lang="en-US" sz="2500" dirty="0"/>
          </a:p>
        </p:txBody>
      </p:sp>
      <p:sp>
        <p:nvSpPr>
          <p:cNvPr id="4" name="Shape 2"/>
          <p:cNvSpPr/>
          <p:nvPr/>
        </p:nvSpPr>
        <p:spPr>
          <a:xfrm>
            <a:off x="548640" y="1737360"/>
            <a:ext cx="5120640" cy="3200400"/>
          </a:xfrm>
          <a:prstGeom prst="roundRect">
            <a:avLst>
              <a:gd name="adj" fmla="val 3429"/>
            </a:avLst>
          </a:prstGeom>
          <a:solidFill>
            <a:srgbClr val="F4F6F8"/>
          </a:solidFill>
          <a:ln w="19050">
            <a:solidFill>
              <a:srgbClr val="0B2545"/>
            </a:solidFill>
            <a:prstDash val="solid"/>
          </a:ln>
        </p:spPr>
      </p:sp>
      <p:sp>
        <p:nvSpPr>
          <p:cNvPr id="5" name="Shape 3"/>
          <p:cNvSpPr/>
          <p:nvPr/>
        </p:nvSpPr>
        <p:spPr>
          <a:xfrm>
            <a:off x="914400" y="2103120"/>
            <a:ext cx="822960" cy="822960"/>
          </a:xfrm>
          <a:prstGeom prst="ellipse">
            <a:avLst/>
          </a:prstGeom>
          <a:solidFill>
            <a:srgbClr val="0B2545"/>
          </a:solidFill>
          <a:ln/>
        </p:spPr>
      </p:sp>
      <p:sp>
        <p:nvSpPr>
          <p:cNvPr id="6" name="Text 4"/>
          <p:cNvSpPr/>
          <p:nvPr/>
        </p:nvSpPr>
        <p:spPr>
          <a:xfrm>
            <a:off x="914400" y="210312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O</a:t>
            </a:r>
            <a:endParaRPr lang="en-US" sz="2200" dirty="0"/>
          </a:p>
        </p:txBody>
      </p:sp>
      <p:sp>
        <p:nvSpPr>
          <p:cNvPr id="7" name="Text 5"/>
          <p:cNvSpPr/>
          <p:nvPr/>
        </p:nvSpPr>
        <p:spPr>
          <a:xfrm>
            <a:off x="1920240" y="2121408"/>
            <a:ext cx="3474720" cy="4572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OUC-CGE</a:t>
            </a:r>
            <a:endParaRPr lang="en-US" sz="2200" dirty="0"/>
          </a:p>
        </p:txBody>
      </p:sp>
      <p:sp>
        <p:nvSpPr>
          <p:cNvPr id="8" name="Text 6"/>
          <p:cNvSpPr/>
          <p:nvPr/>
        </p:nvSpPr>
        <p:spPr>
          <a:xfrm>
            <a:off x="1920240" y="2578608"/>
            <a:ext cx="3474720" cy="36576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Group-level classroom views · China</a:t>
            </a:r>
            <a:endParaRPr lang="en-US" sz="1200" dirty="0"/>
          </a:p>
        </p:txBody>
      </p:sp>
      <p:sp>
        <p:nvSpPr>
          <p:cNvPr id="9" name="Text 7"/>
          <p:cNvSpPr/>
          <p:nvPr/>
        </p:nvSpPr>
        <p:spPr>
          <a:xfrm>
            <a:off x="914400" y="3246120"/>
            <a:ext cx="4389120" cy="914400"/>
          </a:xfrm>
          <a:prstGeom prst="rect">
            <a:avLst/>
          </a:prstGeom>
          <a:noFill/>
          <a:ln/>
        </p:spPr>
        <p:txBody>
          <a:bodyPr wrap="square" lIns="0" tIns="0" rIns="0" bIns="0" rtlCol="0" anchor="ctr"/>
          <a:lstStyle/>
          <a:p>
            <a:pPr indent="0" marL="0">
              <a:buNone/>
            </a:pPr>
            <a:r>
              <a:rPr lang="en-US" sz="4600" b="1" dirty="0">
                <a:solidFill>
                  <a:srgbClr val="0B2545"/>
                </a:solidFill>
                <a:latin typeface="Cambria" pitchFamily="34" charset="0"/>
                <a:ea typeface="Cambria" pitchFamily="34" charset="-122"/>
                <a:cs typeface="Cambria" pitchFamily="34" charset="-120"/>
              </a:rPr>
              <a:t>21,970</a:t>
            </a:r>
            <a:endParaRPr lang="en-US" sz="4600" dirty="0"/>
          </a:p>
        </p:txBody>
      </p:sp>
      <p:sp>
        <p:nvSpPr>
          <p:cNvPr id="10" name="Text 8"/>
          <p:cNvSpPr/>
          <p:nvPr/>
        </p:nvSpPr>
        <p:spPr>
          <a:xfrm>
            <a:off x="914400" y="4114800"/>
            <a:ext cx="4389120" cy="27432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TOTAL FRAMES</a:t>
            </a:r>
            <a:endParaRPr lang="en-US" sz="1050" dirty="0"/>
          </a:p>
        </p:txBody>
      </p:sp>
      <p:sp>
        <p:nvSpPr>
          <p:cNvPr id="11" name="Shape 9"/>
          <p:cNvSpPr/>
          <p:nvPr/>
        </p:nvSpPr>
        <p:spPr>
          <a:xfrm>
            <a:off x="6126480" y="1737360"/>
            <a:ext cx="5120640" cy="3200400"/>
          </a:xfrm>
          <a:prstGeom prst="roundRect">
            <a:avLst>
              <a:gd name="adj" fmla="val 3429"/>
            </a:avLst>
          </a:prstGeom>
          <a:solidFill>
            <a:srgbClr val="F4F6F8"/>
          </a:solidFill>
          <a:ln w="19050">
            <a:solidFill>
              <a:srgbClr val="2C6E9E"/>
            </a:solidFill>
            <a:prstDash val="solid"/>
          </a:ln>
        </p:spPr>
      </p:sp>
      <p:sp>
        <p:nvSpPr>
          <p:cNvPr id="12" name="Shape 10"/>
          <p:cNvSpPr/>
          <p:nvPr/>
        </p:nvSpPr>
        <p:spPr>
          <a:xfrm>
            <a:off x="6492240" y="2103120"/>
            <a:ext cx="822960" cy="822960"/>
          </a:xfrm>
          <a:prstGeom prst="ellipse">
            <a:avLst/>
          </a:prstGeom>
          <a:solidFill>
            <a:srgbClr val="2C6E9E"/>
          </a:solidFill>
          <a:ln/>
        </p:spPr>
      </p:sp>
      <p:sp>
        <p:nvSpPr>
          <p:cNvPr id="13" name="Text 11"/>
          <p:cNvSpPr/>
          <p:nvPr/>
        </p:nvSpPr>
        <p:spPr>
          <a:xfrm>
            <a:off x="6492240" y="210312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C</a:t>
            </a:r>
            <a:endParaRPr lang="en-US" sz="2200" dirty="0"/>
          </a:p>
        </p:txBody>
      </p:sp>
      <p:sp>
        <p:nvSpPr>
          <p:cNvPr id="14" name="Text 12"/>
          <p:cNvSpPr/>
          <p:nvPr/>
        </p:nvSpPr>
        <p:spPr>
          <a:xfrm>
            <a:off x="7498080" y="2121408"/>
            <a:ext cx="3474720" cy="457200"/>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COLER</a:t>
            </a:r>
            <a:endParaRPr lang="en-US" sz="2200" dirty="0"/>
          </a:p>
        </p:txBody>
      </p:sp>
      <p:sp>
        <p:nvSpPr>
          <p:cNvPr id="15" name="Text 13"/>
          <p:cNvSpPr/>
          <p:nvPr/>
        </p:nvSpPr>
        <p:spPr>
          <a:xfrm>
            <a:off x="7498080" y="2578608"/>
            <a:ext cx="3474720" cy="36576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Individual student cropped sequences · Vietnam</a:t>
            </a:r>
            <a:endParaRPr lang="en-US" sz="1200" dirty="0"/>
          </a:p>
        </p:txBody>
      </p:sp>
      <p:sp>
        <p:nvSpPr>
          <p:cNvPr id="16" name="Text 14"/>
          <p:cNvSpPr/>
          <p:nvPr/>
        </p:nvSpPr>
        <p:spPr>
          <a:xfrm>
            <a:off x="6492240" y="3246120"/>
            <a:ext cx="4389120" cy="914400"/>
          </a:xfrm>
          <a:prstGeom prst="rect">
            <a:avLst/>
          </a:prstGeom>
          <a:noFill/>
          <a:ln/>
        </p:spPr>
        <p:txBody>
          <a:bodyPr wrap="square" lIns="0" tIns="0" rIns="0" bIns="0" rtlCol="0" anchor="ctr"/>
          <a:lstStyle/>
          <a:p>
            <a:pPr indent="0" marL="0">
              <a:buNone/>
            </a:pPr>
            <a:r>
              <a:rPr lang="en-US" sz="4600" b="1" dirty="0">
                <a:solidFill>
                  <a:srgbClr val="2C6E9E"/>
                </a:solidFill>
                <a:latin typeface="Cambria" pitchFamily="34" charset="0"/>
                <a:ea typeface="Cambria" pitchFamily="34" charset="-122"/>
                <a:cs typeface="Cambria" pitchFamily="34" charset="-120"/>
              </a:rPr>
              <a:t>6,845</a:t>
            </a:r>
            <a:endParaRPr lang="en-US" sz="4600" dirty="0"/>
          </a:p>
        </p:txBody>
      </p:sp>
      <p:sp>
        <p:nvSpPr>
          <p:cNvPr id="17" name="Text 15"/>
          <p:cNvSpPr/>
          <p:nvPr/>
        </p:nvSpPr>
        <p:spPr>
          <a:xfrm>
            <a:off x="6492240" y="4114800"/>
            <a:ext cx="4389120" cy="27432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TOTAL FRAMES</a:t>
            </a:r>
            <a:endParaRPr lang="en-US" sz="1050" dirty="0"/>
          </a:p>
        </p:txBody>
      </p:sp>
      <p:sp>
        <p:nvSpPr>
          <p:cNvPr id="18" name="Shape 16"/>
          <p:cNvSpPr/>
          <p:nvPr/>
        </p:nvSpPr>
        <p:spPr>
          <a:xfrm>
            <a:off x="548640" y="5257800"/>
            <a:ext cx="11064240" cy="1051560"/>
          </a:xfrm>
          <a:prstGeom prst="roundRect">
            <a:avLst>
              <a:gd name="adj" fmla="val 8696"/>
            </a:avLst>
          </a:prstGeom>
          <a:solidFill>
            <a:srgbClr val="0B2545"/>
          </a:solidFill>
          <a:ln/>
        </p:spPr>
      </p:sp>
      <p:sp>
        <p:nvSpPr>
          <p:cNvPr id="19" name="Text 17"/>
          <p:cNvSpPr/>
          <p:nvPr/>
        </p:nvSpPr>
        <p:spPr>
          <a:xfrm>
            <a:off x="914400" y="5257800"/>
            <a:ext cx="10332720" cy="1051560"/>
          </a:xfrm>
          <a:prstGeom prst="rect">
            <a:avLst/>
          </a:prstGeom>
          <a:noFill/>
          <a:ln/>
        </p:spPr>
        <p:txBody>
          <a:bodyPr wrap="square" lIns="0" tIns="0" rIns="0" bIns="0" rtlCol="0" anchor="ctr"/>
          <a:lstStyle/>
          <a:p>
            <a:pPr algn="l" indent="0" marL="0">
              <a:lnSpc>
                <a:spcPts val="2100"/>
              </a:lnSpc>
              <a:buNone/>
            </a:pPr>
            <a:r>
              <a:rPr lang="en-US" sz="1600" i="1" dirty="0">
                <a:solidFill>
                  <a:srgbClr val="FFFFFF"/>
                </a:solidFill>
                <a:latin typeface="Cambria" pitchFamily="34" charset="0"/>
                <a:ea typeface="Cambria" pitchFamily="34" charset="-122"/>
                <a:cs typeface="Cambria" pitchFamily="34" charset="-120"/>
              </a:rPr>
              <a:t>These datasets describe engagement at fundamentally different visual granularities — whole-classroom group views vs. tightly cropped individual students.</a:t>
            </a:r>
            <a:endParaRPr lang="en-US" sz="1600" dirty="0"/>
          </a:p>
        </p:txBody>
      </p:sp>
      <p:sp>
        <p:nvSpPr>
          <p:cNvPr id="20" name="Text 18"/>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EXPERIMENTAL DESIGN</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Four Settings: In-Domain Baselines + Zero-Shot Transfer</a:t>
            </a:r>
            <a:endParaRPr lang="en-US" sz="2500" dirty="0"/>
          </a:p>
        </p:txBody>
      </p:sp>
      <p:sp>
        <p:nvSpPr>
          <p:cNvPr id="4" name="Shape 2"/>
          <p:cNvSpPr/>
          <p:nvPr/>
        </p:nvSpPr>
        <p:spPr>
          <a:xfrm>
            <a:off x="548640" y="1600200"/>
            <a:ext cx="5257800" cy="1965960"/>
          </a:xfrm>
          <a:prstGeom prst="roundRect">
            <a:avLst>
              <a:gd name="adj" fmla="val 4651"/>
            </a:avLst>
          </a:prstGeom>
          <a:solidFill>
            <a:srgbClr val="EEF3F8"/>
          </a:solidFill>
          <a:ln w="19050">
            <a:solidFill>
              <a:srgbClr val="0B2545"/>
            </a:solidFill>
            <a:prstDash val="solid"/>
          </a:ln>
        </p:spPr>
      </p:sp>
      <p:sp>
        <p:nvSpPr>
          <p:cNvPr id="5" name="Text 3"/>
          <p:cNvSpPr/>
          <p:nvPr/>
        </p:nvSpPr>
        <p:spPr>
          <a:xfrm>
            <a:off x="822960" y="1783080"/>
            <a:ext cx="4709160" cy="274320"/>
          </a:xfrm>
          <a:prstGeom prst="rect">
            <a:avLst/>
          </a:prstGeom>
          <a:noFill/>
          <a:ln/>
        </p:spPr>
        <p:txBody>
          <a:bodyPr wrap="square" lIns="0" tIns="0" rIns="0" bIns="0" rtlCol="0" anchor="ctr"/>
          <a:lstStyle/>
          <a:p>
            <a:pPr indent="0" marL="0">
              <a:buNone/>
            </a:pPr>
            <a:r>
              <a:rPr lang="en-US" sz="1100" b="1" spc="150" kern="0" dirty="0">
                <a:solidFill>
                  <a:srgbClr val="0B2545"/>
                </a:solidFill>
                <a:latin typeface="Calibri" pitchFamily="34" charset="0"/>
                <a:ea typeface="Calibri" pitchFamily="34" charset="-122"/>
                <a:cs typeface="Calibri" pitchFamily="34" charset="-120"/>
              </a:rPr>
              <a:t>SETTING 1</a:t>
            </a:r>
            <a:endParaRPr lang="en-US" sz="1100" dirty="0"/>
          </a:p>
        </p:txBody>
      </p:sp>
      <p:sp>
        <p:nvSpPr>
          <p:cNvPr id="6" name="Text 4"/>
          <p:cNvSpPr/>
          <p:nvPr/>
        </p:nvSpPr>
        <p:spPr>
          <a:xfrm>
            <a:off x="822960" y="2148840"/>
            <a:ext cx="4709160" cy="640080"/>
          </a:xfrm>
          <a:prstGeom prst="rect">
            <a:avLst/>
          </a:prstGeom>
          <a:noFill/>
          <a:ln/>
        </p:spPr>
        <p:txBody>
          <a:bodyPr wrap="square" lIns="0" tIns="0" rIns="0" bIns="0" rtlCol="0" anchor="ctr"/>
          <a:lstStyle/>
          <a:p>
            <a:pPr indent="0" marL="0">
              <a:buNone/>
            </a:pPr>
            <a:r>
              <a:rPr lang="en-US" sz="2400" b="1" dirty="0">
                <a:solidFill>
                  <a:srgbClr val="0B2545"/>
                </a:solidFill>
                <a:latin typeface="Cambria" pitchFamily="34" charset="0"/>
                <a:ea typeface="Cambria" pitchFamily="34" charset="-122"/>
                <a:cs typeface="Cambria" pitchFamily="34" charset="-120"/>
              </a:rPr>
              <a:t>OUC</a:t>
            </a:r>
            <a:pPr indent="0" marL="0">
              <a:buNone/>
            </a:pPr>
            <a:r>
              <a:rPr lang="en-US" sz="2400" b="1" dirty="0">
                <a:solidFill>
                  <a:srgbClr val="0B2545"/>
                </a:solidFill>
                <a:latin typeface="Cambria" pitchFamily="34" charset="0"/>
                <a:ea typeface="Cambria" pitchFamily="34" charset="-122"/>
                <a:cs typeface="Cambria" pitchFamily="34" charset="-120"/>
              </a:rPr>
              <a:t>   →   </a:t>
            </a:r>
            <a:pPr indent="0" marL="0">
              <a:buNone/>
            </a:pPr>
            <a:r>
              <a:rPr lang="en-US" sz="2400" b="1" dirty="0">
                <a:solidFill>
                  <a:srgbClr val="0B2545"/>
                </a:solidFill>
                <a:latin typeface="Cambria" pitchFamily="34" charset="0"/>
                <a:ea typeface="Cambria" pitchFamily="34" charset="-122"/>
                <a:cs typeface="Cambria" pitchFamily="34" charset="-120"/>
              </a:rPr>
              <a:t>OUC</a:t>
            </a:r>
            <a:endParaRPr lang="en-US" sz="2400" dirty="0"/>
          </a:p>
        </p:txBody>
      </p:sp>
      <p:sp>
        <p:nvSpPr>
          <p:cNvPr id="7" name="Shape 5"/>
          <p:cNvSpPr/>
          <p:nvPr/>
        </p:nvSpPr>
        <p:spPr>
          <a:xfrm>
            <a:off x="822960" y="2926080"/>
            <a:ext cx="2011680" cy="411480"/>
          </a:xfrm>
          <a:prstGeom prst="roundRect">
            <a:avLst>
              <a:gd name="adj" fmla="val 48889"/>
            </a:avLst>
          </a:prstGeom>
          <a:solidFill>
            <a:srgbClr val="0B2545"/>
          </a:solidFill>
          <a:ln/>
        </p:spPr>
      </p:sp>
      <p:sp>
        <p:nvSpPr>
          <p:cNvPr id="8" name="Text 6"/>
          <p:cNvSpPr/>
          <p:nvPr/>
        </p:nvSpPr>
        <p:spPr>
          <a:xfrm>
            <a:off x="822960" y="2926080"/>
            <a:ext cx="20116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IN-DOMAIN</a:t>
            </a:r>
            <a:endParaRPr lang="en-US" sz="1050" dirty="0"/>
          </a:p>
        </p:txBody>
      </p:sp>
      <p:sp>
        <p:nvSpPr>
          <p:cNvPr id="9" name="Shape 7"/>
          <p:cNvSpPr/>
          <p:nvPr/>
        </p:nvSpPr>
        <p:spPr>
          <a:xfrm>
            <a:off x="6172200" y="1600200"/>
            <a:ext cx="5257800" cy="1965960"/>
          </a:xfrm>
          <a:prstGeom prst="roundRect">
            <a:avLst>
              <a:gd name="adj" fmla="val 4651"/>
            </a:avLst>
          </a:prstGeom>
          <a:solidFill>
            <a:srgbClr val="EEF3F8"/>
          </a:solidFill>
          <a:ln w="19050">
            <a:solidFill>
              <a:srgbClr val="0B2545"/>
            </a:solidFill>
            <a:prstDash val="solid"/>
          </a:ln>
        </p:spPr>
      </p:sp>
      <p:sp>
        <p:nvSpPr>
          <p:cNvPr id="10" name="Text 8"/>
          <p:cNvSpPr/>
          <p:nvPr/>
        </p:nvSpPr>
        <p:spPr>
          <a:xfrm>
            <a:off x="6446520" y="1783080"/>
            <a:ext cx="4709160" cy="274320"/>
          </a:xfrm>
          <a:prstGeom prst="rect">
            <a:avLst/>
          </a:prstGeom>
          <a:noFill/>
          <a:ln/>
        </p:spPr>
        <p:txBody>
          <a:bodyPr wrap="square" lIns="0" tIns="0" rIns="0" bIns="0" rtlCol="0" anchor="ctr"/>
          <a:lstStyle/>
          <a:p>
            <a:pPr indent="0" marL="0">
              <a:buNone/>
            </a:pPr>
            <a:r>
              <a:rPr lang="en-US" sz="1100" b="1" spc="150" kern="0" dirty="0">
                <a:solidFill>
                  <a:srgbClr val="0B2545"/>
                </a:solidFill>
                <a:latin typeface="Calibri" pitchFamily="34" charset="0"/>
                <a:ea typeface="Calibri" pitchFamily="34" charset="-122"/>
                <a:cs typeface="Calibri" pitchFamily="34" charset="-120"/>
              </a:rPr>
              <a:t>SETTING 2</a:t>
            </a:r>
            <a:endParaRPr lang="en-US" sz="1100" dirty="0"/>
          </a:p>
        </p:txBody>
      </p:sp>
      <p:sp>
        <p:nvSpPr>
          <p:cNvPr id="11" name="Text 9"/>
          <p:cNvSpPr/>
          <p:nvPr/>
        </p:nvSpPr>
        <p:spPr>
          <a:xfrm>
            <a:off x="6446520" y="2148840"/>
            <a:ext cx="4709160" cy="640080"/>
          </a:xfrm>
          <a:prstGeom prst="rect">
            <a:avLst/>
          </a:prstGeom>
          <a:noFill/>
          <a:ln/>
        </p:spPr>
        <p:txBody>
          <a:bodyPr wrap="square" lIns="0" tIns="0" rIns="0" bIns="0" rtlCol="0" anchor="ctr"/>
          <a:lstStyle/>
          <a:p>
            <a:pPr indent="0" marL="0">
              <a:buNone/>
            </a:pPr>
            <a:r>
              <a:rPr lang="en-US" sz="2400" b="1" dirty="0">
                <a:solidFill>
                  <a:srgbClr val="0B2545"/>
                </a:solidFill>
                <a:latin typeface="Cambria" pitchFamily="34" charset="0"/>
                <a:ea typeface="Cambria" pitchFamily="34" charset="-122"/>
                <a:cs typeface="Cambria" pitchFamily="34" charset="-120"/>
              </a:rPr>
              <a:t>COLER</a:t>
            </a:r>
            <a:pPr indent="0" marL="0">
              <a:buNone/>
            </a:pPr>
            <a:r>
              <a:rPr lang="en-US" sz="2400" b="1" dirty="0">
                <a:solidFill>
                  <a:srgbClr val="0B2545"/>
                </a:solidFill>
                <a:latin typeface="Cambria" pitchFamily="34" charset="0"/>
                <a:ea typeface="Cambria" pitchFamily="34" charset="-122"/>
                <a:cs typeface="Cambria" pitchFamily="34" charset="-120"/>
              </a:rPr>
              <a:t>   →   </a:t>
            </a:r>
            <a:pPr indent="0" marL="0">
              <a:buNone/>
            </a:pPr>
            <a:r>
              <a:rPr lang="en-US" sz="2400" b="1" dirty="0">
                <a:solidFill>
                  <a:srgbClr val="0B2545"/>
                </a:solidFill>
                <a:latin typeface="Cambria" pitchFamily="34" charset="0"/>
                <a:ea typeface="Cambria" pitchFamily="34" charset="-122"/>
                <a:cs typeface="Cambria" pitchFamily="34" charset="-120"/>
              </a:rPr>
              <a:t>COLER</a:t>
            </a:r>
            <a:endParaRPr lang="en-US" sz="2400" dirty="0"/>
          </a:p>
        </p:txBody>
      </p:sp>
      <p:sp>
        <p:nvSpPr>
          <p:cNvPr id="12" name="Shape 10"/>
          <p:cNvSpPr/>
          <p:nvPr/>
        </p:nvSpPr>
        <p:spPr>
          <a:xfrm>
            <a:off x="6446520" y="2926080"/>
            <a:ext cx="2011680" cy="411480"/>
          </a:xfrm>
          <a:prstGeom prst="roundRect">
            <a:avLst>
              <a:gd name="adj" fmla="val 48889"/>
            </a:avLst>
          </a:prstGeom>
          <a:solidFill>
            <a:srgbClr val="0B2545"/>
          </a:solidFill>
          <a:ln/>
        </p:spPr>
      </p:sp>
      <p:sp>
        <p:nvSpPr>
          <p:cNvPr id="13" name="Text 11"/>
          <p:cNvSpPr/>
          <p:nvPr/>
        </p:nvSpPr>
        <p:spPr>
          <a:xfrm>
            <a:off x="6446520" y="2926080"/>
            <a:ext cx="20116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IN-DOMAIN</a:t>
            </a:r>
            <a:endParaRPr lang="en-US" sz="1050" dirty="0"/>
          </a:p>
        </p:txBody>
      </p:sp>
      <p:sp>
        <p:nvSpPr>
          <p:cNvPr id="14" name="Shape 12"/>
          <p:cNvSpPr/>
          <p:nvPr/>
        </p:nvSpPr>
        <p:spPr>
          <a:xfrm>
            <a:off x="548640" y="3840480"/>
            <a:ext cx="5257800" cy="1965960"/>
          </a:xfrm>
          <a:prstGeom prst="roundRect">
            <a:avLst>
              <a:gd name="adj" fmla="val 4651"/>
            </a:avLst>
          </a:prstGeom>
          <a:solidFill>
            <a:srgbClr val="FBEAE8"/>
          </a:solidFill>
          <a:ln w="19050">
            <a:solidFill>
              <a:srgbClr val="C0392B"/>
            </a:solidFill>
            <a:prstDash val="solid"/>
          </a:ln>
        </p:spPr>
      </p:sp>
      <p:sp>
        <p:nvSpPr>
          <p:cNvPr id="15" name="Text 13"/>
          <p:cNvSpPr/>
          <p:nvPr/>
        </p:nvSpPr>
        <p:spPr>
          <a:xfrm>
            <a:off x="822960" y="4023360"/>
            <a:ext cx="4709160" cy="274320"/>
          </a:xfrm>
          <a:prstGeom prst="rect">
            <a:avLst/>
          </a:prstGeom>
          <a:noFill/>
          <a:ln/>
        </p:spPr>
        <p:txBody>
          <a:bodyPr wrap="square" lIns="0" tIns="0" rIns="0" bIns="0" rtlCol="0" anchor="ctr"/>
          <a:lstStyle/>
          <a:p>
            <a:pPr indent="0" marL="0">
              <a:buNone/>
            </a:pPr>
            <a:r>
              <a:rPr lang="en-US" sz="1100" b="1" spc="150" kern="0" dirty="0">
                <a:solidFill>
                  <a:srgbClr val="C0392B"/>
                </a:solidFill>
                <a:latin typeface="Calibri" pitchFamily="34" charset="0"/>
                <a:ea typeface="Calibri" pitchFamily="34" charset="-122"/>
                <a:cs typeface="Calibri" pitchFamily="34" charset="-120"/>
              </a:rPr>
              <a:t>SETTING 3</a:t>
            </a:r>
            <a:endParaRPr lang="en-US" sz="1100" dirty="0"/>
          </a:p>
        </p:txBody>
      </p:sp>
      <p:sp>
        <p:nvSpPr>
          <p:cNvPr id="16" name="Text 14"/>
          <p:cNvSpPr/>
          <p:nvPr/>
        </p:nvSpPr>
        <p:spPr>
          <a:xfrm>
            <a:off x="822960" y="4389120"/>
            <a:ext cx="4709160" cy="640080"/>
          </a:xfrm>
          <a:prstGeom prst="rect">
            <a:avLst/>
          </a:prstGeom>
          <a:noFill/>
          <a:ln/>
        </p:spPr>
        <p:txBody>
          <a:bodyPr wrap="square" lIns="0" tIns="0" rIns="0" bIns="0" rtlCol="0" anchor="ctr"/>
          <a:lstStyle/>
          <a:p>
            <a:pPr indent="0" marL="0">
              <a:buNone/>
            </a:pPr>
            <a:r>
              <a:rPr lang="en-US" sz="2400" b="1" dirty="0">
                <a:solidFill>
                  <a:srgbClr val="0B2545"/>
                </a:solidFill>
                <a:latin typeface="Cambria" pitchFamily="34" charset="0"/>
                <a:ea typeface="Cambria" pitchFamily="34" charset="-122"/>
                <a:cs typeface="Cambria" pitchFamily="34" charset="-120"/>
              </a:rPr>
              <a:t>OUC</a:t>
            </a:r>
            <a:pPr indent="0" marL="0">
              <a:buNone/>
            </a:pPr>
            <a:r>
              <a:rPr lang="en-US" sz="2400" b="1" dirty="0">
                <a:solidFill>
                  <a:srgbClr val="C0392B"/>
                </a:solidFill>
                <a:latin typeface="Cambria" pitchFamily="34" charset="0"/>
                <a:ea typeface="Cambria" pitchFamily="34" charset="-122"/>
                <a:cs typeface="Cambria" pitchFamily="34" charset="-120"/>
              </a:rPr>
              <a:t>   →   </a:t>
            </a:r>
            <a:pPr indent="0" marL="0">
              <a:buNone/>
            </a:pPr>
            <a:r>
              <a:rPr lang="en-US" sz="2400" b="1" dirty="0">
                <a:solidFill>
                  <a:srgbClr val="0B2545"/>
                </a:solidFill>
                <a:latin typeface="Cambria" pitchFamily="34" charset="0"/>
                <a:ea typeface="Cambria" pitchFamily="34" charset="-122"/>
                <a:cs typeface="Cambria" pitchFamily="34" charset="-120"/>
              </a:rPr>
              <a:t>COLER</a:t>
            </a:r>
            <a:endParaRPr lang="en-US" sz="2400" dirty="0"/>
          </a:p>
        </p:txBody>
      </p:sp>
      <p:sp>
        <p:nvSpPr>
          <p:cNvPr id="17" name="Shape 15"/>
          <p:cNvSpPr/>
          <p:nvPr/>
        </p:nvSpPr>
        <p:spPr>
          <a:xfrm>
            <a:off x="822960" y="5166360"/>
            <a:ext cx="2011680" cy="411480"/>
          </a:xfrm>
          <a:prstGeom prst="roundRect">
            <a:avLst>
              <a:gd name="adj" fmla="val 48889"/>
            </a:avLst>
          </a:prstGeom>
          <a:solidFill>
            <a:srgbClr val="C0392B"/>
          </a:solidFill>
          <a:ln/>
        </p:spPr>
      </p:sp>
      <p:sp>
        <p:nvSpPr>
          <p:cNvPr id="18" name="Text 16"/>
          <p:cNvSpPr/>
          <p:nvPr/>
        </p:nvSpPr>
        <p:spPr>
          <a:xfrm>
            <a:off x="822960" y="5166360"/>
            <a:ext cx="20116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ZERO-SHOT TRANSFER</a:t>
            </a:r>
            <a:endParaRPr lang="en-US" sz="1050" dirty="0"/>
          </a:p>
        </p:txBody>
      </p:sp>
      <p:sp>
        <p:nvSpPr>
          <p:cNvPr id="19" name="Shape 17"/>
          <p:cNvSpPr/>
          <p:nvPr/>
        </p:nvSpPr>
        <p:spPr>
          <a:xfrm>
            <a:off x="6172200" y="3840480"/>
            <a:ext cx="5257800" cy="1965960"/>
          </a:xfrm>
          <a:prstGeom prst="roundRect">
            <a:avLst>
              <a:gd name="adj" fmla="val 4651"/>
            </a:avLst>
          </a:prstGeom>
          <a:solidFill>
            <a:srgbClr val="FBEAE8"/>
          </a:solidFill>
          <a:ln w="19050">
            <a:solidFill>
              <a:srgbClr val="C0392B"/>
            </a:solidFill>
            <a:prstDash val="solid"/>
          </a:ln>
        </p:spPr>
      </p:sp>
      <p:sp>
        <p:nvSpPr>
          <p:cNvPr id="20" name="Text 18"/>
          <p:cNvSpPr/>
          <p:nvPr/>
        </p:nvSpPr>
        <p:spPr>
          <a:xfrm>
            <a:off x="6446520" y="4023360"/>
            <a:ext cx="4709160" cy="274320"/>
          </a:xfrm>
          <a:prstGeom prst="rect">
            <a:avLst/>
          </a:prstGeom>
          <a:noFill/>
          <a:ln/>
        </p:spPr>
        <p:txBody>
          <a:bodyPr wrap="square" lIns="0" tIns="0" rIns="0" bIns="0" rtlCol="0" anchor="ctr"/>
          <a:lstStyle/>
          <a:p>
            <a:pPr indent="0" marL="0">
              <a:buNone/>
            </a:pPr>
            <a:r>
              <a:rPr lang="en-US" sz="1100" b="1" spc="150" kern="0" dirty="0">
                <a:solidFill>
                  <a:srgbClr val="C0392B"/>
                </a:solidFill>
                <a:latin typeface="Calibri" pitchFamily="34" charset="0"/>
                <a:ea typeface="Calibri" pitchFamily="34" charset="-122"/>
                <a:cs typeface="Calibri" pitchFamily="34" charset="-120"/>
              </a:rPr>
              <a:t>SETTING 4</a:t>
            </a:r>
            <a:endParaRPr lang="en-US" sz="1100" dirty="0"/>
          </a:p>
        </p:txBody>
      </p:sp>
      <p:sp>
        <p:nvSpPr>
          <p:cNvPr id="21" name="Text 19"/>
          <p:cNvSpPr/>
          <p:nvPr/>
        </p:nvSpPr>
        <p:spPr>
          <a:xfrm>
            <a:off x="6446520" y="4389120"/>
            <a:ext cx="4709160" cy="640080"/>
          </a:xfrm>
          <a:prstGeom prst="rect">
            <a:avLst/>
          </a:prstGeom>
          <a:noFill/>
          <a:ln/>
        </p:spPr>
        <p:txBody>
          <a:bodyPr wrap="square" lIns="0" tIns="0" rIns="0" bIns="0" rtlCol="0" anchor="ctr"/>
          <a:lstStyle/>
          <a:p>
            <a:pPr indent="0" marL="0">
              <a:buNone/>
            </a:pPr>
            <a:r>
              <a:rPr lang="en-US" sz="2400" b="1" dirty="0">
                <a:solidFill>
                  <a:srgbClr val="0B2545"/>
                </a:solidFill>
                <a:latin typeface="Cambria" pitchFamily="34" charset="0"/>
                <a:ea typeface="Cambria" pitchFamily="34" charset="-122"/>
                <a:cs typeface="Cambria" pitchFamily="34" charset="-120"/>
              </a:rPr>
              <a:t>COLER</a:t>
            </a:r>
            <a:pPr indent="0" marL="0">
              <a:buNone/>
            </a:pPr>
            <a:r>
              <a:rPr lang="en-US" sz="2400" b="1" dirty="0">
                <a:solidFill>
                  <a:srgbClr val="C0392B"/>
                </a:solidFill>
                <a:latin typeface="Cambria" pitchFamily="34" charset="0"/>
                <a:ea typeface="Cambria" pitchFamily="34" charset="-122"/>
                <a:cs typeface="Cambria" pitchFamily="34" charset="-120"/>
              </a:rPr>
              <a:t>   →   </a:t>
            </a:r>
            <a:pPr indent="0" marL="0">
              <a:buNone/>
            </a:pPr>
            <a:r>
              <a:rPr lang="en-US" sz="2400" b="1" dirty="0">
                <a:solidFill>
                  <a:srgbClr val="0B2545"/>
                </a:solidFill>
                <a:latin typeface="Cambria" pitchFamily="34" charset="0"/>
                <a:ea typeface="Cambria" pitchFamily="34" charset="-122"/>
                <a:cs typeface="Cambria" pitchFamily="34" charset="-120"/>
              </a:rPr>
              <a:t>OUC</a:t>
            </a:r>
            <a:endParaRPr lang="en-US" sz="2400" dirty="0"/>
          </a:p>
        </p:txBody>
      </p:sp>
      <p:sp>
        <p:nvSpPr>
          <p:cNvPr id="22" name="Shape 20"/>
          <p:cNvSpPr/>
          <p:nvPr/>
        </p:nvSpPr>
        <p:spPr>
          <a:xfrm>
            <a:off x="6446520" y="5166360"/>
            <a:ext cx="2011680" cy="411480"/>
          </a:xfrm>
          <a:prstGeom prst="roundRect">
            <a:avLst>
              <a:gd name="adj" fmla="val 48889"/>
            </a:avLst>
          </a:prstGeom>
          <a:solidFill>
            <a:srgbClr val="C0392B"/>
          </a:solidFill>
          <a:ln/>
        </p:spPr>
      </p:sp>
      <p:sp>
        <p:nvSpPr>
          <p:cNvPr id="23" name="Text 21"/>
          <p:cNvSpPr/>
          <p:nvPr/>
        </p:nvSpPr>
        <p:spPr>
          <a:xfrm>
            <a:off x="6446520" y="5166360"/>
            <a:ext cx="20116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ZERO-SHOT TRANSFER</a:t>
            </a:r>
            <a:endParaRPr lang="en-US" sz="1050" dirty="0"/>
          </a:p>
        </p:txBody>
      </p:sp>
      <p:sp>
        <p:nvSpPr>
          <p:cNvPr id="24" name="Text 22"/>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EXPERIMENT A PIPELINE</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From Raw Frames to Cross-Dataset Evaluation</a:t>
            </a:r>
            <a:endParaRPr lang="en-US" sz="2500" dirty="0"/>
          </a:p>
        </p:txBody>
      </p:sp>
      <p:sp>
        <p:nvSpPr>
          <p:cNvPr id="4" name="Shape 2"/>
          <p:cNvSpPr/>
          <p:nvPr/>
        </p:nvSpPr>
        <p:spPr>
          <a:xfrm>
            <a:off x="548640" y="1600200"/>
            <a:ext cx="3291840" cy="621792"/>
          </a:xfrm>
          <a:prstGeom prst="roundRect">
            <a:avLst>
              <a:gd name="adj" fmla="val 11765"/>
            </a:avLst>
          </a:prstGeom>
          <a:solidFill>
            <a:srgbClr val="EEF3F8"/>
          </a:solidFill>
          <a:ln/>
        </p:spPr>
      </p:sp>
      <p:sp>
        <p:nvSpPr>
          <p:cNvPr id="5" name="Text 3"/>
          <p:cNvSpPr/>
          <p:nvPr/>
        </p:nvSpPr>
        <p:spPr>
          <a:xfrm>
            <a:off x="685800" y="1600200"/>
            <a:ext cx="3017520" cy="621792"/>
          </a:xfrm>
          <a:prstGeom prst="rect">
            <a:avLst/>
          </a:prstGeom>
          <a:noFill/>
          <a:ln/>
        </p:spPr>
        <p:txBody>
          <a:bodyPr wrap="square" lIns="0" tIns="0" rIns="0" bIns="0" rtlCol="0" anchor="ctr"/>
          <a:lstStyle/>
          <a:p>
            <a:pPr algn="l" indent="0" marL="0">
              <a:lnSpc>
                <a:spcPts val="1400"/>
              </a:lnSpc>
              <a:buNone/>
            </a:pPr>
            <a:r>
              <a:rPr lang="en-US" sz="1250" b="1" dirty="0">
                <a:solidFill>
                  <a:srgbClr val="0B2545"/>
                </a:solidFill>
                <a:latin typeface="Calibri" pitchFamily="34" charset="0"/>
                <a:ea typeface="Calibri" pitchFamily="34" charset="-122"/>
                <a:cs typeface="Calibri" pitchFamily="34" charset="-120"/>
              </a:rPr>
              <a:t>Dataset</a:t>
            </a:r>
            <a:endParaRPr lang="en-US" sz="1250" dirty="0"/>
          </a:p>
          <a:p>
            <a:pPr algn="l" indent="0" marL="0">
              <a:lnSpc>
                <a:spcPts val="1400"/>
              </a:lnSpc>
              <a:buNone/>
            </a:pPr>
            <a:r>
              <a:rPr lang="en-US" sz="1250" b="1" dirty="0">
                <a:solidFill>
                  <a:srgbClr val="0B2545"/>
                </a:solidFill>
                <a:latin typeface="Calibri" pitchFamily="34" charset="0"/>
                <a:ea typeface="Calibri" pitchFamily="34" charset="-122"/>
                <a:cs typeface="Calibri" pitchFamily="34" charset="-120"/>
              </a:rPr>
              <a:t>(OUC-CGE / COLER)</a:t>
            </a:r>
            <a:endParaRPr lang="en-US" sz="1250" dirty="0"/>
          </a:p>
        </p:txBody>
      </p:sp>
      <p:sp>
        <p:nvSpPr>
          <p:cNvPr id="6" name="Shape 4"/>
          <p:cNvSpPr/>
          <p:nvPr/>
        </p:nvSpPr>
        <p:spPr>
          <a:xfrm>
            <a:off x="2112264" y="2231136"/>
            <a:ext cx="164592" cy="109728"/>
          </a:xfrm>
          <a:prstGeom prst="downArrow">
            <a:avLst/>
          </a:prstGeom>
          <a:solidFill>
            <a:srgbClr val="6B7785"/>
          </a:solidFill>
          <a:ln/>
        </p:spPr>
      </p:sp>
      <p:sp>
        <p:nvSpPr>
          <p:cNvPr id="7" name="Shape 5"/>
          <p:cNvSpPr/>
          <p:nvPr/>
        </p:nvSpPr>
        <p:spPr>
          <a:xfrm>
            <a:off x="548640" y="2350008"/>
            <a:ext cx="3291840" cy="621792"/>
          </a:xfrm>
          <a:prstGeom prst="roundRect">
            <a:avLst>
              <a:gd name="adj" fmla="val 11765"/>
            </a:avLst>
          </a:prstGeom>
          <a:solidFill>
            <a:srgbClr val="EEF3F8"/>
          </a:solidFill>
          <a:ln/>
        </p:spPr>
      </p:sp>
      <p:sp>
        <p:nvSpPr>
          <p:cNvPr id="8" name="Text 6"/>
          <p:cNvSpPr/>
          <p:nvPr/>
        </p:nvSpPr>
        <p:spPr>
          <a:xfrm>
            <a:off x="685800" y="2350008"/>
            <a:ext cx="3017520" cy="621792"/>
          </a:xfrm>
          <a:prstGeom prst="rect">
            <a:avLst/>
          </a:prstGeom>
          <a:noFill/>
          <a:ln/>
        </p:spPr>
        <p:txBody>
          <a:bodyPr wrap="square" lIns="0" tIns="0" rIns="0" bIns="0" rtlCol="0" anchor="ctr"/>
          <a:lstStyle/>
          <a:p>
            <a:pPr algn="l" indent="0" marL="0">
              <a:lnSpc>
                <a:spcPts val="1400"/>
              </a:lnSpc>
              <a:buNone/>
            </a:pPr>
            <a:r>
              <a:rPr lang="en-US" sz="1250" b="1" dirty="0">
                <a:solidFill>
                  <a:srgbClr val="0B2545"/>
                </a:solidFill>
                <a:latin typeface="Calibri" pitchFamily="34" charset="0"/>
                <a:ea typeface="Calibri" pitchFamily="34" charset="-122"/>
                <a:cs typeface="Calibri" pitchFamily="34" charset="-120"/>
              </a:rPr>
              <a:t>Frame-Level</a:t>
            </a:r>
            <a:endParaRPr lang="en-US" sz="1250" dirty="0"/>
          </a:p>
          <a:p>
            <a:pPr algn="l" indent="0" marL="0">
              <a:lnSpc>
                <a:spcPts val="1400"/>
              </a:lnSpc>
              <a:buNone/>
            </a:pPr>
            <a:r>
              <a:rPr lang="en-US" sz="1250" b="1" dirty="0">
                <a:solidFill>
                  <a:srgbClr val="0B2545"/>
                </a:solidFill>
                <a:latin typeface="Calibri" pitchFamily="34" charset="0"/>
                <a:ea typeface="Calibri" pitchFamily="34" charset="-122"/>
                <a:cs typeface="Calibri" pitchFamily="34" charset="-120"/>
              </a:rPr>
              <a:t>Representation</a:t>
            </a:r>
            <a:endParaRPr lang="en-US" sz="1250" dirty="0"/>
          </a:p>
        </p:txBody>
      </p:sp>
      <p:sp>
        <p:nvSpPr>
          <p:cNvPr id="9" name="Shape 7"/>
          <p:cNvSpPr/>
          <p:nvPr/>
        </p:nvSpPr>
        <p:spPr>
          <a:xfrm>
            <a:off x="2112264" y="2980944"/>
            <a:ext cx="164592" cy="109728"/>
          </a:xfrm>
          <a:prstGeom prst="downArrow">
            <a:avLst/>
          </a:prstGeom>
          <a:solidFill>
            <a:srgbClr val="6B7785"/>
          </a:solidFill>
          <a:ln/>
        </p:spPr>
      </p:sp>
      <p:sp>
        <p:nvSpPr>
          <p:cNvPr id="10" name="Shape 8"/>
          <p:cNvSpPr/>
          <p:nvPr/>
        </p:nvSpPr>
        <p:spPr>
          <a:xfrm>
            <a:off x="548640" y="3099816"/>
            <a:ext cx="3291840" cy="621792"/>
          </a:xfrm>
          <a:prstGeom prst="roundRect">
            <a:avLst>
              <a:gd name="adj" fmla="val 11765"/>
            </a:avLst>
          </a:prstGeom>
          <a:solidFill>
            <a:srgbClr val="EEF3F8"/>
          </a:solidFill>
          <a:ln/>
        </p:spPr>
      </p:sp>
      <p:sp>
        <p:nvSpPr>
          <p:cNvPr id="11" name="Text 9"/>
          <p:cNvSpPr/>
          <p:nvPr/>
        </p:nvSpPr>
        <p:spPr>
          <a:xfrm>
            <a:off x="685800" y="3099816"/>
            <a:ext cx="3017520" cy="621792"/>
          </a:xfrm>
          <a:prstGeom prst="rect">
            <a:avLst/>
          </a:prstGeom>
          <a:noFill/>
          <a:ln/>
        </p:spPr>
        <p:txBody>
          <a:bodyPr wrap="square" lIns="0" tIns="0" rIns="0" bIns="0" rtlCol="0" anchor="ctr"/>
          <a:lstStyle/>
          <a:p>
            <a:pPr algn="l" indent="0" marL="0">
              <a:lnSpc>
                <a:spcPts val="1400"/>
              </a:lnSpc>
              <a:buNone/>
            </a:pPr>
            <a:r>
              <a:rPr lang="en-US" sz="1250" b="1" dirty="0">
                <a:solidFill>
                  <a:srgbClr val="0B2545"/>
                </a:solidFill>
                <a:latin typeface="Calibri" pitchFamily="34" charset="0"/>
                <a:ea typeface="Calibri" pitchFamily="34" charset="-122"/>
                <a:cs typeface="Calibri" pitchFamily="34" charset="-120"/>
              </a:rPr>
              <a:t>ImageNet-Pretrained</a:t>
            </a:r>
            <a:endParaRPr lang="en-US" sz="1250" dirty="0"/>
          </a:p>
          <a:p>
            <a:pPr algn="l" indent="0" marL="0">
              <a:lnSpc>
                <a:spcPts val="1400"/>
              </a:lnSpc>
              <a:buNone/>
            </a:pPr>
            <a:r>
              <a:rPr lang="en-US" sz="1250" b="1" dirty="0">
                <a:solidFill>
                  <a:srgbClr val="0B2545"/>
                </a:solidFill>
                <a:latin typeface="Calibri" pitchFamily="34" charset="0"/>
                <a:ea typeface="Calibri" pitchFamily="34" charset="-122"/>
                <a:cs typeface="Calibri" pitchFamily="34" charset="-120"/>
              </a:rPr>
              <a:t>ResNet-50</a:t>
            </a:r>
            <a:endParaRPr lang="en-US" sz="1250" dirty="0"/>
          </a:p>
        </p:txBody>
      </p:sp>
      <p:sp>
        <p:nvSpPr>
          <p:cNvPr id="12" name="Shape 10"/>
          <p:cNvSpPr/>
          <p:nvPr/>
        </p:nvSpPr>
        <p:spPr>
          <a:xfrm>
            <a:off x="2112264" y="3730752"/>
            <a:ext cx="164592" cy="109728"/>
          </a:xfrm>
          <a:prstGeom prst="downArrow">
            <a:avLst/>
          </a:prstGeom>
          <a:solidFill>
            <a:srgbClr val="6B7785"/>
          </a:solidFill>
          <a:ln/>
        </p:spPr>
      </p:sp>
      <p:sp>
        <p:nvSpPr>
          <p:cNvPr id="13" name="Shape 11"/>
          <p:cNvSpPr/>
          <p:nvPr/>
        </p:nvSpPr>
        <p:spPr>
          <a:xfrm>
            <a:off x="548640" y="3849624"/>
            <a:ext cx="3291840" cy="621792"/>
          </a:xfrm>
          <a:prstGeom prst="roundRect">
            <a:avLst>
              <a:gd name="adj" fmla="val 11765"/>
            </a:avLst>
          </a:prstGeom>
          <a:solidFill>
            <a:srgbClr val="EEF3F8"/>
          </a:solidFill>
          <a:ln/>
        </p:spPr>
      </p:sp>
      <p:sp>
        <p:nvSpPr>
          <p:cNvPr id="14" name="Text 12"/>
          <p:cNvSpPr/>
          <p:nvPr/>
        </p:nvSpPr>
        <p:spPr>
          <a:xfrm>
            <a:off x="685800" y="3849624"/>
            <a:ext cx="3017520" cy="621792"/>
          </a:xfrm>
          <a:prstGeom prst="rect">
            <a:avLst/>
          </a:prstGeom>
          <a:noFill/>
          <a:ln/>
        </p:spPr>
        <p:txBody>
          <a:bodyPr wrap="square" lIns="0" tIns="0" rIns="0" bIns="0" rtlCol="0" anchor="ctr"/>
          <a:lstStyle/>
          <a:p>
            <a:pPr algn="l" indent="0" marL="0">
              <a:lnSpc>
                <a:spcPts val="1400"/>
              </a:lnSpc>
              <a:buNone/>
            </a:pPr>
            <a:r>
              <a:rPr lang="en-US" sz="1250" b="1" dirty="0">
                <a:solidFill>
                  <a:srgbClr val="0B2545"/>
                </a:solidFill>
                <a:latin typeface="Calibri" pitchFamily="34" charset="0"/>
                <a:ea typeface="Calibri" pitchFamily="34" charset="-122"/>
                <a:cs typeface="Calibri" pitchFamily="34" charset="-120"/>
              </a:rPr>
              <a:t>Training</a:t>
            </a:r>
            <a:endParaRPr lang="en-US" sz="1250" dirty="0"/>
          </a:p>
          <a:p>
            <a:pPr algn="l" indent="0" marL="0">
              <a:lnSpc>
                <a:spcPts val="1400"/>
              </a:lnSpc>
              <a:buNone/>
            </a:pPr>
            <a:r>
              <a:rPr lang="en-US" sz="1250" b="1" dirty="0">
                <a:solidFill>
                  <a:srgbClr val="0B2545"/>
                </a:solidFill>
                <a:latin typeface="Calibri" pitchFamily="34" charset="0"/>
                <a:ea typeface="Calibri" pitchFamily="34" charset="-122"/>
                <a:cs typeface="Calibri" pitchFamily="34" charset="-120"/>
              </a:rPr>
              <a:t>(5-Fold CV)</a:t>
            </a:r>
            <a:endParaRPr lang="en-US" sz="1250" dirty="0"/>
          </a:p>
        </p:txBody>
      </p:sp>
      <p:sp>
        <p:nvSpPr>
          <p:cNvPr id="15" name="Shape 13"/>
          <p:cNvSpPr/>
          <p:nvPr/>
        </p:nvSpPr>
        <p:spPr>
          <a:xfrm>
            <a:off x="2112264" y="4480560"/>
            <a:ext cx="164592" cy="109728"/>
          </a:xfrm>
          <a:prstGeom prst="downArrow">
            <a:avLst/>
          </a:prstGeom>
          <a:solidFill>
            <a:srgbClr val="6B7785"/>
          </a:solidFill>
          <a:ln/>
        </p:spPr>
      </p:sp>
      <p:sp>
        <p:nvSpPr>
          <p:cNvPr id="16" name="Shape 14"/>
          <p:cNvSpPr/>
          <p:nvPr/>
        </p:nvSpPr>
        <p:spPr>
          <a:xfrm>
            <a:off x="548640" y="4599432"/>
            <a:ext cx="3291840" cy="621792"/>
          </a:xfrm>
          <a:prstGeom prst="roundRect">
            <a:avLst>
              <a:gd name="adj" fmla="val 11765"/>
            </a:avLst>
          </a:prstGeom>
          <a:solidFill>
            <a:srgbClr val="EEF3F8"/>
          </a:solidFill>
          <a:ln/>
        </p:spPr>
      </p:sp>
      <p:sp>
        <p:nvSpPr>
          <p:cNvPr id="17" name="Text 15"/>
          <p:cNvSpPr/>
          <p:nvPr/>
        </p:nvSpPr>
        <p:spPr>
          <a:xfrm>
            <a:off x="685800" y="4599432"/>
            <a:ext cx="3017520" cy="621792"/>
          </a:xfrm>
          <a:prstGeom prst="rect">
            <a:avLst/>
          </a:prstGeom>
          <a:noFill/>
          <a:ln/>
        </p:spPr>
        <p:txBody>
          <a:bodyPr wrap="square" lIns="0" tIns="0" rIns="0" bIns="0" rtlCol="0" anchor="ctr"/>
          <a:lstStyle/>
          <a:p>
            <a:pPr algn="l" indent="0" marL="0">
              <a:lnSpc>
                <a:spcPts val="1400"/>
              </a:lnSpc>
              <a:buNone/>
            </a:pPr>
            <a:r>
              <a:rPr lang="en-US" sz="1250" b="1" dirty="0">
                <a:solidFill>
                  <a:srgbClr val="0B2545"/>
                </a:solidFill>
                <a:latin typeface="Calibri" pitchFamily="34" charset="0"/>
                <a:ea typeface="Calibri" pitchFamily="34" charset="-122"/>
                <a:cs typeface="Calibri" pitchFamily="34" charset="-120"/>
              </a:rPr>
              <a:t>Checkpoint</a:t>
            </a:r>
            <a:endParaRPr lang="en-US" sz="1250" dirty="0"/>
          </a:p>
        </p:txBody>
      </p:sp>
      <p:sp>
        <p:nvSpPr>
          <p:cNvPr id="18" name="Shape 16"/>
          <p:cNvSpPr/>
          <p:nvPr/>
        </p:nvSpPr>
        <p:spPr>
          <a:xfrm>
            <a:off x="2112264" y="5230368"/>
            <a:ext cx="164592" cy="109728"/>
          </a:xfrm>
          <a:prstGeom prst="downArrow">
            <a:avLst/>
          </a:prstGeom>
          <a:solidFill>
            <a:srgbClr val="6B7785"/>
          </a:solidFill>
          <a:ln/>
        </p:spPr>
      </p:sp>
      <p:sp>
        <p:nvSpPr>
          <p:cNvPr id="19" name="Shape 17"/>
          <p:cNvSpPr/>
          <p:nvPr/>
        </p:nvSpPr>
        <p:spPr>
          <a:xfrm>
            <a:off x="548640" y="5349240"/>
            <a:ext cx="3291840" cy="621792"/>
          </a:xfrm>
          <a:prstGeom prst="roundRect">
            <a:avLst>
              <a:gd name="adj" fmla="val 11765"/>
            </a:avLst>
          </a:prstGeom>
          <a:solidFill>
            <a:srgbClr val="FBEAE8"/>
          </a:solidFill>
          <a:ln w="15875">
            <a:solidFill>
              <a:srgbClr val="C0392B"/>
            </a:solidFill>
            <a:prstDash val="solid"/>
          </a:ln>
        </p:spPr>
      </p:sp>
      <p:sp>
        <p:nvSpPr>
          <p:cNvPr id="20" name="Text 18"/>
          <p:cNvSpPr/>
          <p:nvPr/>
        </p:nvSpPr>
        <p:spPr>
          <a:xfrm>
            <a:off x="685800" y="5349240"/>
            <a:ext cx="3017520" cy="621792"/>
          </a:xfrm>
          <a:prstGeom prst="rect">
            <a:avLst/>
          </a:prstGeom>
          <a:noFill/>
          <a:ln/>
        </p:spPr>
        <p:txBody>
          <a:bodyPr wrap="square" lIns="0" tIns="0" rIns="0" bIns="0" rtlCol="0" anchor="ctr"/>
          <a:lstStyle/>
          <a:p>
            <a:pPr algn="l" indent="0" marL="0">
              <a:lnSpc>
                <a:spcPts val="1400"/>
              </a:lnSpc>
              <a:buNone/>
            </a:pPr>
            <a:r>
              <a:rPr lang="en-US" sz="1250" b="1" dirty="0">
                <a:solidFill>
                  <a:srgbClr val="C0392B"/>
                </a:solidFill>
                <a:latin typeface="Calibri" pitchFamily="34" charset="0"/>
                <a:ea typeface="Calibri" pitchFamily="34" charset="-122"/>
                <a:cs typeface="Calibri" pitchFamily="34" charset="-120"/>
              </a:rPr>
              <a:t>Zero-Shot</a:t>
            </a:r>
            <a:endParaRPr lang="en-US" sz="1250" dirty="0"/>
          </a:p>
          <a:p>
            <a:pPr algn="l" indent="0" marL="0">
              <a:lnSpc>
                <a:spcPts val="1400"/>
              </a:lnSpc>
              <a:buNone/>
            </a:pPr>
            <a:r>
              <a:rPr lang="en-US" sz="1250" b="1" dirty="0">
                <a:solidFill>
                  <a:srgbClr val="C0392B"/>
                </a:solidFill>
                <a:latin typeface="Calibri" pitchFamily="34" charset="0"/>
                <a:ea typeface="Calibri" pitchFamily="34" charset="-122"/>
                <a:cs typeface="Calibri" pitchFamily="34" charset="-120"/>
              </a:rPr>
              <a:t>Cross-Dataset Eval</a:t>
            </a:r>
            <a:endParaRPr lang="en-US" sz="1250" dirty="0"/>
          </a:p>
        </p:txBody>
      </p:sp>
      <p:sp>
        <p:nvSpPr>
          <p:cNvPr id="21" name="Shape 19"/>
          <p:cNvSpPr/>
          <p:nvPr/>
        </p:nvSpPr>
        <p:spPr>
          <a:xfrm>
            <a:off x="2112264" y="5980176"/>
            <a:ext cx="164592" cy="109728"/>
          </a:xfrm>
          <a:prstGeom prst="downArrow">
            <a:avLst/>
          </a:prstGeom>
          <a:solidFill>
            <a:srgbClr val="6B7785"/>
          </a:solidFill>
          <a:ln/>
        </p:spPr>
      </p:sp>
      <p:sp>
        <p:nvSpPr>
          <p:cNvPr id="22" name="Shape 20"/>
          <p:cNvSpPr/>
          <p:nvPr/>
        </p:nvSpPr>
        <p:spPr>
          <a:xfrm>
            <a:off x="548640" y="6099048"/>
            <a:ext cx="3291840" cy="621792"/>
          </a:xfrm>
          <a:prstGeom prst="roundRect">
            <a:avLst>
              <a:gd name="adj" fmla="val 11765"/>
            </a:avLst>
          </a:prstGeom>
          <a:solidFill>
            <a:srgbClr val="0B2545"/>
          </a:solidFill>
          <a:ln/>
        </p:spPr>
      </p:sp>
      <p:sp>
        <p:nvSpPr>
          <p:cNvPr id="23" name="Text 21"/>
          <p:cNvSpPr/>
          <p:nvPr/>
        </p:nvSpPr>
        <p:spPr>
          <a:xfrm>
            <a:off x="685800" y="6099048"/>
            <a:ext cx="3017520" cy="621792"/>
          </a:xfrm>
          <a:prstGeom prst="rect">
            <a:avLst/>
          </a:prstGeom>
          <a:noFill/>
          <a:ln/>
        </p:spPr>
        <p:txBody>
          <a:bodyPr wrap="square" lIns="0" tIns="0" rIns="0" bIns="0" rtlCol="0" anchor="ctr"/>
          <a:lstStyle/>
          <a:p>
            <a:pPr algn="l" indent="0" marL="0">
              <a:lnSpc>
                <a:spcPts val="1400"/>
              </a:lnSpc>
              <a:buNone/>
            </a:pPr>
            <a:r>
              <a:rPr lang="en-US" sz="1250" b="1" dirty="0">
                <a:solidFill>
                  <a:srgbClr val="FFFFFF"/>
                </a:solidFill>
                <a:latin typeface="Calibri" pitchFamily="34" charset="0"/>
                <a:ea typeface="Calibri" pitchFamily="34" charset="-122"/>
                <a:cs typeface="Calibri" pitchFamily="34" charset="-120"/>
              </a:rPr>
              <a:t>Accuracy / F1 / QWK</a:t>
            </a:r>
            <a:endParaRPr lang="en-US" sz="1250" dirty="0"/>
          </a:p>
        </p:txBody>
      </p:sp>
      <p:sp>
        <p:nvSpPr>
          <p:cNvPr id="24" name="Shape 22"/>
          <p:cNvSpPr/>
          <p:nvPr/>
        </p:nvSpPr>
        <p:spPr>
          <a:xfrm>
            <a:off x="4572000" y="1600200"/>
            <a:ext cx="6675120" cy="2103120"/>
          </a:xfrm>
          <a:prstGeom prst="roundRect">
            <a:avLst>
              <a:gd name="adj" fmla="val 5217"/>
            </a:avLst>
          </a:prstGeom>
          <a:solidFill>
            <a:srgbClr val="0B2545"/>
          </a:solidFill>
          <a:ln/>
        </p:spPr>
      </p:sp>
      <p:sp>
        <p:nvSpPr>
          <p:cNvPr id="25" name="Text 23"/>
          <p:cNvSpPr/>
          <p:nvPr/>
        </p:nvSpPr>
        <p:spPr>
          <a:xfrm>
            <a:off x="4937760" y="1828800"/>
            <a:ext cx="5943600" cy="274320"/>
          </a:xfrm>
          <a:prstGeom prst="rect">
            <a:avLst/>
          </a:prstGeom>
          <a:noFill/>
          <a:ln/>
        </p:spPr>
        <p:txBody>
          <a:bodyPr wrap="square" lIns="0" tIns="0" rIns="0" bIns="0" rtlCol="0" anchor="ctr"/>
          <a:lstStyle/>
          <a:p>
            <a:pPr indent="0" marL="0">
              <a:buNone/>
            </a:pPr>
            <a:r>
              <a:rPr lang="en-US" sz="1200" b="1" spc="100" kern="0" dirty="0">
                <a:solidFill>
                  <a:srgbClr val="7FAFD4"/>
                </a:solidFill>
                <a:latin typeface="Calibri" pitchFamily="34" charset="0"/>
                <a:ea typeface="Calibri" pitchFamily="34" charset="-122"/>
                <a:cs typeface="Calibri" pitchFamily="34" charset="-120"/>
              </a:rPr>
              <a:t>HARMONIZED 3-CLASS TAXONOMY</a:t>
            </a:r>
            <a:endParaRPr lang="en-US" sz="1200" dirty="0"/>
          </a:p>
        </p:txBody>
      </p:sp>
      <p:sp>
        <p:nvSpPr>
          <p:cNvPr id="26" name="Shape 24"/>
          <p:cNvSpPr/>
          <p:nvPr/>
        </p:nvSpPr>
        <p:spPr>
          <a:xfrm>
            <a:off x="4937760" y="2286000"/>
            <a:ext cx="1051560" cy="1051560"/>
          </a:xfrm>
          <a:prstGeom prst="ellipse">
            <a:avLst/>
          </a:prstGeom>
          <a:solidFill>
            <a:srgbClr val="2C6E9E"/>
          </a:solidFill>
          <a:ln/>
        </p:spPr>
      </p:sp>
      <p:sp>
        <p:nvSpPr>
          <p:cNvPr id="27" name="Text 25"/>
          <p:cNvSpPr/>
          <p:nvPr/>
        </p:nvSpPr>
        <p:spPr>
          <a:xfrm>
            <a:off x="4937760" y="228600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0</a:t>
            </a:r>
            <a:endParaRPr lang="en-US" sz="3000" dirty="0"/>
          </a:p>
        </p:txBody>
      </p:sp>
      <p:sp>
        <p:nvSpPr>
          <p:cNvPr id="28" name="Text 26"/>
          <p:cNvSpPr/>
          <p:nvPr/>
        </p:nvSpPr>
        <p:spPr>
          <a:xfrm>
            <a:off x="4663440" y="3410712"/>
            <a:ext cx="16002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Low</a:t>
            </a:r>
            <a:endParaRPr lang="en-US" sz="1300" dirty="0"/>
          </a:p>
        </p:txBody>
      </p:sp>
      <p:sp>
        <p:nvSpPr>
          <p:cNvPr id="29" name="Shape 27"/>
          <p:cNvSpPr/>
          <p:nvPr/>
        </p:nvSpPr>
        <p:spPr>
          <a:xfrm>
            <a:off x="7040880" y="2286000"/>
            <a:ext cx="1051560" cy="1051560"/>
          </a:xfrm>
          <a:prstGeom prst="ellipse">
            <a:avLst/>
          </a:prstGeom>
          <a:solidFill>
            <a:srgbClr val="2C6E9E"/>
          </a:solidFill>
          <a:ln/>
        </p:spPr>
      </p:sp>
      <p:sp>
        <p:nvSpPr>
          <p:cNvPr id="30" name="Text 28"/>
          <p:cNvSpPr/>
          <p:nvPr/>
        </p:nvSpPr>
        <p:spPr>
          <a:xfrm>
            <a:off x="7040880" y="228600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1</a:t>
            </a:r>
            <a:endParaRPr lang="en-US" sz="3000" dirty="0"/>
          </a:p>
        </p:txBody>
      </p:sp>
      <p:sp>
        <p:nvSpPr>
          <p:cNvPr id="31" name="Text 29"/>
          <p:cNvSpPr/>
          <p:nvPr/>
        </p:nvSpPr>
        <p:spPr>
          <a:xfrm>
            <a:off x="6766560" y="3410712"/>
            <a:ext cx="16002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Mid</a:t>
            </a:r>
            <a:endParaRPr lang="en-US" sz="1300" dirty="0"/>
          </a:p>
        </p:txBody>
      </p:sp>
      <p:sp>
        <p:nvSpPr>
          <p:cNvPr id="32" name="Shape 30"/>
          <p:cNvSpPr/>
          <p:nvPr/>
        </p:nvSpPr>
        <p:spPr>
          <a:xfrm>
            <a:off x="9144000" y="2286000"/>
            <a:ext cx="1051560" cy="1051560"/>
          </a:xfrm>
          <a:prstGeom prst="ellipse">
            <a:avLst/>
          </a:prstGeom>
          <a:solidFill>
            <a:srgbClr val="2C6E9E"/>
          </a:solidFill>
          <a:ln/>
        </p:spPr>
      </p:sp>
      <p:sp>
        <p:nvSpPr>
          <p:cNvPr id="33" name="Text 31"/>
          <p:cNvSpPr/>
          <p:nvPr/>
        </p:nvSpPr>
        <p:spPr>
          <a:xfrm>
            <a:off x="9144000" y="2286000"/>
            <a:ext cx="1051560" cy="10515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2</a:t>
            </a:r>
            <a:endParaRPr lang="en-US" sz="3000" dirty="0"/>
          </a:p>
        </p:txBody>
      </p:sp>
      <p:sp>
        <p:nvSpPr>
          <p:cNvPr id="34" name="Text 32"/>
          <p:cNvSpPr/>
          <p:nvPr/>
        </p:nvSpPr>
        <p:spPr>
          <a:xfrm>
            <a:off x="8869680" y="3410712"/>
            <a:ext cx="160020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High</a:t>
            </a:r>
            <a:endParaRPr lang="en-US" sz="1300" dirty="0"/>
          </a:p>
        </p:txBody>
      </p:sp>
      <p:sp>
        <p:nvSpPr>
          <p:cNvPr id="35" name="Shape 33"/>
          <p:cNvSpPr/>
          <p:nvPr/>
        </p:nvSpPr>
        <p:spPr>
          <a:xfrm>
            <a:off x="4572000" y="3931920"/>
            <a:ext cx="6675120" cy="1965960"/>
          </a:xfrm>
          <a:prstGeom prst="roundRect">
            <a:avLst>
              <a:gd name="adj" fmla="val 5581"/>
            </a:avLst>
          </a:prstGeom>
          <a:solidFill>
            <a:srgbClr val="EEF3F8"/>
          </a:solidFill>
          <a:ln/>
        </p:spPr>
      </p:sp>
      <p:sp>
        <p:nvSpPr>
          <p:cNvPr id="36" name="Text 34"/>
          <p:cNvSpPr/>
          <p:nvPr/>
        </p:nvSpPr>
        <p:spPr>
          <a:xfrm>
            <a:off x="4937760" y="4114800"/>
            <a:ext cx="5943600" cy="274320"/>
          </a:xfrm>
          <a:prstGeom prst="rect">
            <a:avLst/>
          </a:prstGeom>
          <a:noFill/>
          <a:ln/>
        </p:spPr>
        <p:txBody>
          <a:bodyPr wrap="square" lIns="0" tIns="0" rIns="0" bIns="0" rtlCol="0" anchor="ctr"/>
          <a:lstStyle/>
          <a:p>
            <a:pPr indent="0" marL="0">
              <a:buNone/>
            </a:pPr>
            <a:r>
              <a:rPr lang="en-US" sz="1100" b="1" spc="100" kern="0" dirty="0">
                <a:solidFill>
                  <a:srgbClr val="2C6E9E"/>
                </a:solidFill>
                <a:latin typeface="Calibri" pitchFamily="34" charset="0"/>
                <a:ea typeface="Calibri" pitchFamily="34" charset="-122"/>
                <a:cs typeface="Calibri" pitchFamily="34" charset="-120"/>
              </a:rPr>
              <a:t>BACKBONE &amp; PROTOCOL</a:t>
            </a:r>
            <a:endParaRPr lang="en-US" sz="1100" dirty="0"/>
          </a:p>
        </p:txBody>
      </p:sp>
      <p:sp>
        <p:nvSpPr>
          <p:cNvPr id="37" name="Text 35"/>
          <p:cNvSpPr/>
          <p:nvPr/>
        </p:nvSpPr>
        <p:spPr>
          <a:xfrm>
            <a:off x="4937760" y="4434840"/>
            <a:ext cx="6035040" cy="137160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1E2A38"/>
                </a:solidFill>
                <a:latin typeface="Calibri" pitchFamily="34" charset="0"/>
                <a:ea typeface="Calibri" pitchFamily="34" charset="-122"/>
                <a:cs typeface="Calibri" pitchFamily="34" charset="-120"/>
              </a:rPr>
              <a:t>torchvision ResNet-50, ImageNet-pretrained</a:t>
            </a:r>
            <a:endParaRPr lang="en-US" sz="1250" dirty="0"/>
          </a:p>
          <a:p>
            <a:pPr marL="203200" indent="-203200">
              <a:spcAft>
                <a:spcPts val="1000"/>
              </a:spcAft>
              <a:buSzPct val="100000"/>
              <a:buChar char="•"/>
            </a:pPr>
            <a:r>
              <a:rPr lang="en-US" sz="1250" dirty="0">
                <a:solidFill>
                  <a:srgbClr val="1E2A38"/>
                </a:solidFill>
                <a:latin typeface="Calibri" pitchFamily="34" charset="0"/>
                <a:ea typeface="Calibri" pitchFamily="34" charset="-122"/>
                <a:cs typeface="Calibri" pitchFamily="34" charset="-120"/>
              </a:rPr>
              <a:t>5-fold stratified cross-validation for in-domain settings</a:t>
            </a:r>
            <a:endParaRPr lang="en-US" sz="1250" dirty="0"/>
          </a:p>
          <a:p>
            <a:pPr marL="203200" indent="-203200">
              <a:spcAft>
                <a:spcPts val="1000"/>
              </a:spcAft>
              <a:buSzPct val="100000"/>
              <a:buChar char="•"/>
            </a:pPr>
            <a:r>
              <a:rPr lang="en-US" sz="1250" dirty="0">
                <a:solidFill>
                  <a:srgbClr val="1E2A38"/>
                </a:solidFill>
                <a:latin typeface="Calibri" pitchFamily="34" charset="0"/>
                <a:ea typeface="Calibri" pitchFamily="34" charset="-122"/>
                <a:cs typeface="Calibri" pitchFamily="34" charset="-120"/>
              </a:rPr>
              <a:t>Zero-shot transfer evaluation — no fine-tuning on target domain</a:t>
            </a:r>
            <a:endParaRPr lang="en-US" sz="1250" dirty="0"/>
          </a:p>
        </p:txBody>
      </p:sp>
      <p:sp>
        <p:nvSpPr>
          <p:cNvPr id="38" name="Text 36"/>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THE CENTRAL FINDING</a:t>
            </a:r>
            <a:endParaRPr lang="en-US" sz="1200" dirty="0"/>
          </a:p>
        </p:txBody>
      </p:sp>
      <p:sp>
        <p:nvSpPr>
          <p:cNvPr id="3" name="Text 1"/>
          <p:cNvSpPr/>
          <p:nvPr/>
        </p:nvSpPr>
        <p:spPr>
          <a:xfrm>
            <a:off x="548640" y="384048"/>
            <a:ext cx="11094415" cy="1143000"/>
          </a:xfrm>
          <a:prstGeom prst="rect">
            <a:avLst/>
          </a:prstGeom>
          <a:noFill/>
          <a:ln/>
        </p:spPr>
        <p:txBody>
          <a:bodyPr wrap="square" lIns="0" tIns="0" rIns="0" bIns="0" rtlCol="0" anchor="ctr"/>
          <a:lstStyle/>
          <a:p>
            <a:pPr indent="0" marL="0">
              <a:lnSpc>
                <a:spcPts val="3000"/>
              </a:lnSpc>
              <a:buNone/>
            </a:pPr>
            <a:r>
              <a:rPr lang="en-US" sz="2500" b="1" dirty="0">
                <a:solidFill>
                  <a:srgbClr val="0B2545"/>
                </a:solidFill>
                <a:latin typeface="Cambria" pitchFamily="34" charset="0"/>
                <a:ea typeface="Cambria" pitchFamily="34" charset="-122"/>
                <a:cs typeface="Cambria" pitchFamily="34" charset="-120"/>
              </a:rPr>
              <a:t>Excellent In-Domain Performance Does NOT</a:t>
            </a:r>
            <a:endParaRPr lang="en-US" sz="2500" dirty="0"/>
          </a:p>
          <a:p>
            <a:pPr indent="0" marL="0">
              <a:lnSpc>
                <a:spcPts val="3000"/>
              </a:lnSpc>
              <a:buNone/>
            </a:pPr>
            <a:r>
              <a:rPr lang="en-US" sz="2500" b="1" dirty="0">
                <a:solidFill>
                  <a:srgbClr val="0B2545"/>
                </a:solidFill>
                <a:latin typeface="Cambria" pitchFamily="34" charset="0"/>
                <a:ea typeface="Cambria" pitchFamily="34" charset="-122"/>
                <a:cs typeface="Cambria" pitchFamily="34" charset="-120"/>
              </a:rPr>
              <a:t>Translate Across Datasets</a:t>
            </a:r>
            <a:endParaRPr lang="en-US" sz="2500" dirty="0"/>
          </a:p>
        </p:txBody>
      </p:sp>
      <p:graphicFrame>
        <p:nvGraphicFramePr>
          <p:cNvPr id="4" name="Chart 0" descr=""/>
          <p:cNvGraphicFramePr/>
          <p:nvPr/>
        </p:nvGraphicFramePr>
        <p:xfrm>
          <a:off x="548640" y="1554480"/>
          <a:ext cx="1106424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257800"/>
            <a:ext cx="5394960" cy="1005840"/>
          </a:xfrm>
          <a:prstGeom prst="roundRect">
            <a:avLst>
              <a:gd name="adj" fmla="val 9091"/>
            </a:avLst>
          </a:prstGeom>
          <a:solidFill>
            <a:srgbClr val="EEF3F8"/>
          </a:solidFill>
          <a:ln/>
        </p:spPr>
      </p:sp>
      <p:sp>
        <p:nvSpPr>
          <p:cNvPr id="6" name="Text 3"/>
          <p:cNvSpPr/>
          <p:nvPr/>
        </p:nvSpPr>
        <p:spPr>
          <a:xfrm>
            <a:off x="777240" y="5367528"/>
            <a:ext cx="4937760" cy="274320"/>
          </a:xfrm>
          <a:prstGeom prst="rect">
            <a:avLst/>
          </a:prstGeom>
          <a:noFill/>
          <a:ln/>
        </p:spPr>
        <p:txBody>
          <a:bodyPr wrap="square" lIns="0" tIns="0" rIns="0" bIns="0" rtlCol="0" anchor="ctr"/>
          <a:lstStyle/>
          <a:p>
            <a:pPr indent="0" marL="0">
              <a:buNone/>
            </a:pPr>
            <a:r>
              <a:rPr lang="en-US" sz="1050" b="1" spc="100" kern="0" dirty="0">
                <a:solidFill>
                  <a:srgbClr val="0B2545"/>
                </a:solidFill>
                <a:latin typeface="Calibri" pitchFamily="34" charset="0"/>
                <a:ea typeface="Calibri" pitchFamily="34" charset="-122"/>
                <a:cs typeface="Calibri" pitchFamily="34" charset="-120"/>
              </a:rPr>
              <a:t>IN-DOMAIN</a:t>
            </a:r>
            <a:endParaRPr lang="en-US" sz="1050" dirty="0"/>
          </a:p>
        </p:txBody>
      </p:sp>
      <p:sp>
        <p:nvSpPr>
          <p:cNvPr id="7" name="Text 4"/>
          <p:cNvSpPr/>
          <p:nvPr/>
        </p:nvSpPr>
        <p:spPr>
          <a:xfrm>
            <a:off x="777240" y="5641848"/>
            <a:ext cx="4937760" cy="548640"/>
          </a:xfrm>
          <a:prstGeom prst="rect">
            <a:avLst/>
          </a:prstGeom>
          <a:noFill/>
          <a:ln/>
        </p:spPr>
        <p:txBody>
          <a:bodyPr wrap="square" lIns="0" tIns="0" rIns="0" bIns="0" rtlCol="0" anchor="ctr"/>
          <a:lstStyle/>
          <a:p>
            <a:pPr indent="0" marL="0">
              <a:buNone/>
            </a:pPr>
            <a:r>
              <a:rPr lang="en-US" sz="2400" b="1" dirty="0">
                <a:solidFill>
                  <a:srgbClr val="0B2545"/>
                </a:solidFill>
                <a:latin typeface="Cambria" pitchFamily="34" charset="0"/>
                <a:ea typeface="Cambria" pitchFamily="34" charset="-122"/>
                <a:cs typeface="Cambria" pitchFamily="34" charset="-120"/>
              </a:rPr>
              <a:t>99.25%  /  96.38%</a:t>
            </a:r>
            <a:endParaRPr lang="en-US" sz="2400" dirty="0"/>
          </a:p>
        </p:txBody>
      </p:sp>
      <p:sp>
        <p:nvSpPr>
          <p:cNvPr id="8" name="Shape 5"/>
          <p:cNvSpPr/>
          <p:nvPr/>
        </p:nvSpPr>
        <p:spPr>
          <a:xfrm>
            <a:off x="6217920" y="5257800"/>
            <a:ext cx="5394960" cy="1005840"/>
          </a:xfrm>
          <a:prstGeom prst="roundRect">
            <a:avLst>
              <a:gd name="adj" fmla="val 9091"/>
            </a:avLst>
          </a:prstGeom>
          <a:solidFill>
            <a:srgbClr val="FBEAE8"/>
          </a:solidFill>
          <a:ln/>
        </p:spPr>
      </p:sp>
      <p:sp>
        <p:nvSpPr>
          <p:cNvPr id="9" name="Text 6"/>
          <p:cNvSpPr/>
          <p:nvPr/>
        </p:nvSpPr>
        <p:spPr>
          <a:xfrm>
            <a:off x="6446520" y="5367528"/>
            <a:ext cx="4937760" cy="274320"/>
          </a:xfrm>
          <a:prstGeom prst="rect">
            <a:avLst/>
          </a:prstGeom>
          <a:noFill/>
          <a:ln/>
        </p:spPr>
        <p:txBody>
          <a:bodyPr wrap="square" lIns="0" tIns="0" rIns="0" bIns="0" rtlCol="0" anchor="ctr"/>
          <a:lstStyle/>
          <a:p>
            <a:pPr indent="0" marL="0">
              <a:buNone/>
            </a:pPr>
            <a:r>
              <a:rPr lang="en-US" sz="1050" b="1" spc="100" kern="0" dirty="0">
                <a:solidFill>
                  <a:srgbClr val="C0392B"/>
                </a:solidFill>
                <a:latin typeface="Calibri" pitchFamily="34" charset="0"/>
                <a:ea typeface="Calibri" pitchFamily="34" charset="-122"/>
                <a:cs typeface="Calibri" pitchFamily="34" charset="-120"/>
              </a:rPr>
              <a:t>CROSS-DOMAIN (ZERO-SHOT)</a:t>
            </a:r>
            <a:endParaRPr lang="en-US" sz="1050" dirty="0"/>
          </a:p>
        </p:txBody>
      </p:sp>
      <p:sp>
        <p:nvSpPr>
          <p:cNvPr id="10" name="Text 7"/>
          <p:cNvSpPr/>
          <p:nvPr/>
        </p:nvSpPr>
        <p:spPr>
          <a:xfrm>
            <a:off x="6446520" y="5641848"/>
            <a:ext cx="4937760" cy="548640"/>
          </a:xfrm>
          <a:prstGeom prst="rect">
            <a:avLst/>
          </a:prstGeom>
          <a:noFill/>
          <a:ln/>
        </p:spPr>
        <p:txBody>
          <a:bodyPr wrap="square" lIns="0" tIns="0" rIns="0" bIns="0" rtlCol="0" anchor="ctr"/>
          <a:lstStyle/>
          <a:p>
            <a:pPr indent="0" marL="0">
              <a:buNone/>
            </a:pPr>
            <a:r>
              <a:rPr lang="en-US" sz="2400" b="1" dirty="0">
                <a:solidFill>
                  <a:srgbClr val="C0392B"/>
                </a:solidFill>
                <a:latin typeface="Cambria" pitchFamily="34" charset="0"/>
                <a:ea typeface="Cambria" pitchFamily="34" charset="-122"/>
                <a:cs typeface="Cambria" pitchFamily="34" charset="-120"/>
              </a:rPr>
              <a:t>52.84%  /  29.15%</a:t>
            </a:r>
            <a:endParaRPr lang="en-US" sz="2400" dirty="0"/>
          </a:p>
        </p:txBody>
      </p:sp>
      <p:sp>
        <p:nvSpPr>
          <p:cNvPr id="11" name="Text 8"/>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MASTER RESULTS MATRIX</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Complete Comparative Results Across All Settings</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2194560"/>
        </p:xfrm>
        <a:graphic>
          <a:graphicData uri="http://schemas.openxmlformats.org/drawingml/2006/table">
            <a:tbl>
              <a:tblPr/>
              <a:tblGrid>
                <a:gridCol w="822960"/>
                <a:gridCol w="1417320"/>
                <a:gridCol w="1691640"/>
                <a:gridCol w="1280160"/>
                <a:gridCol w="1280160"/>
                <a:gridCol w="1280160"/>
                <a:gridCol w="1280160"/>
                <a:gridCol w="1097280"/>
                <a:gridCol w="1280160"/>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Train</a:t>
                      </a:r>
                      <a:endParaRPr lang="en-US" sz="11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Test</a:t>
                      </a:r>
                      <a:endParaRPr lang="en-US" sz="11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Macro F1</a:t>
                      </a:r>
                      <a:endParaRPr lang="en-US" sz="11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QWK</a:t>
                      </a:r>
                      <a:endParaRPr lang="en-US" sz="11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0B254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Domain Shift</a:t>
                      </a:r>
                      <a:endParaRPr lang="en-US" sz="11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0B2545"/>
                    </a:solidFill>
                  </a:tcPr>
                </a:tc>
              </a:tr>
              <a:tr h="434340">
                <a:tc>
                  <a:txBody>
                    <a:bodyPr/>
                    <a:lstStyle/>
                    <a:p>
                      <a:pPr algn="ctr" indent="0" marL="0">
                        <a:buNone/>
                      </a:pPr>
                      <a:r>
                        <a:rPr lang="en-US" sz="1200" b="1" dirty="0">
                          <a:solidFill>
                            <a:srgbClr val="1E2A38"/>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OUC-CGE</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OUC-CGE (CV)</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99.25%</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0.9922</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0.9920</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0.9924</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0.9910</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r>
              <a:tr h="434340">
                <a:tc>
                  <a:txBody>
                    <a:bodyPr/>
                    <a:lstStyle/>
                    <a:p>
                      <a:pPr algn="ctr" indent="0" marL="0">
                        <a:buNone/>
                      </a:pPr>
                      <a:r>
                        <a:rPr lang="en-US" sz="1200" b="1" dirty="0">
                          <a:solidFill>
                            <a:srgbClr val="1E2A38"/>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COLER</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COLER (CV)</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96.38%</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0.9658</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0.9678</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0.9642</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0.9644</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FFFFF"/>
                    </a:solidFill>
                  </a:tcPr>
                </a:tc>
              </a:tr>
              <a:tr h="434340">
                <a:tc>
                  <a:txBody>
                    <a:bodyPr/>
                    <a:lstStyle/>
                    <a:p>
                      <a:pPr algn="ctr" indent="0" marL="0">
                        <a:buNone/>
                      </a:pPr>
                      <a:r>
                        <a:rPr lang="en-US" sz="1200" b="1" dirty="0">
                          <a:solidFill>
                            <a:srgbClr val="1E2A38"/>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OUC-CGE</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COLER (0-shot)</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b="1" dirty="0">
                          <a:solidFill>
                            <a:srgbClr val="C0392B"/>
                          </a:solidFill>
                          <a:latin typeface="Calibri" pitchFamily="34" charset="0"/>
                          <a:ea typeface="Calibri" pitchFamily="34" charset="-122"/>
                          <a:cs typeface="Calibri" pitchFamily="34" charset="-120"/>
                        </a:rPr>
                        <a:t>52.84%</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0.4370</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0.3763</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0.5302</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0.1501</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b="1" dirty="0">
                          <a:solidFill>
                            <a:srgbClr val="C0392B"/>
                          </a:solidFill>
                          <a:latin typeface="Calibri" pitchFamily="34" charset="0"/>
                          <a:ea typeface="Calibri" pitchFamily="34" charset="-122"/>
                          <a:cs typeface="Calibri" pitchFamily="34" charset="-120"/>
                        </a:rPr>
                        <a:t>−46.41%</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r>
              <a:tr h="434340">
                <a:tc>
                  <a:txBody>
                    <a:bodyPr/>
                    <a:lstStyle/>
                    <a:p>
                      <a:pPr algn="ctr" indent="0" marL="0">
                        <a:buNone/>
                      </a:pPr>
                      <a:r>
                        <a:rPr lang="en-US" sz="1200" b="1" dirty="0">
                          <a:solidFill>
                            <a:srgbClr val="1E2A38"/>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COLER</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OUC-CGE (0-shot)</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b="1" dirty="0">
                          <a:solidFill>
                            <a:srgbClr val="C0392B"/>
                          </a:solidFill>
                          <a:latin typeface="Calibri" pitchFamily="34" charset="0"/>
                          <a:ea typeface="Calibri" pitchFamily="34" charset="-122"/>
                          <a:cs typeface="Calibri" pitchFamily="34" charset="-120"/>
                        </a:rPr>
                        <a:t>29.15%</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0.1662</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0.1653</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0.3155</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dirty="0">
                          <a:solidFill>
                            <a:srgbClr val="1E2A38"/>
                          </a:solidFill>
                          <a:latin typeface="Calibri" pitchFamily="34" charset="0"/>
                          <a:ea typeface="Calibri" pitchFamily="34" charset="-122"/>
                          <a:cs typeface="Calibri" pitchFamily="34" charset="-120"/>
                        </a:rPr>
                        <a:t>−0.0242</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c>
                  <a:txBody>
                    <a:bodyPr/>
                    <a:lstStyle/>
                    <a:p>
                      <a:pPr algn="ctr" indent="0" marL="0">
                        <a:buNone/>
                      </a:pPr>
                      <a:r>
                        <a:rPr lang="en-US" sz="1200" b="1" dirty="0">
                          <a:solidFill>
                            <a:srgbClr val="C0392B"/>
                          </a:solidFill>
                          <a:latin typeface="Calibri" pitchFamily="34" charset="0"/>
                          <a:ea typeface="Calibri" pitchFamily="34" charset="-122"/>
                          <a:cs typeface="Calibri" pitchFamily="34" charset="-120"/>
                        </a:rPr>
                        <a:t>−67.23%</a:t>
                      </a:r>
                      <a:endParaRPr lang="en-US" sz="1200" dirty="0">
                        <a:latin typeface="Calibri" charset="0"/>
                        <a:ea typeface="Calibri" charset="0"/>
                        <a:cs typeface="Calibri" charset="0"/>
                      </a:endParaRPr>
                    </a:p>
                  </a:txBody>
                  <a:tcPr marL="50800" marR="50800" marT="50800" marB="50800" anchor="ctr">
                    <a:lnL w="12700" cap="flat" cmpd="sng" algn="ctr">
                      <a:solidFill>
                        <a:srgbClr val="DCE4E9"/>
                      </a:solidFill>
                      <a:prstDash val="solid"/>
                      <a:round/>
                      <a:headEnd type="none" w="med" len="med"/>
                      <a:tailEnd type="none" w="med" len="med"/>
                    </a:lnL>
                    <a:lnR w="12700" cap="flat" cmpd="sng" algn="ctr">
                      <a:solidFill>
                        <a:srgbClr val="DCE4E9"/>
                      </a:solidFill>
                      <a:prstDash val="solid"/>
                      <a:round/>
                      <a:headEnd type="none" w="med" len="med"/>
                      <a:tailEnd type="none" w="med" len="med"/>
                    </a:lnR>
                    <a:lnT w="12700" cap="flat" cmpd="sng" algn="ctr">
                      <a:solidFill>
                        <a:srgbClr val="DCE4E9"/>
                      </a:solidFill>
                      <a:prstDash val="solid"/>
                      <a:round/>
                      <a:headEnd type="none" w="med" len="med"/>
                      <a:tailEnd type="none" w="med" len="med"/>
                    </a:lnT>
                    <a:lnB w="12700" cap="flat" cmpd="sng" algn="ctr">
                      <a:solidFill>
                        <a:srgbClr val="DCE4E9"/>
                      </a:solidFill>
                      <a:prstDash val="solid"/>
                      <a:round/>
                      <a:headEnd type="none" w="med" len="med"/>
                      <a:tailEnd type="none" w="med" len="med"/>
                    </a:lnB>
                    <a:solidFill>
                      <a:srgbClr val="FDF3F2"/>
                    </a:solidFill>
                  </a:tcPr>
                </a:tc>
              </a:tr>
            </a:tbl>
          </a:graphicData>
        </a:graphic>
      </p:graphicFrame>
      <p:sp>
        <p:nvSpPr>
          <p:cNvPr id="5" name="Text 2"/>
          <p:cNvSpPr/>
          <p:nvPr/>
        </p:nvSpPr>
        <p:spPr>
          <a:xfrm>
            <a:off x="548640" y="4023360"/>
            <a:ext cx="7315200" cy="274320"/>
          </a:xfrm>
          <a:prstGeom prst="rect">
            <a:avLst/>
          </a:prstGeom>
          <a:noFill/>
          <a:ln/>
        </p:spPr>
        <p:txBody>
          <a:bodyPr wrap="square" lIns="0" tIns="0" rIns="0" bIns="0" rtlCol="0" anchor="ctr"/>
          <a:lstStyle/>
          <a:p>
            <a:pPr indent="0" marL="0">
              <a:buNone/>
            </a:pPr>
            <a:r>
              <a:rPr lang="en-US" sz="1100" b="1" spc="100" kern="0" dirty="0">
                <a:solidFill>
                  <a:srgbClr val="6B7785"/>
                </a:solidFill>
                <a:latin typeface="Calibri" pitchFamily="34" charset="0"/>
                <a:ea typeface="Calibri" pitchFamily="34" charset="-122"/>
                <a:cs typeface="Calibri" pitchFamily="34" charset="-120"/>
              </a:rPr>
              <a:t>KEY NUMBERS TO REMEMBER</a:t>
            </a:r>
            <a:endParaRPr lang="en-US" sz="1100" dirty="0"/>
          </a:p>
        </p:txBody>
      </p:sp>
      <p:sp>
        <p:nvSpPr>
          <p:cNvPr id="6" name="Shape 3"/>
          <p:cNvSpPr/>
          <p:nvPr/>
        </p:nvSpPr>
        <p:spPr>
          <a:xfrm>
            <a:off x="548640" y="4343400"/>
            <a:ext cx="1783080" cy="868680"/>
          </a:xfrm>
          <a:prstGeom prst="roundRect">
            <a:avLst>
              <a:gd name="adj" fmla="val 8421"/>
            </a:avLst>
          </a:prstGeom>
          <a:solidFill>
            <a:srgbClr val="EEF3F8"/>
          </a:solidFill>
          <a:ln/>
        </p:spPr>
      </p:sp>
      <p:sp>
        <p:nvSpPr>
          <p:cNvPr id="7" name="Text 4"/>
          <p:cNvSpPr/>
          <p:nvPr/>
        </p:nvSpPr>
        <p:spPr>
          <a:xfrm>
            <a:off x="548640" y="4343400"/>
            <a:ext cx="1783080" cy="868680"/>
          </a:xfrm>
          <a:prstGeom prst="rect">
            <a:avLst/>
          </a:prstGeom>
          <a:noFill/>
          <a:ln/>
        </p:spPr>
        <p:txBody>
          <a:bodyPr wrap="square" lIns="0" tIns="0" rIns="0" bIns="0" rtlCol="0" anchor="ctr"/>
          <a:lstStyle/>
          <a:p>
            <a:pPr algn="ctr" indent="0" marL="0">
              <a:buNone/>
            </a:pPr>
            <a:r>
              <a:rPr lang="en-US" sz="1900" b="1" dirty="0">
                <a:solidFill>
                  <a:srgbClr val="0B2545"/>
                </a:solidFill>
                <a:latin typeface="Cambria" pitchFamily="34" charset="0"/>
                <a:ea typeface="Cambria" pitchFamily="34" charset="-122"/>
                <a:cs typeface="Cambria" pitchFamily="34" charset="-120"/>
              </a:rPr>
              <a:t>99.25%</a:t>
            </a:r>
            <a:endParaRPr lang="en-US" sz="1900" dirty="0"/>
          </a:p>
        </p:txBody>
      </p:sp>
      <p:sp>
        <p:nvSpPr>
          <p:cNvPr id="8" name="Shape 5"/>
          <p:cNvSpPr/>
          <p:nvPr/>
        </p:nvSpPr>
        <p:spPr>
          <a:xfrm>
            <a:off x="2468880" y="4343400"/>
            <a:ext cx="1783080" cy="868680"/>
          </a:xfrm>
          <a:prstGeom prst="roundRect">
            <a:avLst>
              <a:gd name="adj" fmla="val 8421"/>
            </a:avLst>
          </a:prstGeom>
          <a:solidFill>
            <a:srgbClr val="EEF3F8"/>
          </a:solidFill>
          <a:ln/>
        </p:spPr>
      </p:sp>
      <p:sp>
        <p:nvSpPr>
          <p:cNvPr id="9" name="Text 6"/>
          <p:cNvSpPr/>
          <p:nvPr/>
        </p:nvSpPr>
        <p:spPr>
          <a:xfrm>
            <a:off x="2468880" y="4343400"/>
            <a:ext cx="1783080" cy="868680"/>
          </a:xfrm>
          <a:prstGeom prst="rect">
            <a:avLst/>
          </a:prstGeom>
          <a:noFill/>
          <a:ln/>
        </p:spPr>
        <p:txBody>
          <a:bodyPr wrap="square" lIns="0" tIns="0" rIns="0" bIns="0" rtlCol="0" anchor="ctr"/>
          <a:lstStyle/>
          <a:p>
            <a:pPr algn="ctr" indent="0" marL="0">
              <a:buNone/>
            </a:pPr>
            <a:r>
              <a:rPr lang="en-US" sz="1900" b="1" dirty="0">
                <a:solidFill>
                  <a:srgbClr val="0B2545"/>
                </a:solidFill>
                <a:latin typeface="Cambria" pitchFamily="34" charset="0"/>
                <a:ea typeface="Cambria" pitchFamily="34" charset="-122"/>
                <a:cs typeface="Cambria" pitchFamily="34" charset="-120"/>
              </a:rPr>
              <a:t>96.38%</a:t>
            </a:r>
            <a:endParaRPr lang="en-US" sz="1900" dirty="0"/>
          </a:p>
        </p:txBody>
      </p:sp>
      <p:sp>
        <p:nvSpPr>
          <p:cNvPr id="10" name="Shape 7"/>
          <p:cNvSpPr/>
          <p:nvPr/>
        </p:nvSpPr>
        <p:spPr>
          <a:xfrm>
            <a:off x="4389120" y="4343400"/>
            <a:ext cx="1783080" cy="868680"/>
          </a:xfrm>
          <a:prstGeom prst="roundRect">
            <a:avLst>
              <a:gd name="adj" fmla="val 8421"/>
            </a:avLst>
          </a:prstGeom>
          <a:solidFill>
            <a:srgbClr val="FBEAE8"/>
          </a:solidFill>
          <a:ln/>
        </p:spPr>
      </p:sp>
      <p:sp>
        <p:nvSpPr>
          <p:cNvPr id="11" name="Text 8"/>
          <p:cNvSpPr/>
          <p:nvPr/>
        </p:nvSpPr>
        <p:spPr>
          <a:xfrm>
            <a:off x="4389120" y="4343400"/>
            <a:ext cx="1783080" cy="868680"/>
          </a:xfrm>
          <a:prstGeom prst="rect">
            <a:avLst/>
          </a:prstGeom>
          <a:noFill/>
          <a:ln/>
        </p:spPr>
        <p:txBody>
          <a:bodyPr wrap="square" lIns="0" tIns="0" rIns="0" bIns="0" rtlCol="0" anchor="ctr"/>
          <a:lstStyle/>
          <a:p>
            <a:pPr algn="ctr" indent="0" marL="0">
              <a:buNone/>
            </a:pPr>
            <a:r>
              <a:rPr lang="en-US" sz="1900" b="1" dirty="0">
                <a:solidFill>
                  <a:srgbClr val="C0392B"/>
                </a:solidFill>
                <a:latin typeface="Cambria" pitchFamily="34" charset="0"/>
                <a:ea typeface="Cambria" pitchFamily="34" charset="-122"/>
                <a:cs typeface="Cambria" pitchFamily="34" charset="-120"/>
              </a:rPr>
              <a:t>52.84%</a:t>
            </a:r>
            <a:endParaRPr lang="en-US" sz="1900" dirty="0"/>
          </a:p>
        </p:txBody>
      </p:sp>
      <p:sp>
        <p:nvSpPr>
          <p:cNvPr id="12" name="Shape 9"/>
          <p:cNvSpPr/>
          <p:nvPr/>
        </p:nvSpPr>
        <p:spPr>
          <a:xfrm>
            <a:off x="6309360" y="4343400"/>
            <a:ext cx="1783080" cy="868680"/>
          </a:xfrm>
          <a:prstGeom prst="roundRect">
            <a:avLst>
              <a:gd name="adj" fmla="val 8421"/>
            </a:avLst>
          </a:prstGeom>
          <a:solidFill>
            <a:srgbClr val="FBEAE8"/>
          </a:solidFill>
          <a:ln/>
        </p:spPr>
      </p:sp>
      <p:sp>
        <p:nvSpPr>
          <p:cNvPr id="13" name="Text 10"/>
          <p:cNvSpPr/>
          <p:nvPr/>
        </p:nvSpPr>
        <p:spPr>
          <a:xfrm>
            <a:off x="6309360" y="4343400"/>
            <a:ext cx="1783080" cy="868680"/>
          </a:xfrm>
          <a:prstGeom prst="rect">
            <a:avLst/>
          </a:prstGeom>
          <a:noFill/>
          <a:ln/>
        </p:spPr>
        <p:txBody>
          <a:bodyPr wrap="square" lIns="0" tIns="0" rIns="0" bIns="0" rtlCol="0" anchor="ctr"/>
          <a:lstStyle/>
          <a:p>
            <a:pPr algn="ctr" indent="0" marL="0">
              <a:buNone/>
            </a:pPr>
            <a:r>
              <a:rPr lang="en-US" sz="1900" b="1" dirty="0">
                <a:solidFill>
                  <a:srgbClr val="C0392B"/>
                </a:solidFill>
                <a:latin typeface="Cambria" pitchFamily="34" charset="0"/>
                <a:ea typeface="Cambria" pitchFamily="34" charset="-122"/>
                <a:cs typeface="Cambria" pitchFamily="34" charset="-120"/>
              </a:rPr>
              <a:t>29.15%</a:t>
            </a:r>
            <a:endParaRPr lang="en-US" sz="1900" dirty="0"/>
          </a:p>
        </p:txBody>
      </p:sp>
      <p:sp>
        <p:nvSpPr>
          <p:cNvPr id="14" name="Shape 11"/>
          <p:cNvSpPr/>
          <p:nvPr/>
        </p:nvSpPr>
        <p:spPr>
          <a:xfrm>
            <a:off x="8229600" y="4343400"/>
            <a:ext cx="1783080" cy="868680"/>
          </a:xfrm>
          <a:prstGeom prst="roundRect">
            <a:avLst>
              <a:gd name="adj" fmla="val 8421"/>
            </a:avLst>
          </a:prstGeom>
          <a:solidFill>
            <a:srgbClr val="FBEAE8"/>
          </a:solidFill>
          <a:ln/>
        </p:spPr>
      </p:sp>
      <p:sp>
        <p:nvSpPr>
          <p:cNvPr id="15" name="Text 12"/>
          <p:cNvSpPr/>
          <p:nvPr/>
        </p:nvSpPr>
        <p:spPr>
          <a:xfrm>
            <a:off x="8229600" y="4343400"/>
            <a:ext cx="1783080" cy="868680"/>
          </a:xfrm>
          <a:prstGeom prst="rect">
            <a:avLst/>
          </a:prstGeom>
          <a:noFill/>
          <a:ln/>
        </p:spPr>
        <p:txBody>
          <a:bodyPr wrap="square" lIns="0" tIns="0" rIns="0" bIns="0" rtlCol="0" anchor="ctr"/>
          <a:lstStyle/>
          <a:p>
            <a:pPr algn="ctr" indent="0" marL="0">
              <a:buNone/>
            </a:pPr>
            <a:r>
              <a:rPr lang="en-US" sz="1900" b="1" dirty="0">
                <a:solidFill>
                  <a:srgbClr val="C0392B"/>
                </a:solidFill>
                <a:latin typeface="Cambria" pitchFamily="34" charset="0"/>
                <a:ea typeface="Cambria" pitchFamily="34" charset="-122"/>
                <a:cs typeface="Cambria" pitchFamily="34" charset="-120"/>
              </a:rPr>
              <a:t>−46.41%</a:t>
            </a:r>
            <a:endParaRPr lang="en-US" sz="1900" dirty="0"/>
          </a:p>
        </p:txBody>
      </p:sp>
      <p:sp>
        <p:nvSpPr>
          <p:cNvPr id="16" name="Shape 13"/>
          <p:cNvSpPr/>
          <p:nvPr/>
        </p:nvSpPr>
        <p:spPr>
          <a:xfrm>
            <a:off x="10149840" y="4343400"/>
            <a:ext cx="1783080" cy="868680"/>
          </a:xfrm>
          <a:prstGeom prst="roundRect">
            <a:avLst>
              <a:gd name="adj" fmla="val 8421"/>
            </a:avLst>
          </a:prstGeom>
          <a:solidFill>
            <a:srgbClr val="FBEAE8"/>
          </a:solidFill>
          <a:ln/>
        </p:spPr>
      </p:sp>
      <p:sp>
        <p:nvSpPr>
          <p:cNvPr id="17" name="Text 14"/>
          <p:cNvSpPr/>
          <p:nvPr/>
        </p:nvSpPr>
        <p:spPr>
          <a:xfrm>
            <a:off x="10149840" y="4343400"/>
            <a:ext cx="1783080" cy="868680"/>
          </a:xfrm>
          <a:prstGeom prst="rect">
            <a:avLst/>
          </a:prstGeom>
          <a:noFill/>
          <a:ln/>
        </p:spPr>
        <p:txBody>
          <a:bodyPr wrap="square" lIns="0" tIns="0" rIns="0" bIns="0" rtlCol="0" anchor="ctr"/>
          <a:lstStyle/>
          <a:p>
            <a:pPr algn="ctr" indent="0" marL="0">
              <a:buNone/>
            </a:pPr>
            <a:r>
              <a:rPr lang="en-US" sz="1900" b="1" dirty="0">
                <a:solidFill>
                  <a:srgbClr val="C0392B"/>
                </a:solidFill>
                <a:latin typeface="Cambria" pitchFamily="34" charset="0"/>
                <a:ea typeface="Cambria" pitchFamily="34" charset="-122"/>
                <a:cs typeface="Cambria" pitchFamily="34" charset="-120"/>
              </a:rPr>
              <a:t>−67.23%</a:t>
            </a:r>
            <a:endParaRPr lang="en-US" sz="1900" dirty="0"/>
          </a:p>
        </p:txBody>
      </p:sp>
      <p:sp>
        <p:nvSpPr>
          <p:cNvPr id="18" name="Text 15"/>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SETTING 1</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OUC-CGE: Near-Perfect In-Domain Performance</a:t>
            </a:r>
            <a:endParaRPr lang="en-US" sz="2500" dirty="0"/>
          </a:p>
        </p:txBody>
      </p:sp>
      <p:sp>
        <p:nvSpPr>
          <p:cNvPr id="4" name="Text 2"/>
          <p:cNvSpPr/>
          <p:nvPr/>
        </p:nvSpPr>
        <p:spPr>
          <a:xfrm>
            <a:off x="548640" y="1600200"/>
            <a:ext cx="3291840" cy="777240"/>
          </a:xfrm>
          <a:prstGeom prst="rect">
            <a:avLst/>
          </a:prstGeom>
          <a:noFill/>
          <a:ln/>
        </p:spPr>
        <p:txBody>
          <a:bodyPr wrap="square" lIns="0" tIns="0" rIns="0" bIns="0" rtlCol="0" anchor="ctr"/>
          <a:lstStyle/>
          <a:p>
            <a:pPr algn="l" indent="0" marL="0">
              <a:buNone/>
            </a:pPr>
            <a:r>
              <a:rPr lang="en-US" sz="4600" b="1" dirty="0">
                <a:solidFill>
                  <a:srgbClr val="0B2545"/>
                </a:solidFill>
                <a:latin typeface="Cambria" pitchFamily="34" charset="0"/>
                <a:ea typeface="Cambria" pitchFamily="34" charset="-122"/>
                <a:cs typeface="Cambria" pitchFamily="34" charset="-120"/>
              </a:rPr>
              <a:t>99.25%</a:t>
            </a:r>
            <a:endParaRPr lang="en-US" sz="4600" dirty="0"/>
          </a:p>
        </p:txBody>
      </p:sp>
      <p:sp>
        <p:nvSpPr>
          <p:cNvPr id="5" name="Text 3"/>
          <p:cNvSpPr/>
          <p:nvPr/>
        </p:nvSpPr>
        <p:spPr>
          <a:xfrm>
            <a:off x="548640" y="2278626"/>
            <a:ext cx="3291840" cy="32004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ACCURACY ± 0.26%</a:t>
            </a:r>
            <a:endParaRPr lang="en-US" sz="1050" dirty="0"/>
          </a:p>
        </p:txBody>
      </p:sp>
      <p:sp>
        <p:nvSpPr>
          <p:cNvPr id="6" name="Text 4"/>
          <p:cNvSpPr/>
          <p:nvPr/>
        </p:nvSpPr>
        <p:spPr>
          <a:xfrm>
            <a:off x="548640" y="2606040"/>
            <a:ext cx="3291840" cy="777240"/>
          </a:xfrm>
          <a:prstGeom prst="rect">
            <a:avLst/>
          </a:prstGeom>
          <a:noFill/>
          <a:ln/>
        </p:spPr>
        <p:txBody>
          <a:bodyPr wrap="square" lIns="0" tIns="0" rIns="0" bIns="0" rtlCol="0" anchor="ctr"/>
          <a:lstStyle/>
          <a:p>
            <a:pPr algn="l" indent="0" marL="0">
              <a:buNone/>
            </a:pPr>
            <a:r>
              <a:rPr lang="en-US" sz="3400" b="1" dirty="0">
                <a:solidFill>
                  <a:srgbClr val="0B2545"/>
                </a:solidFill>
                <a:latin typeface="Cambria" pitchFamily="34" charset="0"/>
                <a:ea typeface="Cambria" pitchFamily="34" charset="-122"/>
                <a:cs typeface="Cambria" pitchFamily="34" charset="-120"/>
              </a:rPr>
              <a:t>0.9922</a:t>
            </a:r>
            <a:endParaRPr lang="en-US" sz="3400" dirty="0"/>
          </a:p>
        </p:txBody>
      </p:sp>
      <p:sp>
        <p:nvSpPr>
          <p:cNvPr id="7" name="Text 5"/>
          <p:cNvSpPr/>
          <p:nvPr/>
        </p:nvSpPr>
        <p:spPr>
          <a:xfrm>
            <a:off x="548640" y="3107485"/>
            <a:ext cx="3291840" cy="32004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MACRO F1 ± 0.0028</a:t>
            </a:r>
            <a:endParaRPr lang="en-US" sz="1050" dirty="0"/>
          </a:p>
        </p:txBody>
      </p:sp>
      <p:sp>
        <p:nvSpPr>
          <p:cNvPr id="8" name="Text 6"/>
          <p:cNvSpPr/>
          <p:nvPr/>
        </p:nvSpPr>
        <p:spPr>
          <a:xfrm>
            <a:off x="548640" y="3429000"/>
            <a:ext cx="3291840" cy="777240"/>
          </a:xfrm>
          <a:prstGeom prst="rect">
            <a:avLst/>
          </a:prstGeom>
          <a:noFill/>
          <a:ln/>
        </p:spPr>
        <p:txBody>
          <a:bodyPr wrap="square" lIns="0" tIns="0" rIns="0" bIns="0" rtlCol="0" anchor="ctr"/>
          <a:lstStyle/>
          <a:p>
            <a:pPr algn="l" indent="0" marL="0">
              <a:buNone/>
            </a:pPr>
            <a:r>
              <a:rPr lang="en-US" sz="3400" b="1" dirty="0">
                <a:solidFill>
                  <a:srgbClr val="0B2545"/>
                </a:solidFill>
                <a:latin typeface="Cambria" pitchFamily="34" charset="0"/>
                <a:ea typeface="Cambria" pitchFamily="34" charset="-122"/>
                <a:cs typeface="Cambria" pitchFamily="34" charset="-120"/>
              </a:rPr>
              <a:t>0.9910</a:t>
            </a:r>
            <a:endParaRPr lang="en-US" sz="3400" dirty="0"/>
          </a:p>
        </p:txBody>
      </p:sp>
      <p:sp>
        <p:nvSpPr>
          <p:cNvPr id="9" name="Text 7"/>
          <p:cNvSpPr/>
          <p:nvPr/>
        </p:nvSpPr>
        <p:spPr>
          <a:xfrm>
            <a:off x="548640" y="3930445"/>
            <a:ext cx="3291840" cy="32004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QWK ± 0.0023</a:t>
            </a:r>
            <a:endParaRPr lang="en-US" sz="1050" dirty="0"/>
          </a:p>
        </p:txBody>
      </p:sp>
      <p:graphicFrame>
        <p:nvGraphicFramePr>
          <p:cNvPr id="10" name="Chart 0" descr=""/>
          <p:cNvGraphicFramePr/>
          <p:nvPr/>
        </p:nvGraphicFramePr>
        <p:xfrm>
          <a:off x="4206240" y="1600200"/>
          <a:ext cx="7406640" cy="269748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548640" y="4480560"/>
            <a:ext cx="11064240" cy="1051560"/>
          </a:xfrm>
          <a:prstGeom prst="roundRect">
            <a:avLst>
              <a:gd name="adj" fmla="val 8696"/>
            </a:avLst>
          </a:prstGeom>
          <a:solidFill>
            <a:srgbClr val="EEF3F8"/>
          </a:solidFill>
          <a:ln/>
        </p:spPr>
      </p:sp>
      <p:sp>
        <p:nvSpPr>
          <p:cNvPr id="12" name="Text 9"/>
          <p:cNvSpPr/>
          <p:nvPr/>
        </p:nvSpPr>
        <p:spPr>
          <a:xfrm>
            <a:off x="914400" y="4480560"/>
            <a:ext cx="10332720" cy="1051560"/>
          </a:xfrm>
          <a:prstGeom prst="rect">
            <a:avLst/>
          </a:prstGeom>
          <a:noFill/>
          <a:ln/>
        </p:spPr>
        <p:txBody>
          <a:bodyPr wrap="square" lIns="0" tIns="0" rIns="0" bIns="0" rtlCol="0" anchor="ctr"/>
          <a:lstStyle/>
          <a:p>
            <a:pPr indent="0" marL="0">
              <a:buNone/>
            </a:pPr>
            <a:r>
              <a:rPr lang="en-US" sz="1600" i="1" dirty="0">
                <a:solidFill>
                  <a:srgbClr val="0B2545"/>
                </a:solidFill>
                <a:latin typeface="Cambria" pitchFamily="34" charset="0"/>
                <a:ea typeface="Cambria" pitchFamily="34" charset="-122"/>
                <a:cs typeface="Cambria" pitchFamily="34" charset="-120"/>
              </a:rPr>
              <a:t>“Performance is consistently high across all five folds.”</a:t>
            </a:r>
            <a:endParaRPr lang="en-US" sz="1600" dirty="0"/>
          </a:p>
        </p:txBody>
      </p:sp>
      <p:sp>
        <p:nvSpPr>
          <p:cNvPr id="13" name="Text 10"/>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SETTING 1 — CONFUSION MATRIX</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OUC-CGE In-Domain: Fold 0 Confusion Matrix</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5669280" cy="2011680"/>
        </p:xfrm>
        <a:graphic>
          <a:graphicData uri="http://schemas.openxmlformats.org/drawingml/2006/table">
            <a:tbl>
              <a:tblPr/>
              <a:tblGrid>
                <a:gridCol w="1554480"/>
                <a:gridCol w="1371600"/>
                <a:gridCol w="1371600"/>
                <a:gridCol w="1371600"/>
              </a:tblGrid>
              <a:tr h="457200">
                <a:tc>
                  <a:txBody>
                    <a:bodyPr/>
                    <a:lstStyle/>
                    <a:p>
                      <a:pPr algn="l" indent="0" marL="0">
                        <a:buNone/>
                      </a:pP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Pred: Low</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Pred: Mid</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Pred: High</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r>
              <a:tr h="5212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Actual: Low</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1,803</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r>
              <a:tr h="5212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Actual: Mid</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2F7"/>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1,215</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55687F"/>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2F8"/>
                    </a:solidFill>
                  </a:tcPr>
                </a:tc>
              </a:tr>
              <a:tr h="5212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Actual: High</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2F8"/>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F3F8"/>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1,345</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455972"/>
                    </a:solidFill>
                  </a:tcPr>
                </a:tc>
              </a:tr>
            </a:tbl>
          </a:graphicData>
        </a:graphic>
      </p:graphicFrame>
      <p:sp>
        <p:nvSpPr>
          <p:cNvPr id="5" name="Text 2"/>
          <p:cNvSpPr/>
          <p:nvPr/>
        </p:nvSpPr>
        <p:spPr>
          <a:xfrm>
            <a:off x="548640" y="3886200"/>
            <a:ext cx="5669280"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n = 4,384 test frames (Fold 0)</a:t>
            </a:r>
            <a:endParaRPr lang="en-US" sz="1050" dirty="0"/>
          </a:p>
        </p:txBody>
      </p:sp>
      <p:sp>
        <p:nvSpPr>
          <p:cNvPr id="6" name="Shape 3"/>
          <p:cNvSpPr/>
          <p:nvPr/>
        </p:nvSpPr>
        <p:spPr>
          <a:xfrm>
            <a:off x="548640" y="4343400"/>
            <a:ext cx="1783080" cy="1005840"/>
          </a:xfrm>
          <a:prstGeom prst="roundRect">
            <a:avLst>
              <a:gd name="adj" fmla="val 9091"/>
            </a:avLst>
          </a:prstGeom>
          <a:solidFill>
            <a:srgbClr val="EEF3F8"/>
          </a:solidFill>
          <a:ln/>
        </p:spPr>
      </p:sp>
      <p:sp>
        <p:nvSpPr>
          <p:cNvPr id="7" name="Text 4"/>
          <p:cNvSpPr/>
          <p:nvPr/>
        </p:nvSpPr>
        <p:spPr>
          <a:xfrm>
            <a:off x="548640" y="4434840"/>
            <a:ext cx="1783080" cy="502920"/>
          </a:xfrm>
          <a:prstGeom prst="rect">
            <a:avLst/>
          </a:prstGeom>
          <a:noFill/>
          <a:ln/>
        </p:spPr>
        <p:txBody>
          <a:bodyPr wrap="square" lIns="0" tIns="0" rIns="0" bIns="0" rtlCol="0" anchor="ctr"/>
          <a:lstStyle/>
          <a:p>
            <a:pPr algn="ctr" indent="0" marL="0">
              <a:buNone/>
            </a:pPr>
            <a:r>
              <a:rPr lang="en-US" sz="2000" b="1" dirty="0">
                <a:solidFill>
                  <a:srgbClr val="0B2545"/>
                </a:solidFill>
                <a:latin typeface="Cambria" pitchFamily="34" charset="0"/>
                <a:ea typeface="Cambria" pitchFamily="34" charset="-122"/>
                <a:cs typeface="Cambria" pitchFamily="34" charset="-120"/>
              </a:rPr>
              <a:t>99.67%</a:t>
            </a:r>
            <a:endParaRPr lang="en-US" sz="2000" dirty="0"/>
          </a:p>
        </p:txBody>
      </p:sp>
      <p:sp>
        <p:nvSpPr>
          <p:cNvPr id="8" name="Text 5"/>
          <p:cNvSpPr/>
          <p:nvPr/>
        </p:nvSpPr>
        <p:spPr>
          <a:xfrm>
            <a:off x="548640" y="4965192"/>
            <a:ext cx="1783080" cy="274320"/>
          </a:xfrm>
          <a:prstGeom prst="rect">
            <a:avLst/>
          </a:prstGeom>
          <a:noFill/>
          <a:ln/>
        </p:spPr>
        <p:txBody>
          <a:bodyPr wrap="square" lIns="0" tIns="0" rIns="0" bIns="0" rtlCol="0" anchor="ctr"/>
          <a:lstStyle/>
          <a:p>
            <a:pPr algn="ctr" indent="0" marL="0">
              <a:buNone/>
            </a:pPr>
            <a:r>
              <a:rPr lang="en-US" sz="950" b="1" dirty="0">
                <a:solidFill>
                  <a:srgbClr val="6B7785"/>
                </a:solidFill>
                <a:latin typeface="Calibri" pitchFamily="34" charset="0"/>
                <a:ea typeface="Calibri" pitchFamily="34" charset="-122"/>
                <a:cs typeface="Calibri" pitchFamily="34" charset="-120"/>
              </a:rPr>
              <a:t>LOW CLASS</a:t>
            </a:r>
            <a:endParaRPr lang="en-US" sz="950" dirty="0"/>
          </a:p>
        </p:txBody>
      </p:sp>
      <p:sp>
        <p:nvSpPr>
          <p:cNvPr id="9" name="Shape 6"/>
          <p:cNvSpPr/>
          <p:nvPr/>
        </p:nvSpPr>
        <p:spPr>
          <a:xfrm>
            <a:off x="2514600" y="4343400"/>
            <a:ext cx="1783080" cy="1005840"/>
          </a:xfrm>
          <a:prstGeom prst="roundRect">
            <a:avLst>
              <a:gd name="adj" fmla="val 9091"/>
            </a:avLst>
          </a:prstGeom>
          <a:solidFill>
            <a:srgbClr val="EEF3F8"/>
          </a:solidFill>
          <a:ln/>
        </p:spPr>
      </p:sp>
      <p:sp>
        <p:nvSpPr>
          <p:cNvPr id="10" name="Text 7"/>
          <p:cNvSpPr/>
          <p:nvPr/>
        </p:nvSpPr>
        <p:spPr>
          <a:xfrm>
            <a:off x="2514600" y="4434840"/>
            <a:ext cx="1783080" cy="502920"/>
          </a:xfrm>
          <a:prstGeom prst="rect">
            <a:avLst/>
          </a:prstGeom>
          <a:noFill/>
          <a:ln/>
        </p:spPr>
        <p:txBody>
          <a:bodyPr wrap="square" lIns="0" tIns="0" rIns="0" bIns="0" rtlCol="0" anchor="ctr"/>
          <a:lstStyle/>
          <a:p>
            <a:pPr algn="ctr" indent="0" marL="0">
              <a:buNone/>
            </a:pPr>
            <a:r>
              <a:rPr lang="en-US" sz="2000" b="1" dirty="0">
                <a:solidFill>
                  <a:srgbClr val="0B2545"/>
                </a:solidFill>
                <a:latin typeface="Cambria" pitchFamily="34" charset="0"/>
                <a:ea typeface="Cambria" pitchFamily="34" charset="-122"/>
                <a:cs typeface="Cambria" pitchFamily="34" charset="-120"/>
              </a:rPr>
              <a:t>99.10%</a:t>
            </a:r>
            <a:endParaRPr lang="en-US" sz="2000" dirty="0"/>
          </a:p>
        </p:txBody>
      </p:sp>
      <p:sp>
        <p:nvSpPr>
          <p:cNvPr id="11" name="Text 8"/>
          <p:cNvSpPr/>
          <p:nvPr/>
        </p:nvSpPr>
        <p:spPr>
          <a:xfrm>
            <a:off x="2514600" y="4965192"/>
            <a:ext cx="1783080" cy="274320"/>
          </a:xfrm>
          <a:prstGeom prst="rect">
            <a:avLst/>
          </a:prstGeom>
          <a:noFill/>
          <a:ln/>
        </p:spPr>
        <p:txBody>
          <a:bodyPr wrap="square" lIns="0" tIns="0" rIns="0" bIns="0" rtlCol="0" anchor="ctr"/>
          <a:lstStyle/>
          <a:p>
            <a:pPr algn="ctr" indent="0" marL="0">
              <a:buNone/>
            </a:pPr>
            <a:r>
              <a:rPr lang="en-US" sz="950" b="1" dirty="0">
                <a:solidFill>
                  <a:srgbClr val="6B7785"/>
                </a:solidFill>
                <a:latin typeface="Calibri" pitchFamily="34" charset="0"/>
                <a:ea typeface="Calibri" pitchFamily="34" charset="-122"/>
                <a:cs typeface="Calibri" pitchFamily="34" charset="-120"/>
              </a:rPr>
              <a:t>MID CLASS</a:t>
            </a:r>
            <a:endParaRPr lang="en-US" sz="950" dirty="0"/>
          </a:p>
        </p:txBody>
      </p:sp>
      <p:sp>
        <p:nvSpPr>
          <p:cNvPr id="12" name="Shape 9"/>
          <p:cNvSpPr/>
          <p:nvPr/>
        </p:nvSpPr>
        <p:spPr>
          <a:xfrm>
            <a:off x="4480560" y="4343400"/>
            <a:ext cx="1783080" cy="1005840"/>
          </a:xfrm>
          <a:prstGeom prst="roundRect">
            <a:avLst>
              <a:gd name="adj" fmla="val 9091"/>
            </a:avLst>
          </a:prstGeom>
          <a:solidFill>
            <a:srgbClr val="EEF3F8"/>
          </a:solidFill>
          <a:ln/>
        </p:spPr>
      </p:sp>
      <p:sp>
        <p:nvSpPr>
          <p:cNvPr id="13" name="Text 10"/>
          <p:cNvSpPr/>
          <p:nvPr/>
        </p:nvSpPr>
        <p:spPr>
          <a:xfrm>
            <a:off x="4480560" y="4434840"/>
            <a:ext cx="1783080" cy="502920"/>
          </a:xfrm>
          <a:prstGeom prst="rect">
            <a:avLst/>
          </a:prstGeom>
          <a:noFill/>
          <a:ln/>
        </p:spPr>
        <p:txBody>
          <a:bodyPr wrap="square" lIns="0" tIns="0" rIns="0" bIns="0" rtlCol="0" anchor="ctr"/>
          <a:lstStyle/>
          <a:p>
            <a:pPr algn="ctr" indent="0" marL="0">
              <a:buNone/>
            </a:pPr>
            <a:r>
              <a:rPr lang="en-US" sz="2000" b="1" dirty="0">
                <a:solidFill>
                  <a:srgbClr val="0B2545"/>
                </a:solidFill>
                <a:latin typeface="Cambria" pitchFamily="34" charset="0"/>
                <a:ea typeface="Cambria" pitchFamily="34" charset="-122"/>
                <a:cs typeface="Cambria" pitchFamily="34" charset="-120"/>
              </a:rPr>
              <a:t>99.34%</a:t>
            </a:r>
            <a:endParaRPr lang="en-US" sz="2000" dirty="0"/>
          </a:p>
        </p:txBody>
      </p:sp>
      <p:sp>
        <p:nvSpPr>
          <p:cNvPr id="14" name="Text 11"/>
          <p:cNvSpPr/>
          <p:nvPr/>
        </p:nvSpPr>
        <p:spPr>
          <a:xfrm>
            <a:off x="4480560" y="4965192"/>
            <a:ext cx="1783080" cy="274320"/>
          </a:xfrm>
          <a:prstGeom prst="rect">
            <a:avLst/>
          </a:prstGeom>
          <a:noFill/>
          <a:ln/>
        </p:spPr>
        <p:txBody>
          <a:bodyPr wrap="square" lIns="0" tIns="0" rIns="0" bIns="0" rtlCol="0" anchor="ctr"/>
          <a:lstStyle/>
          <a:p>
            <a:pPr algn="ctr" indent="0" marL="0">
              <a:buNone/>
            </a:pPr>
            <a:r>
              <a:rPr lang="en-US" sz="950" b="1" dirty="0">
                <a:solidFill>
                  <a:srgbClr val="6B7785"/>
                </a:solidFill>
                <a:latin typeface="Calibri" pitchFamily="34" charset="0"/>
                <a:ea typeface="Calibri" pitchFamily="34" charset="-122"/>
                <a:cs typeface="Calibri" pitchFamily="34" charset="-120"/>
              </a:rPr>
              <a:t>HIGH CLASS</a:t>
            </a:r>
            <a:endParaRPr lang="en-US" sz="950" dirty="0"/>
          </a:p>
        </p:txBody>
      </p:sp>
      <p:sp>
        <p:nvSpPr>
          <p:cNvPr id="15" name="Shape 12"/>
          <p:cNvSpPr/>
          <p:nvPr/>
        </p:nvSpPr>
        <p:spPr>
          <a:xfrm>
            <a:off x="6675120" y="2194560"/>
            <a:ext cx="4937760" cy="1645920"/>
          </a:xfrm>
          <a:prstGeom prst="roundRect">
            <a:avLst>
              <a:gd name="adj" fmla="val 5556"/>
            </a:avLst>
          </a:prstGeom>
          <a:solidFill>
            <a:srgbClr val="0B2545"/>
          </a:solidFill>
          <a:ln/>
        </p:spPr>
      </p:sp>
      <p:sp>
        <p:nvSpPr>
          <p:cNvPr id="16" name="Text 13"/>
          <p:cNvSpPr/>
          <p:nvPr/>
        </p:nvSpPr>
        <p:spPr>
          <a:xfrm>
            <a:off x="6995160" y="2194560"/>
            <a:ext cx="4297680" cy="1645920"/>
          </a:xfrm>
          <a:prstGeom prst="rect">
            <a:avLst/>
          </a:prstGeom>
          <a:noFill/>
          <a:ln/>
        </p:spPr>
        <p:txBody>
          <a:bodyPr wrap="square" lIns="0" tIns="0" rIns="0" bIns="0" rtlCol="0" anchor="ctr"/>
          <a:lstStyle/>
          <a:p>
            <a:pPr indent="0" marL="0">
              <a:lnSpc>
                <a:spcPts val="2100"/>
              </a:lnSpc>
              <a:buNone/>
            </a:pPr>
            <a:r>
              <a:rPr lang="en-US" sz="1600" i="1" dirty="0">
                <a:solidFill>
                  <a:srgbClr val="FFFFFF"/>
                </a:solidFill>
                <a:latin typeface="Cambria" pitchFamily="34" charset="0"/>
                <a:ea typeface="Cambria" pitchFamily="34" charset="-122"/>
                <a:cs typeface="Cambria" pitchFamily="34" charset="-120"/>
              </a:rPr>
              <a:t>“All three engagement classes are recognized extremely well in-domain.”</a:t>
            </a:r>
            <a:endParaRPr lang="en-US" sz="1600" dirty="0"/>
          </a:p>
        </p:txBody>
      </p:sp>
      <p:sp>
        <p:nvSpPr>
          <p:cNvPr id="17" name="Text 14"/>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SETTING 2</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COLER: Strong but More Variable In-Domain Performance</a:t>
            </a:r>
            <a:endParaRPr lang="en-US" sz="2500" dirty="0"/>
          </a:p>
        </p:txBody>
      </p:sp>
      <p:sp>
        <p:nvSpPr>
          <p:cNvPr id="4" name="Text 2"/>
          <p:cNvSpPr/>
          <p:nvPr/>
        </p:nvSpPr>
        <p:spPr>
          <a:xfrm>
            <a:off x="548640" y="1600200"/>
            <a:ext cx="3291840" cy="777240"/>
          </a:xfrm>
          <a:prstGeom prst="rect">
            <a:avLst/>
          </a:prstGeom>
          <a:noFill/>
          <a:ln/>
        </p:spPr>
        <p:txBody>
          <a:bodyPr wrap="square" lIns="0" tIns="0" rIns="0" bIns="0" rtlCol="0" anchor="ctr"/>
          <a:lstStyle/>
          <a:p>
            <a:pPr algn="l" indent="0" marL="0">
              <a:buNone/>
            </a:pPr>
            <a:r>
              <a:rPr lang="en-US" sz="4600" b="1" dirty="0">
                <a:solidFill>
                  <a:srgbClr val="0B2545"/>
                </a:solidFill>
                <a:latin typeface="Cambria" pitchFamily="34" charset="0"/>
                <a:ea typeface="Cambria" pitchFamily="34" charset="-122"/>
                <a:cs typeface="Cambria" pitchFamily="34" charset="-120"/>
              </a:rPr>
              <a:t>96.38%</a:t>
            </a:r>
            <a:endParaRPr lang="en-US" sz="4600" dirty="0"/>
          </a:p>
        </p:txBody>
      </p:sp>
      <p:sp>
        <p:nvSpPr>
          <p:cNvPr id="5" name="Text 3"/>
          <p:cNvSpPr/>
          <p:nvPr/>
        </p:nvSpPr>
        <p:spPr>
          <a:xfrm>
            <a:off x="548640" y="2278626"/>
            <a:ext cx="3291840" cy="32004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ACCURACY ± 3.01%</a:t>
            </a:r>
            <a:endParaRPr lang="en-US" sz="1050" dirty="0"/>
          </a:p>
        </p:txBody>
      </p:sp>
      <p:sp>
        <p:nvSpPr>
          <p:cNvPr id="6" name="Text 4"/>
          <p:cNvSpPr/>
          <p:nvPr/>
        </p:nvSpPr>
        <p:spPr>
          <a:xfrm>
            <a:off x="548640" y="2606040"/>
            <a:ext cx="3291840" cy="777240"/>
          </a:xfrm>
          <a:prstGeom prst="rect">
            <a:avLst/>
          </a:prstGeom>
          <a:noFill/>
          <a:ln/>
        </p:spPr>
        <p:txBody>
          <a:bodyPr wrap="square" lIns="0" tIns="0" rIns="0" bIns="0" rtlCol="0" anchor="ctr"/>
          <a:lstStyle/>
          <a:p>
            <a:pPr algn="l" indent="0" marL="0">
              <a:buNone/>
            </a:pPr>
            <a:r>
              <a:rPr lang="en-US" sz="3400" b="1" dirty="0">
                <a:solidFill>
                  <a:srgbClr val="0B2545"/>
                </a:solidFill>
                <a:latin typeface="Cambria" pitchFamily="34" charset="0"/>
                <a:ea typeface="Cambria" pitchFamily="34" charset="-122"/>
                <a:cs typeface="Cambria" pitchFamily="34" charset="-120"/>
              </a:rPr>
              <a:t>0.9658</a:t>
            </a:r>
            <a:endParaRPr lang="en-US" sz="3400" dirty="0"/>
          </a:p>
        </p:txBody>
      </p:sp>
      <p:sp>
        <p:nvSpPr>
          <p:cNvPr id="7" name="Text 5"/>
          <p:cNvSpPr/>
          <p:nvPr/>
        </p:nvSpPr>
        <p:spPr>
          <a:xfrm>
            <a:off x="548640" y="3107485"/>
            <a:ext cx="3291840" cy="32004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MACRO F1 ± 0.0283</a:t>
            </a:r>
            <a:endParaRPr lang="en-US" sz="1050" dirty="0"/>
          </a:p>
        </p:txBody>
      </p:sp>
      <p:sp>
        <p:nvSpPr>
          <p:cNvPr id="8" name="Text 6"/>
          <p:cNvSpPr/>
          <p:nvPr/>
        </p:nvSpPr>
        <p:spPr>
          <a:xfrm>
            <a:off x="548640" y="3429000"/>
            <a:ext cx="3291840" cy="777240"/>
          </a:xfrm>
          <a:prstGeom prst="rect">
            <a:avLst/>
          </a:prstGeom>
          <a:noFill/>
          <a:ln/>
        </p:spPr>
        <p:txBody>
          <a:bodyPr wrap="square" lIns="0" tIns="0" rIns="0" bIns="0" rtlCol="0" anchor="ctr"/>
          <a:lstStyle/>
          <a:p>
            <a:pPr algn="l" indent="0" marL="0">
              <a:buNone/>
            </a:pPr>
            <a:r>
              <a:rPr lang="en-US" sz="3400" b="1" dirty="0">
                <a:solidFill>
                  <a:srgbClr val="0B2545"/>
                </a:solidFill>
                <a:latin typeface="Cambria" pitchFamily="34" charset="0"/>
                <a:ea typeface="Cambria" pitchFamily="34" charset="-122"/>
                <a:cs typeface="Cambria" pitchFamily="34" charset="-120"/>
              </a:rPr>
              <a:t>0.9644</a:t>
            </a:r>
            <a:endParaRPr lang="en-US" sz="3400" dirty="0"/>
          </a:p>
        </p:txBody>
      </p:sp>
      <p:sp>
        <p:nvSpPr>
          <p:cNvPr id="9" name="Text 7"/>
          <p:cNvSpPr/>
          <p:nvPr/>
        </p:nvSpPr>
        <p:spPr>
          <a:xfrm>
            <a:off x="548640" y="3930445"/>
            <a:ext cx="3291840" cy="32004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QWK ± 0.0220</a:t>
            </a:r>
            <a:endParaRPr lang="en-US" sz="1050" dirty="0"/>
          </a:p>
        </p:txBody>
      </p:sp>
      <p:graphicFrame>
        <p:nvGraphicFramePr>
          <p:cNvPr id="10" name="Chart 0" descr=""/>
          <p:cNvGraphicFramePr/>
          <p:nvPr/>
        </p:nvGraphicFramePr>
        <p:xfrm>
          <a:off x="4206240" y="1600200"/>
          <a:ext cx="7406640" cy="2697480"/>
        </p:xfrm>
        <a:graphic xmlns:a="http://schemas.openxmlformats.org/drawingml/2006/main">
          <a:graphicData uri="http://schemas.openxmlformats.org/drawingml/2006/chart">
            <c:chart xmlns:c="http://schemas.openxmlformats.org/drawingml/2006/chart" r:id="rId1"/>
          </a:graphicData>
        </a:graphic>
      </p:graphicFrame>
      <p:sp>
        <p:nvSpPr>
          <p:cNvPr id="11" name="Shape 8"/>
          <p:cNvSpPr/>
          <p:nvPr/>
        </p:nvSpPr>
        <p:spPr>
          <a:xfrm>
            <a:off x="548640" y="4480560"/>
            <a:ext cx="11064240" cy="1051560"/>
          </a:xfrm>
          <a:prstGeom prst="roundRect">
            <a:avLst>
              <a:gd name="adj" fmla="val 8696"/>
            </a:avLst>
          </a:prstGeom>
          <a:solidFill>
            <a:srgbClr val="FBEAE8"/>
          </a:solidFill>
          <a:ln/>
        </p:spPr>
      </p:sp>
      <p:sp>
        <p:nvSpPr>
          <p:cNvPr id="12" name="Text 9"/>
          <p:cNvSpPr/>
          <p:nvPr/>
        </p:nvSpPr>
        <p:spPr>
          <a:xfrm>
            <a:off x="914400" y="4480560"/>
            <a:ext cx="10332720" cy="1051560"/>
          </a:xfrm>
          <a:prstGeom prst="rect">
            <a:avLst/>
          </a:prstGeom>
          <a:noFill/>
          <a:ln/>
        </p:spPr>
        <p:txBody>
          <a:bodyPr wrap="square" lIns="0" tIns="0" rIns="0" bIns="0" rtlCol="0" anchor="ctr"/>
          <a:lstStyle/>
          <a:p>
            <a:pPr indent="0" marL="0">
              <a:lnSpc>
                <a:spcPts val="1700"/>
              </a:lnSpc>
              <a:buNone/>
            </a:pPr>
            <a:r>
              <a:rPr lang="en-US" sz="1350" i="1" dirty="0">
                <a:solidFill>
                  <a:srgbClr val="C0392B"/>
                </a:solidFill>
                <a:latin typeface="Calibri" pitchFamily="34" charset="0"/>
                <a:ea typeface="Calibri" pitchFamily="34" charset="-122"/>
                <a:cs typeface="Calibri" pitchFamily="34" charset="-120"/>
              </a:rPr>
              <a:t>Fold 0 (90.49%) is substantially lower than the rest, stopped early at epoch 7 — average convergence across folds is 9.6 epochs via early stopping.</a:t>
            </a:r>
            <a:endParaRPr lang="en-US" sz="1350" dirty="0"/>
          </a:p>
        </p:txBody>
      </p:sp>
      <p:sp>
        <p:nvSpPr>
          <p:cNvPr id="13" name="Text 10"/>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7FAFD4"/>
                </a:solidFill>
                <a:latin typeface="Calibri" pitchFamily="34" charset="0"/>
                <a:ea typeface="Calibri" pitchFamily="34" charset="-122"/>
                <a:cs typeface="Calibri" pitchFamily="34" charset="-120"/>
              </a:rPr>
              <a:t>MAJOR FINDING</a:t>
            </a:r>
            <a:endParaRPr lang="en-US" sz="1200" dirty="0"/>
          </a:p>
        </p:txBody>
      </p:sp>
      <p:sp>
        <p:nvSpPr>
          <p:cNvPr id="3" name="Text 1"/>
          <p:cNvSpPr/>
          <p:nvPr/>
        </p:nvSpPr>
        <p:spPr>
          <a:xfrm>
            <a:off x="548640" y="384048"/>
            <a:ext cx="11094415" cy="1005840"/>
          </a:xfrm>
          <a:prstGeom prst="rect">
            <a:avLst/>
          </a:prstGeom>
          <a:noFill/>
          <a:ln/>
        </p:spPr>
        <p:txBody>
          <a:bodyPr wrap="square" lIns="0" tIns="0" rIns="0" bIns="0" rtlCol="0" anchor="ctr"/>
          <a:lstStyle/>
          <a:p>
            <a:pPr indent="0" marL="0">
              <a:lnSpc>
                <a:spcPts val="2700"/>
              </a:lnSpc>
              <a:buNone/>
            </a:pPr>
            <a:r>
              <a:rPr lang="en-US" sz="2400" b="1" dirty="0">
                <a:solidFill>
                  <a:srgbClr val="FFFFFF"/>
                </a:solidFill>
                <a:latin typeface="Cambria" pitchFamily="34" charset="0"/>
                <a:ea typeface="Cambria" pitchFamily="34" charset="-122"/>
                <a:cs typeface="Cambria" pitchFamily="34" charset="-120"/>
              </a:rPr>
              <a:t>Zero-Shot Transfer Causes a Dramatic Performance Collapse</a:t>
            </a:r>
            <a:endParaRPr lang="en-US" sz="2400" dirty="0"/>
          </a:p>
        </p:txBody>
      </p:sp>
      <p:sp>
        <p:nvSpPr>
          <p:cNvPr id="4" name="Text 2"/>
          <p:cNvSpPr/>
          <p:nvPr/>
        </p:nvSpPr>
        <p:spPr>
          <a:xfrm>
            <a:off x="548640" y="2103120"/>
            <a:ext cx="2743200" cy="457200"/>
          </a:xfrm>
          <a:prstGeom prst="rect">
            <a:avLst/>
          </a:prstGeom>
          <a:noFill/>
          <a:ln/>
        </p:spPr>
        <p:txBody>
          <a:bodyPr wrap="square" lIns="0" tIns="0" rIns="0" bIns="0" rtlCol="0" anchor="ctr"/>
          <a:lstStyle/>
          <a:p>
            <a:pPr indent="0" marL="0">
              <a:buNone/>
            </a:pPr>
            <a:r>
              <a:rPr lang="en-US" sz="1500" b="1" dirty="0">
                <a:solidFill>
                  <a:srgbClr val="AFC4D9"/>
                </a:solidFill>
                <a:latin typeface="Calibri" pitchFamily="34" charset="0"/>
                <a:ea typeface="Calibri" pitchFamily="34" charset="-122"/>
                <a:cs typeface="Calibri" pitchFamily="34" charset="-120"/>
              </a:rPr>
              <a:t>OUC → COLER</a:t>
            </a:r>
            <a:endParaRPr lang="en-US" sz="1500" dirty="0"/>
          </a:p>
        </p:txBody>
      </p:sp>
      <p:sp>
        <p:nvSpPr>
          <p:cNvPr id="5" name="Text 3"/>
          <p:cNvSpPr/>
          <p:nvPr/>
        </p:nvSpPr>
        <p:spPr>
          <a:xfrm>
            <a:off x="3383280" y="2103120"/>
            <a:ext cx="16459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99.25%</a:t>
            </a:r>
            <a:endParaRPr lang="en-US" sz="3400" dirty="0"/>
          </a:p>
        </p:txBody>
      </p:sp>
      <p:sp>
        <p:nvSpPr>
          <p:cNvPr id="6" name="Shape 4"/>
          <p:cNvSpPr/>
          <p:nvPr/>
        </p:nvSpPr>
        <p:spPr>
          <a:xfrm>
            <a:off x="5074920" y="2359152"/>
            <a:ext cx="822960" cy="274320"/>
          </a:xfrm>
          <a:prstGeom prst="rightArrow">
            <a:avLst/>
          </a:prstGeom>
          <a:solidFill>
            <a:srgbClr val="C0392B"/>
          </a:solidFill>
          <a:ln/>
        </p:spPr>
      </p:sp>
      <p:sp>
        <p:nvSpPr>
          <p:cNvPr id="7" name="Text 5"/>
          <p:cNvSpPr/>
          <p:nvPr/>
        </p:nvSpPr>
        <p:spPr>
          <a:xfrm>
            <a:off x="6035040" y="2103120"/>
            <a:ext cx="1737360" cy="822960"/>
          </a:xfrm>
          <a:prstGeom prst="rect">
            <a:avLst/>
          </a:prstGeom>
          <a:noFill/>
          <a:ln/>
        </p:spPr>
        <p:txBody>
          <a:bodyPr wrap="square" lIns="0" tIns="0" rIns="0" bIns="0" rtlCol="0" anchor="ctr"/>
          <a:lstStyle/>
          <a:p>
            <a:pPr indent="0" marL="0">
              <a:buNone/>
            </a:pPr>
            <a:r>
              <a:rPr lang="en-US" sz="3400" b="1" dirty="0">
                <a:solidFill>
                  <a:srgbClr val="C0392B"/>
                </a:solidFill>
                <a:latin typeface="Cambria" pitchFamily="34" charset="0"/>
                <a:ea typeface="Cambria" pitchFamily="34" charset="-122"/>
                <a:cs typeface="Cambria" pitchFamily="34" charset="-120"/>
              </a:rPr>
              <a:t>52.84%</a:t>
            </a:r>
            <a:endParaRPr lang="en-US" sz="3400" dirty="0"/>
          </a:p>
        </p:txBody>
      </p:sp>
      <p:sp>
        <p:nvSpPr>
          <p:cNvPr id="8" name="Shape 6"/>
          <p:cNvSpPr/>
          <p:nvPr/>
        </p:nvSpPr>
        <p:spPr>
          <a:xfrm>
            <a:off x="7955280" y="2176272"/>
            <a:ext cx="3566160" cy="685800"/>
          </a:xfrm>
          <a:prstGeom prst="roundRect">
            <a:avLst>
              <a:gd name="adj" fmla="val 13333"/>
            </a:avLst>
          </a:prstGeom>
          <a:solidFill>
            <a:srgbClr val="3A1A17"/>
          </a:solidFill>
          <a:ln w="12700">
            <a:solidFill>
              <a:srgbClr val="C0392B"/>
            </a:solidFill>
            <a:prstDash val="solid"/>
          </a:ln>
        </p:spPr>
      </p:sp>
      <p:sp>
        <p:nvSpPr>
          <p:cNvPr id="9" name="Text 7"/>
          <p:cNvSpPr/>
          <p:nvPr/>
        </p:nvSpPr>
        <p:spPr>
          <a:xfrm>
            <a:off x="7955280" y="2176272"/>
            <a:ext cx="3566160" cy="685800"/>
          </a:xfrm>
          <a:prstGeom prst="rect">
            <a:avLst/>
          </a:prstGeom>
          <a:noFill/>
          <a:ln/>
        </p:spPr>
        <p:txBody>
          <a:bodyPr wrap="square" lIns="0" tIns="0" rIns="0" bIns="0" rtlCol="0" anchor="ctr"/>
          <a:lstStyle/>
          <a:p>
            <a:pPr algn="ctr" indent="0" marL="0">
              <a:buNone/>
            </a:pPr>
            <a:r>
              <a:rPr lang="en-US" sz="2000" b="1" dirty="0">
                <a:solidFill>
                  <a:srgbClr val="FF8A75"/>
                </a:solidFill>
                <a:latin typeface="Cambria" pitchFamily="34" charset="0"/>
                <a:ea typeface="Cambria" pitchFamily="34" charset="-122"/>
                <a:cs typeface="Cambria" pitchFamily="34" charset="-120"/>
              </a:rPr>
              <a:t>−46.41 pts</a:t>
            </a:r>
            <a:endParaRPr lang="en-US" sz="2000" dirty="0"/>
          </a:p>
        </p:txBody>
      </p:sp>
      <p:sp>
        <p:nvSpPr>
          <p:cNvPr id="10" name="Text 8"/>
          <p:cNvSpPr/>
          <p:nvPr/>
        </p:nvSpPr>
        <p:spPr>
          <a:xfrm>
            <a:off x="548640" y="3383280"/>
            <a:ext cx="2743200" cy="457200"/>
          </a:xfrm>
          <a:prstGeom prst="rect">
            <a:avLst/>
          </a:prstGeom>
          <a:noFill/>
          <a:ln/>
        </p:spPr>
        <p:txBody>
          <a:bodyPr wrap="square" lIns="0" tIns="0" rIns="0" bIns="0" rtlCol="0" anchor="ctr"/>
          <a:lstStyle/>
          <a:p>
            <a:pPr indent="0" marL="0">
              <a:buNone/>
            </a:pPr>
            <a:r>
              <a:rPr lang="en-US" sz="1500" b="1" dirty="0">
                <a:solidFill>
                  <a:srgbClr val="AFC4D9"/>
                </a:solidFill>
                <a:latin typeface="Calibri" pitchFamily="34" charset="0"/>
                <a:ea typeface="Calibri" pitchFamily="34" charset="-122"/>
                <a:cs typeface="Calibri" pitchFamily="34" charset="-120"/>
              </a:rPr>
              <a:t>COLER → OUC</a:t>
            </a:r>
            <a:endParaRPr lang="en-US" sz="1500" dirty="0"/>
          </a:p>
        </p:txBody>
      </p:sp>
      <p:sp>
        <p:nvSpPr>
          <p:cNvPr id="11" name="Text 9"/>
          <p:cNvSpPr/>
          <p:nvPr/>
        </p:nvSpPr>
        <p:spPr>
          <a:xfrm>
            <a:off x="3383280" y="3383280"/>
            <a:ext cx="164592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96.38%</a:t>
            </a:r>
            <a:endParaRPr lang="en-US" sz="3400" dirty="0"/>
          </a:p>
        </p:txBody>
      </p:sp>
      <p:sp>
        <p:nvSpPr>
          <p:cNvPr id="12" name="Shape 10"/>
          <p:cNvSpPr/>
          <p:nvPr/>
        </p:nvSpPr>
        <p:spPr>
          <a:xfrm>
            <a:off x="5074920" y="3639312"/>
            <a:ext cx="822960" cy="274320"/>
          </a:xfrm>
          <a:prstGeom prst="rightArrow">
            <a:avLst/>
          </a:prstGeom>
          <a:solidFill>
            <a:srgbClr val="C0392B"/>
          </a:solidFill>
          <a:ln/>
        </p:spPr>
      </p:sp>
      <p:sp>
        <p:nvSpPr>
          <p:cNvPr id="13" name="Text 11"/>
          <p:cNvSpPr/>
          <p:nvPr/>
        </p:nvSpPr>
        <p:spPr>
          <a:xfrm>
            <a:off x="6035040" y="3383280"/>
            <a:ext cx="1737360" cy="822960"/>
          </a:xfrm>
          <a:prstGeom prst="rect">
            <a:avLst/>
          </a:prstGeom>
          <a:noFill/>
          <a:ln/>
        </p:spPr>
        <p:txBody>
          <a:bodyPr wrap="square" lIns="0" tIns="0" rIns="0" bIns="0" rtlCol="0" anchor="ctr"/>
          <a:lstStyle/>
          <a:p>
            <a:pPr indent="0" marL="0">
              <a:buNone/>
            </a:pPr>
            <a:r>
              <a:rPr lang="en-US" sz="3400" b="1" dirty="0">
                <a:solidFill>
                  <a:srgbClr val="C0392B"/>
                </a:solidFill>
                <a:latin typeface="Cambria" pitchFamily="34" charset="0"/>
                <a:ea typeface="Cambria" pitchFamily="34" charset="-122"/>
                <a:cs typeface="Cambria" pitchFamily="34" charset="-120"/>
              </a:rPr>
              <a:t>29.15%</a:t>
            </a:r>
            <a:endParaRPr lang="en-US" sz="3400" dirty="0"/>
          </a:p>
        </p:txBody>
      </p:sp>
      <p:sp>
        <p:nvSpPr>
          <p:cNvPr id="14" name="Shape 12"/>
          <p:cNvSpPr/>
          <p:nvPr/>
        </p:nvSpPr>
        <p:spPr>
          <a:xfrm>
            <a:off x="7955280" y="3456432"/>
            <a:ext cx="3566160" cy="685800"/>
          </a:xfrm>
          <a:prstGeom prst="roundRect">
            <a:avLst>
              <a:gd name="adj" fmla="val 13333"/>
            </a:avLst>
          </a:prstGeom>
          <a:solidFill>
            <a:srgbClr val="3A1A17"/>
          </a:solidFill>
          <a:ln w="12700">
            <a:solidFill>
              <a:srgbClr val="C0392B"/>
            </a:solidFill>
            <a:prstDash val="solid"/>
          </a:ln>
        </p:spPr>
      </p:sp>
      <p:sp>
        <p:nvSpPr>
          <p:cNvPr id="15" name="Text 13"/>
          <p:cNvSpPr/>
          <p:nvPr/>
        </p:nvSpPr>
        <p:spPr>
          <a:xfrm>
            <a:off x="7955280" y="3456432"/>
            <a:ext cx="3566160" cy="685800"/>
          </a:xfrm>
          <a:prstGeom prst="rect">
            <a:avLst/>
          </a:prstGeom>
          <a:noFill/>
          <a:ln/>
        </p:spPr>
        <p:txBody>
          <a:bodyPr wrap="square" lIns="0" tIns="0" rIns="0" bIns="0" rtlCol="0" anchor="ctr"/>
          <a:lstStyle/>
          <a:p>
            <a:pPr algn="ctr" indent="0" marL="0">
              <a:buNone/>
            </a:pPr>
            <a:r>
              <a:rPr lang="en-US" sz="2000" b="1" dirty="0">
                <a:solidFill>
                  <a:srgbClr val="FF8A75"/>
                </a:solidFill>
                <a:latin typeface="Cambria" pitchFamily="34" charset="0"/>
                <a:ea typeface="Cambria" pitchFamily="34" charset="-122"/>
                <a:cs typeface="Cambria" pitchFamily="34" charset="-120"/>
              </a:rPr>
              <a:t>−67.23 pts</a:t>
            </a:r>
            <a:endParaRPr lang="en-US" sz="2000" dirty="0"/>
          </a:p>
        </p:txBody>
      </p:sp>
      <p:sp>
        <p:nvSpPr>
          <p:cNvPr id="16" name="Shape 14"/>
          <p:cNvSpPr/>
          <p:nvPr/>
        </p:nvSpPr>
        <p:spPr>
          <a:xfrm>
            <a:off x="548640" y="4846320"/>
            <a:ext cx="11064240" cy="1234440"/>
          </a:xfrm>
          <a:prstGeom prst="roundRect">
            <a:avLst>
              <a:gd name="adj" fmla="val 7407"/>
            </a:avLst>
          </a:prstGeom>
          <a:solidFill>
            <a:srgbClr val="16345C"/>
          </a:solidFill>
          <a:ln/>
        </p:spPr>
      </p:sp>
      <p:sp>
        <p:nvSpPr>
          <p:cNvPr id="17" name="Text 15"/>
          <p:cNvSpPr/>
          <p:nvPr/>
        </p:nvSpPr>
        <p:spPr>
          <a:xfrm>
            <a:off x="914400" y="4846320"/>
            <a:ext cx="10332720" cy="1234440"/>
          </a:xfrm>
          <a:prstGeom prst="rect">
            <a:avLst/>
          </a:prstGeom>
          <a:noFill/>
          <a:ln/>
        </p:spPr>
        <p:txBody>
          <a:bodyPr wrap="square" lIns="0" tIns="0" rIns="0" bIns="0" rtlCol="0" anchor="ctr"/>
          <a:lstStyle/>
          <a:p>
            <a:pPr indent="0" marL="0">
              <a:lnSpc>
                <a:spcPts val="2200"/>
              </a:lnSpc>
              <a:buNone/>
            </a:pPr>
            <a:r>
              <a:rPr lang="en-US" sz="1700" i="1" dirty="0">
                <a:solidFill>
                  <a:srgbClr val="FFFFFF"/>
                </a:solidFill>
                <a:latin typeface="Cambria" pitchFamily="34" charset="0"/>
                <a:ea typeface="Cambria" pitchFamily="34" charset="-122"/>
                <a:cs typeface="Cambria" pitchFamily="34" charset="-120"/>
              </a:rPr>
              <a:t>“The model performs extremely well inside its training domain, but fails when the visual domain changes.”</a:t>
            </a:r>
            <a:endParaRPr lang="en-US" sz="1700" dirty="0"/>
          </a:p>
        </p:txBody>
      </p:sp>
      <p:sp>
        <p:nvSpPr>
          <p:cNvPr id="18" name="Text 16"/>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SETTING 3 — ZERO-SHOT TRANSFER</a:t>
            </a:r>
            <a:endParaRPr lang="en-US" sz="1200" dirty="0"/>
          </a:p>
        </p:txBody>
      </p:sp>
      <p:sp>
        <p:nvSpPr>
          <p:cNvPr id="3" name="Text 1"/>
          <p:cNvSpPr/>
          <p:nvPr/>
        </p:nvSpPr>
        <p:spPr>
          <a:xfrm>
            <a:off x="548640" y="384048"/>
            <a:ext cx="11094415" cy="1051560"/>
          </a:xfrm>
          <a:prstGeom prst="rect">
            <a:avLst/>
          </a:prstGeom>
          <a:noFill/>
          <a:ln/>
        </p:spPr>
        <p:txBody>
          <a:bodyPr wrap="square" lIns="0" tIns="0" rIns="0" bIns="0" rtlCol="0" anchor="ctr"/>
          <a:lstStyle/>
          <a:p>
            <a:pPr indent="0" marL="0">
              <a:lnSpc>
                <a:spcPts val="2700"/>
              </a:lnSpc>
              <a:buNone/>
            </a:pPr>
            <a:r>
              <a:rPr lang="en-US" sz="2200" b="1" dirty="0">
                <a:solidFill>
                  <a:srgbClr val="0B2545"/>
                </a:solidFill>
                <a:latin typeface="Cambria" pitchFamily="34" charset="0"/>
                <a:ea typeface="Cambria" pitchFamily="34" charset="-122"/>
                <a:cs typeface="Cambria" pitchFamily="34" charset="-120"/>
              </a:rPr>
              <a:t>OUC → COLER: The Model Cannot Recognize</a:t>
            </a:r>
            <a:endParaRPr lang="en-US" sz="2200" dirty="0"/>
          </a:p>
          <a:p>
            <a:pPr indent="0" marL="0">
              <a:lnSpc>
                <a:spcPts val="2700"/>
              </a:lnSpc>
              <a:buNone/>
            </a:pPr>
            <a:r>
              <a:rPr lang="en-US" sz="2200" b="1" dirty="0">
                <a:solidFill>
                  <a:srgbClr val="0B2545"/>
                </a:solidFill>
                <a:latin typeface="Cambria" pitchFamily="34" charset="0"/>
                <a:ea typeface="Cambria" pitchFamily="34" charset="-122"/>
                <a:cs typeface="Cambria" pitchFamily="34" charset="-120"/>
              </a:rPr>
              <a:t>COLER High Engagement</a:t>
            </a:r>
            <a:endParaRPr lang="en-US" sz="2200" dirty="0"/>
          </a:p>
        </p:txBody>
      </p:sp>
      <p:sp>
        <p:nvSpPr>
          <p:cNvPr id="4" name="Text 2"/>
          <p:cNvSpPr/>
          <p:nvPr/>
        </p:nvSpPr>
        <p:spPr>
          <a:xfrm>
            <a:off x="548640" y="1691640"/>
            <a:ext cx="3108960" cy="777240"/>
          </a:xfrm>
          <a:prstGeom prst="rect">
            <a:avLst/>
          </a:prstGeom>
          <a:noFill/>
          <a:ln/>
        </p:spPr>
        <p:txBody>
          <a:bodyPr wrap="square" lIns="0" tIns="0" rIns="0" bIns="0" rtlCol="0" anchor="ctr"/>
          <a:lstStyle/>
          <a:p>
            <a:pPr algn="l" indent="0" marL="0">
              <a:buNone/>
            </a:pPr>
            <a:r>
              <a:rPr lang="en-US" sz="3400" b="1" dirty="0">
                <a:solidFill>
                  <a:srgbClr val="C0392B"/>
                </a:solidFill>
                <a:latin typeface="Cambria" pitchFamily="34" charset="0"/>
                <a:ea typeface="Cambria" pitchFamily="34" charset="-122"/>
                <a:cs typeface="Cambria" pitchFamily="34" charset="-120"/>
              </a:rPr>
              <a:t>52.84%</a:t>
            </a:r>
            <a:endParaRPr lang="en-US" sz="3400" dirty="0"/>
          </a:p>
        </p:txBody>
      </p:sp>
      <p:sp>
        <p:nvSpPr>
          <p:cNvPr id="5" name="Text 3"/>
          <p:cNvSpPr/>
          <p:nvPr/>
        </p:nvSpPr>
        <p:spPr>
          <a:xfrm>
            <a:off x="548640" y="2193085"/>
            <a:ext cx="3108960" cy="32004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ACCURACY</a:t>
            </a:r>
            <a:endParaRPr lang="en-US" sz="1050" dirty="0"/>
          </a:p>
        </p:txBody>
      </p:sp>
      <p:sp>
        <p:nvSpPr>
          <p:cNvPr id="6" name="Text 4"/>
          <p:cNvSpPr/>
          <p:nvPr/>
        </p:nvSpPr>
        <p:spPr>
          <a:xfrm>
            <a:off x="548640" y="2697480"/>
            <a:ext cx="3108960" cy="777240"/>
          </a:xfrm>
          <a:prstGeom prst="rect">
            <a:avLst/>
          </a:prstGeom>
          <a:noFill/>
          <a:ln/>
        </p:spPr>
        <p:txBody>
          <a:bodyPr wrap="square" lIns="0" tIns="0" rIns="0" bIns="0" rtlCol="0" anchor="ctr"/>
          <a:lstStyle/>
          <a:p>
            <a:pPr algn="l" indent="0" marL="0">
              <a:buNone/>
            </a:pPr>
            <a:r>
              <a:rPr lang="en-US" sz="2600" b="1" dirty="0">
                <a:solidFill>
                  <a:srgbClr val="C0392B"/>
                </a:solidFill>
                <a:latin typeface="Cambria" pitchFamily="34" charset="0"/>
                <a:ea typeface="Cambria" pitchFamily="34" charset="-122"/>
                <a:cs typeface="Cambria" pitchFamily="34" charset="-120"/>
              </a:rPr>
              <a:t>0.4370</a:t>
            </a:r>
            <a:endParaRPr lang="en-US" sz="2600" dirty="0"/>
          </a:p>
        </p:txBody>
      </p:sp>
      <p:sp>
        <p:nvSpPr>
          <p:cNvPr id="7" name="Text 5"/>
          <p:cNvSpPr/>
          <p:nvPr/>
        </p:nvSpPr>
        <p:spPr>
          <a:xfrm>
            <a:off x="548640" y="3154680"/>
            <a:ext cx="3108960" cy="32004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MACRO F1</a:t>
            </a:r>
            <a:endParaRPr lang="en-US" sz="1050" dirty="0"/>
          </a:p>
        </p:txBody>
      </p:sp>
      <p:sp>
        <p:nvSpPr>
          <p:cNvPr id="8" name="Text 6"/>
          <p:cNvSpPr/>
          <p:nvPr/>
        </p:nvSpPr>
        <p:spPr>
          <a:xfrm>
            <a:off x="548640" y="3657600"/>
            <a:ext cx="3108960" cy="777240"/>
          </a:xfrm>
          <a:prstGeom prst="rect">
            <a:avLst/>
          </a:prstGeom>
          <a:noFill/>
          <a:ln/>
        </p:spPr>
        <p:txBody>
          <a:bodyPr wrap="square" lIns="0" tIns="0" rIns="0" bIns="0" rtlCol="0" anchor="ctr"/>
          <a:lstStyle/>
          <a:p>
            <a:pPr algn="l" indent="0" marL="0">
              <a:buNone/>
            </a:pPr>
            <a:r>
              <a:rPr lang="en-US" sz="2600" b="1" dirty="0">
                <a:solidFill>
                  <a:srgbClr val="C0392B"/>
                </a:solidFill>
                <a:latin typeface="Cambria" pitchFamily="34" charset="0"/>
                <a:ea typeface="Cambria" pitchFamily="34" charset="-122"/>
                <a:cs typeface="Cambria" pitchFamily="34" charset="-120"/>
              </a:rPr>
              <a:t>0.1501</a:t>
            </a:r>
            <a:endParaRPr lang="en-US" sz="2600" dirty="0"/>
          </a:p>
        </p:txBody>
      </p:sp>
      <p:sp>
        <p:nvSpPr>
          <p:cNvPr id="9" name="Text 7"/>
          <p:cNvSpPr/>
          <p:nvPr/>
        </p:nvSpPr>
        <p:spPr>
          <a:xfrm>
            <a:off x="548640" y="4114800"/>
            <a:ext cx="3108960" cy="32004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QWK</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840480" y="1691640"/>
          <a:ext cx="5852160" cy="2011680"/>
        </p:xfrm>
        <a:graphic>
          <a:graphicData uri="http://schemas.openxmlformats.org/drawingml/2006/table">
            <a:tbl>
              <a:tblPr/>
              <a:tblGrid>
                <a:gridCol w="1554480"/>
                <a:gridCol w="1371600"/>
                <a:gridCol w="1371600"/>
                <a:gridCol w="1371600"/>
              </a:tblGrid>
              <a:tr h="457200">
                <a:tc>
                  <a:txBody>
                    <a:bodyPr/>
                    <a:lstStyle/>
                    <a:p>
                      <a:pPr algn="l" indent="0" marL="0">
                        <a:buNone/>
                      </a:pP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Pred: Low</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Pred: Mid</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Pred: High</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r>
              <a:tr h="5212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Actual: Low</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269</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2817A"/>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50</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9DEE1"/>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62</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7D9DB"/>
                    </a:solidFill>
                  </a:tcPr>
                </a:tc>
              </a:tr>
              <a:tr h="5212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Actual: Mid</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56</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8DBDE"/>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437</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0392B"/>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r>
              <a:tr h="5212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Actual: High</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125</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1BEBD"/>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336</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645A"/>
                    </a:solidFill>
                  </a:tcPr>
                </a:tc>
                <a:tc>
                  <a:txBody>
                    <a:bodyPr/>
                    <a:lstStyle/>
                    <a:p>
                      <a:pPr algn="ctr" indent="0" marL="0">
                        <a:buNone/>
                      </a:pPr>
                      <a:r>
                        <a:rPr lang="en-US" sz="1250" b="1" dirty="0">
                          <a:solidFill>
                            <a:srgbClr val="1E2A38"/>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r>
            </a:tbl>
          </a:graphicData>
        </a:graphic>
      </p:graphicFrame>
      <p:sp>
        <p:nvSpPr>
          <p:cNvPr id="11" name="Text 8"/>
          <p:cNvSpPr/>
          <p:nvPr/>
        </p:nvSpPr>
        <p:spPr>
          <a:xfrm>
            <a:off x="3840480" y="3840480"/>
            <a:ext cx="5852160"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Low: 70.60% · Mid: 88.46% · High: 0.00%</a:t>
            </a:r>
            <a:endParaRPr lang="en-US" sz="1050" dirty="0"/>
          </a:p>
        </p:txBody>
      </p:sp>
      <p:sp>
        <p:nvSpPr>
          <p:cNvPr id="12" name="Shape 9"/>
          <p:cNvSpPr/>
          <p:nvPr/>
        </p:nvSpPr>
        <p:spPr>
          <a:xfrm>
            <a:off x="548640" y="4572000"/>
            <a:ext cx="11064240" cy="1234440"/>
          </a:xfrm>
          <a:prstGeom prst="roundRect">
            <a:avLst>
              <a:gd name="adj" fmla="val 7407"/>
            </a:avLst>
          </a:prstGeom>
          <a:solidFill>
            <a:srgbClr val="C0392B"/>
          </a:solidFill>
          <a:ln/>
        </p:spPr>
      </p:sp>
      <p:sp>
        <p:nvSpPr>
          <p:cNvPr id="13" name="Text 10"/>
          <p:cNvSpPr/>
          <p:nvPr/>
        </p:nvSpPr>
        <p:spPr>
          <a:xfrm>
            <a:off x="914400" y="4572000"/>
            <a:ext cx="2743200" cy="12344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0 / 461</a:t>
            </a:r>
            <a:endParaRPr lang="en-US" sz="4000" dirty="0"/>
          </a:p>
        </p:txBody>
      </p:sp>
      <p:sp>
        <p:nvSpPr>
          <p:cNvPr id="14" name="Text 11"/>
          <p:cNvSpPr/>
          <p:nvPr/>
        </p:nvSpPr>
        <p:spPr>
          <a:xfrm>
            <a:off x="3749040" y="4572000"/>
            <a:ext cx="7589520" cy="1234440"/>
          </a:xfrm>
          <a:prstGeom prst="rect">
            <a:avLst/>
          </a:prstGeom>
          <a:noFill/>
          <a:ln/>
        </p:spPr>
        <p:txBody>
          <a:bodyPr wrap="square" lIns="0" tIns="0" rIns="0" bIns="0" rtlCol="0" anchor="ctr"/>
          <a:lstStyle/>
          <a:p>
            <a:pPr indent="0" marL="0">
              <a:lnSpc>
                <a:spcPts val="1800"/>
              </a:lnSpc>
              <a:buNone/>
            </a:pPr>
            <a:r>
              <a:rPr lang="en-US" sz="1450" dirty="0">
                <a:solidFill>
                  <a:srgbClr val="FFE3DE"/>
                </a:solidFill>
                <a:latin typeface="Calibri" pitchFamily="34" charset="0"/>
                <a:ea typeface="Calibri" pitchFamily="34" charset="-122"/>
                <a:cs typeface="Calibri" pitchFamily="34" charset="-120"/>
              </a:rPr>
              <a:t>COLER High-engagement samples correctly recognized. All 461 were misclassified as Low or Mid.</a:t>
            </a:r>
            <a:endParaRPr lang="en-US" sz="1450" dirty="0"/>
          </a:p>
        </p:txBody>
      </p:sp>
      <p:sp>
        <p:nvSpPr>
          <p:cNvPr id="15" name="Text 12"/>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SETTING 4 — ZERO-SHOT TRANSFER</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COLER → OUC: Even More Severe Transfer Failure</a:t>
            </a:r>
            <a:endParaRPr lang="en-US" sz="2500" dirty="0"/>
          </a:p>
        </p:txBody>
      </p:sp>
      <p:sp>
        <p:nvSpPr>
          <p:cNvPr id="4" name="Text 2"/>
          <p:cNvSpPr/>
          <p:nvPr/>
        </p:nvSpPr>
        <p:spPr>
          <a:xfrm>
            <a:off x="548640" y="1691640"/>
            <a:ext cx="3108960" cy="777240"/>
          </a:xfrm>
          <a:prstGeom prst="rect">
            <a:avLst/>
          </a:prstGeom>
          <a:noFill/>
          <a:ln/>
        </p:spPr>
        <p:txBody>
          <a:bodyPr wrap="square" lIns="0" tIns="0" rIns="0" bIns="0" rtlCol="0" anchor="ctr"/>
          <a:lstStyle/>
          <a:p>
            <a:pPr algn="l" indent="0" marL="0">
              <a:buNone/>
            </a:pPr>
            <a:r>
              <a:rPr lang="en-US" sz="3400" b="1" dirty="0">
                <a:solidFill>
                  <a:srgbClr val="C0392B"/>
                </a:solidFill>
                <a:latin typeface="Cambria" pitchFamily="34" charset="0"/>
                <a:ea typeface="Cambria" pitchFamily="34" charset="-122"/>
                <a:cs typeface="Cambria" pitchFamily="34" charset="-120"/>
              </a:rPr>
              <a:t>29.15%</a:t>
            </a:r>
            <a:endParaRPr lang="en-US" sz="3400" dirty="0"/>
          </a:p>
        </p:txBody>
      </p:sp>
      <p:sp>
        <p:nvSpPr>
          <p:cNvPr id="5" name="Text 3"/>
          <p:cNvSpPr/>
          <p:nvPr/>
        </p:nvSpPr>
        <p:spPr>
          <a:xfrm>
            <a:off x="548640" y="2193085"/>
            <a:ext cx="3108960" cy="32004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ACCURACY</a:t>
            </a:r>
            <a:endParaRPr lang="en-US" sz="1050" dirty="0"/>
          </a:p>
        </p:txBody>
      </p:sp>
      <p:sp>
        <p:nvSpPr>
          <p:cNvPr id="6" name="Text 4"/>
          <p:cNvSpPr/>
          <p:nvPr/>
        </p:nvSpPr>
        <p:spPr>
          <a:xfrm>
            <a:off x="548640" y="2697480"/>
            <a:ext cx="3108960" cy="777240"/>
          </a:xfrm>
          <a:prstGeom prst="rect">
            <a:avLst/>
          </a:prstGeom>
          <a:noFill/>
          <a:ln/>
        </p:spPr>
        <p:txBody>
          <a:bodyPr wrap="square" lIns="0" tIns="0" rIns="0" bIns="0" rtlCol="0" anchor="ctr"/>
          <a:lstStyle/>
          <a:p>
            <a:pPr algn="l" indent="0" marL="0">
              <a:buNone/>
            </a:pPr>
            <a:r>
              <a:rPr lang="en-US" sz="2600" b="1" dirty="0">
                <a:solidFill>
                  <a:srgbClr val="C0392B"/>
                </a:solidFill>
                <a:latin typeface="Cambria" pitchFamily="34" charset="0"/>
                <a:ea typeface="Cambria" pitchFamily="34" charset="-122"/>
                <a:cs typeface="Cambria" pitchFamily="34" charset="-120"/>
              </a:rPr>
              <a:t>0.1662</a:t>
            </a:r>
            <a:endParaRPr lang="en-US" sz="2600" dirty="0"/>
          </a:p>
        </p:txBody>
      </p:sp>
      <p:sp>
        <p:nvSpPr>
          <p:cNvPr id="7" name="Text 5"/>
          <p:cNvSpPr/>
          <p:nvPr/>
        </p:nvSpPr>
        <p:spPr>
          <a:xfrm>
            <a:off x="548640" y="3154680"/>
            <a:ext cx="3108960" cy="32004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MACRO F1</a:t>
            </a:r>
            <a:endParaRPr lang="en-US" sz="1050" dirty="0"/>
          </a:p>
        </p:txBody>
      </p:sp>
      <p:sp>
        <p:nvSpPr>
          <p:cNvPr id="8" name="Text 6"/>
          <p:cNvSpPr/>
          <p:nvPr/>
        </p:nvSpPr>
        <p:spPr>
          <a:xfrm>
            <a:off x="548640" y="3657600"/>
            <a:ext cx="3108960" cy="594360"/>
          </a:xfrm>
          <a:prstGeom prst="rect">
            <a:avLst/>
          </a:prstGeom>
          <a:noFill/>
          <a:ln/>
        </p:spPr>
        <p:txBody>
          <a:bodyPr wrap="square" lIns="0" tIns="0" rIns="0" bIns="0" rtlCol="0" anchor="ctr"/>
          <a:lstStyle/>
          <a:p>
            <a:pPr indent="0" marL="0">
              <a:buNone/>
            </a:pPr>
            <a:r>
              <a:rPr lang="en-US" sz="2600" b="1" dirty="0">
                <a:solidFill>
                  <a:srgbClr val="C0392B"/>
                </a:solidFill>
                <a:latin typeface="Cambria" pitchFamily="34" charset="0"/>
                <a:ea typeface="Cambria" pitchFamily="34" charset="-122"/>
                <a:cs typeface="Cambria" pitchFamily="34" charset="-120"/>
              </a:rPr>
              <a:t>−0.0242</a:t>
            </a:r>
            <a:endParaRPr lang="en-US" sz="2600" dirty="0"/>
          </a:p>
        </p:txBody>
      </p:sp>
      <p:sp>
        <p:nvSpPr>
          <p:cNvPr id="9" name="Shape 7"/>
          <p:cNvSpPr/>
          <p:nvPr/>
        </p:nvSpPr>
        <p:spPr>
          <a:xfrm>
            <a:off x="548640" y="4251960"/>
            <a:ext cx="1920240" cy="365760"/>
          </a:xfrm>
          <a:prstGeom prst="roundRect">
            <a:avLst>
              <a:gd name="adj" fmla="val 50000"/>
            </a:avLst>
          </a:prstGeom>
          <a:solidFill>
            <a:srgbClr val="C0392B"/>
          </a:solidFill>
          <a:ln/>
        </p:spPr>
      </p:sp>
      <p:sp>
        <p:nvSpPr>
          <p:cNvPr id="10" name="Text 8"/>
          <p:cNvSpPr/>
          <p:nvPr/>
        </p:nvSpPr>
        <p:spPr>
          <a:xfrm>
            <a:off x="548640" y="4251960"/>
            <a:ext cx="19202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QWK &lt; 0</a:t>
            </a:r>
            <a:endParaRPr lang="en-US" sz="1100" dirty="0"/>
          </a:p>
        </p:txBody>
      </p:sp>
      <p:sp>
        <p:nvSpPr>
          <p:cNvPr id="11" name="Text 9"/>
          <p:cNvSpPr/>
          <p:nvPr/>
        </p:nvSpPr>
        <p:spPr>
          <a:xfrm>
            <a:off x="548640" y="4645152"/>
            <a:ext cx="3108960" cy="274320"/>
          </a:xfrm>
          <a:prstGeom prst="rect">
            <a:avLst/>
          </a:prstGeom>
          <a:noFill/>
          <a:ln/>
        </p:spPr>
        <p:txBody>
          <a:bodyPr wrap="square" lIns="0" tIns="0" rIns="0" bIns="0" rtlCol="0" anchor="ctr"/>
          <a:lstStyle/>
          <a:p>
            <a:pPr indent="0" marL="0">
              <a:buNone/>
            </a:pPr>
            <a:r>
              <a:rPr lang="en-US" sz="950" i="1" dirty="0">
                <a:solidFill>
                  <a:srgbClr val="6B7785"/>
                </a:solidFill>
                <a:latin typeface="Calibri" pitchFamily="34" charset="0"/>
                <a:ea typeface="Calibri" pitchFamily="34" charset="-122"/>
                <a:cs typeface="Calibri" pitchFamily="34" charset="-120"/>
              </a:rPr>
              <a:t>(worse than random chance)</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840480" y="1691640"/>
          <a:ext cx="5852160" cy="2011680"/>
        </p:xfrm>
        <a:graphic>
          <a:graphicData uri="http://schemas.openxmlformats.org/drawingml/2006/table">
            <a:tbl>
              <a:tblPr/>
              <a:tblGrid>
                <a:gridCol w="1554480"/>
                <a:gridCol w="1371600"/>
                <a:gridCol w="1371600"/>
                <a:gridCol w="1371600"/>
              </a:tblGrid>
              <a:tr h="457200">
                <a:tc>
                  <a:txBody>
                    <a:bodyPr/>
                    <a:lstStyle/>
                    <a:p>
                      <a:pPr algn="l" indent="0" marL="0">
                        <a:buNone/>
                      </a:pP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Pred: Low</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Pred: Mid</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Pred: High</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r>
              <a:tr h="5212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Actual: Low</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250" b="1" dirty="0">
                          <a:solidFill>
                            <a:srgbClr val="1E2A38"/>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37</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FF4"/>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1,767</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0392B"/>
                    </a:solidFill>
                  </a:tcPr>
                </a:tc>
              </a:tr>
              <a:tr h="5212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Actual: Mid</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8"/>
                    </a:solidFill>
                  </a:tcPr>
                </a:tc>
                <a:tc>
                  <a:txBody>
                    <a:bodyPr/>
                    <a:lstStyle/>
                    <a:p>
                      <a:pPr algn="ctr" indent="0" marL="0">
                        <a:buNone/>
                      </a:pPr>
                      <a:r>
                        <a:rPr lang="en-US" sz="1250" b="1" dirty="0">
                          <a:solidFill>
                            <a:srgbClr val="1E2A38"/>
                          </a:solidFill>
                          <a:latin typeface="Calibri" pitchFamily="34" charset="0"/>
                          <a:ea typeface="Calibri" pitchFamily="34" charset="-122"/>
                          <a:cs typeface="Calibri" pitchFamily="34" charset="-120"/>
                        </a:rPr>
                        <a:t>36</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DEFF4"/>
                    </a:solidFill>
                  </a:tcPr>
                </a:tc>
                <a:tc>
                  <a:txBody>
                    <a:bodyPr/>
                    <a:lstStyle/>
                    <a:p>
                      <a:pPr algn="ctr" indent="0" marL="0">
                        <a:buNone/>
                      </a:pPr>
                      <a:r>
                        <a:rPr lang="en-US" sz="1250" dirty="0">
                          <a:solidFill>
                            <a:srgbClr val="FFFFFF"/>
                          </a:solidFill>
                          <a:latin typeface="Calibri" pitchFamily="34" charset="0"/>
                          <a:ea typeface="Calibri" pitchFamily="34" charset="-122"/>
                          <a:cs typeface="Calibri" pitchFamily="34" charset="-120"/>
                        </a:rPr>
                        <a:t>1,190</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F766E"/>
                    </a:solidFill>
                  </a:tcPr>
                </a:tc>
              </a:tr>
              <a:tr h="521208">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Actual: High</a:t>
                      </a:r>
                      <a:endParaRPr lang="en-US" sz="11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B2545"/>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2F7"/>
                    </a:solidFill>
                  </a:tcPr>
                </a:tc>
                <a:tc>
                  <a:txBody>
                    <a:bodyPr/>
                    <a:lstStyle/>
                    <a:p>
                      <a:pPr algn="ctr" indent="0" marL="0">
                        <a:buNone/>
                      </a:pPr>
                      <a:r>
                        <a:rPr lang="en-US" sz="1250" dirty="0">
                          <a:solidFill>
                            <a:srgbClr val="1E2A38"/>
                          </a:solidFill>
                          <a:latin typeface="Calibri" pitchFamily="34" charset="0"/>
                          <a:ea typeface="Calibri" pitchFamily="34" charset="-122"/>
                          <a:cs typeface="Calibri" pitchFamily="34" charset="-120"/>
                        </a:rPr>
                        <a:t>107</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BE8EC"/>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1,242</a:t>
                      </a:r>
                      <a:endParaRPr lang="en-US" sz="1250" dirty="0">
                        <a:latin typeface="Calibri" charset="0"/>
                        <a:ea typeface="Calibri" charset="0"/>
                        <a:cs typeface="Calibri" charset="0"/>
                      </a:endParaRPr>
                    </a:p>
                  </a:txBody>
                  <a:tcPr marL="76200" marR="76200" marT="76200" marB="762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E7068"/>
                    </a:solidFill>
                  </a:tcPr>
                </a:tc>
              </a:tr>
            </a:tbl>
          </a:graphicData>
        </a:graphic>
      </p:graphicFrame>
      <p:sp>
        <p:nvSpPr>
          <p:cNvPr id="13" name="Text 10"/>
          <p:cNvSpPr/>
          <p:nvPr/>
        </p:nvSpPr>
        <p:spPr>
          <a:xfrm>
            <a:off x="3840480" y="3840480"/>
            <a:ext cx="5852160"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Low: 0.00% · Mid: 2.94% · High: 91.73%</a:t>
            </a:r>
            <a:endParaRPr lang="en-US" sz="1050" dirty="0"/>
          </a:p>
        </p:txBody>
      </p:sp>
      <p:sp>
        <p:nvSpPr>
          <p:cNvPr id="14" name="Shape 11"/>
          <p:cNvSpPr/>
          <p:nvPr/>
        </p:nvSpPr>
        <p:spPr>
          <a:xfrm>
            <a:off x="548640" y="5074920"/>
            <a:ext cx="11064240" cy="914400"/>
          </a:xfrm>
          <a:prstGeom prst="roundRect">
            <a:avLst>
              <a:gd name="adj" fmla="val 10000"/>
            </a:avLst>
          </a:prstGeom>
          <a:solidFill>
            <a:srgbClr val="FBEAE8"/>
          </a:solidFill>
          <a:ln w="12700">
            <a:solidFill>
              <a:srgbClr val="C0392B"/>
            </a:solidFill>
            <a:prstDash val="solid"/>
          </a:ln>
        </p:spPr>
      </p:sp>
      <p:sp>
        <p:nvSpPr>
          <p:cNvPr id="15" name="Text 12"/>
          <p:cNvSpPr/>
          <p:nvPr/>
        </p:nvSpPr>
        <p:spPr>
          <a:xfrm>
            <a:off x="914400" y="5074920"/>
            <a:ext cx="10332720" cy="914400"/>
          </a:xfrm>
          <a:prstGeom prst="rect">
            <a:avLst/>
          </a:prstGeom>
          <a:noFill/>
          <a:ln/>
        </p:spPr>
        <p:txBody>
          <a:bodyPr wrap="square" lIns="0" tIns="0" rIns="0" bIns="0" rtlCol="0" anchor="ctr"/>
          <a:lstStyle/>
          <a:p>
            <a:pPr indent="0" marL="0">
              <a:lnSpc>
                <a:spcPts val="1800"/>
              </a:lnSpc>
              <a:buNone/>
            </a:pPr>
            <a:r>
              <a:rPr lang="en-US" sz="1400" i="1" dirty="0">
                <a:solidFill>
                  <a:srgbClr val="C0392B"/>
                </a:solidFill>
                <a:latin typeface="Cambria" pitchFamily="34" charset="0"/>
                <a:ea typeface="Cambria" pitchFamily="34" charset="-122"/>
                <a:cs typeface="Cambria" pitchFamily="34" charset="-120"/>
              </a:rPr>
              <a:t>“The model collapses toward predicting High.”  Nearly all Low and Mid samples are misclassified as High engagement.</a:t>
            </a:r>
            <a:endParaRPr lang="en-US" sz="1400" dirty="0"/>
          </a:p>
        </p:txBody>
      </p:sp>
      <p:sp>
        <p:nvSpPr>
          <p:cNvPr id="16" name="Text 13"/>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FAILURE ANALYSIS</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The Domain Shift Is Not Symmetric</a:t>
            </a:r>
            <a:endParaRPr lang="en-US" sz="2500" dirty="0"/>
          </a:p>
        </p:txBody>
      </p:sp>
      <p:sp>
        <p:nvSpPr>
          <p:cNvPr id="4" name="Shape 2"/>
          <p:cNvSpPr/>
          <p:nvPr/>
        </p:nvSpPr>
        <p:spPr>
          <a:xfrm>
            <a:off x="548640" y="1554480"/>
            <a:ext cx="5212080" cy="822960"/>
          </a:xfrm>
          <a:prstGeom prst="roundRect">
            <a:avLst>
              <a:gd name="adj" fmla="val 11111"/>
            </a:avLst>
          </a:prstGeom>
          <a:solidFill>
            <a:srgbClr val="EEF3F8"/>
          </a:solidFill>
          <a:ln/>
        </p:spPr>
      </p:sp>
      <p:sp>
        <p:nvSpPr>
          <p:cNvPr id="5" name="Text 3"/>
          <p:cNvSpPr/>
          <p:nvPr/>
        </p:nvSpPr>
        <p:spPr>
          <a:xfrm>
            <a:off x="822960" y="1554480"/>
            <a:ext cx="4663440" cy="82296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OUC → COLER   </a:t>
            </a:r>
            <a:pPr indent="0" marL="0">
              <a:buNone/>
            </a:pPr>
            <a:r>
              <a:rPr lang="en-US" sz="2200" b="1" dirty="0">
                <a:solidFill>
                  <a:srgbClr val="C0392B"/>
                </a:solidFill>
                <a:latin typeface="Cambria" pitchFamily="34" charset="0"/>
                <a:ea typeface="Cambria" pitchFamily="34" charset="-122"/>
                <a:cs typeface="Cambria" pitchFamily="34" charset="-120"/>
              </a:rPr>
              <a:t>−46.41%</a:t>
            </a:r>
            <a:endParaRPr lang="en-US" sz="1700" dirty="0"/>
          </a:p>
        </p:txBody>
      </p:sp>
      <p:sp>
        <p:nvSpPr>
          <p:cNvPr id="6" name="Shape 4"/>
          <p:cNvSpPr/>
          <p:nvPr/>
        </p:nvSpPr>
        <p:spPr>
          <a:xfrm>
            <a:off x="6309360" y="1554480"/>
            <a:ext cx="5303520" cy="822960"/>
          </a:xfrm>
          <a:prstGeom prst="roundRect">
            <a:avLst>
              <a:gd name="adj" fmla="val 11111"/>
            </a:avLst>
          </a:prstGeom>
          <a:solidFill>
            <a:srgbClr val="FBEAE8"/>
          </a:solidFill>
          <a:ln/>
        </p:spPr>
      </p:sp>
      <p:sp>
        <p:nvSpPr>
          <p:cNvPr id="7" name="Text 5"/>
          <p:cNvSpPr/>
          <p:nvPr/>
        </p:nvSpPr>
        <p:spPr>
          <a:xfrm>
            <a:off x="6583680" y="1554480"/>
            <a:ext cx="4754880" cy="82296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COLER → OUC   </a:t>
            </a:r>
            <a:pPr indent="0" marL="0">
              <a:buNone/>
            </a:pPr>
            <a:r>
              <a:rPr lang="en-US" sz="2200" b="1" dirty="0">
                <a:solidFill>
                  <a:srgbClr val="C0392B"/>
                </a:solidFill>
                <a:latin typeface="Cambria" pitchFamily="34" charset="0"/>
                <a:ea typeface="Cambria" pitchFamily="34" charset="-122"/>
                <a:cs typeface="Cambria" pitchFamily="34" charset="-120"/>
              </a:rPr>
              <a:t>−67.23%</a:t>
            </a:r>
            <a:endParaRPr lang="en-US" sz="1700" dirty="0"/>
          </a:p>
        </p:txBody>
      </p:sp>
      <p:sp>
        <p:nvSpPr>
          <p:cNvPr id="8" name="Shape 6"/>
          <p:cNvSpPr/>
          <p:nvPr/>
        </p:nvSpPr>
        <p:spPr>
          <a:xfrm>
            <a:off x="548640" y="2697480"/>
            <a:ext cx="5212080" cy="2286000"/>
          </a:xfrm>
          <a:prstGeom prst="roundRect">
            <a:avLst>
              <a:gd name="adj" fmla="val 4000"/>
            </a:avLst>
          </a:prstGeom>
          <a:solidFill>
            <a:srgbClr val="F4F6F8"/>
          </a:solidFill>
          <a:ln w="15875">
            <a:solidFill>
              <a:srgbClr val="2C6E9E"/>
            </a:solidFill>
            <a:prstDash val="solid"/>
          </a:ln>
        </p:spPr>
      </p:sp>
      <p:sp>
        <p:nvSpPr>
          <p:cNvPr id="9" name="Text 7"/>
          <p:cNvSpPr/>
          <p:nvPr/>
        </p:nvSpPr>
        <p:spPr>
          <a:xfrm>
            <a:off x="822960" y="2880360"/>
            <a:ext cx="4663440" cy="365760"/>
          </a:xfrm>
          <a:prstGeom prst="rect">
            <a:avLst/>
          </a:prstGeom>
          <a:noFill/>
          <a:ln/>
        </p:spPr>
        <p:txBody>
          <a:bodyPr wrap="square" lIns="0" tIns="0" rIns="0" bIns="0" rtlCol="0" anchor="ctr"/>
          <a:lstStyle/>
          <a:p>
            <a:pPr indent="0" marL="0">
              <a:buNone/>
            </a:pPr>
            <a:r>
              <a:rPr lang="en-US" sz="1550" b="1" dirty="0">
                <a:solidFill>
                  <a:srgbClr val="0B2545"/>
                </a:solidFill>
                <a:latin typeface="Cambria" pitchFamily="34" charset="0"/>
                <a:ea typeface="Cambria" pitchFamily="34" charset="-122"/>
                <a:cs typeface="Cambria" pitchFamily="34" charset="-120"/>
              </a:rPr>
              <a:t>COLER: Tight Student Crops</a:t>
            </a:r>
            <a:endParaRPr lang="en-US" sz="1550" dirty="0"/>
          </a:p>
        </p:txBody>
      </p:sp>
      <p:sp>
        <p:nvSpPr>
          <p:cNvPr id="10" name="Text 8"/>
          <p:cNvSpPr/>
          <p:nvPr/>
        </p:nvSpPr>
        <p:spPr>
          <a:xfrm>
            <a:off x="822960" y="3291840"/>
            <a:ext cx="4663440" cy="731520"/>
          </a:xfrm>
          <a:prstGeom prst="rect">
            <a:avLst/>
          </a:prstGeom>
          <a:noFill/>
          <a:ln/>
        </p:spPr>
        <p:txBody>
          <a:bodyPr wrap="square" lIns="0" tIns="0" rIns="0" bIns="0" rtlCol="0" anchor="ctr"/>
          <a:lstStyle/>
          <a:p>
            <a:pPr indent="0" marL="0">
              <a:lnSpc>
                <a:spcPts val="1600"/>
              </a:lnSpc>
              <a:buNone/>
            </a:pPr>
            <a:r>
              <a:rPr lang="en-US" sz="1200" dirty="0">
                <a:solidFill>
                  <a:srgbClr val="1E2A38"/>
                </a:solidFill>
                <a:latin typeface="Calibri" pitchFamily="34" charset="0"/>
                <a:ea typeface="Calibri" pitchFamily="34" charset="-122"/>
                <a:cs typeface="Calibri" pitchFamily="34" charset="-120"/>
              </a:rPr>
              <a:t>Single-person focus — the model learns student-centric visual patterns</a:t>
            </a:r>
            <a:endParaRPr lang="en-US" sz="1200" dirty="0"/>
          </a:p>
        </p:txBody>
      </p:sp>
      <p:sp>
        <p:nvSpPr>
          <p:cNvPr id="11" name="Shape 9"/>
          <p:cNvSpPr/>
          <p:nvPr/>
        </p:nvSpPr>
        <p:spPr>
          <a:xfrm>
            <a:off x="3044952" y="4069080"/>
            <a:ext cx="219456" cy="182880"/>
          </a:xfrm>
          <a:prstGeom prst="downArrow">
            <a:avLst/>
          </a:prstGeom>
          <a:solidFill>
            <a:srgbClr val="2C6E9E"/>
          </a:solidFill>
          <a:ln/>
        </p:spPr>
      </p:sp>
      <p:sp>
        <p:nvSpPr>
          <p:cNvPr id="12" name="Shape 10"/>
          <p:cNvSpPr/>
          <p:nvPr/>
        </p:nvSpPr>
        <p:spPr>
          <a:xfrm>
            <a:off x="914400" y="4343400"/>
            <a:ext cx="4480560" cy="502920"/>
          </a:xfrm>
          <a:prstGeom prst="roundRect">
            <a:avLst>
              <a:gd name="adj" fmla="val 10909"/>
            </a:avLst>
          </a:prstGeom>
          <a:solidFill>
            <a:srgbClr val="2C6E9E"/>
          </a:solidFill>
          <a:ln/>
        </p:spPr>
      </p:sp>
      <p:sp>
        <p:nvSpPr>
          <p:cNvPr id="13" name="Text 11"/>
          <p:cNvSpPr/>
          <p:nvPr/>
        </p:nvSpPr>
        <p:spPr>
          <a:xfrm>
            <a:off x="822960" y="4343400"/>
            <a:ext cx="411480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Model learns student-centric patterns</a:t>
            </a:r>
            <a:endParaRPr lang="en-US" sz="1150" dirty="0"/>
          </a:p>
        </p:txBody>
      </p:sp>
      <p:sp>
        <p:nvSpPr>
          <p:cNvPr id="14" name="Shape 12"/>
          <p:cNvSpPr/>
          <p:nvPr/>
        </p:nvSpPr>
        <p:spPr>
          <a:xfrm>
            <a:off x="6309360" y="2697480"/>
            <a:ext cx="5212080" cy="2286000"/>
          </a:xfrm>
          <a:prstGeom prst="roundRect">
            <a:avLst>
              <a:gd name="adj" fmla="val 4000"/>
            </a:avLst>
          </a:prstGeom>
          <a:solidFill>
            <a:srgbClr val="F4F6F8"/>
          </a:solidFill>
          <a:ln w="15875">
            <a:solidFill>
              <a:srgbClr val="0B2545"/>
            </a:solidFill>
            <a:prstDash val="solid"/>
          </a:ln>
        </p:spPr>
      </p:sp>
      <p:sp>
        <p:nvSpPr>
          <p:cNvPr id="15" name="Text 13"/>
          <p:cNvSpPr/>
          <p:nvPr/>
        </p:nvSpPr>
        <p:spPr>
          <a:xfrm>
            <a:off x="6583680" y="2880360"/>
            <a:ext cx="4663440" cy="365760"/>
          </a:xfrm>
          <a:prstGeom prst="rect">
            <a:avLst/>
          </a:prstGeom>
          <a:noFill/>
          <a:ln/>
        </p:spPr>
        <p:txBody>
          <a:bodyPr wrap="square" lIns="0" tIns="0" rIns="0" bIns="0" rtlCol="0" anchor="ctr"/>
          <a:lstStyle/>
          <a:p>
            <a:pPr indent="0" marL="0">
              <a:buNone/>
            </a:pPr>
            <a:r>
              <a:rPr lang="en-US" sz="1550" b="1" dirty="0">
                <a:solidFill>
                  <a:srgbClr val="0B2545"/>
                </a:solidFill>
                <a:latin typeface="Cambria" pitchFamily="34" charset="0"/>
                <a:ea typeface="Cambria" pitchFamily="34" charset="-122"/>
                <a:cs typeface="Cambria" pitchFamily="34" charset="-120"/>
              </a:rPr>
              <a:t>OUC-CGE: Wide Group Views</a:t>
            </a:r>
            <a:endParaRPr lang="en-US" sz="1550" dirty="0"/>
          </a:p>
        </p:txBody>
      </p:sp>
      <p:sp>
        <p:nvSpPr>
          <p:cNvPr id="16" name="Text 14"/>
          <p:cNvSpPr/>
          <p:nvPr/>
        </p:nvSpPr>
        <p:spPr>
          <a:xfrm>
            <a:off x="6583680" y="3291840"/>
            <a:ext cx="4663440" cy="731520"/>
          </a:xfrm>
          <a:prstGeom prst="rect">
            <a:avLst/>
          </a:prstGeom>
          <a:noFill/>
          <a:ln/>
        </p:spPr>
        <p:txBody>
          <a:bodyPr wrap="square" lIns="0" tIns="0" rIns="0" bIns="0" rtlCol="0" anchor="ctr"/>
          <a:lstStyle/>
          <a:p>
            <a:pPr indent="0" marL="0">
              <a:lnSpc>
                <a:spcPts val="1600"/>
              </a:lnSpc>
              <a:buNone/>
            </a:pPr>
            <a:r>
              <a:rPr lang="en-US" sz="1200" dirty="0">
                <a:solidFill>
                  <a:srgbClr val="1E2A38"/>
                </a:solidFill>
                <a:latin typeface="Calibri" pitchFamily="34" charset="0"/>
                <a:ea typeface="Calibri" pitchFamily="34" charset="-122"/>
                <a:cs typeface="Calibri" pitchFamily="34" charset="-120"/>
              </a:rPr>
              <a:t>Multiple students + background clutter in a single classroom-level frame</a:t>
            </a:r>
            <a:endParaRPr lang="en-US" sz="1200" dirty="0"/>
          </a:p>
        </p:txBody>
      </p:sp>
      <p:sp>
        <p:nvSpPr>
          <p:cNvPr id="17" name="Shape 15"/>
          <p:cNvSpPr/>
          <p:nvPr/>
        </p:nvSpPr>
        <p:spPr>
          <a:xfrm>
            <a:off x="8805672" y="4069080"/>
            <a:ext cx="219456" cy="182880"/>
          </a:xfrm>
          <a:prstGeom prst="downArrow">
            <a:avLst/>
          </a:prstGeom>
          <a:solidFill>
            <a:srgbClr val="0B2545"/>
          </a:solidFill>
          <a:ln/>
        </p:spPr>
      </p:sp>
      <p:sp>
        <p:nvSpPr>
          <p:cNvPr id="18" name="Shape 16"/>
          <p:cNvSpPr/>
          <p:nvPr/>
        </p:nvSpPr>
        <p:spPr>
          <a:xfrm>
            <a:off x="6675120" y="4343400"/>
            <a:ext cx="4480560" cy="502920"/>
          </a:xfrm>
          <a:prstGeom prst="roundRect">
            <a:avLst>
              <a:gd name="adj" fmla="val 10909"/>
            </a:avLst>
          </a:prstGeom>
          <a:solidFill>
            <a:srgbClr val="0B2545"/>
          </a:solidFill>
          <a:ln/>
        </p:spPr>
      </p:sp>
      <p:sp>
        <p:nvSpPr>
          <p:cNvPr id="19" name="Text 17"/>
          <p:cNvSpPr/>
          <p:nvPr/>
        </p:nvSpPr>
        <p:spPr>
          <a:xfrm>
            <a:off x="6583680" y="4343400"/>
            <a:ext cx="411480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Multiple people + background clutter</a:t>
            </a:r>
            <a:endParaRPr lang="en-US" sz="1150" dirty="0"/>
          </a:p>
        </p:txBody>
      </p:sp>
      <p:sp>
        <p:nvSpPr>
          <p:cNvPr id="20" name="Text 18"/>
          <p:cNvSpPr/>
          <p:nvPr/>
        </p:nvSpPr>
        <p:spPr>
          <a:xfrm>
            <a:off x="548640" y="5120640"/>
            <a:ext cx="11064240" cy="457200"/>
          </a:xfrm>
          <a:prstGeom prst="rect">
            <a:avLst/>
          </a:prstGeom>
          <a:noFill/>
          <a:ln/>
        </p:spPr>
        <p:txBody>
          <a:bodyPr wrap="square" lIns="0" tIns="0" rIns="0" bIns="0" rtlCol="0" anchor="ctr"/>
          <a:lstStyle/>
          <a:p>
            <a:pPr indent="0" marL="0">
              <a:lnSpc>
                <a:spcPts val="1600"/>
              </a:lnSpc>
              <a:buNone/>
            </a:pPr>
            <a:r>
              <a:rPr lang="en-US" sz="1250" b="1" i="1" dirty="0">
                <a:solidFill>
                  <a:srgbClr val="C0392B"/>
                </a:solidFill>
                <a:latin typeface="Calibri" pitchFamily="34" charset="0"/>
                <a:ea typeface="Calibri" pitchFamily="34" charset="-122"/>
                <a:cs typeface="Calibri" pitchFamily="34" charset="-120"/>
              </a:rPr>
              <a:t>COLER → OUC fails more severely because the learned visual representation is incompatible with group-level classroom views.</a:t>
            </a:r>
            <a:endParaRPr lang="en-US" sz="1250" dirty="0"/>
          </a:p>
        </p:txBody>
      </p:sp>
      <p:sp>
        <p:nvSpPr>
          <p:cNvPr id="21" name="Text 19"/>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SCIENTIFIC INFERENCE 1</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Strong In-Domain Results Suggest Spatial Feature Overfitting</a:t>
            </a:r>
            <a:endParaRPr lang="en-US" sz="2500" dirty="0"/>
          </a:p>
        </p:txBody>
      </p:sp>
      <p:sp>
        <p:nvSpPr>
          <p:cNvPr id="4" name="Text 2"/>
          <p:cNvSpPr/>
          <p:nvPr/>
        </p:nvSpPr>
        <p:spPr>
          <a:xfrm>
            <a:off x="548640" y="1645920"/>
            <a:ext cx="2651760"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99.25%</a:t>
            </a:r>
            <a:endParaRPr lang="en-US" sz="3200" dirty="0"/>
          </a:p>
        </p:txBody>
      </p:sp>
      <p:sp>
        <p:nvSpPr>
          <p:cNvPr id="5" name="Text 3"/>
          <p:cNvSpPr/>
          <p:nvPr/>
        </p:nvSpPr>
        <p:spPr>
          <a:xfrm>
            <a:off x="548640" y="2304288"/>
            <a:ext cx="2651760" cy="274320"/>
          </a:xfrm>
          <a:prstGeom prst="rect">
            <a:avLst/>
          </a:prstGeom>
          <a:noFill/>
          <a:ln/>
        </p:spPr>
        <p:txBody>
          <a:bodyPr wrap="square" lIns="0" tIns="0" rIns="0" bIns="0" rtlCol="0" anchor="ctr"/>
          <a:lstStyle/>
          <a:p>
            <a:pPr indent="0" marL="0">
              <a:buNone/>
            </a:pPr>
            <a:r>
              <a:rPr lang="en-US" sz="1050" dirty="0">
                <a:solidFill>
                  <a:srgbClr val="6B7785"/>
                </a:solidFill>
                <a:latin typeface="Calibri" pitchFamily="34" charset="0"/>
                <a:ea typeface="Calibri" pitchFamily="34" charset="-122"/>
                <a:cs typeface="Calibri" pitchFamily="34" charset="-120"/>
              </a:rPr>
              <a:t>OUC-CGE in-domain</a:t>
            </a:r>
            <a:endParaRPr lang="en-US" sz="1050" dirty="0"/>
          </a:p>
        </p:txBody>
      </p:sp>
      <p:sp>
        <p:nvSpPr>
          <p:cNvPr id="6" name="Text 4"/>
          <p:cNvSpPr/>
          <p:nvPr/>
        </p:nvSpPr>
        <p:spPr>
          <a:xfrm>
            <a:off x="3291840" y="1645920"/>
            <a:ext cx="2651760" cy="685800"/>
          </a:xfrm>
          <a:prstGeom prst="rect">
            <a:avLst/>
          </a:prstGeom>
          <a:noFill/>
          <a:ln/>
        </p:spPr>
        <p:txBody>
          <a:bodyPr wrap="square" lIns="0" tIns="0" rIns="0" bIns="0" rtlCol="0" anchor="ctr"/>
          <a:lstStyle/>
          <a:p>
            <a:pPr indent="0" marL="0">
              <a:buNone/>
            </a:pPr>
            <a:r>
              <a:rPr lang="en-US" sz="3200" b="1" dirty="0">
                <a:solidFill>
                  <a:srgbClr val="0B2545"/>
                </a:solidFill>
                <a:latin typeface="Cambria" pitchFamily="34" charset="0"/>
                <a:ea typeface="Cambria" pitchFamily="34" charset="-122"/>
                <a:cs typeface="Cambria" pitchFamily="34" charset="-120"/>
              </a:rPr>
              <a:t>96.38%</a:t>
            </a:r>
            <a:endParaRPr lang="en-US" sz="3200" dirty="0"/>
          </a:p>
        </p:txBody>
      </p:sp>
      <p:sp>
        <p:nvSpPr>
          <p:cNvPr id="7" name="Text 5"/>
          <p:cNvSpPr/>
          <p:nvPr/>
        </p:nvSpPr>
        <p:spPr>
          <a:xfrm>
            <a:off x="3291840" y="2304288"/>
            <a:ext cx="2651760" cy="274320"/>
          </a:xfrm>
          <a:prstGeom prst="rect">
            <a:avLst/>
          </a:prstGeom>
          <a:noFill/>
          <a:ln/>
        </p:spPr>
        <p:txBody>
          <a:bodyPr wrap="square" lIns="0" tIns="0" rIns="0" bIns="0" rtlCol="0" anchor="ctr"/>
          <a:lstStyle/>
          <a:p>
            <a:pPr indent="0" marL="0">
              <a:buNone/>
            </a:pPr>
            <a:r>
              <a:rPr lang="en-US" sz="1050" dirty="0">
                <a:solidFill>
                  <a:srgbClr val="6B7785"/>
                </a:solidFill>
                <a:latin typeface="Calibri" pitchFamily="34" charset="0"/>
                <a:ea typeface="Calibri" pitchFamily="34" charset="-122"/>
                <a:cs typeface="Calibri" pitchFamily="34" charset="-120"/>
              </a:rPr>
              <a:t>COLER in-domain</a:t>
            </a:r>
            <a:endParaRPr lang="en-US" sz="1050" dirty="0"/>
          </a:p>
        </p:txBody>
      </p:sp>
      <p:sp>
        <p:nvSpPr>
          <p:cNvPr id="8" name="Text 6"/>
          <p:cNvSpPr/>
          <p:nvPr/>
        </p:nvSpPr>
        <p:spPr>
          <a:xfrm>
            <a:off x="6400800" y="1719072"/>
            <a:ext cx="5212080" cy="274320"/>
          </a:xfrm>
          <a:prstGeom prst="rect">
            <a:avLst/>
          </a:prstGeom>
          <a:noFill/>
          <a:ln/>
        </p:spPr>
        <p:txBody>
          <a:bodyPr wrap="square" lIns="0" tIns="0" rIns="0" bIns="0" rtlCol="0" anchor="ctr"/>
          <a:lstStyle/>
          <a:p>
            <a:pPr indent="0" marL="0">
              <a:buNone/>
            </a:pPr>
            <a:r>
              <a:rPr lang="en-US" sz="1050" b="1" spc="100" kern="0" dirty="0">
                <a:solidFill>
                  <a:srgbClr val="C0392B"/>
                </a:solidFill>
                <a:latin typeface="Calibri" pitchFamily="34" charset="0"/>
                <a:ea typeface="Calibri" pitchFamily="34" charset="-122"/>
                <a:cs typeface="Calibri" pitchFamily="34" charset="-120"/>
              </a:rPr>
              <a:t>YET TRANSFER COLLAPSES TO</a:t>
            </a:r>
            <a:endParaRPr lang="en-US" sz="1050" dirty="0"/>
          </a:p>
        </p:txBody>
      </p:sp>
      <p:sp>
        <p:nvSpPr>
          <p:cNvPr id="9" name="Text 7"/>
          <p:cNvSpPr/>
          <p:nvPr/>
        </p:nvSpPr>
        <p:spPr>
          <a:xfrm>
            <a:off x="6400800" y="1965960"/>
            <a:ext cx="5212080" cy="548640"/>
          </a:xfrm>
          <a:prstGeom prst="rect">
            <a:avLst/>
          </a:prstGeom>
          <a:noFill/>
          <a:ln/>
        </p:spPr>
        <p:txBody>
          <a:bodyPr wrap="square" lIns="0" tIns="0" rIns="0" bIns="0" rtlCol="0" anchor="ctr"/>
          <a:lstStyle/>
          <a:p>
            <a:pPr indent="0" marL="0">
              <a:buNone/>
            </a:pPr>
            <a:r>
              <a:rPr lang="en-US" sz="2600" b="1" dirty="0">
                <a:solidFill>
                  <a:srgbClr val="C0392B"/>
                </a:solidFill>
                <a:latin typeface="Cambria" pitchFamily="34" charset="0"/>
                <a:ea typeface="Cambria" pitchFamily="34" charset="-122"/>
                <a:cs typeface="Cambria" pitchFamily="34" charset="-120"/>
              </a:rPr>
              <a:t>52.84%  /  29.15%</a:t>
            </a:r>
            <a:endParaRPr lang="en-US" sz="2600" dirty="0"/>
          </a:p>
        </p:txBody>
      </p:sp>
      <p:sp>
        <p:nvSpPr>
          <p:cNvPr id="10" name="Shape 8"/>
          <p:cNvSpPr/>
          <p:nvPr/>
        </p:nvSpPr>
        <p:spPr>
          <a:xfrm>
            <a:off x="548640" y="2743200"/>
            <a:ext cx="11064240" cy="1371600"/>
          </a:xfrm>
          <a:prstGeom prst="roundRect">
            <a:avLst>
              <a:gd name="adj" fmla="val 6667"/>
            </a:avLst>
          </a:prstGeom>
          <a:solidFill>
            <a:srgbClr val="0B2545"/>
          </a:solidFill>
          <a:ln/>
        </p:spPr>
      </p:sp>
      <p:sp>
        <p:nvSpPr>
          <p:cNvPr id="11" name="Text 9"/>
          <p:cNvSpPr/>
          <p:nvPr/>
        </p:nvSpPr>
        <p:spPr>
          <a:xfrm>
            <a:off x="914400" y="2880360"/>
            <a:ext cx="10332720" cy="274320"/>
          </a:xfrm>
          <a:prstGeom prst="rect">
            <a:avLst/>
          </a:prstGeom>
          <a:noFill/>
          <a:ln/>
        </p:spPr>
        <p:txBody>
          <a:bodyPr wrap="square" lIns="0" tIns="0" rIns="0" bIns="0" rtlCol="0" anchor="ctr"/>
          <a:lstStyle/>
          <a:p>
            <a:pPr indent="0" marL="0">
              <a:buNone/>
            </a:pPr>
            <a:r>
              <a:rPr lang="en-US" sz="1050" b="1" spc="100" kern="0" dirty="0">
                <a:solidFill>
                  <a:srgbClr val="7FAFD4"/>
                </a:solidFill>
                <a:latin typeface="Calibri" pitchFamily="34" charset="0"/>
                <a:ea typeface="Calibri" pitchFamily="34" charset="-122"/>
                <a:cs typeface="Calibri" pitchFamily="34" charset="-120"/>
              </a:rPr>
              <a:t>INTERPRETATION (from the report)</a:t>
            </a:r>
            <a:endParaRPr lang="en-US" sz="1050" dirty="0"/>
          </a:p>
        </p:txBody>
      </p:sp>
      <p:sp>
        <p:nvSpPr>
          <p:cNvPr id="12" name="Text 10"/>
          <p:cNvSpPr/>
          <p:nvPr/>
        </p:nvSpPr>
        <p:spPr>
          <a:xfrm>
            <a:off x="914400" y="3182112"/>
            <a:ext cx="10332720" cy="822960"/>
          </a:xfrm>
          <a:prstGeom prst="rect">
            <a:avLst/>
          </a:prstGeom>
          <a:noFill/>
          <a:ln/>
        </p:spPr>
        <p:txBody>
          <a:bodyPr wrap="square" lIns="0" tIns="0" rIns="0" bIns="0" rtlCol="0" anchor="ctr"/>
          <a:lstStyle/>
          <a:p>
            <a:pPr indent="0" marL="0">
              <a:lnSpc>
                <a:spcPts val="2000"/>
              </a:lnSpc>
              <a:buNone/>
            </a:pPr>
            <a:r>
              <a:rPr lang="en-US" sz="1550" i="1" dirty="0">
                <a:solidFill>
                  <a:srgbClr val="FFFFFF"/>
                </a:solidFill>
                <a:latin typeface="Cambria" pitchFamily="34" charset="0"/>
                <a:ea typeface="Cambria" pitchFamily="34" charset="-122"/>
                <a:cs typeface="Cambria" pitchFamily="34" charset="-120"/>
              </a:rPr>
              <a:t>The 2D ResNet-50 has enough capacity to learn static spatial patterns specific to each dataset — rather than generalizable engagement cues.</a:t>
            </a:r>
            <a:endParaRPr lang="en-US" sz="1550" dirty="0"/>
          </a:p>
        </p:txBody>
      </p:sp>
      <p:sp>
        <p:nvSpPr>
          <p:cNvPr id="13" name="Text 11"/>
          <p:cNvSpPr/>
          <p:nvPr/>
        </p:nvSpPr>
        <p:spPr>
          <a:xfrm>
            <a:off x="548640" y="4434840"/>
            <a:ext cx="7315200" cy="274320"/>
          </a:xfrm>
          <a:prstGeom prst="rect">
            <a:avLst/>
          </a:prstGeom>
          <a:noFill/>
          <a:ln/>
        </p:spPr>
        <p:txBody>
          <a:bodyPr wrap="square" lIns="0" tIns="0" rIns="0" bIns="0" rtlCol="0" anchor="ctr"/>
          <a:lstStyle/>
          <a:p>
            <a:pPr indent="0" marL="0">
              <a:buNone/>
            </a:pPr>
            <a:r>
              <a:rPr lang="en-US" sz="1050" b="1" spc="100" kern="0" dirty="0">
                <a:solidFill>
                  <a:srgbClr val="6B7785"/>
                </a:solidFill>
                <a:latin typeface="Calibri" pitchFamily="34" charset="0"/>
                <a:ea typeface="Calibri" pitchFamily="34" charset="-122"/>
                <a:cs typeface="Calibri" pitchFamily="34" charset="-120"/>
              </a:rPr>
              <a:t>EXAMPLES CITED IN THE REPORT</a:t>
            </a:r>
            <a:endParaRPr lang="en-US" sz="1050" dirty="0"/>
          </a:p>
        </p:txBody>
      </p:sp>
      <p:sp>
        <p:nvSpPr>
          <p:cNvPr id="14" name="Shape 12"/>
          <p:cNvSpPr/>
          <p:nvPr/>
        </p:nvSpPr>
        <p:spPr>
          <a:xfrm>
            <a:off x="548640" y="4754880"/>
            <a:ext cx="1737360" cy="594360"/>
          </a:xfrm>
          <a:prstGeom prst="roundRect">
            <a:avLst>
              <a:gd name="adj" fmla="val 15385"/>
            </a:avLst>
          </a:prstGeom>
          <a:solidFill>
            <a:srgbClr val="EEF3F8"/>
          </a:solidFill>
          <a:ln/>
        </p:spPr>
      </p:sp>
      <p:sp>
        <p:nvSpPr>
          <p:cNvPr id="15" name="Text 13"/>
          <p:cNvSpPr/>
          <p:nvPr/>
        </p:nvSpPr>
        <p:spPr>
          <a:xfrm>
            <a:off x="548640" y="4754880"/>
            <a:ext cx="1737360" cy="594360"/>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Backgrounds</a:t>
            </a:r>
            <a:endParaRPr lang="en-US" sz="1200" dirty="0"/>
          </a:p>
        </p:txBody>
      </p:sp>
      <p:sp>
        <p:nvSpPr>
          <p:cNvPr id="16" name="Shape 14"/>
          <p:cNvSpPr/>
          <p:nvPr/>
        </p:nvSpPr>
        <p:spPr>
          <a:xfrm>
            <a:off x="2468880" y="4754880"/>
            <a:ext cx="1737360" cy="594360"/>
          </a:xfrm>
          <a:prstGeom prst="roundRect">
            <a:avLst>
              <a:gd name="adj" fmla="val 15385"/>
            </a:avLst>
          </a:prstGeom>
          <a:solidFill>
            <a:srgbClr val="EEF3F8"/>
          </a:solidFill>
          <a:ln/>
        </p:spPr>
      </p:sp>
      <p:sp>
        <p:nvSpPr>
          <p:cNvPr id="17" name="Text 15"/>
          <p:cNvSpPr/>
          <p:nvPr/>
        </p:nvSpPr>
        <p:spPr>
          <a:xfrm>
            <a:off x="2468880" y="4754880"/>
            <a:ext cx="1737360" cy="594360"/>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Student appearance</a:t>
            </a:r>
            <a:endParaRPr lang="en-US" sz="1200" dirty="0"/>
          </a:p>
        </p:txBody>
      </p:sp>
      <p:sp>
        <p:nvSpPr>
          <p:cNvPr id="18" name="Shape 16"/>
          <p:cNvSpPr/>
          <p:nvPr/>
        </p:nvSpPr>
        <p:spPr>
          <a:xfrm>
            <a:off x="4389120" y="4754880"/>
            <a:ext cx="1737360" cy="594360"/>
          </a:xfrm>
          <a:prstGeom prst="roundRect">
            <a:avLst>
              <a:gd name="adj" fmla="val 15385"/>
            </a:avLst>
          </a:prstGeom>
          <a:solidFill>
            <a:srgbClr val="EEF3F8"/>
          </a:solidFill>
          <a:ln/>
        </p:spPr>
      </p:sp>
      <p:sp>
        <p:nvSpPr>
          <p:cNvPr id="19" name="Text 17"/>
          <p:cNvSpPr/>
          <p:nvPr/>
        </p:nvSpPr>
        <p:spPr>
          <a:xfrm>
            <a:off x="4389120" y="4754880"/>
            <a:ext cx="1737360" cy="594360"/>
          </a:xfrm>
          <a:prstGeom prst="rect">
            <a:avLst/>
          </a:prstGeom>
          <a:noFill/>
          <a:ln/>
        </p:spPr>
        <p:txBody>
          <a:bodyPr wrap="square" lIns="0" tIns="0" rIns="0" bIns="0"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Lighting cues</a:t>
            </a:r>
            <a:endParaRPr lang="en-US" sz="1200" dirty="0"/>
          </a:p>
        </p:txBody>
      </p:sp>
      <p:sp>
        <p:nvSpPr>
          <p:cNvPr id="20" name="Text 18"/>
          <p:cNvSpPr/>
          <p:nvPr/>
        </p:nvSpPr>
        <p:spPr>
          <a:xfrm>
            <a:off x="548640" y="5577840"/>
            <a:ext cx="11064240" cy="365760"/>
          </a:xfrm>
          <a:prstGeom prst="rect">
            <a:avLst/>
          </a:prstGeom>
          <a:noFill/>
          <a:ln/>
        </p:spPr>
        <p:txBody>
          <a:bodyPr wrap="square" lIns="0" tIns="0" rIns="0" bIns="0" rtlCol="0" anchor="ctr"/>
          <a:lstStyle/>
          <a:p>
            <a:pPr indent="0" marL="0">
              <a:buNone/>
            </a:pPr>
            <a:r>
              <a:rPr lang="en-US" sz="1150" i="1" dirty="0">
                <a:solidFill>
                  <a:srgbClr val="6B7785"/>
                </a:solidFill>
                <a:latin typeface="Calibri" pitchFamily="34" charset="0"/>
                <a:ea typeface="Calibri" pitchFamily="34" charset="-122"/>
                <a:cs typeface="Calibri" pitchFamily="34" charset="-120"/>
              </a:rPr>
              <a:t>These are cited as plausible interpretation, not experimentally isolated causes.</a:t>
            </a:r>
            <a:endParaRPr lang="en-US" sz="1150" dirty="0"/>
          </a:p>
        </p:txBody>
      </p:sp>
      <p:sp>
        <p:nvSpPr>
          <p:cNvPr id="21" name="Text 19"/>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SCIENTIFIC INFERENCE 2</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Visual Granularity Mismatch Drives Transfer Failure</a:t>
            </a:r>
            <a:endParaRPr lang="en-US" sz="2500" dirty="0"/>
          </a:p>
        </p:txBody>
      </p:sp>
      <p:sp>
        <p:nvSpPr>
          <p:cNvPr id="4" name="Shape 2"/>
          <p:cNvSpPr/>
          <p:nvPr/>
        </p:nvSpPr>
        <p:spPr>
          <a:xfrm>
            <a:off x="548640" y="1691640"/>
            <a:ext cx="4846320" cy="2103120"/>
          </a:xfrm>
          <a:prstGeom prst="roundRect">
            <a:avLst>
              <a:gd name="adj" fmla="val 4348"/>
            </a:avLst>
          </a:prstGeom>
          <a:solidFill>
            <a:srgbClr val="EEF3F8"/>
          </a:solidFill>
          <a:ln/>
        </p:spPr>
      </p:sp>
      <p:sp>
        <p:nvSpPr>
          <p:cNvPr id="5" name="Text 3"/>
          <p:cNvSpPr/>
          <p:nvPr/>
        </p:nvSpPr>
        <p:spPr>
          <a:xfrm>
            <a:off x="822960" y="1874520"/>
            <a:ext cx="4297680" cy="36576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COLER</a:t>
            </a:r>
            <a:endParaRPr lang="en-US" sz="1700" dirty="0"/>
          </a:p>
        </p:txBody>
      </p:sp>
      <p:sp>
        <p:nvSpPr>
          <p:cNvPr id="6" name="Text 4"/>
          <p:cNvSpPr/>
          <p:nvPr/>
        </p:nvSpPr>
        <p:spPr>
          <a:xfrm>
            <a:off x="822960" y="2258568"/>
            <a:ext cx="4297680" cy="32004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Individual student crop</a:t>
            </a:r>
            <a:endParaRPr lang="en-US" sz="1200" dirty="0"/>
          </a:p>
        </p:txBody>
      </p:sp>
      <p:sp>
        <p:nvSpPr>
          <p:cNvPr id="7" name="Shape 5"/>
          <p:cNvSpPr/>
          <p:nvPr/>
        </p:nvSpPr>
        <p:spPr>
          <a:xfrm>
            <a:off x="2606040" y="2651760"/>
            <a:ext cx="219456" cy="182880"/>
          </a:xfrm>
          <a:prstGeom prst="downArrow">
            <a:avLst/>
          </a:prstGeom>
          <a:solidFill>
            <a:srgbClr val="2C6E9E"/>
          </a:solidFill>
          <a:ln/>
        </p:spPr>
      </p:sp>
      <p:sp>
        <p:nvSpPr>
          <p:cNvPr id="8" name="Text 6"/>
          <p:cNvSpPr/>
          <p:nvPr/>
        </p:nvSpPr>
        <p:spPr>
          <a:xfrm>
            <a:off x="822960" y="2926080"/>
            <a:ext cx="4297680" cy="640080"/>
          </a:xfrm>
          <a:prstGeom prst="rect">
            <a:avLst/>
          </a:prstGeom>
          <a:noFill/>
          <a:ln/>
        </p:spPr>
        <p:txBody>
          <a:bodyPr wrap="square" lIns="0" tIns="0" rIns="0" bIns="0" rtlCol="0" anchor="ctr"/>
          <a:lstStyle/>
          <a:p>
            <a:pPr indent="0" marL="0">
              <a:lnSpc>
                <a:spcPts val="1600"/>
              </a:lnSpc>
              <a:buNone/>
            </a:pPr>
            <a:r>
              <a:rPr lang="en-US" sz="1300" b="1" dirty="0">
                <a:solidFill>
                  <a:srgbClr val="2C6E9E"/>
                </a:solidFill>
                <a:latin typeface="Calibri" pitchFamily="34" charset="0"/>
                <a:ea typeface="Calibri" pitchFamily="34" charset="-122"/>
                <a:cs typeface="Calibri" pitchFamily="34" charset="-120"/>
              </a:rPr>
              <a:t>Student-centric representation</a:t>
            </a:r>
            <a:endParaRPr lang="en-US" sz="1300" dirty="0"/>
          </a:p>
        </p:txBody>
      </p:sp>
      <p:sp>
        <p:nvSpPr>
          <p:cNvPr id="9" name="Text 7"/>
          <p:cNvSpPr/>
          <p:nvPr/>
        </p:nvSpPr>
        <p:spPr>
          <a:xfrm>
            <a:off x="5577840" y="2514600"/>
            <a:ext cx="822960" cy="457200"/>
          </a:xfrm>
          <a:prstGeom prst="rect">
            <a:avLst/>
          </a:prstGeom>
          <a:noFill/>
          <a:ln/>
        </p:spPr>
        <p:txBody>
          <a:bodyPr wrap="square" lIns="0" tIns="0" rIns="0" bIns="0" rtlCol="0" anchor="ctr"/>
          <a:lstStyle/>
          <a:p>
            <a:pPr algn="ctr" indent="0" marL="0">
              <a:buNone/>
            </a:pPr>
            <a:r>
              <a:rPr lang="en-US" sz="1800" b="1" dirty="0">
                <a:solidFill>
                  <a:srgbClr val="6B7785"/>
                </a:solidFill>
                <a:latin typeface="Cambria" pitchFamily="34" charset="0"/>
                <a:ea typeface="Cambria" pitchFamily="34" charset="-122"/>
                <a:cs typeface="Cambria" pitchFamily="34" charset="-120"/>
              </a:rPr>
              <a:t>VS</a:t>
            </a:r>
            <a:endParaRPr lang="en-US" sz="1800" dirty="0"/>
          </a:p>
        </p:txBody>
      </p:sp>
      <p:sp>
        <p:nvSpPr>
          <p:cNvPr id="10" name="Shape 8"/>
          <p:cNvSpPr/>
          <p:nvPr/>
        </p:nvSpPr>
        <p:spPr>
          <a:xfrm>
            <a:off x="6400800" y="1691640"/>
            <a:ext cx="4846320" cy="2103120"/>
          </a:xfrm>
          <a:prstGeom prst="roundRect">
            <a:avLst>
              <a:gd name="adj" fmla="val 4348"/>
            </a:avLst>
          </a:prstGeom>
          <a:solidFill>
            <a:srgbClr val="F4F6F8"/>
          </a:solidFill>
          <a:ln/>
        </p:spPr>
      </p:sp>
      <p:sp>
        <p:nvSpPr>
          <p:cNvPr id="11" name="Text 9"/>
          <p:cNvSpPr/>
          <p:nvPr/>
        </p:nvSpPr>
        <p:spPr>
          <a:xfrm>
            <a:off x="6675120" y="1874520"/>
            <a:ext cx="4297680" cy="36576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OUC-CGE</a:t>
            </a:r>
            <a:endParaRPr lang="en-US" sz="1700" dirty="0"/>
          </a:p>
        </p:txBody>
      </p:sp>
      <p:sp>
        <p:nvSpPr>
          <p:cNvPr id="12" name="Text 10"/>
          <p:cNvSpPr/>
          <p:nvPr/>
        </p:nvSpPr>
        <p:spPr>
          <a:xfrm>
            <a:off x="6675120" y="2258568"/>
            <a:ext cx="4297680" cy="320040"/>
          </a:xfrm>
          <a:prstGeom prst="rect">
            <a:avLst/>
          </a:prstGeom>
          <a:noFill/>
          <a:ln/>
        </p:spPr>
        <p:txBody>
          <a:bodyPr wrap="square" lIns="0" tIns="0" rIns="0" bIns="0" rtlCol="0" anchor="ctr"/>
          <a:lstStyle/>
          <a:p>
            <a:pPr indent="0" marL="0">
              <a:buNone/>
            </a:pPr>
            <a:r>
              <a:rPr lang="en-US" sz="1200" i="1" dirty="0">
                <a:solidFill>
                  <a:srgbClr val="6B7785"/>
                </a:solidFill>
                <a:latin typeface="Calibri" pitchFamily="34" charset="0"/>
                <a:ea typeface="Calibri" pitchFamily="34" charset="-122"/>
                <a:cs typeface="Calibri" pitchFamily="34" charset="-120"/>
              </a:rPr>
              <a:t>Group-level classroom view</a:t>
            </a:r>
            <a:endParaRPr lang="en-US" sz="1200" dirty="0"/>
          </a:p>
        </p:txBody>
      </p:sp>
      <p:sp>
        <p:nvSpPr>
          <p:cNvPr id="13" name="Shape 11"/>
          <p:cNvSpPr/>
          <p:nvPr/>
        </p:nvSpPr>
        <p:spPr>
          <a:xfrm>
            <a:off x="8458200" y="2651760"/>
            <a:ext cx="219456" cy="182880"/>
          </a:xfrm>
          <a:prstGeom prst="downArrow">
            <a:avLst/>
          </a:prstGeom>
          <a:solidFill>
            <a:srgbClr val="0B2545"/>
          </a:solidFill>
          <a:ln/>
        </p:spPr>
      </p:sp>
      <p:sp>
        <p:nvSpPr>
          <p:cNvPr id="14" name="Text 12"/>
          <p:cNvSpPr/>
          <p:nvPr/>
        </p:nvSpPr>
        <p:spPr>
          <a:xfrm>
            <a:off x="6675120" y="2926080"/>
            <a:ext cx="4297680" cy="640080"/>
          </a:xfrm>
          <a:prstGeom prst="rect">
            <a:avLst/>
          </a:prstGeom>
          <a:noFill/>
          <a:ln/>
        </p:spPr>
        <p:txBody>
          <a:bodyPr wrap="square" lIns="0" tIns="0" rIns="0" bIns="0" rtlCol="0" anchor="ctr"/>
          <a:lstStyle/>
          <a:p>
            <a:pPr indent="0" marL="0">
              <a:lnSpc>
                <a:spcPts val="1600"/>
              </a:lnSpc>
              <a:buNone/>
            </a:pPr>
            <a:r>
              <a:rPr lang="en-US" sz="1300" b="1" dirty="0">
                <a:solidFill>
                  <a:srgbClr val="0B2545"/>
                </a:solidFill>
                <a:latin typeface="Calibri" pitchFamily="34" charset="0"/>
                <a:ea typeface="Calibri" pitchFamily="34" charset="-122"/>
                <a:cs typeface="Calibri" pitchFamily="34" charset="-120"/>
              </a:rPr>
              <a:t>Multi-person spatial representation</a:t>
            </a:r>
            <a:endParaRPr lang="en-US" sz="1300" dirty="0"/>
          </a:p>
        </p:txBody>
      </p:sp>
      <p:sp>
        <p:nvSpPr>
          <p:cNvPr id="15" name="Shape 13"/>
          <p:cNvSpPr/>
          <p:nvPr/>
        </p:nvSpPr>
        <p:spPr>
          <a:xfrm>
            <a:off x="548640" y="4023360"/>
            <a:ext cx="11064240" cy="1371600"/>
          </a:xfrm>
          <a:prstGeom prst="roundRect">
            <a:avLst>
              <a:gd name="adj" fmla="val 6667"/>
            </a:avLst>
          </a:prstGeom>
          <a:solidFill>
            <a:srgbClr val="FBEAE8"/>
          </a:solidFill>
          <a:ln w="12700">
            <a:solidFill>
              <a:srgbClr val="C0392B"/>
            </a:solidFill>
            <a:prstDash val="solid"/>
          </a:ln>
        </p:spPr>
      </p:sp>
      <p:sp>
        <p:nvSpPr>
          <p:cNvPr id="16" name="Text 14"/>
          <p:cNvSpPr/>
          <p:nvPr/>
        </p:nvSpPr>
        <p:spPr>
          <a:xfrm>
            <a:off x="914400" y="4160520"/>
            <a:ext cx="10332720" cy="457200"/>
          </a:xfrm>
          <a:prstGeom prst="rect">
            <a:avLst/>
          </a:prstGeom>
          <a:noFill/>
          <a:ln/>
        </p:spPr>
        <p:txBody>
          <a:bodyPr wrap="square" lIns="0" tIns="0" rIns="0" bIns="0" rtlCol="0" anchor="ctr"/>
          <a:lstStyle/>
          <a:p>
            <a:pPr indent="0" marL="0">
              <a:buNone/>
            </a:pPr>
            <a:r>
              <a:rPr lang="en-US" sz="1500" b="1" dirty="0">
                <a:solidFill>
                  <a:srgbClr val="C0392B"/>
                </a:solidFill>
                <a:latin typeface="Cambria" pitchFamily="34" charset="0"/>
                <a:ea typeface="Cambria" pitchFamily="34" charset="-122"/>
                <a:cs typeface="Cambria" pitchFamily="34" charset="-120"/>
              </a:rPr>
              <a:t>COLER → OUC:  Model struggles with multiple people, clutter, and a different spatial context</a:t>
            </a:r>
            <a:endParaRPr lang="en-US" sz="1500" dirty="0"/>
          </a:p>
        </p:txBody>
      </p:sp>
      <p:sp>
        <p:nvSpPr>
          <p:cNvPr id="17" name="Text 15"/>
          <p:cNvSpPr/>
          <p:nvPr/>
        </p:nvSpPr>
        <p:spPr>
          <a:xfrm>
            <a:off x="914400" y="4617720"/>
            <a:ext cx="10332720" cy="548640"/>
          </a:xfrm>
          <a:prstGeom prst="rect">
            <a:avLst/>
          </a:prstGeom>
          <a:noFill/>
          <a:ln/>
        </p:spPr>
        <p:txBody>
          <a:bodyPr wrap="square" lIns="0" tIns="0" rIns="0" bIns="0" rtlCol="0" anchor="ctr"/>
          <a:lstStyle/>
          <a:p>
            <a:pPr indent="0" marL="0">
              <a:buNone/>
            </a:pPr>
            <a:r>
              <a:rPr lang="en-US" sz="1800" b="1" dirty="0">
                <a:solidFill>
                  <a:srgbClr val="C0392B"/>
                </a:solidFill>
                <a:latin typeface="Cambria" pitchFamily="34" charset="0"/>
                <a:ea typeface="Cambria" pitchFamily="34" charset="-122"/>
                <a:cs typeface="Cambria" pitchFamily="34" charset="-120"/>
              </a:rPr>
              <a:t>Low accuracy = 0%    </a:t>
            </a:r>
            <a:pPr indent="0" marL="0">
              <a:buNone/>
            </a:pPr>
            <a:r>
              <a:rPr lang="en-US" sz="1800" b="1" dirty="0">
                <a:solidFill>
                  <a:srgbClr val="C0392B"/>
                </a:solidFill>
                <a:latin typeface="Cambria" pitchFamily="34" charset="0"/>
                <a:ea typeface="Cambria" pitchFamily="34" charset="-122"/>
                <a:cs typeface="Cambria" pitchFamily="34" charset="-120"/>
              </a:rPr>
              <a:t>Mid accuracy = 2.94%</a:t>
            </a:r>
            <a:endParaRPr lang="en-US" sz="1800" dirty="0"/>
          </a:p>
        </p:txBody>
      </p:sp>
      <p:sp>
        <p:nvSpPr>
          <p:cNvPr id="18" name="Text 16"/>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SCIENTIFIC INFERENCE 3</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Annotation Criteria May Differ Across Datasets</a:t>
            </a:r>
            <a:endParaRPr lang="en-US" sz="2500" dirty="0"/>
          </a:p>
        </p:txBody>
      </p:sp>
      <p:sp>
        <p:nvSpPr>
          <p:cNvPr id="4" name="Shape 2"/>
          <p:cNvSpPr/>
          <p:nvPr/>
        </p:nvSpPr>
        <p:spPr>
          <a:xfrm>
            <a:off x="548640" y="1600200"/>
            <a:ext cx="11064240" cy="960120"/>
          </a:xfrm>
          <a:prstGeom prst="roundRect">
            <a:avLst>
              <a:gd name="adj" fmla="val 9524"/>
            </a:avLst>
          </a:prstGeom>
          <a:solidFill>
            <a:srgbClr val="C0392B"/>
          </a:solidFill>
          <a:ln/>
        </p:spPr>
      </p:sp>
      <p:sp>
        <p:nvSpPr>
          <p:cNvPr id="5" name="Text 3"/>
          <p:cNvSpPr/>
          <p:nvPr/>
        </p:nvSpPr>
        <p:spPr>
          <a:xfrm>
            <a:off x="914400" y="1600200"/>
            <a:ext cx="2194560" cy="9601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0 / 461</a:t>
            </a:r>
            <a:endParaRPr lang="en-US" sz="3400" dirty="0"/>
          </a:p>
        </p:txBody>
      </p:sp>
      <p:sp>
        <p:nvSpPr>
          <p:cNvPr id="6" name="Text 4"/>
          <p:cNvSpPr/>
          <p:nvPr/>
        </p:nvSpPr>
        <p:spPr>
          <a:xfrm>
            <a:off x="3200400" y="1600200"/>
            <a:ext cx="8138160" cy="960120"/>
          </a:xfrm>
          <a:prstGeom prst="rect">
            <a:avLst/>
          </a:prstGeom>
          <a:noFill/>
          <a:ln/>
        </p:spPr>
        <p:txBody>
          <a:bodyPr wrap="square" lIns="0" tIns="0" rIns="0" bIns="0" rtlCol="0" anchor="ctr"/>
          <a:lstStyle/>
          <a:p>
            <a:pPr indent="0" marL="0">
              <a:lnSpc>
                <a:spcPts val="1800"/>
              </a:lnSpc>
              <a:buNone/>
            </a:pPr>
            <a:r>
              <a:rPr lang="en-US" sz="1450" dirty="0">
                <a:solidFill>
                  <a:srgbClr val="FFE3DE"/>
                </a:solidFill>
                <a:latin typeface="Calibri" pitchFamily="34" charset="0"/>
                <a:ea typeface="Calibri" pitchFamily="34" charset="-122"/>
                <a:cs typeface="Calibri" pitchFamily="34" charset="-120"/>
              </a:rPr>
              <a:t>OUC-trained model correctly recognized COLER “High” engagement samples</a:t>
            </a:r>
            <a:endParaRPr lang="en-US" sz="1450" dirty="0"/>
          </a:p>
        </p:txBody>
      </p:sp>
      <p:sp>
        <p:nvSpPr>
          <p:cNvPr id="7" name="Text 5"/>
          <p:cNvSpPr/>
          <p:nvPr/>
        </p:nvSpPr>
        <p:spPr>
          <a:xfrm>
            <a:off x="548640" y="2743200"/>
            <a:ext cx="11064240" cy="365760"/>
          </a:xfrm>
          <a:prstGeom prst="rect">
            <a:avLst/>
          </a:prstGeom>
          <a:noFill/>
          <a:ln/>
        </p:spPr>
        <p:txBody>
          <a:bodyPr wrap="square" lIns="0" tIns="0" rIns="0" bIns="0" rtlCol="0" anchor="ctr"/>
          <a:lstStyle/>
          <a:p>
            <a:pPr indent="0" marL="0">
              <a:buNone/>
            </a:pPr>
            <a:r>
              <a:rPr lang="en-US" sz="1300" i="1" dirty="0">
                <a:solidFill>
                  <a:srgbClr val="6B7785"/>
                </a:solidFill>
                <a:latin typeface="Calibri" pitchFamily="34" charset="0"/>
                <a:ea typeface="Calibri" pitchFamily="34" charset="-122"/>
                <a:cs typeface="Calibri" pitchFamily="34" charset="-120"/>
              </a:rPr>
              <a:t>The report interprets this as evidence consistent with annotation-criteria drift between the two datasets:</a:t>
            </a:r>
            <a:endParaRPr lang="en-US" sz="1300" dirty="0"/>
          </a:p>
        </p:txBody>
      </p:sp>
      <p:sp>
        <p:nvSpPr>
          <p:cNvPr id="8" name="Shape 6"/>
          <p:cNvSpPr/>
          <p:nvPr/>
        </p:nvSpPr>
        <p:spPr>
          <a:xfrm>
            <a:off x="548640" y="3246120"/>
            <a:ext cx="5212080" cy="1965960"/>
          </a:xfrm>
          <a:prstGeom prst="roundRect">
            <a:avLst>
              <a:gd name="adj" fmla="val 4651"/>
            </a:avLst>
          </a:prstGeom>
          <a:solidFill>
            <a:srgbClr val="EEF3F8"/>
          </a:solidFill>
          <a:ln/>
        </p:spPr>
      </p:sp>
      <p:sp>
        <p:nvSpPr>
          <p:cNvPr id="9" name="Text 7"/>
          <p:cNvSpPr/>
          <p:nvPr/>
        </p:nvSpPr>
        <p:spPr>
          <a:xfrm>
            <a:off x="822960" y="3447288"/>
            <a:ext cx="4663440" cy="365760"/>
          </a:xfrm>
          <a:prstGeom prst="rect">
            <a:avLst/>
          </a:prstGeom>
          <a:noFill/>
          <a:ln/>
        </p:spPr>
        <p:txBody>
          <a:bodyPr wrap="square" lIns="0" tIns="0" rIns="0" bIns="0" rtlCol="0" anchor="ctr"/>
          <a:lstStyle/>
          <a:p>
            <a:pPr indent="0" marL="0">
              <a:buNone/>
            </a:pPr>
            <a:r>
              <a:rPr lang="en-US" sz="1100" b="1" spc="50" kern="0" dirty="0">
                <a:solidFill>
                  <a:srgbClr val="0B2545"/>
                </a:solidFill>
                <a:latin typeface="Calibri" pitchFamily="34" charset="0"/>
                <a:ea typeface="Calibri" pitchFamily="34" charset="-122"/>
                <a:cs typeface="Calibri" pitchFamily="34" charset="-120"/>
              </a:rPr>
              <a:t>OUC-CGE INTERPRETATION OF “HIGH”</a:t>
            </a:r>
            <a:endParaRPr lang="en-US" sz="1100" dirty="0"/>
          </a:p>
        </p:txBody>
      </p:sp>
      <p:sp>
        <p:nvSpPr>
          <p:cNvPr id="10" name="Shape 8"/>
          <p:cNvSpPr/>
          <p:nvPr/>
        </p:nvSpPr>
        <p:spPr>
          <a:xfrm>
            <a:off x="2313432" y="3977640"/>
            <a:ext cx="219456" cy="182880"/>
          </a:xfrm>
          <a:prstGeom prst="downArrow">
            <a:avLst/>
          </a:prstGeom>
          <a:solidFill>
            <a:srgbClr val="0B2545"/>
          </a:solidFill>
          <a:ln/>
        </p:spPr>
      </p:sp>
      <p:sp>
        <p:nvSpPr>
          <p:cNvPr id="11" name="Text 9"/>
          <p:cNvSpPr/>
          <p:nvPr/>
        </p:nvSpPr>
        <p:spPr>
          <a:xfrm>
            <a:off x="822960" y="4251960"/>
            <a:ext cx="4663440" cy="777240"/>
          </a:xfrm>
          <a:prstGeom prst="rect">
            <a:avLst/>
          </a:prstGeom>
          <a:noFill/>
          <a:ln/>
        </p:spPr>
        <p:txBody>
          <a:bodyPr wrap="square" lIns="0" tIns="0" rIns="0" bIns="0" rtlCol="0" anchor="ctr"/>
          <a:lstStyle/>
          <a:p>
            <a:pPr algn="ctr" indent="0" marL="0">
              <a:lnSpc>
                <a:spcPts val="2000"/>
              </a:lnSpc>
              <a:buNone/>
            </a:pPr>
            <a:r>
              <a:rPr lang="en-US" sz="1600" b="1" dirty="0">
                <a:solidFill>
                  <a:srgbClr val="0B2545"/>
                </a:solidFill>
                <a:latin typeface="Cambria" pitchFamily="34" charset="0"/>
                <a:ea typeface="Cambria" pitchFamily="34" charset="-122"/>
                <a:cs typeface="Cambria" pitchFamily="34" charset="-120"/>
              </a:rPr>
              <a:t>Intense forward leaning /</a:t>
            </a:r>
            <a:endParaRPr lang="en-US" sz="1600" dirty="0"/>
          </a:p>
          <a:p>
            <a:pPr algn="ctr" indent="0" marL="0">
              <a:lnSpc>
                <a:spcPts val="2000"/>
              </a:lnSpc>
              <a:buNone/>
            </a:pPr>
            <a:r>
              <a:rPr lang="en-US" sz="1600" b="1" dirty="0">
                <a:solidFill>
                  <a:srgbClr val="0B2545"/>
                </a:solidFill>
                <a:latin typeface="Cambria" pitchFamily="34" charset="0"/>
                <a:ea typeface="Cambria" pitchFamily="34" charset="-122"/>
                <a:cs typeface="Cambria" pitchFamily="34" charset="-120"/>
              </a:rPr>
              <a:t>hand-raising</a:t>
            </a:r>
            <a:endParaRPr lang="en-US" sz="1600" dirty="0"/>
          </a:p>
        </p:txBody>
      </p:sp>
      <p:sp>
        <p:nvSpPr>
          <p:cNvPr id="12" name="Shape 10"/>
          <p:cNvSpPr/>
          <p:nvPr/>
        </p:nvSpPr>
        <p:spPr>
          <a:xfrm>
            <a:off x="6217920" y="3246120"/>
            <a:ext cx="5212080" cy="1965960"/>
          </a:xfrm>
          <a:prstGeom prst="roundRect">
            <a:avLst>
              <a:gd name="adj" fmla="val 4651"/>
            </a:avLst>
          </a:prstGeom>
          <a:solidFill>
            <a:srgbClr val="F4F6F8"/>
          </a:solidFill>
          <a:ln w="12700">
            <a:solidFill>
              <a:srgbClr val="2C6E9E"/>
            </a:solidFill>
            <a:prstDash val="solid"/>
          </a:ln>
        </p:spPr>
      </p:sp>
      <p:sp>
        <p:nvSpPr>
          <p:cNvPr id="13" name="Text 11"/>
          <p:cNvSpPr/>
          <p:nvPr/>
        </p:nvSpPr>
        <p:spPr>
          <a:xfrm>
            <a:off x="6492240" y="3447288"/>
            <a:ext cx="4663440" cy="365760"/>
          </a:xfrm>
          <a:prstGeom prst="rect">
            <a:avLst/>
          </a:prstGeom>
          <a:noFill/>
          <a:ln/>
        </p:spPr>
        <p:txBody>
          <a:bodyPr wrap="square" lIns="0" tIns="0" rIns="0" bIns="0" rtlCol="0" anchor="ctr"/>
          <a:lstStyle/>
          <a:p>
            <a:pPr indent="0" marL="0">
              <a:buNone/>
            </a:pPr>
            <a:r>
              <a:rPr lang="en-US" sz="1100" b="1" spc="50" kern="0" dirty="0">
                <a:solidFill>
                  <a:srgbClr val="2C6E9E"/>
                </a:solidFill>
                <a:latin typeface="Calibri" pitchFamily="34" charset="0"/>
                <a:ea typeface="Calibri" pitchFamily="34" charset="-122"/>
                <a:cs typeface="Calibri" pitchFamily="34" charset="-120"/>
              </a:rPr>
              <a:t>COLER INTERPRETATION OF “HIGH”</a:t>
            </a:r>
            <a:endParaRPr lang="en-US" sz="1100" dirty="0"/>
          </a:p>
        </p:txBody>
      </p:sp>
      <p:sp>
        <p:nvSpPr>
          <p:cNvPr id="14" name="Shape 12"/>
          <p:cNvSpPr/>
          <p:nvPr/>
        </p:nvSpPr>
        <p:spPr>
          <a:xfrm>
            <a:off x="7982712" y="3977640"/>
            <a:ext cx="219456" cy="182880"/>
          </a:xfrm>
          <a:prstGeom prst="downArrow">
            <a:avLst/>
          </a:prstGeom>
          <a:solidFill>
            <a:srgbClr val="2C6E9E"/>
          </a:solidFill>
          <a:ln/>
        </p:spPr>
      </p:sp>
      <p:sp>
        <p:nvSpPr>
          <p:cNvPr id="15" name="Text 13"/>
          <p:cNvSpPr/>
          <p:nvPr/>
        </p:nvSpPr>
        <p:spPr>
          <a:xfrm>
            <a:off x="6492240" y="4251960"/>
            <a:ext cx="4663440" cy="777240"/>
          </a:xfrm>
          <a:prstGeom prst="rect">
            <a:avLst/>
          </a:prstGeom>
          <a:noFill/>
          <a:ln/>
        </p:spPr>
        <p:txBody>
          <a:bodyPr wrap="square" lIns="0" tIns="0" rIns="0" bIns="0" rtlCol="0" anchor="ctr"/>
          <a:lstStyle/>
          <a:p>
            <a:pPr algn="ctr" indent="0" marL="0">
              <a:lnSpc>
                <a:spcPts val="2000"/>
              </a:lnSpc>
              <a:buNone/>
            </a:pPr>
            <a:r>
              <a:rPr lang="en-US" sz="1600" b="1" dirty="0">
                <a:solidFill>
                  <a:srgbClr val="2C6E9E"/>
                </a:solidFill>
                <a:latin typeface="Cambria" pitchFamily="34" charset="0"/>
                <a:ea typeface="Cambria" pitchFamily="34" charset="-122"/>
                <a:cs typeface="Cambria" pitchFamily="34" charset="-120"/>
              </a:rPr>
              <a:t>Calm, attentive posture</a:t>
            </a:r>
            <a:endParaRPr lang="en-US" sz="1600" dirty="0"/>
          </a:p>
        </p:txBody>
      </p:sp>
      <p:sp>
        <p:nvSpPr>
          <p:cNvPr id="16" name="Text 14"/>
          <p:cNvSpPr/>
          <p:nvPr/>
        </p:nvSpPr>
        <p:spPr>
          <a:xfrm>
            <a:off x="548640" y="5349240"/>
            <a:ext cx="11064240" cy="365760"/>
          </a:xfrm>
          <a:prstGeom prst="rect">
            <a:avLst/>
          </a:prstGeom>
          <a:noFill/>
          <a:ln/>
        </p:spPr>
        <p:txBody>
          <a:bodyPr wrap="square" lIns="0" tIns="0" rIns="0" bIns="0" rtlCol="0" anchor="ctr"/>
          <a:lstStyle/>
          <a:p>
            <a:pPr indent="0" marL="0">
              <a:buNone/>
            </a:pPr>
            <a:r>
              <a:rPr lang="en-US" sz="1100" i="1" dirty="0">
                <a:solidFill>
                  <a:srgbClr val="6B7785"/>
                </a:solidFill>
                <a:latin typeface="Calibri" pitchFamily="34" charset="0"/>
                <a:ea typeface="Calibri" pitchFamily="34" charset="-122"/>
                <a:cs typeface="Calibri" pitchFamily="34" charset="-120"/>
              </a:rPr>
              <a:t>Evidence suggests this drift, but it has not been independently verified as ground truth by this study.</a:t>
            </a:r>
            <a:endParaRPr lang="en-US" sz="1100" dirty="0"/>
          </a:p>
        </p:txBody>
      </p:sp>
      <p:sp>
        <p:nvSpPr>
          <p:cNvPr id="17" name="Text 15"/>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7FAFD4"/>
                </a:solidFill>
                <a:latin typeface="Calibri" pitchFamily="34" charset="0"/>
                <a:ea typeface="Calibri" pitchFamily="34" charset="-122"/>
                <a:cs typeface="Calibri" pitchFamily="34" charset="-120"/>
              </a:rPr>
              <a:t>CORE CONCLUSION</a:t>
            </a:r>
            <a:endParaRPr lang="en-US" sz="1200" dirty="0"/>
          </a:p>
        </p:txBody>
      </p:sp>
      <p:sp>
        <p:nvSpPr>
          <p:cNvPr id="3" name="Text 1"/>
          <p:cNvSpPr/>
          <p:nvPr/>
        </p:nvSpPr>
        <p:spPr>
          <a:xfrm>
            <a:off x="548640" y="384048"/>
            <a:ext cx="11094415" cy="914400"/>
          </a:xfrm>
          <a:prstGeom prst="rect">
            <a:avLst/>
          </a:prstGeom>
          <a:noFill/>
          <a:ln/>
        </p:spPr>
        <p:txBody>
          <a:bodyPr wrap="square" lIns="0" tIns="0" rIns="0" bIns="0" rtlCol="0" anchor="ctr"/>
          <a:lstStyle/>
          <a:p>
            <a:pPr indent="0" marL="0">
              <a:lnSpc>
                <a:spcPts val="2700"/>
              </a:lnSpc>
              <a:buNone/>
            </a:pPr>
            <a:r>
              <a:rPr lang="en-US" sz="2400" b="1" dirty="0">
                <a:solidFill>
                  <a:srgbClr val="FFFFFF"/>
                </a:solidFill>
                <a:latin typeface="Cambria" pitchFamily="34" charset="0"/>
                <a:ea typeface="Cambria" pitchFamily="34" charset="-122"/>
                <a:cs typeface="Cambria" pitchFamily="34" charset="-120"/>
              </a:rPr>
              <a:t>Experiment A Validates the Core Domain-Shift Hypothesis</a:t>
            </a:r>
            <a:endParaRPr lang="en-US" sz="2400" dirty="0"/>
          </a:p>
        </p:txBody>
      </p:sp>
      <p:sp>
        <p:nvSpPr>
          <p:cNvPr id="4" name="Shape 2"/>
          <p:cNvSpPr/>
          <p:nvPr/>
        </p:nvSpPr>
        <p:spPr>
          <a:xfrm>
            <a:off x="2011680" y="1508760"/>
            <a:ext cx="8138160" cy="621792"/>
          </a:xfrm>
          <a:prstGeom prst="roundRect">
            <a:avLst>
              <a:gd name="adj" fmla="val 50000"/>
            </a:avLst>
          </a:prstGeom>
          <a:solidFill>
            <a:srgbClr val="2C6E9E"/>
          </a:solidFill>
          <a:ln/>
        </p:spPr>
      </p:sp>
      <p:sp>
        <p:nvSpPr>
          <p:cNvPr id="5" name="Text 3"/>
          <p:cNvSpPr/>
          <p:nvPr/>
        </p:nvSpPr>
        <p:spPr>
          <a:xfrm>
            <a:off x="2011680" y="1508760"/>
            <a:ext cx="8138160" cy="62179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HIGH IN-DOMAIN ACCURACY</a:t>
            </a:r>
            <a:endParaRPr lang="en-US" sz="1350" dirty="0"/>
          </a:p>
        </p:txBody>
      </p:sp>
      <p:sp>
        <p:nvSpPr>
          <p:cNvPr id="6" name="Shape 4"/>
          <p:cNvSpPr/>
          <p:nvPr/>
        </p:nvSpPr>
        <p:spPr>
          <a:xfrm>
            <a:off x="5986120" y="2157984"/>
            <a:ext cx="219456" cy="182880"/>
          </a:xfrm>
          <a:prstGeom prst="downArrow">
            <a:avLst/>
          </a:prstGeom>
          <a:solidFill>
            <a:srgbClr val="7FAFD4"/>
          </a:solidFill>
          <a:ln/>
        </p:spPr>
      </p:sp>
      <p:sp>
        <p:nvSpPr>
          <p:cNvPr id="7" name="Shape 5"/>
          <p:cNvSpPr/>
          <p:nvPr/>
        </p:nvSpPr>
        <p:spPr>
          <a:xfrm>
            <a:off x="2011680" y="2423160"/>
            <a:ext cx="8138160" cy="621792"/>
          </a:xfrm>
          <a:prstGeom prst="roundRect">
            <a:avLst>
              <a:gd name="adj" fmla="val 50000"/>
            </a:avLst>
          </a:prstGeom>
          <a:solidFill>
            <a:srgbClr val="C0392B"/>
          </a:solidFill>
          <a:ln/>
        </p:spPr>
      </p:sp>
      <p:sp>
        <p:nvSpPr>
          <p:cNvPr id="8" name="Text 6"/>
          <p:cNvSpPr/>
          <p:nvPr/>
        </p:nvSpPr>
        <p:spPr>
          <a:xfrm>
            <a:off x="2011680" y="2423160"/>
            <a:ext cx="8138160" cy="62179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LOW ZERO-SHOT TRANSFER</a:t>
            </a:r>
            <a:endParaRPr lang="en-US" sz="1350" dirty="0"/>
          </a:p>
        </p:txBody>
      </p:sp>
      <p:sp>
        <p:nvSpPr>
          <p:cNvPr id="9" name="Shape 7"/>
          <p:cNvSpPr/>
          <p:nvPr/>
        </p:nvSpPr>
        <p:spPr>
          <a:xfrm>
            <a:off x="5986120" y="3072384"/>
            <a:ext cx="219456" cy="182880"/>
          </a:xfrm>
          <a:prstGeom prst="downArrow">
            <a:avLst/>
          </a:prstGeom>
          <a:solidFill>
            <a:srgbClr val="7FAFD4"/>
          </a:solidFill>
          <a:ln/>
        </p:spPr>
      </p:sp>
      <p:sp>
        <p:nvSpPr>
          <p:cNvPr id="10" name="Shape 8"/>
          <p:cNvSpPr/>
          <p:nvPr/>
        </p:nvSpPr>
        <p:spPr>
          <a:xfrm>
            <a:off x="2011680" y="3337560"/>
            <a:ext cx="8138160" cy="621792"/>
          </a:xfrm>
          <a:prstGeom prst="roundRect">
            <a:avLst>
              <a:gd name="adj" fmla="val 50000"/>
            </a:avLst>
          </a:prstGeom>
          <a:solidFill>
            <a:srgbClr val="C0392B"/>
          </a:solidFill>
          <a:ln/>
        </p:spPr>
      </p:sp>
      <p:sp>
        <p:nvSpPr>
          <p:cNvPr id="11" name="Text 9"/>
          <p:cNvSpPr/>
          <p:nvPr/>
        </p:nvSpPr>
        <p:spPr>
          <a:xfrm>
            <a:off x="2011680" y="3337560"/>
            <a:ext cx="8138160" cy="62179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DOMAIN SHIFT</a:t>
            </a:r>
            <a:endParaRPr lang="en-US" sz="1350" dirty="0"/>
          </a:p>
        </p:txBody>
      </p:sp>
      <p:sp>
        <p:nvSpPr>
          <p:cNvPr id="12" name="Shape 10"/>
          <p:cNvSpPr/>
          <p:nvPr/>
        </p:nvSpPr>
        <p:spPr>
          <a:xfrm>
            <a:off x="5986120" y="3986784"/>
            <a:ext cx="219456" cy="182880"/>
          </a:xfrm>
          <a:prstGeom prst="downArrow">
            <a:avLst/>
          </a:prstGeom>
          <a:solidFill>
            <a:srgbClr val="7FAFD4"/>
          </a:solidFill>
          <a:ln/>
        </p:spPr>
      </p:sp>
      <p:sp>
        <p:nvSpPr>
          <p:cNvPr id="13" name="Shape 11"/>
          <p:cNvSpPr/>
          <p:nvPr/>
        </p:nvSpPr>
        <p:spPr>
          <a:xfrm>
            <a:off x="2011680" y="4251960"/>
            <a:ext cx="8138160" cy="621792"/>
          </a:xfrm>
          <a:prstGeom prst="roundRect">
            <a:avLst>
              <a:gd name="adj" fmla="val 50000"/>
            </a:avLst>
          </a:prstGeom>
          <a:solidFill>
            <a:srgbClr val="C0392B"/>
          </a:solidFill>
          <a:ln/>
        </p:spPr>
      </p:sp>
      <p:sp>
        <p:nvSpPr>
          <p:cNvPr id="14" name="Text 12"/>
          <p:cNvSpPr/>
          <p:nvPr/>
        </p:nvSpPr>
        <p:spPr>
          <a:xfrm>
            <a:off x="2011680" y="4251960"/>
            <a:ext cx="8138160" cy="62179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VISUAL GRANULARITY MISMATCH  +  POTENTIAL ANNOTATION DRIFT</a:t>
            </a:r>
            <a:endParaRPr lang="en-US" sz="1350" dirty="0"/>
          </a:p>
        </p:txBody>
      </p:sp>
      <p:sp>
        <p:nvSpPr>
          <p:cNvPr id="15" name="Shape 13"/>
          <p:cNvSpPr/>
          <p:nvPr/>
        </p:nvSpPr>
        <p:spPr>
          <a:xfrm>
            <a:off x="5986120" y="5010912"/>
            <a:ext cx="219456" cy="182880"/>
          </a:xfrm>
          <a:prstGeom prst="downArrow">
            <a:avLst/>
          </a:prstGeom>
          <a:solidFill>
            <a:srgbClr val="7FAFD4"/>
          </a:solidFill>
          <a:ln/>
        </p:spPr>
      </p:sp>
      <p:sp>
        <p:nvSpPr>
          <p:cNvPr id="16" name="Shape 14"/>
          <p:cNvSpPr/>
          <p:nvPr/>
        </p:nvSpPr>
        <p:spPr>
          <a:xfrm>
            <a:off x="1280160" y="5303520"/>
            <a:ext cx="9601200" cy="868680"/>
          </a:xfrm>
          <a:prstGeom prst="roundRect">
            <a:avLst>
              <a:gd name="adj" fmla="val 10526"/>
            </a:avLst>
          </a:prstGeom>
          <a:solidFill>
            <a:srgbClr val="FFFFFF"/>
          </a:solidFill>
          <a:ln/>
        </p:spPr>
      </p:sp>
      <p:sp>
        <p:nvSpPr>
          <p:cNvPr id="17" name="Text 15"/>
          <p:cNvSpPr/>
          <p:nvPr/>
        </p:nvSpPr>
        <p:spPr>
          <a:xfrm>
            <a:off x="1280160" y="5303520"/>
            <a:ext cx="9601200" cy="868680"/>
          </a:xfrm>
          <a:prstGeom prst="rect">
            <a:avLst/>
          </a:prstGeom>
          <a:noFill/>
          <a:ln/>
        </p:spPr>
        <p:txBody>
          <a:bodyPr wrap="square" lIns="0" tIns="0" rIns="0" bIns="0" rtlCol="0" anchor="ctr"/>
          <a:lstStyle/>
          <a:p>
            <a:pPr algn="ctr" indent="0" marL="0">
              <a:lnSpc>
                <a:spcPts val="2000"/>
              </a:lnSpc>
              <a:buNone/>
            </a:pPr>
            <a:r>
              <a:rPr lang="en-US" sz="1700" b="1" dirty="0">
                <a:solidFill>
                  <a:srgbClr val="0B2545"/>
                </a:solidFill>
                <a:latin typeface="Cambria" pitchFamily="34" charset="0"/>
                <a:ea typeface="Cambria" pitchFamily="34" charset="-122"/>
                <a:cs typeface="Cambria" pitchFamily="34" charset="-120"/>
              </a:rPr>
              <a:t>SINGLE-DATASET MODELS ARE NOT ROBUST</a:t>
            </a:r>
            <a:endParaRPr lang="en-US" sz="1700" dirty="0"/>
          </a:p>
          <a:p>
            <a:pPr algn="ctr" indent="0" marL="0">
              <a:lnSpc>
                <a:spcPts val="2000"/>
              </a:lnSpc>
              <a:buNone/>
            </a:pPr>
            <a:r>
              <a:rPr lang="en-US" sz="1700" b="1" dirty="0">
                <a:solidFill>
                  <a:srgbClr val="0B2545"/>
                </a:solidFill>
                <a:latin typeface="Cambria" pitchFamily="34" charset="0"/>
                <a:ea typeface="Cambria" pitchFamily="34" charset="-122"/>
                <a:cs typeface="Cambria" pitchFamily="34" charset="-120"/>
              </a:rPr>
              <a:t>ACROSS CLASSROOM DOMAINS</a:t>
            </a:r>
            <a:endParaRPr lang="en-US" sz="1700" dirty="0"/>
          </a:p>
        </p:txBody>
      </p:sp>
      <p:sp>
        <p:nvSpPr>
          <p:cNvPr id="18" name="Text 16"/>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LOOKING AHEAD</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Experiment A Directly Motivates Experiments B &amp; C</a:t>
            </a:r>
            <a:endParaRPr lang="en-US" sz="2500" dirty="0"/>
          </a:p>
        </p:txBody>
      </p:sp>
      <p:sp>
        <p:nvSpPr>
          <p:cNvPr id="4" name="Shape 2"/>
          <p:cNvSpPr/>
          <p:nvPr/>
        </p:nvSpPr>
        <p:spPr>
          <a:xfrm>
            <a:off x="548640" y="1691640"/>
            <a:ext cx="5257800" cy="4114800"/>
          </a:xfrm>
          <a:prstGeom prst="roundRect">
            <a:avLst>
              <a:gd name="adj" fmla="val 2667"/>
            </a:avLst>
          </a:prstGeom>
          <a:solidFill>
            <a:srgbClr val="F4F6F8"/>
          </a:solidFill>
          <a:ln w="19050">
            <a:solidFill>
              <a:srgbClr val="2C6E9E"/>
            </a:solidFill>
            <a:prstDash val="solid"/>
          </a:ln>
        </p:spPr>
      </p:sp>
      <p:sp>
        <p:nvSpPr>
          <p:cNvPr id="5" name="Shape 3"/>
          <p:cNvSpPr/>
          <p:nvPr/>
        </p:nvSpPr>
        <p:spPr>
          <a:xfrm>
            <a:off x="822960" y="1965960"/>
            <a:ext cx="1737360" cy="411480"/>
          </a:xfrm>
          <a:prstGeom prst="roundRect">
            <a:avLst>
              <a:gd name="adj" fmla="val 48889"/>
            </a:avLst>
          </a:prstGeom>
          <a:solidFill>
            <a:srgbClr val="2C6E9E"/>
          </a:solidFill>
          <a:ln/>
        </p:spPr>
      </p:sp>
      <p:sp>
        <p:nvSpPr>
          <p:cNvPr id="6" name="Text 4"/>
          <p:cNvSpPr/>
          <p:nvPr/>
        </p:nvSpPr>
        <p:spPr>
          <a:xfrm>
            <a:off x="822960" y="1965960"/>
            <a:ext cx="173736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EXPERIMENT B</a:t>
            </a:r>
            <a:endParaRPr lang="en-US" sz="1200" dirty="0"/>
          </a:p>
        </p:txBody>
      </p:sp>
      <p:sp>
        <p:nvSpPr>
          <p:cNvPr id="7" name="Text 5"/>
          <p:cNvSpPr/>
          <p:nvPr/>
        </p:nvSpPr>
        <p:spPr>
          <a:xfrm>
            <a:off x="822960" y="2514600"/>
            <a:ext cx="4709160" cy="685800"/>
          </a:xfrm>
          <a:prstGeom prst="rect">
            <a:avLst/>
          </a:prstGeom>
          <a:noFill/>
          <a:ln/>
        </p:spPr>
        <p:txBody>
          <a:bodyPr wrap="square" lIns="0" tIns="0" rIns="0" bIns="0" rtlCol="0" anchor="ctr"/>
          <a:lstStyle/>
          <a:p>
            <a:pPr indent="0" marL="0">
              <a:lnSpc>
                <a:spcPts val="2200"/>
              </a:lnSpc>
              <a:buNone/>
            </a:pPr>
            <a:r>
              <a:rPr lang="en-US" sz="1900" b="1" dirty="0">
                <a:solidFill>
                  <a:srgbClr val="0B2545"/>
                </a:solidFill>
                <a:latin typeface="Cambria" pitchFamily="34" charset="0"/>
                <a:ea typeface="Cambria" pitchFamily="34" charset="-122"/>
                <a:cs typeface="Cambria" pitchFamily="34" charset="-120"/>
              </a:rPr>
              <a:t>Video-Level Sequence Transfer</a:t>
            </a:r>
            <a:endParaRPr lang="en-US" sz="1900" dirty="0"/>
          </a:p>
        </p:txBody>
      </p:sp>
      <p:sp>
        <p:nvSpPr>
          <p:cNvPr id="8" name="Text 6"/>
          <p:cNvSpPr/>
          <p:nvPr/>
        </p:nvSpPr>
        <p:spPr>
          <a:xfrm>
            <a:off x="822960" y="3291840"/>
            <a:ext cx="4709160" cy="274320"/>
          </a:xfrm>
          <a:prstGeom prst="rect">
            <a:avLst/>
          </a:prstGeom>
          <a:noFill/>
          <a:ln/>
        </p:spPr>
        <p:txBody>
          <a:bodyPr wrap="square" lIns="0" tIns="0" rIns="0" bIns="0" rtlCol="0" anchor="ctr"/>
          <a:lstStyle/>
          <a:p>
            <a:pPr indent="0" marL="0">
              <a:buNone/>
            </a:pPr>
            <a:r>
              <a:rPr lang="en-US" sz="1000" b="1" spc="100" kern="0" dirty="0">
                <a:solidFill>
                  <a:srgbClr val="6B7785"/>
                </a:solidFill>
                <a:latin typeface="Calibri" pitchFamily="34" charset="0"/>
                <a:ea typeface="Calibri" pitchFamily="34" charset="-122"/>
                <a:cs typeface="Calibri" pitchFamily="34" charset="-120"/>
              </a:rPr>
              <a:t>APPROACH</a:t>
            </a:r>
            <a:endParaRPr lang="en-US" sz="1000" dirty="0"/>
          </a:p>
        </p:txBody>
      </p:sp>
      <p:sp>
        <p:nvSpPr>
          <p:cNvPr id="9" name="Shape 7"/>
          <p:cNvSpPr/>
          <p:nvPr/>
        </p:nvSpPr>
        <p:spPr>
          <a:xfrm>
            <a:off x="822960" y="3593592"/>
            <a:ext cx="1554480" cy="457200"/>
          </a:xfrm>
          <a:prstGeom prst="roundRect">
            <a:avLst>
              <a:gd name="adj" fmla="val 12000"/>
            </a:avLst>
          </a:prstGeom>
          <a:solidFill>
            <a:srgbClr val="EEF3F8"/>
          </a:solidFill>
          <a:ln/>
        </p:spPr>
      </p:sp>
      <p:sp>
        <p:nvSpPr>
          <p:cNvPr id="10" name="Text 8"/>
          <p:cNvSpPr/>
          <p:nvPr/>
        </p:nvSpPr>
        <p:spPr>
          <a:xfrm>
            <a:off x="822960" y="3593592"/>
            <a:ext cx="1554480"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SlowFast</a:t>
            </a:r>
            <a:endParaRPr lang="en-US" sz="1100" dirty="0"/>
          </a:p>
        </p:txBody>
      </p:sp>
      <p:sp>
        <p:nvSpPr>
          <p:cNvPr id="11" name="Shape 9"/>
          <p:cNvSpPr/>
          <p:nvPr/>
        </p:nvSpPr>
        <p:spPr>
          <a:xfrm>
            <a:off x="2514600" y="3593592"/>
            <a:ext cx="1554480" cy="457200"/>
          </a:xfrm>
          <a:prstGeom prst="roundRect">
            <a:avLst>
              <a:gd name="adj" fmla="val 12000"/>
            </a:avLst>
          </a:prstGeom>
          <a:solidFill>
            <a:srgbClr val="EEF3F8"/>
          </a:solidFill>
          <a:ln/>
        </p:spPr>
      </p:sp>
      <p:sp>
        <p:nvSpPr>
          <p:cNvPr id="12" name="Text 10"/>
          <p:cNvSpPr/>
          <p:nvPr/>
        </p:nvSpPr>
        <p:spPr>
          <a:xfrm>
            <a:off x="2514600" y="3593592"/>
            <a:ext cx="1554480"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X3D</a:t>
            </a:r>
            <a:endParaRPr lang="en-US" sz="1100" dirty="0"/>
          </a:p>
        </p:txBody>
      </p:sp>
      <p:sp>
        <p:nvSpPr>
          <p:cNvPr id="13" name="Text 11"/>
          <p:cNvSpPr/>
          <p:nvPr/>
        </p:nvSpPr>
        <p:spPr>
          <a:xfrm>
            <a:off x="822960" y="4206240"/>
            <a:ext cx="4709160" cy="274320"/>
          </a:xfrm>
          <a:prstGeom prst="rect">
            <a:avLst/>
          </a:prstGeom>
          <a:noFill/>
          <a:ln/>
        </p:spPr>
        <p:txBody>
          <a:bodyPr wrap="square" lIns="0" tIns="0" rIns="0" bIns="0" rtlCol="0" anchor="ctr"/>
          <a:lstStyle/>
          <a:p>
            <a:pPr indent="0" marL="0">
              <a:buNone/>
            </a:pPr>
            <a:r>
              <a:rPr lang="en-US" sz="1000" b="1" spc="100" kern="0" dirty="0">
                <a:solidFill>
                  <a:srgbClr val="6B7785"/>
                </a:solidFill>
                <a:latin typeface="Calibri" pitchFamily="34" charset="0"/>
                <a:ea typeface="Calibri" pitchFamily="34" charset="-122"/>
                <a:cs typeface="Calibri" pitchFamily="34" charset="-120"/>
              </a:rPr>
              <a:t>MOTIVATION</a:t>
            </a:r>
            <a:endParaRPr lang="en-US" sz="1000" dirty="0"/>
          </a:p>
        </p:txBody>
      </p:sp>
      <p:sp>
        <p:nvSpPr>
          <p:cNvPr id="14" name="Text 12"/>
          <p:cNvSpPr/>
          <p:nvPr/>
        </p:nvSpPr>
        <p:spPr>
          <a:xfrm>
            <a:off x="822960" y="4507992"/>
            <a:ext cx="4709160" cy="1097280"/>
          </a:xfrm>
          <a:prstGeom prst="rect">
            <a:avLst/>
          </a:prstGeom>
          <a:noFill/>
          <a:ln/>
        </p:spPr>
        <p:txBody>
          <a:bodyPr wrap="square" lIns="0" tIns="0" rIns="0" bIns="0" rtlCol="0" anchor="ctr"/>
          <a:lstStyle/>
          <a:p>
            <a:pPr indent="0" marL="0">
              <a:lnSpc>
                <a:spcPts val="1700"/>
              </a:lnSpc>
              <a:buNone/>
            </a:pPr>
            <a:r>
              <a:rPr lang="en-US" sz="1250" dirty="0">
                <a:solidFill>
                  <a:srgbClr val="1E2A38"/>
                </a:solidFill>
                <a:latin typeface="Calibri" pitchFamily="34" charset="0"/>
                <a:ea typeface="Calibri" pitchFamily="34" charset="-122"/>
                <a:cs typeface="Calibri" pitchFamily="34" charset="-120"/>
              </a:rPr>
              <a:t>Capture temporal motion information rather than relying only on individual spatial frames.</a:t>
            </a:r>
            <a:endParaRPr lang="en-US" sz="1250" dirty="0"/>
          </a:p>
        </p:txBody>
      </p:sp>
      <p:sp>
        <p:nvSpPr>
          <p:cNvPr id="15" name="Shape 13"/>
          <p:cNvSpPr/>
          <p:nvPr/>
        </p:nvSpPr>
        <p:spPr>
          <a:xfrm>
            <a:off x="6355080" y="1691640"/>
            <a:ext cx="5257800" cy="4114800"/>
          </a:xfrm>
          <a:prstGeom prst="roundRect">
            <a:avLst>
              <a:gd name="adj" fmla="val 2667"/>
            </a:avLst>
          </a:prstGeom>
          <a:solidFill>
            <a:srgbClr val="F4F6F8"/>
          </a:solidFill>
          <a:ln w="19050">
            <a:solidFill>
              <a:srgbClr val="0B2545"/>
            </a:solidFill>
            <a:prstDash val="solid"/>
          </a:ln>
        </p:spPr>
      </p:sp>
      <p:sp>
        <p:nvSpPr>
          <p:cNvPr id="16" name="Shape 14"/>
          <p:cNvSpPr/>
          <p:nvPr/>
        </p:nvSpPr>
        <p:spPr>
          <a:xfrm>
            <a:off x="6629400" y="1965960"/>
            <a:ext cx="1737360" cy="411480"/>
          </a:xfrm>
          <a:prstGeom prst="roundRect">
            <a:avLst>
              <a:gd name="adj" fmla="val 48889"/>
            </a:avLst>
          </a:prstGeom>
          <a:solidFill>
            <a:srgbClr val="0B2545"/>
          </a:solidFill>
          <a:ln/>
        </p:spPr>
      </p:sp>
      <p:sp>
        <p:nvSpPr>
          <p:cNvPr id="17" name="Text 15"/>
          <p:cNvSpPr/>
          <p:nvPr/>
        </p:nvSpPr>
        <p:spPr>
          <a:xfrm>
            <a:off x="6629400" y="1965960"/>
            <a:ext cx="173736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EXPERIMENT C</a:t>
            </a:r>
            <a:endParaRPr lang="en-US" sz="1200" dirty="0"/>
          </a:p>
        </p:txBody>
      </p:sp>
      <p:sp>
        <p:nvSpPr>
          <p:cNvPr id="18" name="Text 16"/>
          <p:cNvSpPr/>
          <p:nvPr/>
        </p:nvSpPr>
        <p:spPr>
          <a:xfrm>
            <a:off x="6629400" y="2514600"/>
            <a:ext cx="4709160" cy="685800"/>
          </a:xfrm>
          <a:prstGeom prst="rect">
            <a:avLst/>
          </a:prstGeom>
          <a:noFill/>
          <a:ln/>
        </p:spPr>
        <p:txBody>
          <a:bodyPr wrap="square" lIns="0" tIns="0" rIns="0" bIns="0" rtlCol="0" anchor="ctr"/>
          <a:lstStyle/>
          <a:p>
            <a:pPr indent="0" marL="0">
              <a:lnSpc>
                <a:spcPts val="2200"/>
              </a:lnSpc>
              <a:buNone/>
            </a:pPr>
            <a:r>
              <a:rPr lang="en-US" sz="1900" b="1" dirty="0">
                <a:solidFill>
                  <a:srgbClr val="0B2545"/>
                </a:solidFill>
                <a:latin typeface="Cambria" pitchFamily="34" charset="0"/>
                <a:ea typeface="Cambria" pitchFamily="34" charset="-122"/>
                <a:cs typeface="Cambria" pitchFamily="34" charset="-120"/>
              </a:rPr>
              <a:t>Joint Multi-Dataset Training</a:t>
            </a:r>
            <a:endParaRPr lang="en-US" sz="1900" dirty="0"/>
          </a:p>
        </p:txBody>
      </p:sp>
      <p:sp>
        <p:nvSpPr>
          <p:cNvPr id="19" name="Text 17"/>
          <p:cNvSpPr/>
          <p:nvPr/>
        </p:nvSpPr>
        <p:spPr>
          <a:xfrm>
            <a:off x="6629400" y="3291840"/>
            <a:ext cx="4709160" cy="274320"/>
          </a:xfrm>
          <a:prstGeom prst="rect">
            <a:avLst/>
          </a:prstGeom>
          <a:noFill/>
          <a:ln/>
        </p:spPr>
        <p:txBody>
          <a:bodyPr wrap="square" lIns="0" tIns="0" rIns="0" bIns="0" rtlCol="0" anchor="ctr"/>
          <a:lstStyle/>
          <a:p>
            <a:pPr indent="0" marL="0">
              <a:buNone/>
            </a:pPr>
            <a:r>
              <a:rPr lang="en-US" sz="1000" b="1" spc="100" kern="0" dirty="0">
                <a:solidFill>
                  <a:srgbClr val="6B7785"/>
                </a:solidFill>
                <a:latin typeface="Calibri" pitchFamily="34" charset="0"/>
                <a:ea typeface="Calibri" pitchFamily="34" charset="-122"/>
                <a:cs typeface="Calibri" pitchFamily="34" charset="-120"/>
              </a:rPr>
              <a:t>APPROACH</a:t>
            </a:r>
            <a:endParaRPr lang="en-US" sz="1000" dirty="0"/>
          </a:p>
        </p:txBody>
      </p:sp>
      <p:sp>
        <p:nvSpPr>
          <p:cNvPr id="20" name="Shape 18"/>
          <p:cNvSpPr/>
          <p:nvPr/>
        </p:nvSpPr>
        <p:spPr>
          <a:xfrm>
            <a:off x="6629400" y="3593592"/>
            <a:ext cx="1554480" cy="457200"/>
          </a:xfrm>
          <a:prstGeom prst="roundRect">
            <a:avLst>
              <a:gd name="adj" fmla="val 12000"/>
            </a:avLst>
          </a:prstGeom>
          <a:solidFill>
            <a:srgbClr val="EEF3F8"/>
          </a:solidFill>
          <a:ln/>
        </p:spPr>
      </p:sp>
      <p:sp>
        <p:nvSpPr>
          <p:cNvPr id="21" name="Text 19"/>
          <p:cNvSpPr/>
          <p:nvPr/>
        </p:nvSpPr>
        <p:spPr>
          <a:xfrm>
            <a:off x="6629400" y="3593592"/>
            <a:ext cx="1554480"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Shared</a:t>
            </a:r>
            <a:endParaRPr lang="en-US" sz="1100" dirty="0"/>
          </a:p>
          <a:p>
            <a:pPr algn="ctr" indent="0" marL="0">
              <a:buNone/>
            </a:pPr>
            <a:r>
              <a:rPr lang="en-US" sz="1100" b="1" dirty="0">
                <a:solidFill>
                  <a:srgbClr val="0B2545"/>
                </a:solidFill>
                <a:latin typeface="Calibri" pitchFamily="34" charset="0"/>
                <a:ea typeface="Calibri" pitchFamily="34" charset="-122"/>
                <a:cs typeface="Calibri" pitchFamily="34" charset="-120"/>
              </a:rPr>
              <a:t>Backbone</a:t>
            </a:r>
            <a:endParaRPr lang="en-US" sz="1100" dirty="0"/>
          </a:p>
        </p:txBody>
      </p:sp>
      <p:sp>
        <p:nvSpPr>
          <p:cNvPr id="22" name="Shape 20"/>
          <p:cNvSpPr/>
          <p:nvPr/>
        </p:nvSpPr>
        <p:spPr>
          <a:xfrm>
            <a:off x="8321040" y="3593592"/>
            <a:ext cx="1554480" cy="457200"/>
          </a:xfrm>
          <a:prstGeom prst="roundRect">
            <a:avLst>
              <a:gd name="adj" fmla="val 12000"/>
            </a:avLst>
          </a:prstGeom>
          <a:solidFill>
            <a:srgbClr val="EEF3F8"/>
          </a:solidFill>
          <a:ln/>
        </p:spPr>
      </p:sp>
      <p:sp>
        <p:nvSpPr>
          <p:cNvPr id="23" name="Text 21"/>
          <p:cNvSpPr/>
          <p:nvPr/>
        </p:nvSpPr>
        <p:spPr>
          <a:xfrm>
            <a:off x="8321040" y="3593592"/>
            <a:ext cx="1554480" cy="457200"/>
          </a:xfrm>
          <a:prstGeom prst="rect">
            <a:avLst/>
          </a:prstGeom>
          <a:noFill/>
          <a:ln/>
        </p:spPr>
        <p:txBody>
          <a:bodyPr wrap="square" lIns="0" tIns="0" rIns="0" bIns="0" rtlCol="0" anchor="ctr"/>
          <a:lstStyle/>
          <a:p>
            <a:pPr algn="ctr" indent="0" marL="0">
              <a:buNone/>
            </a:pPr>
            <a:r>
              <a:rPr lang="en-US" sz="1100" b="1" dirty="0">
                <a:solidFill>
                  <a:srgbClr val="0B2545"/>
                </a:solidFill>
                <a:latin typeface="Calibri" pitchFamily="34" charset="0"/>
                <a:ea typeface="Calibri" pitchFamily="34" charset="-122"/>
                <a:cs typeface="Calibri" pitchFamily="34" charset="-120"/>
              </a:rPr>
              <a:t>Dataset-Specific</a:t>
            </a:r>
            <a:endParaRPr lang="en-US" sz="1100" dirty="0"/>
          </a:p>
          <a:p>
            <a:pPr algn="ctr" indent="0" marL="0">
              <a:buNone/>
            </a:pPr>
            <a:r>
              <a:rPr lang="en-US" sz="1100" b="1" dirty="0">
                <a:solidFill>
                  <a:srgbClr val="0B2545"/>
                </a:solidFill>
                <a:latin typeface="Calibri" pitchFamily="34" charset="0"/>
                <a:ea typeface="Calibri" pitchFamily="34" charset="-122"/>
                <a:cs typeface="Calibri" pitchFamily="34" charset="-120"/>
              </a:rPr>
              <a:t>Heads</a:t>
            </a:r>
            <a:endParaRPr lang="en-US" sz="1100" dirty="0"/>
          </a:p>
        </p:txBody>
      </p:sp>
      <p:sp>
        <p:nvSpPr>
          <p:cNvPr id="24" name="Text 22"/>
          <p:cNvSpPr/>
          <p:nvPr/>
        </p:nvSpPr>
        <p:spPr>
          <a:xfrm>
            <a:off x="6629400" y="4206240"/>
            <a:ext cx="4709160" cy="274320"/>
          </a:xfrm>
          <a:prstGeom prst="rect">
            <a:avLst/>
          </a:prstGeom>
          <a:noFill/>
          <a:ln/>
        </p:spPr>
        <p:txBody>
          <a:bodyPr wrap="square" lIns="0" tIns="0" rIns="0" bIns="0" rtlCol="0" anchor="ctr"/>
          <a:lstStyle/>
          <a:p>
            <a:pPr indent="0" marL="0">
              <a:buNone/>
            </a:pPr>
            <a:r>
              <a:rPr lang="en-US" sz="1000" b="1" spc="100" kern="0" dirty="0">
                <a:solidFill>
                  <a:srgbClr val="6B7785"/>
                </a:solidFill>
                <a:latin typeface="Calibri" pitchFamily="34" charset="0"/>
                <a:ea typeface="Calibri" pitchFamily="34" charset="-122"/>
                <a:cs typeface="Calibri" pitchFamily="34" charset="-120"/>
              </a:rPr>
              <a:t>MOTIVATION</a:t>
            </a:r>
            <a:endParaRPr lang="en-US" sz="1000" dirty="0"/>
          </a:p>
        </p:txBody>
      </p:sp>
      <p:sp>
        <p:nvSpPr>
          <p:cNvPr id="25" name="Text 23"/>
          <p:cNvSpPr/>
          <p:nvPr/>
        </p:nvSpPr>
        <p:spPr>
          <a:xfrm>
            <a:off x="6629400" y="4507992"/>
            <a:ext cx="4709160" cy="1097280"/>
          </a:xfrm>
          <a:prstGeom prst="rect">
            <a:avLst/>
          </a:prstGeom>
          <a:noFill/>
          <a:ln/>
        </p:spPr>
        <p:txBody>
          <a:bodyPr wrap="square" lIns="0" tIns="0" rIns="0" bIns="0" rtlCol="0" anchor="ctr"/>
          <a:lstStyle/>
          <a:p>
            <a:pPr indent="0" marL="0">
              <a:lnSpc>
                <a:spcPts val="1700"/>
              </a:lnSpc>
              <a:buNone/>
            </a:pPr>
            <a:r>
              <a:rPr lang="en-US" sz="1250" dirty="0">
                <a:solidFill>
                  <a:srgbClr val="1E2A38"/>
                </a:solidFill>
                <a:latin typeface="Calibri" pitchFamily="34" charset="0"/>
                <a:ea typeface="Calibri" pitchFamily="34" charset="-122"/>
                <a:cs typeface="Calibri" pitchFamily="34" charset="-120"/>
              </a:rPr>
              <a:t>Learn more domain-invariant spatial representations by training on both datasets simultaneously.</a:t>
            </a:r>
            <a:endParaRPr lang="en-US" sz="1250" dirty="0"/>
          </a:p>
        </p:txBody>
      </p:sp>
      <p:sp>
        <p:nvSpPr>
          <p:cNvPr id="26" name="Text 24"/>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RESEARCH ROADMAP</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From Baseline to Joint Multi-Dataset Learning</a:t>
            </a:r>
            <a:endParaRPr lang="en-US" sz="2500" dirty="0"/>
          </a:p>
        </p:txBody>
      </p:sp>
      <p:sp>
        <p:nvSpPr>
          <p:cNvPr id="4" name="Shape 2"/>
          <p:cNvSpPr/>
          <p:nvPr/>
        </p:nvSpPr>
        <p:spPr>
          <a:xfrm>
            <a:off x="1655064" y="2194560"/>
            <a:ext cx="8851392" cy="0"/>
          </a:xfrm>
          <a:prstGeom prst="line">
            <a:avLst/>
          </a:prstGeom>
          <a:noFill/>
          <a:ln w="38100">
            <a:solidFill>
              <a:srgbClr val="DCE4E9"/>
            </a:solidFill>
            <a:prstDash val="solid"/>
          </a:ln>
        </p:spPr>
      </p:sp>
      <p:sp>
        <p:nvSpPr>
          <p:cNvPr id="5" name="Shape 3"/>
          <p:cNvSpPr/>
          <p:nvPr/>
        </p:nvSpPr>
        <p:spPr>
          <a:xfrm>
            <a:off x="1289304" y="1828800"/>
            <a:ext cx="731520" cy="731520"/>
          </a:xfrm>
          <a:prstGeom prst="ellipse">
            <a:avLst/>
          </a:prstGeom>
          <a:solidFill>
            <a:srgbClr val="2E7D5B"/>
          </a:solidFill>
          <a:ln/>
        </p:spPr>
      </p:sp>
      <p:sp>
        <p:nvSpPr>
          <p:cNvPr id="6" name="Text 4"/>
          <p:cNvSpPr/>
          <p:nvPr/>
        </p:nvSpPr>
        <p:spPr>
          <a:xfrm>
            <a:off x="1289304" y="18288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640080" y="2697480"/>
            <a:ext cx="2029968" cy="274320"/>
          </a:xfrm>
          <a:prstGeom prst="rect">
            <a:avLst/>
          </a:prstGeom>
          <a:noFill/>
          <a:ln/>
        </p:spPr>
        <p:txBody>
          <a:bodyPr wrap="square" lIns="0" tIns="0" rIns="0" bIns="0" rtlCol="0" anchor="ctr"/>
          <a:lstStyle/>
          <a:p>
            <a:pPr algn="ctr" indent="0" marL="0">
              <a:buNone/>
            </a:pPr>
            <a:r>
              <a:rPr lang="en-US" sz="1050" b="1" spc="50" kern="0" dirty="0">
                <a:solidFill>
                  <a:srgbClr val="2E7D5B"/>
                </a:solidFill>
                <a:latin typeface="Calibri" pitchFamily="34" charset="0"/>
                <a:ea typeface="Calibri" pitchFamily="34" charset="-122"/>
                <a:cs typeface="Calibri" pitchFamily="34" charset="-120"/>
              </a:rPr>
              <a:t>PHASE 1</a:t>
            </a:r>
            <a:endParaRPr lang="en-US" sz="1050" dirty="0"/>
          </a:p>
        </p:txBody>
      </p:sp>
      <p:sp>
        <p:nvSpPr>
          <p:cNvPr id="8" name="Text 6"/>
          <p:cNvSpPr/>
          <p:nvPr/>
        </p:nvSpPr>
        <p:spPr>
          <a:xfrm>
            <a:off x="640080" y="2999232"/>
            <a:ext cx="2029968" cy="685800"/>
          </a:xfrm>
          <a:prstGeom prst="rect">
            <a:avLst/>
          </a:prstGeom>
          <a:noFill/>
          <a:ln/>
        </p:spPr>
        <p:txBody>
          <a:bodyPr wrap="square" lIns="0" tIns="0" rIns="0" bIns="0" rtlCol="0" anchor="ctr"/>
          <a:lstStyle/>
          <a:p>
            <a:pPr algn="ctr" indent="0" marL="0">
              <a:lnSpc>
                <a:spcPts val="1350"/>
              </a:lnSpc>
              <a:buNone/>
            </a:pPr>
            <a:r>
              <a:rPr lang="en-US" sz="1100" dirty="0">
                <a:solidFill>
                  <a:srgbClr val="1E2A38"/>
                </a:solidFill>
                <a:latin typeface="Calibri" pitchFamily="34" charset="0"/>
                <a:ea typeface="Calibri" pitchFamily="34" charset="-122"/>
                <a:cs typeface="Calibri" pitchFamily="34" charset="-120"/>
              </a:rPr>
              <a:t>Baseline</a:t>
            </a:r>
            <a:endParaRPr lang="en-US" sz="1100" dirty="0"/>
          </a:p>
        </p:txBody>
      </p:sp>
      <p:sp>
        <p:nvSpPr>
          <p:cNvPr id="9" name="Shape 7"/>
          <p:cNvSpPr/>
          <p:nvPr/>
        </p:nvSpPr>
        <p:spPr>
          <a:xfrm>
            <a:off x="1152144" y="3794760"/>
            <a:ext cx="1005840" cy="320040"/>
          </a:xfrm>
          <a:prstGeom prst="roundRect">
            <a:avLst>
              <a:gd name="adj" fmla="val 51429"/>
            </a:avLst>
          </a:prstGeom>
          <a:solidFill>
            <a:srgbClr val="2E7D5B"/>
          </a:solidFill>
          <a:ln/>
        </p:spPr>
      </p:sp>
      <p:sp>
        <p:nvSpPr>
          <p:cNvPr id="10" name="Text 8"/>
          <p:cNvSpPr/>
          <p:nvPr/>
        </p:nvSpPr>
        <p:spPr>
          <a:xfrm>
            <a:off x="1152144" y="3794760"/>
            <a:ext cx="10058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DONE</a:t>
            </a:r>
            <a:endParaRPr lang="en-US" sz="950" dirty="0"/>
          </a:p>
        </p:txBody>
      </p:sp>
      <p:sp>
        <p:nvSpPr>
          <p:cNvPr id="11" name="Shape 9"/>
          <p:cNvSpPr/>
          <p:nvPr/>
        </p:nvSpPr>
        <p:spPr>
          <a:xfrm>
            <a:off x="3502152" y="1828800"/>
            <a:ext cx="731520" cy="731520"/>
          </a:xfrm>
          <a:prstGeom prst="ellipse">
            <a:avLst/>
          </a:prstGeom>
          <a:solidFill>
            <a:srgbClr val="2E7D5B"/>
          </a:solidFill>
          <a:ln/>
        </p:spPr>
      </p:sp>
      <p:sp>
        <p:nvSpPr>
          <p:cNvPr id="12" name="Text 10"/>
          <p:cNvSpPr/>
          <p:nvPr/>
        </p:nvSpPr>
        <p:spPr>
          <a:xfrm>
            <a:off x="3502152" y="18288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3" name="Text 11"/>
          <p:cNvSpPr/>
          <p:nvPr/>
        </p:nvSpPr>
        <p:spPr>
          <a:xfrm>
            <a:off x="2852928" y="2697480"/>
            <a:ext cx="2029968" cy="274320"/>
          </a:xfrm>
          <a:prstGeom prst="rect">
            <a:avLst/>
          </a:prstGeom>
          <a:noFill/>
          <a:ln/>
        </p:spPr>
        <p:txBody>
          <a:bodyPr wrap="square" lIns="0" tIns="0" rIns="0" bIns="0" rtlCol="0" anchor="ctr"/>
          <a:lstStyle/>
          <a:p>
            <a:pPr algn="ctr" indent="0" marL="0">
              <a:buNone/>
            </a:pPr>
            <a:r>
              <a:rPr lang="en-US" sz="1050" b="1" spc="50" kern="0" dirty="0">
                <a:solidFill>
                  <a:srgbClr val="2E7D5B"/>
                </a:solidFill>
                <a:latin typeface="Calibri" pitchFamily="34" charset="0"/>
                <a:ea typeface="Calibri" pitchFamily="34" charset="-122"/>
                <a:cs typeface="Calibri" pitchFamily="34" charset="-120"/>
              </a:rPr>
              <a:t>PHASE 2</a:t>
            </a:r>
            <a:endParaRPr lang="en-US" sz="1050" dirty="0"/>
          </a:p>
        </p:txBody>
      </p:sp>
      <p:sp>
        <p:nvSpPr>
          <p:cNvPr id="14" name="Text 12"/>
          <p:cNvSpPr/>
          <p:nvPr/>
        </p:nvSpPr>
        <p:spPr>
          <a:xfrm>
            <a:off x="2852928" y="2999232"/>
            <a:ext cx="2029968" cy="685800"/>
          </a:xfrm>
          <a:prstGeom prst="rect">
            <a:avLst/>
          </a:prstGeom>
          <a:noFill/>
          <a:ln/>
        </p:spPr>
        <p:txBody>
          <a:bodyPr wrap="square" lIns="0" tIns="0" rIns="0" bIns="0" rtlCol="0" anchor="ctr"/>
          <a:lstStyle/>
          <a:p>
            <a:pPr algn="ctr" indent="0" marL="0">
              <a:lnSpc>
                <a:spcPts val="1350"/>
              </a:lnSpc>
              <a:buNone/>
            </a:pPr>
            <a:r>
              <a:rPr lang="en-US" sz="1100" dirty="0">
                <a:solidFill>
                  <a:srgbClr val="1E2A38"/>
                </a:solidFill>
                <a:latin typeface="Calibri" pitchFamily="34" charset="0"/>
                <a:ea typeface="Calibri" pitchFamily="34" charset="-122"/>
                <a:cs typeface="Calibri" pitchFamily="34" charset="-120"/>
              </a:rPr>
              <a:t>Cross-Dataset Infrastructure</a:t>
            </a:r>
            <a:endParaRPr lang="en-US" sz="1100" dirty="0"/>
          </a:p>
        </p:txBody>
      </p:sp>
      <p:sp>
        <p:nvSpPr>
          <p:cNvPr id="15" name="Shape 13"/>
          <p:cNvSpPr/>
          <p:nvPr/>
        </p:nvSpPr>
        <p:spPr>
          <a:xfrm>
            <a:off x="3364992" y="3794760"/>
            <a:ext cx="1005840" cy="320040"/>
          </a:xfrm>
          <a:prstGeom prst="roundRect">
            <a:avLst>
              <a:gd name="adj" fmla="val 51429"/>
            </a:avLst>
          </a:prstGeom>
          <a:solidFill>
            <a:srgbClr val="2E7D5B"/>
          </a:solidFill>
          <a:ln/>
        </p:spPr>
      </p:sp>
      <p:sp>
        <p:nvSpPr>
          <p:cNvPr id="16" name="Text 14"/>
          <p:cNvSpPr/>
          <p:nvPr/>
        </p:nvSpPr>
        <p:spPr>
          <a:xfrm>
            <a:off x="3364992" y="3794760"/>
            <a:ext cx="10058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DONE</a:t>
            </a:r>
            <a:endParaRPr lang="en-US" sz="950" dirty="0"/>
          </a:p>
        </p:txBody>
      </p:sp>
      <p:sp>
        <p:nvSpPr>
          <p:cNvPr id="17" name="Shape 15"/>
          <p:cNvSpPr/>
          <p:nvPr/>
        </p:nvSpPr>
        <p:spPr>
          <a:xfrm>
            <a:off x="5715000" y="1828800"/>
            <a:ext cx="731520" cy="731520"/>
          </a:xfrm>
          <a:prstGeom prst="ellipse">
            <a:avLst/>
          </a:prstGeom>
          <a:solidFill>
            <a:srgbClr val="2E7D5B"/>
          </a:solidFill>
          <a:ln/>
        </p:spPr>
      </p:sp>
      <p:sp>
        <p:nvSpPr>
          <p:cNvPr id="18" name="Text 16"/>
          <p:cNvSpPr/>
          <p:nvPr/>
        </p:nvSpPr>
        <p:spPr>
          <a:xfrm>
            <a:off x="5715000" y="182880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5065776" y="2697480"/>
            <a:ext cx="2029968" cy="274320"/>
          </a:xfrm>
          <a:prstGeom prst="rect">
            <a:avLst/>
          </a:prstGeom>
          <a:noFill/>
          <a:ln/>
        </p:spPr>
        <p:txBody>
          <a:bodyPr wrap="square" lIns="0" tIns="0" rIns="0" bIns="0" rtlCol="0" anchor="ctr"/>
          <a:lstStyle/>
          <a:p>
            <a:pPr algn="ctr" indent="0" marL="0">
              <a:buNone/>
            </a:pPr>
            <a:r>
              <a:rPr lang="en-US" sz="1050" b="1" spc="50" kern="0" dirty="0">
                <a:solidFill>
                  <a:srgbClr val="2E7D5B"/>
                </a:solidFill>
                <a:latin typeface="Calibri" pitchFamily="34" charset="0"/>
                <a:ea typeface="Calibri" pitchFamily="34" charset="-122"/>
                <a:cs typeface="Calibri" pitchFamily="34" charset="-120"/>
              </a:rPr>
              <a:t>EXPERIMENT A</a:t>
            </a:r>
            <a:endParaRPr lang="en-US" sz="1050" dirty="0"/>
          </a:p>
        </p:txBody>
      </p:sp>
      <p:sp>
        <p:nvSpPr>
          <p:cNvPr id="20" name="Text 18"/>
          <p:cNvSpPr/>
          <p:nvPr/>
        </p:nvSpPr>
        <p:spPr>
          <a:xfrm>
            <a:off x="5065776" y="2999232"/>
            <a:ext cx="2029968" cy="685800"/>
          </a:xfrm>
          <a:prstGeom prst="rect">
            <a:avLst/>
          </a:prstGeom>
          <a:noFill/>
          <a:ln/>
        </p:spPr>
        <p:txBody>
          <a:bodyPr wrap="square" lIns="0" tIns="0" rIns="0" bIns="0" rtlCol="0" anchor="ctr"/>
          <a:lstStyle/>
          <a:p>
            <a:pPr algn="ctr" indent="0" marL="0">
              <a:lnSpc>
                <a:spcPts val="1350"/>
              </a:lnSpc>
              <a:buNone/>
            </a:pPr>
            <a:r>
              <a:rPr lang="en-US" sz="1100" dirty="0">
                <a:solidFill>
                  <a:srgbClr val="1E2A38"/>
                </a:solidFill>
                <a:latin typeface="Calibri" pitchFamily="34" charset="0"/>
                <a:ea typeface="Calibri" pitchFamily="34" charset="-122"/>
                <a:cs typeface="Calibri" pitchFamily="34" charset="-120"/>
              </a:rPr>
              <a:t>Frame-Level Transfer</a:t>
            </a:r>
            <a:endParaRPr lang="en-US" sz="1100" dirty="0"/>
          </a:p>
        </p:txBody>
      </p:sp>
      <p:sp>
        <p:nvSpPr>
          <p:cNvPr id="21" name="Shape 19"/>
          <p:cNvSpPr/>
          <p:nvPr/>
        </p:nvSpPr>
        <p:spPr>
          <a:xfrm>
            <a:off x="5577840" y="3794760"/>
            <a:ext cx="1005840" cy="320040"/>
          </a:xfrm>
          <a:prstGeom prst="roundRect">
            <a:avLst>
              <a:gd name="adj" fmla="val 51429"/>
            </a:avLst>
          </a:prstGeom>
          <a:solidFill>
            <a:srgbClr val="2E7D5B"/>
          </a:solidFill>
          <a:ln/>
        </p:spPr>
      </p:sp>
      <p:sp>
        <p:nvSpPr>
          <p:cNvPr id="22" name="Text 20"/>
          <p:cNvSpPr/>
          <p:nvPr/>
        </p:nvSpPr>
        <p:spPr>
          <a:xfrm>
            <a:off x="5577840" y="3794760"/>
            <a:ext cx="10058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DONE</a:t>
            </a:r>
            <a:endParaRPr lang="en-US" sz="950" dirty="0"/>
          </a:p>
        </p:txBody>
      </p:sp>
      <p:sp>
        <p:nvSpPr>
          <p:cNvPr id="23" name="Shape 21"/>
          <p:cNvSpPr/>
          <p:nvPr/>
        </p:nvSpPr>
        <p:spPr>
          <a:xfrm>
            <a:off x="7927848" y="1828800"/>
            <a:ext cx="731520" cy="731520"/>
          </a:xfrm>
          <a:prstGeom prst="ellipse">
            <a:avLst/>
          </a:prstGeom>
          <a:solidFill>
            <a:srgbClr val="2C6E9E"/>
          </a:solidFill>
          <a:ln/>
        </p:spPr>
      </p:sp>
      <p:sp>
        <p:nvSpPr>
          <p:cNvPr id="24" name="Text 22"/>
          <p:cNvSpPr/>
          <p:nvPr/>
        </p:nvSpPr>
        <p:spPr>
          <a:xfrm>
            <a:off x="7927848" y="1828800"/>
            <a:ext cx="73152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7278624" y="2697480"/>
            <a:ext cx="2029968" cy="274320"/>
          </a:xfrm>
          <a:prstGeom prst="rect">
            <a:avLst/>
          </a:prstGeom>
          <a:noFill/>
          <a:ln/>
        </p:spPr>
        <p:txBody>
          <a:bodyPr wrap="square" lIns="0" tIns="0" rIns="0" bIns="0" rtlCol="0" anchor="ctr"/>
          <a:lstStyle/>
          <a:p>
            <a:pPr algn="ctr" indent="0" marL="0">
              <a:buNone/>
            </a:pPr>
            <a:r>
              <a:rPr lang="en-US" sz="1050" b="1" spc="50" kern="0" dirty="0">
                <a:solidFill>
                  <a:srgbClr val="2C6E9E"/>
                </a:solidFill>
                <a:latin typeface="Calibri" pitchFamily="34" charset="0"/>
                <a:ea typeface="Calibri" pitchFamily="34" charset="-122"/>
                <a:cs typeface="Calibri" pitchFamily="34" charset="-120"/>
              </a:rPr>
              <a:t>EXPERIMENT B</a:t>
            </a:r>
            <a:endParaRPr lang="en-US" sz="1050" dirty="0"/>
          </a:p>
        </p:txBody>
      </p:sp>
      <p:sp>
        <p:nvSpPr>
          <p:cNvPr id="26" name="Text 24"/>
          <p:cNvSpPr/>
          <p:nvPr/>
        </p:nvSpPr>
        <p:spPr>
          <a:xfrm>
            <a:off x="7278624" y="2999232"/>
            <a:ext cx="2029968" cy="685800"/>
          </a:xfrm>
          <a:prstGeom prst="rect">
            <a:avLst/>
          </a:prstGeom>
          <a:noFill/>
          <a:ln/>
        </p:spPr>
        <p:txBody>
          <a:bodyPr wrap="square" lIns="0" tIns="0" rIns="0" bIns="0" rtlCol="0" anchor="ctr"/>
          <a:lstStyle/>
          <a:p>
            <a:pPr algn="ctr" indent="0" marL="0">
              <a:lnSpc>
                <a:spcPts val="1350"/>
              </a:lnSpc>
              <a:buNone/>
            </a:pPr>
            <a:r>
              <a:rPr lang="en-US" sz="1100" dirty="0">
                <a:solidFill>
                  <a:srgbClr val="1E2A38"/>
                </a:solidFill>
                <a:latin typeface="Calibri" pitchFamily="34" charset="0"/>
                <a:ea typeface="Calibri" pitchFamily="34" charset="-122"/>
                <a:cs typeface="Calibri" pitchFamily="34" charset="-120"/>
              </a:rPr>
              <a:t>Video-Level Temporal Transfer</a:t>
            </a:r>
            <a:endParaRPr lang="en-US" sz="1100" dirty="0"/>
          </a:p>
        </p:txBody>
      </p:sp>
      <p:sp>
        <p:nvSpPr>
          <p:cNvPr id="27" name="Shape 25"/>
          <p:cNvSpPr/>
          <p:nvPr/>
        </p:nvSpPr>
        <p:spPr>
          <a:xfrm>
            <a:off x="7790688" y="3794760"/>
            <a:ext cx="1005840" cy="320040"/>
          </a:xfrm>
          <a:prstGeom prst="roundRect">
            <a:avLst>
              <a:gd name="adj" fmla="val 51429"/>
            </a:avLst>
          </a:prstGeom>
          <a:solidFill>
            <a:srgbClr val="2C6E9E"/>
          </a:solidFill>
          <a:ln/>
        </p:spPr>
      </p:sp>
      <p:sp>
        <p:nvSpPr>
          <p:cNvPr id="28" name="Text 26"/>
          <p:cNvSpPr/>
          <p:nvPr/>
        </p:nvSpPr>
        <p:spPr>
          <a:xfrm>
            <a:off x="7790688" y="3794760"/>
            <a:ext cx="10058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NEXT</a:t>
            </a:r>
            <a:endParaRPr lang="en-US" sz="950" dirty="0"/>
          </a:p>
        </p:txBody>
      </p:sp>
      <p:sp>
        <p:nvSpPr>
          <p:cNvPr id="29" name="Shape 27"/>
          <p:cNvSpPr/>
          <p:nvPr/>
        </p:nvSpPr>
        <p:spPr>
          <a:xfrm>
            <a:off x="10140696" y="1828800"/>
            <a:ext cx="731520" cy="731520"/>
          </a:xfrm>
          <a:prstGeom prst="ellipse">
            <a:avLst/>
          </a:prstGeom>
          <a:solidFill>
            <a:srgbClr val="0B2545"/>
          </a:solidFill>
          <a:ln/>
        </p:spPr>
      </p:sp>
      <p:sp>
        <p:nvSpPr>
          <p:cNvPr id="30" name="Text 28"/>
          <p:cNvSpPr/>
          <p:nvPr/>
        </p:nvSpPr>
        <p:spPr>
          <a:xfrm>
            <a:off x="10140696" y="1828800"/>
            <a:ext cx="731520"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1" name="Text 29"/>
          <p:cNvSpPr/>
          <p:nvPr/>
        </p:nvSpPr>
        <p:spPr>
          <a:xfrm>
            <a:off x="9491472" y="2697480"/>
            <a:ext cx="2029968" cy="274320"/>
          </a:xfrm>
          <a:prstGeom prst="rect">
            <a:avLst/>
          </a:prstGeom>
          <a:noFill/>
          <a:ln/>
        </p:spPr>
        <p:txBody>
          <a:bodyPr wrap="square" lIns="0" tIns="0" rIns="0" bIns="0" rtlCol="0" anchor="ctr"/>
          <a:lstStyle/>
          <a:p>
            <a:pPr algn="ctr" indent="0" marL="0">
              <a:buNone/>
            </a:pPr>
            <a:r>
              <a:rPr lang="en-US" sz="1050" b="1" spc="50" kern="0" dirty="0">
                <a:solidFill>
                  <a:srgbClr val="0B2545"/>
                </a:solidFill>
                <a:latin typeface="Calibri" pitchFamily="34" charset="0"/>
                <a:ea typeface="Calibri" pitchFamily="34" charset="-122"/>
                <a:cs typeface="Calibri" pitchFamily="34" charset="-120"/>
              </a:rPr>
              <a:t>EXPERIMENT C</a:t>
            </a:r>
            <a:endParaRPr lang="en-US" sz="1050" dirty="0"/>
          </a:p>
        </p:txBody>
      </p:sp>
      <p:sp>
        <p:nvSpPr>
          <p:cNvPr id="32" name="Text 30"/>
          <p:cNvSpPr/>
          <p:nvPr/>
        </p:nvSpPr>
        <p:spPr>
          <a:xfrm>
            <a:off x="9491472" y="2999232"/>
            <a:ext cx="2029968" cy="685800"/>
          </a:xfrm>
          <a:prstGeom prst="rect">
            <a:avLst/>
          </a:prstGeom>
          <a:noFill/>
          <a:ln/>
        </p:spPr>
        <p:txBody>
          <a:bodyPr wrap="square" lIns="0" tIns="0" rIns="0" bIns="0" rtlCol="0" anchor="ctr"/>
          <a:lstStyle/>
          <a:p>
            <a:pPr algn="ctr" indent="0" marL="0">
              <a:lnSpc>
                <a:spcPts val="1350"/>
              </a:lnSpc>
              <a:buNone/>
            </a:pPr>
            <a:r>
              <a:rPr lang="en-US" sz="1100" dirty="0">
                <a:solidFill>
                  <a:srgbClr val="1E2A38"/>
                </a:solidFill>
                <a:latin typeface="Calibri" pitchFamily="34" charset="0"/>
                <a:ea typeface="Calibri" pitchFamily="34" charset="-122"/>
                <a:cs typeface="Calibri" pitchFamily="34" charset="-120"/>
              </a:rPr>
              <a:t>Joint Multi-Dataset Training</a:t>
            </a:r>
            <a:endParaRPr lang="en-US" sz="1100" dirty="0"/>
          </a:p>
        </p:txBody>
      </p:sp>
      <p:sp>
        <p:nvSpPr>
          <p:cNvPr id="33" name="Shape 31"/>
          <p:cNvSpPr/>
          <p:nvPr/>
        </p:nvSpPr>
        <p:spPr>
          <a:xfrm>
            <a:off x="10003536" y="3794760"/>
            <a:ext cx="1005840" cy="320040"/>
          </a:xfrm>
          <a:prstGeom prst="roundRect">
            <a:avLst>
              <a:gd name="adj" fmla="val 51429"/>
            </a:avLst>
          </a:prstGeom>
          <a:solidFill>
            <a:srgbClr val="0B2545"/>
          </a:solidFill>
          <a:ln/>
        </p:spPr>
      </p:sp>
      <p:sp>
        <p:nvSpPr>
          <p:cNvPr id="34" name="Text 32"/>
          <p:cNvSpPr/>
          <p:nvPr/>
        </p:nvSpPr>
        <p:spPr>
          <a:xfrm>
            <a:off x="10003536" y="3794760"/>
            <a:ext cx="1005840" cy="3200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NEXT</a:t>
            </a:r>
            <a:endParaRPr lang="en-US" sz="950" dirty="0"/>
          </a:p>
        </p:txBody>
      </p:sp>
      <p:sp>
        <p:nvSpPr>
          <p:cNvPr id="35" name="Text 33"/>
          <p:cNvSpPr/>
          <p:nvPr/>
        </p:nvSpPr>
        <p:spPr>
          <a:xfrm>
            <a:off x="548640" y="4663440"/>
            <a:ext cx="11064240" cy="548640"/>
          </a:xfrm>
          <a:prstGeom prst="rect">
            <a:avLst/>
          </a:prstGeom>
          <a:noFill/>
          <a:ln/>
        </p:spPr>
        <p:txBody>
          <a:bodyPr wrap="square" lIns="0" tIns="0" rIns="0" bIns="0" rtlCol="0" anchor="ctr"/>
          <a:lstStyle/>
          <a:p>
            <a:pPr indent="0" marL="0">
              <a:lnSpc>
                <a:spcPts val="1700"/>
              </a:lnSpc>
              <a:buNone/>
            </a:pPr>
            <a:r>
              <a:rPr lang="en-US" sz="1300" i="1" dirty="0">
                <a:solidFill>
                  <a:srgbClr val="6B7785"/>
                </a:solidFill>
                <a:latin typeface="Calibri" pitchFamily="34" charset="0"/>
                <a:ea typeface="Calibri" pitchFamily="34" charset="-122"/>
                <a:cs typeface="Calibri" pitchFamily="34" charset="-120"/>
              </a:rPr>
              <a:t>Experiment A is fully complete and provides the empirical foundation — including the negative transfer results — for Experiments B and C.</a:t>
            </a:r>
            <a:endParaRPr lang="en-US" sz="1300" dirty="0"/>
          </a:p>
        </p:txBody>
      </p:sp>
      <p:sp>
        <p:nvSpPr>
          <p:cNvPr id="36" name="Text 34"/>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2545"/>
        </a:solidFill>
      </p:bgPr>
    </p:bg>
    <p:spTree>
      <p:nvGrpSpPr>
        <p:cNvPr id="1" name=""/>
        <p:cNvGrpSpPr/>
        <p:nvPr/>
      </p:nvGrpSpPr>
      <p:grpSpPr>
        <a:xfrm>
          <a:off x="0" y="0"/>
          <a:ext cx="0" cy="0"/>
          <a:chOff x="0" y="0"/>
          <a:chExt cx="0" cy="0"/>
        </a:xfrm>
      </p:grpSpPr>
      <p:sp>
        <p:nvSpPr>
          <p:cNvPr id="2" name="Text 0"/>
          <p:cNvSpPr/>
          <p:nvPr/>
        </p:nvSpPr>
        <p:spPr>
          <a:xfrm>
            <a:off x="640080" y="502920"/>
            <a:ext cx="73152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Final Takeaways</a:t>
            </a:r>
            <a:endParaRPr lang="en-US" sz="3000" dirty="0"/>
          </a:p>
        </p:txBody>
      </p:sp>
      <p:sp>
        <p:nvSpPr>
          <p:cNvPr id="3" name="Shape 1"/>
          <p:cNvSpPr/>
          <p:nvPr/>
        </p:nvSpPr>
        <p:spPr>
          <a:xfrm>
            <a:off x="640080" y="1691640"/>
            <a:ext cx="640080" cy="640080"/>
          </a:xfrm>
          <a:prstGeom prst="ellipse">
            <a:avLst/>
          </a:prstGeom>
          <a:solidFill>
            <a:srgbClr val="2C6E9E"/>
          </a:solidFill>
          <a:ln/>
        </p:spPr>
      </p:sp>
      <p:sp>
        <p:nvSpPr>
          <p:cNvPr id="4" name="Text 2"/>
          <p:cNvSpPr/>
          <p:nvPr/>
        </p:nvSpPr>
        <p:spPr>
          <a:xfrm>
            <a:off x="640080" y="169164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Shape 3"/>
          <p:cNvSpPr/>
          <p:nvPr/>
        </p:nvSpPr>
        <p:spPr>
          <a:xfrm>
            <a:off x="1508760" y="1600200"/>
            <a:ext cx="9875520" cy="960120"/>
          </a:xfrm>
          <a:prstGeom prst="roundRect">
            <a:avLst>
              <a:gd name="adj" fmla="val 7619"/>
            </a:avLst>
          </a:prstGeom>
          <a:solidFill>
            <a:srgbClr val="16345C"/>
          </a:solidFill>
          <a:ln/>
        </p:spPr>
      </p:sp>
      <p:sp>
        <p:nvSpPr>
          <p:cNvPr id="6" name="Text 4"/>
          <p:cNvSpPr/>
          <p:nvPr/>
        </p:nvSpPr>
        <p:spPr>
          <a:xfrm>
            <a:off x="1783080" y="1600200"/>
            <a:ext cx="9418320" cy="960120"/>
          </a:xfrm>
          <a:prstGeom prst="rect">
            <a:avLst/>
          </a:prstGeom>
          <a:noFill/>
          <a:ln/>
        </p:spPr>
        <p:txBody>
          <a:bodyPr wrap="square" lIns="0" tIns="0" rIns="0" bIns="0" rtlCol="0" anchor="ctr"/>
          <a:lstStyle/>
          <a:p>
            <a:pPr indent="0" marL="0">
              <a:lnSpc>
                <a:spcPts val="1800"/>
              </a:lnSpc>
              <a:buNone/>
            </a:pPr>
            <a:r>
              <a:rPr lang="en-US" sz="1450" dirty="0">
                <a:solidFill>
                  <a:srgbClr val="FFFFFF"/>
                </a:solidFill>
                <a:latin typeface="Calibri" pitchFamily="34" charset="0"/>
                <a:ea typeface="Calibri" pitchFamily="34" charset="-122"/>
                <a:cs typeface="Calibri" pitchFamily="34" charset="-120"/>
              </a:rPr>
              <a:t>ResNet-50 achieves excellent in-domain performance (99.25% / 96.38%).</a:t>
            </a:r>
            <a:endParaRPr lang="en-US" sz="1450" dirty="0"/>
          </a:p>
        </p:txBody>
      </p:sp>
      <p:sp>
        <p:nvSpPr>
          <p:cNvPr id="7" name="Shape 5"/>
          <p:cNvSpPr/>
          <p:nvPr/>
        </p:nvSpPr>
        <p:spPr>
          <a:xfrm>
            <a:off x="640080" y="2743200"/>
            <a:ext cx="640080" cy="640080"/>
          </a:xfrm>
          <a:prstGeom prst="ellipse">
            <a:avLst/>
          </a:prstGeom>
          <a:solidFill>
            <a:srgbClr val="2C6E9E"/>
          </a:solidFill>
          <a:ln/>
        </p:spPr>
      </p:sp>
      <p:sp>
        <p:nvSpPr>
          <p:cNvPr id="8" name="Text 6"/>
          <p:cNvSpPr/>
          <p:nvPr/>
        </p:nvSpPr>
        <p:spPr>
          <a:xfrm>
            <a:off x="640080" y="27432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9" name="Shape 7"/>
          <p:cNvSpPr/>
          <p:nvPr/>
        </p:nvSpPr>
        <p:spPr>
          <a:xfrm>
            <a:off x="1508760" y="2651760"/>
            <a:ext cx="9875520" cy="960120"/>
          </a:xfrm>
          <a:prstGeom prst="roundRect">
            <a:avLst>
              <a:gd name="adj" fmla="val 7619"/>
            </a:avLst>
          </a:prstGeom>
          <a:solidFill>
            <a:srgbClr val="16345C"/>
          </a:solidFill>
          <a:ln/>
        </p:spPr>
      </p:sp>
      <p:sp>
        <p:nvSpPr>
          <p:cNvPr id="10" name="Text 8"/>
          <p:cNvSpPr/>
          <p:nvPr/>
        </p:nvSpPr>
        <p:spPr>
          <a:xfrm>
            <a:off x="1783080" y="2651760"/>
            <a:ext cx="9418320" cy="960120"/>
          </a:xfrm>
          <a:prstGeom prst="rect">
            <a:avLst/>
          </a:prstGeom>
          <a:noFill/>
          <a:ln/>
        </p:spPr>
        <p:txBody>
          <a:bodyPr wrap="square" lIns="0" tIns="0" rIns="0" bIns="0" rtlCol="0" anchor="ctr"/>
          <a:lstStyle/>
          <a:p>
            <a:pPr indent="0" marL="0">
              <a:lnSpc>
                <a:spcPts val="1800"/>
              </a:lnSpc>
              <a:buNone/>
            </a:pPr>
            <a:r>
              <a:rPr lang="en-US" sz="1450" dirty="0">
                <a:solidFill>
                  <a:srgbClr val="FFFFFF"/>
                </a:solidFill>
                <a:latin typeface="Calibri" pitchFamily="34" charset="0"/>
                <a:ea typeface="Calibri" pitchFamily="34" charset="-122"/>
                <a:cs typeface="Calibri" pitchFamily="34" charset="-120"/>
              </a:rPr>
              <a:t>Zero-shot cross-dataset performance collapses dramatically (52.84% / 29.15%).</a:t>
            </a:r>
            <a:endParaRPr lang="en-US" sz="1450" dirty="0"/>
          </a:p>
        </p:txBody>
      </p:sp>
      <p:sp>
        <p:nvSpPr>
          <p:cNvPr id="11" name="Shape 9"/>
          <p:cNvSpPr/>
          <p:nvPr/>
        </p:nvSpPr>
        <p:spPr>
          <a:xfrm>
            <a:off x="640080" y="3794760"/>
            <a:ext cx="640080" cy="640080"/>
          </a:xfrm>
          <a:prstGeom prst="ellipse">
            <a:avLst/>
          </a:prstGeom>
          <a:solidFill>
            <a:srgbClr val="C0392B"/>
          </a:solidFill>
          <a:ln/>
        </p:spPr>
      </p:sp>
      <p:sp>
        <p:nvSpPr>
          <p:cNvPr id="12" name="Text 10"/>
          <p:cNvSpPr/>
          <p:nvPr/>
        </p:nvSpPr>
        <p:spPr>
          <a:xfrm>
            <a:off x="640080" y="37947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3" name="Shape 11"/>
          <p:cNvSpPr/>
          <p:nvPr/>
        </p:nvSpPr>
        <p:spPr>
          <a:xfrm>
            <a:off x="1508760" y="3703320"/>
            <a:ext cx="9875520" cy="960120"/>
          </a:xfrm>
          <a:prstGeom prst="roundRect">
            <a:avLst>
              <a:gd name="adj" fmla="val 7619"/>
            </a:avLst>
          </a:prstGeom>
          <a:solidFill>
            <a:srgbClr val="16345C"/>
          </a:solidFill>
          <a:ln/>
        </p:spPr>
      </p:sp>
      <p:sp>
        <p:nvSpPr>
          <p:cNvPr id="14" name="Text 12"/>
          <p:cNvSpPr/>
          <p:nvPr/>
        </p:nvSpPr>
        <p:spPr>
          <a:xfrm>
            <a:off x="1783080" y="3703320"/>
            <a:ext cx="9418320" cy="960120"/>
          </a:xfrm>
          <a:prstGeom prst="rect">
            <a:avLst/>
          </a:prstGeom>
          <a:noFill/>
          <a:ln/>
        </p:spPr>
        <p:txBody>
          <a:bodyPr wrap="square" lIns="0" tIns="0" rIns="0" bIns="0" rtlCol="0" anchor="ctr"/>
          <a:lstStyle/>
          <a:p>
            <a:pPr indent="0" marL="0">
              <a:lnSpc>
                <a:spcPts val="1800"/>
              </a:lnSpc>
              <a:buNone/>
            </a:pPr>
            <a:r>
              <a:rPr lang="en-US" sz="1450" dirty="0">
                <a:solidFill>
                  <a:srgbClr val="FFFFFF"/>
                </a:solidFill>
                <a:latin typeface="Calibri" pitchFamily="34" charset="0"/>
                <a:ea typeface="Calibri" pitchFamily="34" charset="-122"/>
                <a:cs typeface="Calibri" pitchFamily="34" charset="-120"/>
              </a:rPr>
              <a:t>The failure is asymmetric, and strongly related to visual domain and granularity differences.</a:t>
            </a:r>
            <a:endParaRPr lang="en-US" sz="1450" dirty="0"/>
          </a:p>
        </p:txBody>
      </p:sp>
      <p:sp>
        <p:nvSpPr>
          <p:cNvPr id="15" name="Shape 13"/>
          <p:cNvSpPr/>
          <p:nvPr/>
        </p:nvSpPr>
        <p:spPr>
          <a:xfrm>
            <a:off x="640080" y="4846320"/>
            <a:ext cx="640080" cy="640080"/>
          </a:xfrm>
          <a:prstGeom prst="ellipse">
            <a:avLst/>
          </a:prstGeom>
          <a:solidFill>
            <a:srgbClr val="C0392B"/>
          </a:solidFill>
          <a:ln/>
        </p:spPr>
      </p:sp>
      <p:sp>
        <p:nvSpPr>
          <p:cNvPr id="16" name="Text 14"/>
          <p:cNvSpPr/>
          <p:nvPr/>
        </p:nvSpPr>
        <p:spPr>
          <a:xfrm>
            <a:off x="640080" y="48463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7" name="Shape 15"/>
          <p:cNvSpPr/>
          <p:nvPr/>
        </p:nvSpPr>
        <p:spPr>
          <a:xfrm>
            <a:off x="1508760" y="4754880"/>
            <a:ext cx="9875520" cy="960120"/>
          </a:xfrm>
          <a:prstGeom prst="roundRect">
            <a:avLst>
              <a:gd name="adj" fmla="val 7619"/>
            </a:avLst>
          </a:prstGeom>
          <a:solidFill>
            <a:srgbClr val="16345C"/>
          </a:solidFill>
          <a:ln/>
        </p:spPr>
      </p:sp>
      <p:sp>
        <p:nvSpPr>
          <p:cNvPr id="18" name="Text 16"/>
          <p:cNvSpPr/>
          <p:nvPr/>
        </p:nvSpPr>
        <p:spPr>
          <a:xfrm>
            <a:off x="1783080" y="4754880"/>
            <a:ext cx="9418320" cy="960120"/>
          </a:xfrm>
          <a:prstGeom prst="rect">
            <a:avLst/>
          </a:prstGeom>
          <a:noFill/>
          <a:ln/>
        </p:spPr>
        <p:txBody>
          <a:bodyPr wrap="square" lIns="0" tIns="0" rIns="0" bIns="0" rtlCol="0" anchor="ctr"/>
          <a:lstStyle/>
          <a:p>
            <a:pPr indent="0" marL="0">
              <a:lnSpc>
                <a:spcPts val="1800"/>
              </a:lnSpc>
              <a:buNone/>
            </a:pPr>
            <a:r>
              <a:rPr lang="en-US" sz="1450" dirty="0">
                <a:solidFill>
                  <a:srgbClr val="FFFFFF"/>
                </a:solidFill>
                <a:latin typeface="Calibri" pitchFamily="34" charset="0"/>
                <a:ea typeface="Calibri" pitchFamily="34" charset="-122"/>
                <a:cs typeface="Calibri" pitchFamily="34" charset="-120"/>
              </a:rPr>
              <a:t>These results provide empirical motivation for temporal modeling and joint multi-dataset learning.</a:t>
            </a:r>
            <a:endParaRPr lang="en-US" sz="1450" dirty="0"/>
          </a:p>
        </p:txBody>
      </p:sp>
      <p:sp>
        <p:nvSpPr>
          <p:cNvPr id="19" name="Shape 17"/>
          <p:cNvSpPr/>
          <p:nvPr/>
        </p:nvSpPr>
        <p:spPr>
          <a:xfrm>
            <a:off x="640080" y="5897880"/>
            <a:ext cx="2743200" cy="0"/>
          </a:xfrm>
          <a:prstGeom prst="line">
            <a:avLst/>
          </a:prstGeom>
          <a:noFill/>
          <a:ln w="25400">
            <a:solidFill>
              <a:srgbClr val="2C6E9E"/>
            </a:solidFill>
            <a:prstDash val="solid"/>
          </a:ln>
        </p:spPr>
      </p:sp>
      <p:sp>
        <p:nvSpPr>
          <p:cNvPr id="20" name="Text 18"/>
          <p:cNvSpPr/>
          <p:nvPr/>
        </p:nvSpPr>
        <p:spPr>
          <a:xfrm>
            <a:off x="640080" y="6080760"/>
            <a:ext cx="10881360" cy="502920"/>
          </a:xfrm>
          <a:prstGeom prst="rect">
            <a:avLst/>
          </a:prstGeom>
          <a:noFill/>
          <a:ln/>
        </p:spPr>
        <p:txBody>
          <a:bodyPr wrap="square" lIns="0" tIns="0" rIns="0" bIns="0" rtlCol="0" anchor="ctr"/>
          <a:lstStyle/>
          <a:p>
            <a:pPr indent="0" marL="0">
              <a:buNone/>
            </a:pPr>
            <a:r>
              <a:rPr lang="en-US" sz="1500" i="1" dirty="0">
                <a:solidFill>
                  <a:srgbClr val="AFC4D9"/>
                </a:solidFill>
                <a:latin typeface="Cambria" pitchFamily="34" charset="0"/>
                <a:ea typeface="Cambria" pitchFamily="34" charset="-122"/>
                <a:cs typeface="Cambria" pitchFamily="34" charset="-120"/>
              </a:rPr>
              <a:t>“Experiment A is complete and provides the empirical foundation for the next research phase.”</a:t>
            </a:r>
            <a:endParaRPr lang="en-US" sz="1500" dirty="0"/>
          </a:p>
        </p:txBody>
      </p:sp>
      <p:sp>
        <p:nvSpPr>
          <p:cNvPr id="21" name="Text 19"/>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37160"/>
            <a:ext cx="8686800" cy="274320"/>
          </a:xfrm>
          <a:prstGeom prst="rect">
            <a:avLst/>
          </a:prstGeom>
          <a:noFill/>
          <a:ln/>
        </p:spPr>
        <p:txBody>
          <a:bodyPr wrap="square" lIns="0" tIns="0" rIns="0" bIns="0" rtlCol="0" anchor="ctr"/>
          <a:lstStyle/>
          <a:p>
            <a:pPr indent="0" marL="0">
              <a:buNone/>
            </a:pPr>
            <a:r>
              <a:rPr lang="en-US" sz="1200" b="1" spc="200" kern="0" dirty="0">
                <a:solidFill>
                  <a:srgbClr val="2C6E9E"/>
                </a:solidFill>
                <a:latin typeface="Calibri" pitchFamily="34" charset="0"/>
                <a:ea typeface="Calibri" pitchFamily="34" charset="-122"/>
                <a:cs typeface="Calibri" pitchFamily="34" charset="-120"/>
              </a:rPr>
              <a:t>APPENDIX</a:t>
            </a:r>
            <a:endParaRPr lang="en-US" sz="1200" dirty="0"/>
          </a:p>
        </p:txBody>
      </p:sp>
      <p:sp>
        <p:nvSpPr>
          <p:cNvPr id="3" name="Text 1"/>
          <p:cNvSpPr/>
          <p:nvPr/>
        </p:nvSpPr>
        <p:spPr>
          <a:xfrm>
            <a:off x="548640" y="384048"/>
            <a:ext cx="11094415" cy="868680"/>
          </a:xfrm>
          <a:prstGeom prst="rect">
            <a:avLst/>
          </a:prstGeom>
          <a:noFill/>
          <a:ln/>
        </p:spPr>
        <p:txBody>
          <a:bodyPr wrap="square" lIns="0" tIns="0" rIns="0" bIns="0" rtlCol="0" anchor="ctr"/>
          <a:lstStyle/>
          <a:p>
            <a:pPr indent="0" marL="0">
              <a:lnSpc>
                <a:spcPts val="2800"/>
              </a:lnSpc>
              <a:buNone/>
            </a:pPr>
            <a:r>
              <a:rPr lang="en-US" sz="2500" b="1" dirty="0">
                <a:solidFill>
                  <a:srgbClr val="0B2545"/>
                </a:solidFill>
                <a:latin typeface="Cambria" pitchFamily="34" charset="0"/>
                <a:ea typeface="Cambria" pitchFamily="34" charset="-122"/>
                <a:cs typeface="Cambria" pitchFamily="34" charset="-120"/>
              </a:rPr>
              <a:t>Reproducibility — Execution Commands</a:t>
            </a:r>
            <a:endParaRPr lang="en-US" sz="2500" dirty="0"/>
          </a:p>
        </p:txBody>
      </p:sp>
      <p:sp>
        <p:nvSpPr>
          <p:cNvPr id="4" name="Shape 2"/>
          <p:cNvSpPr/>
          <p:nvPr/>
        </p:nvSpPr>
        <p:spPr>
          <a:xfrm>
            <a:off x="548640" y="1691640"/>
            <a:ext cx="11064240" cy="1051560"/>
          </a:xfrm>
          <a:prstGeom prst="roundRect">
            <a:avLst>
              <a:gd name="adj" fmla="val 6957"/>
            </a:avLst>
          </a:prstGeom>
          <a:solidFill>
            <a:srgbClr val="F4F6F8"/>
          </a:solidFill>
          <a:ln/>
        </p:spPr>
      </p:sp>
      <p:sp>
        <p:nvSpPr>
          <p:cNvPr id="5" name="Shape 3"/>
          <p:cNvSpPr/>
          <p:nvPr/>
        </p:nvSpPr>
        <p:spPr>
          <a:xfrm>
            <a:off x="777240" y="1856232"/>
            <a:ext cx="1371600" cy="365760"/>
          </a:xfrm>
          <a:prstGeom prst="roundRect">
            <a:avLst>
              <a:gd name="adj" fmla="val 50000"/>
            </a:avLst>
          </a:prstGeom>
          <a:solidFill>
            <a:srgbClr val="0B2545"/>
          </a:solidFill>
          <a:ln/>
        </p:spPr>
      </p:sp>
      <p:sp>
        <p:nvSpPr>
          <p:cNvPr id="6" name="Text 4"/>
          <p:cNvSpPr/>
          <p:nvPr/>
        </p:nvSpPr>
        <p:spPr>
          <a:xfrm>
            <a:off x="777240" y="1856232"/>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Setting 1</a:t>
            </a:r>
            <a:endParaRPr lang="en-US" sz="1100" dirty="0"/>
          </a:p>
        </p:txBody>
      </p:sp>
      <p:sp>
        <p:nvSpPr>
          <p:cNvPr id="7" name="Text 5"/>
          <p:cNvSpPr/>
          <p:nvPr/>
        </p:nvSpPr>
        <p:spPr>
          <a:xfrm>
            <a:off x="2331720" y="1828800"/>
            <a:ext cx="9052560" cy="36576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OUC-CGE 5-Fold CV</a:t>
            </a:r>
            <a:endParaRPr lang="en-US" sz="1300" dirty="0"/>
          </a:p>
        </p:txBody>
      </p:sp>
      <p:sp>
        <p:nvSpPr>
          <p:cNvPr id="8" name="Shape 6"/>
          <p:cNvSpPr/>
          <p:nvPr/>
        </p:nvSpPr>
        <p:spPr>
          <a:xfrm>
            <a:off x="777240" y="2286000"/>
            <a:ext cx="10607040" cy="347472"/>
          </a:xfrm>
          <a:prstGeom prst="rect">
            <a:avLst/>
          </a:prstGeom>
          <a:solidFill>
            <a:srgbClr val="132C4E"/>
          </a:solidFill>
          <a:ln/>
        </p:spPr>
      </p:sp>
      <p:sp>
        <p:nvSpPr>
          <p:cNvPr id="9" name="Text 7"/>
          <p:cNvSpPr/>
          <p:nvPr/>
        </p:nvSpPr>
        <p:spPr>
          <a:xfrm>
            <a:off x="914400" y="2286000"/>
            <a:ext cx="10332720" cy="347472"/>
          </a:xfrm>
          <a:prstGeom prst="rect">
            <a:avLst/>
          </a:prstGeom>
          <a:noFill/>
          <a:ln/>
        </p:spPr>
        <p:txBody>
          <a:bodyPr wrap="square" lIns="0" tIns="0" rIns="0" bIns="0" rtlCol="0" anchor="ctr"/>
          <a:lstStyle/>
          <a:p>
            <a:pPr indent="0" marL="0">
              <a:buNone/>
            </a:pPr>
            <a:r>
              <a:rPr lang="en-US" sz="1100" dirty="0">
                <a:solidFill>
                  <a:srgbClr val="9FD6A0"/>
                </a:solidFill>
                <a:latin typeface="Consolas" pitchFamily="34" charset="0"/>
                <a:ea typeface="Consolas" pitchFamily="34" charset="-122"/>
                <a:cs typeface="Consolas" pitchFamily="34" charset="-120"/>
              </a:rPr>
              <a:t>python train.py --config configs/experiment_A/train_ouc.yaml --all-folds</a:t>
            </a:r>
            <a:endParaRPr lang="en-US" sz="1100" dirty="0"/>
          </a:p>
        </p:txBody>
      </p:sp>
      <p:sp>
        <p:nvSpPr>
          <p:cNvPr id="10" name="Shape 8"/>
          <p:cNvSpPr/>
          <p:nvPr/>
        </p:nvSpPr>
        <p:spPr>
          <a:xfrm>
            <a:off x="548640" y="2834640"/>
            <a:ext cx="11064240" cy="1051560"/>
          </a:xfrm>
          <a:prstGeom prst="roundRect">
            <a:avLst>
              <a:gd name="adj" fmla="val 6957"/>
            </a:avLst>
          </a:prstGeom>
          <a:solidFill>
            <a:srgbClr val="F4F6F8"/>
          </a:solidFill>
          <a:ln/>
        </p:spPr>
      </p:sp>
      <p:sp>
        <p:nvSpPr>
          <p:cNvPr id="11" name="Shape 9"/>
          <p:cNvSpPr/>
          <p:nvPr/>
        </p:nvSpPr>
        <p:spPr>
          <a:xfrm>
            <a:off x="777240" y="2999232"/>
            <a:ext cx="1371600" cy="365760"/>
          </a:xfrm>
          <a:prstGeom prst="roundRect">
            <a:avLst>
              <a:gd name="adj" fmla="val 50000"/>
            </a:avLst>
          </a:prstGeom>
          <a:solidFill>
            <a:srgbClr val="0B2545"/>
          </a:solidFill>
          <a:ln/>
        </p:spPr>
      </p:sp>
      <p:sp>
        <p:nvSpPr>
          <p:cNvPr id="12" name="Text 10"/>
          <p:cNvSpPr/>
          <p:nvPr/>
        </p:nvSpPr>
        <p:spPr>
          <a:xfrm>
            <a:off x="777240" y="2999232"/>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Setting 2</a:t>
            </a:r>
            <a:endParaRPr lang="en-US" sz="1100" dirty="0"/>
          </a:p>
        </p:txBody>
      </p:sp>
      <p:sp>
        <p:nvSpPr>
          <p:cNvPr id="13" name="Text 11"/>
          <p:cNvSpPr/>
          <p:nvPr/>
        </p:nvSpPr>
        <p:spPr>
          <a:xfrm>
            <a:off x="2331720" y="2971800"/>
            <a:ext cx="9052560" cy="36576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COLER 5-Fold CV</a:t>
            </a:r>
            <a:endParaRPr lang="en-US" sz="1300" dirty="0"/>
          </a:p>
        </p:txBody>
      </p:sp>
      <p:sp>
        <p:nvSpPr>
          <p:cNvPr id="14" name="Shape 12"/>
          <p:cNvSpPr/>
          <p:nvPr/>
        </p:nvSpPr>
        <p:spPr>
          <a:xfrm>
            <a:off x="777240" y="3429000"/>
            <a:ext cx="10607040" cy="347472"/>
          </a:xfrm>
          <a:prstGeom prst="rect">
            <a:avLst/>
          </a:prstGeom>
          <a:solidFill>
            <a:srgbClr val="132C4E"/>
          </a:solidFill>
          <a:ln/>
        </p:spPr>
      </p:sp>
      <p:sp>
        <p:nvSpPr>
          <p:cNvPr id="15" name="Text 13"/>
          <p:cNvSpPr/>
          <p:nvPr/>
        </p:nvSpPr>
        <p:spPr>
          <a:xfrm>
            <a:off x="914400" y="3429000"/>
            <a:ext cx="10332720" cy="347472"/>
          </a:xfrm>
          <a:prstGeom prst="rect">
            <a:avLst/>
          </a:prstGeom>
          <a:noFill/>
          <a:ln/>
        </p:spPr>
        <p:txBody>
          <a:bodyPr wrap="square" lIns="0" tIns="0" rIns="0" bIns="0" rtlCol="0" anchor="ctr"/>
          <a:lstStyle/>
          <a:p>
            <a:pPr indent="0" marL="0">
              <a:buNone/>
            </a:pPr>
            <a:r>
              <a:rPr lang="en-US" sz="1100" dirty="0">
                <a:solidFill>
                  <a:srgbClr val="9FD6A0"/>
                </a:solidFill>
                <a:latin typeface="Consolas" pitchFamily="34" charset="0"/>
                <a:ea typeface="Consolas" pitchFamily="34" charset="-122"/>
                <a:cs typeface="Consolas" pitchFamily="34" charset="-120"/>
              </a:rPr>
              <a:t>python train.py --config configs/experiment_A/train_coler.yaml --all-folds</a:t>
            </a:r>
            <a:endParaRPr lang="en-US" sz="1100" dirty="0"/>
          </a:p>
        </p:txBody>
      </p:sp>
      <p:sp>
        <p:nvSpPr>
          <p:cNvPr id="16" name="Shape 14"/>
          <p:cNvSpPr/>
          <p:nvPr/>
        </p:nvSpPr>
        <p:spPr>
          <a:xfrm>
            <a:off x="548640" y="3977640"/>
            <a:ext cx="11064240" cy="1051560"/>
          </a:xfrm>
          <a:prstGeom prst="roundRect">
            <a:avLst>
              <a:gd name="adj" fmla="val 6957"/>
            </a:avLst>
          </a:prstGeom>
          <a:solidFill>
            <a:srgbClr val="F4F6F8"/>
          </a:solidFill>
          <a:ln/>
        </p:spPr>
      </p:sp>
      <p:sp>
        <p:nvSpPr>
          <p:cNvPr id="17" name="Shape 15"/>
          <p:cNvSpPr/>
          <p:nvPr/>
        </p:nvSpPr>
        <p:spPr>
          <a:xfrm>
            <a:off x="777240" y="4142232"/>
            <a:ext cx="1371600" cy="365760"/>
          </a:xfrm>
          <a:prstGeom prst="roundRect">
            <a:avLst>
              <a:gd name="adj" fmla="val 50000"/>
            </a:avLst>
          </a:prstGeom>
          <a:solidFill>
            <a:srgbClr val="0B2545"/>
          </a:solidFill>
          <a:ln/>
        </p:spPr>
      </p:sp>
      <p:sp>
        <p:nvSpPr>
          <p:cNvPr id="18" name="Text 16"/>
          <p:cNvSpPr/>
          <p:nvPr/>
        </p:nvSpPr>
        <p:spPr>
          <a:xfrm>
            <a:off x="777240" y="4142232"/>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Setting 3</a:t>
            </a:r>
            <a:endParaRPr lang="en-US" sz="1100" dirty="0"/>
          </a:p>
        </p:txBody>
      </p:sp>
      <p:sp>
        <p:nvSpPr>
          <p:cNvPr id="19" name="Text 17"/>
          <p:cNvSpPr/>
          <p:nvPr/>
        </p:nvSpPr>
        <p:spPr>
          <a:xfrm>
            <a:off x="2331720" y="4114800"/>
            <a:ext cx="9052560" cy="36576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Direct Transfer OUC → COLER</a:t>
            </a:r>
            <a:endParaRPr lang="en-US" sz="1300" dirty="0"/>
          </a:p>
        </p:txBody>
      </p:sp>
      <p:sp>
        <p:nvSpPr>
          <p:cNvPr id="20" name="Shape 18"/>
          <p:cNvSpPr/>
          <p:nvPr/>
        </p:nvSpPr>
        <p:spPr>
          <a:xfrm>
            <a:off x="777240" y="4572000"/>
            <a:ext cx="10607040" cy="347472"/>
          </a:xfrm>
          <a:prstGeom prst="rect">
            <a:avLst/>
          </a:prstGeom>
          <a:solidFill>
            <a:srgbClr val="132C4E"/>
          </a:solidFill>
          <a:ln/>
        </p:spPr>
      </p:sp>
      <p:sp>
        <p:nvSpPr>
          <p:cNvPr id="21" name="Text 19"/>
          <p:cNvSpPr/>
          <p:nvPr/>
        </p:nvSpPr>
        <p:spPr>
          <a:xfrm>
            <a:off x="914400" y="4572000"/>
            <a:ext cx="10332720" cy="347472"/>
          </a:xfrm>
          <a:prstGeom prst="rect">
            <a:avLst/>
          </a:prstGeom>
          <a:noFill/>
          <a:ln/>
        </p:spPr>
        <p:txBody>
          <a:bodyPr wrap="square" lIns="0" tIns="0" rIns="0" bIns="0" rtlCol="0" anchor="ctr"/>
          <a:lstStyle/>
          <a:p>
            <a:pPr indent="0" marL="0">
              <a:buNone/>
            </a:pPr>
            <a:r>
              <a:rPr lang="en-US" sz="1100" dirty="0">
                <a:solidFill>
                  <a:srgbClr val="9FD6A0"/>
                </a:solidFill>
                <a:latin typeface="Consolas" pitchFamily="34" charset="0"/>
                <a:ea typeface="Consolas" pitchFamily="34" charset="-122"/>
                <a:cs typeface="Consolas" pitchFamily="34" charset="-120"/>
              </a:rPr>
              <a:t>python evaluate.py --config configs/experiment_A/eval_ouc_to_coler.yaml</a:t>
            </a:r>
            <a:endParaRPr lang="en-US" sz="1100" dirty="0"/>
          </a:p>
        </p:txBody>
      </p:sp>
      <p:sp>
        <p:nvSpPr>
          <p:cNvPr id="22" name="Shape 20"/>
          <p:cNvSpPr/>
          <p:nvPr/>
        </p:nvSpPr>
        <p:spPr>
          <a:xfrm>
            <a:off x="548640" y="5120640"/>
            <a:ext cx="11064240" cy="1051560"/>
          </a:xfrm>
          <a:prstGeom prst="roundRect">
            <a:avLst>
              <a:gd name="adj" fmla="val 6957"/>
            </a:avLst>
          </a:prstGeom>
          <a:solidFill>
            <a:srgbClr val="F4F6F8"/>
          </a:solidFill>
          <a:ln/>
        </p:spPr>
      </p:sp>
      <p:sp>
        <p:nvSpPr>
          <p:cNvPr id="23" name="Shape 21"/>
          <p:cNvSpPr/>
          <p:nvPr/>
        </p:nvSpPr>
        <p:spPr>
          <a:xfrm>
            <a:off x="777240" y="5285232"/>
            <a:ext cx="1371600" cy="365760"/>
          </a:xfrm>
          <a:prstGeom prst="roundRect">
            <a:avLst>
              <a:gd name="adj" fmla="val 50000"/>
            </a:avLst>
          </a:prstGeom>
          <a:solidFill>
            <a:srgbClr val="0B2545"/>
          </a:solidFill>
          <a:ln/>
        </p:spPr>
      </p:sp>
      <p:sp>
        <p:nvSpPr>
          <p:cNvPr id="24" name="Text 22"/>
          <p:cNvSpPr/>
          <p:nvPr/>
        </p:nvSpPr>
        <p:spPr>
          <a:xfrm>
            <a:off x="777240" y="5285232"/>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Setting 4</a:t>
            </a:r>
            <a:endParaRPr lang="en-US" sz="1100" dirty="0"/>
          </a:p>
        </p:txBody>
      </p:sp>
      <p:sp>
        <p:nvSpPr>
          <p:cNvPr id="25" name="Text 23"/>
          <p:cNvSpPr/>
          <p:nvPr/>
        </p:nvSpPr>
        <p:spPr>
          <a:xfrm>
            <a:off x="2331720" y="5257800"/>
            <a:ext cx="9052560" cy="365760"/>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Direct Transfer COLER → OUC</a:t>
            </a:r>
            <a:endParaRPr lang="en-US" sz="1300" dirty="0"/>
          </a:p>
        </p:txBody>
      </p:sp>
      <p:sp>
        <p:nvSpPr>
          <p:cNvPr id="26" name="Shape 24"/>
          <p:cNvSpPr/>
          <p:nvPr/>
        </p:nvSpPr>
        <p:spPr>
          <a:xfrm>
            <a:off x="777240" y="5715000"/>
            <a:ext cx="10607040" cy="347472"/>
          </a:xfrm>
          <a:prstGeom prst="rect">
            <a:avLst/>
          </a:prstGeom>
          <a:solidFill>
            <a:srgbClr val="132C4E"/>
          </a:solidFill>
          <a:ln/>
        </p:spPr>
      </p:sp>
      <p:sp>
        <p:nvSpPr>
          <p:cNvPr id="27" name="Text 25"/>
          <p:cNvSpPr/>
          <p:nvPr/>
        </p:nvSpPr>
        <p:spPr>
          <a:xfrm>
            <a:off x="914400" y="5715000"/>
            <a:ext cx="10332720" cy="347472"/>
          </a:xfrm>
          <a:prstGeom prst="rect">
            <a:avLst/>
          </a:prstGeom>
          <a:noFill/>
          <a:ln/>
        </p:spPr>
        <p:txBody>
          <a:bodyPr wrap="square" lIns="0" tIns="0" rIns="0" bIns="0" rtlCol="0" anchor="ctr"/>
          <a:lstStyle/>
          <a:p>
            <a:pPr indent="0" marL="0">
              <a:buNone/>
            </a:pPr>
            <a:r>
              <a:rPr lang="en-US" sz="1100" dirty="0">
                <a:solidFill>
                  <a:srgbClr val="9FD6A0"/>
                </a:solidFill>
                <a:latin typeface="Consolas" pitchFamily="34" charset="0"/>
                <a:ea typeface="Consolas" pitchFamily="34" charset="-122"/>
                <a:cs typeface="Consolas" pitchFamily="34" charset="-120"/>
              </a:rPr>
              <a:t>python evaluate.py --config configs/experiment_A/eval_coler_to_ouc.yaml</a:t>
            </a:r>
            <a:endParaRPr lang="en-US" sz="1100" dirty="0"/>
          </a:p>
        </p:txBody>
      </p:sp>
      <p:sp>
        <p:nvSpPr>
          <p:cNvPr id="28" name="Text 26"/>
          <p:cNvSpPr/>
          <p:nvPr/>
        </p:nvSpPr>
        <p:spPr>
          <a:xfrm>
            <a:off x="11368735" y="6400800"/>
            <a:ext cx="457200" cy="320040"/>
          </a:xfrm>
          <a:prstGeom prst="rect">
            <a:avLst/>
          </a:prstGeom>
          <a:noFill/>
          <a:ln/>
        </p:spPr>
        <p:txBody>
          <a:bodyPr wrap="square" lIns="0" tIns="0" rIns="0" bIns="0" rtlCol="0" anchor="ctr"/>
          <a:lstStyle/>
          <a:p>
            <a:pPr algn="r" indent="0" marL="0">
              <a:buNone/>
            </a:pPr>
            <a:r>
              <a:rPr lang="en-US" sz="1000" dirty="0">
                <a:solidFill>
                  <a:srgbClr val="6B7785"/>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2026-08-08T18:46:48Z</dcterms:created>
  <dcterms:modified xsi:type="dcterms:W3CDTF">2026-08-08T18:46:48Z</dcterms:modified>
</cp:coreProperties>
</file>