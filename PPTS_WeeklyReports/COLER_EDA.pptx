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Disengaged</c:v>
                  </c:pt>
                  <c:pt idx="1">
                    <c:v>Normal</c:v>
                  </c:pt>
                  <c:pt idx="2">
                    <c:v>Engaged</c:v>
                  </c:pt>
                  <c:pt idx="3">
                    <c:v>Very Engaged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1162</c:v>
                </c:pt>
                <c:pt idx="1">
                  <c:v>807</c:v>
                </c:pt>
                <c:pt idx="2">
                  <c:v>1052</c:v>
                </c:pt>
                <c:pt idx="3">
                  <c:v>903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6350" cap="flat">
              <a:solidFill>
                <a:srgbClr val="D4D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Very Engaged</c:v>
                </c:pt>
              </c:strCache>
            </c:strRef>
          </c:tx>
          <c:spPr>
            <a:solidFill>
              <a:srgbClr val="1565C0"/>
            </a:solidFill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  <c:pt idx="12">
                    <c:v>t13</c:v>
                  </c:pt>
                  <c:pt idx="13">
                    <c:v>t14</c:v>
                  </c:pt>
                  <c:pt idx="14">
                    <c:v>t15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0.12</c:v>
                </c:pt>
                <c:pt idx="1">
                  <c:v>0.18</c:v>
                </c:pt>
                <c:pt idx="2">
                  <c:v>0.42</c:v>
                </c:pt>
                <c:pt idx="3">
                  <c:v>0.38</c:v>
                </c:pt>
                <c:pt idx="4">
                  <c:v>0.55</c:v>
                </c:pt>
                <c:pt idx="5">
                  <c:v>0.3</c:v>
                </c:pt>
                <c:pt idx="6">
                  <c:v>0.48</c:v>
                </c:pt>
                <c:pt idx="7">
                  <c:v>0.6</c:v>
                </c:pt>
                <c:pt idx="8">
                  <c:v>0.35</c:v>
                </c:pt>
                <c:pt idx="9">
                  <c:v>0.52</c:v>
                </c:pt>
                <c:pt idx="10">
                  <c:v>0.28</c:v>
                </c:pt>
                <c:pt idx="11">
                  <c:v>0.44</c:v>
                </c:pt>
                <c:pt idx="12">
                  <c:v>0.38</c:v>
                </c:pt>
                <c:pt idx="13">
                  <c:v>0.5</c:v>
                </c:pt>
                <c:pt idx="14">
                  <c:v>0.45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Engaged</c:v>
                </c:pt>
              </c:strCache>
            </c:strRef>
          </c:tx>
          <c:spPr>
            <a:solidFill>
              <a:srgbClr val="2E7D32"/>
            </a:solidFill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  <c:pt idx="12">
                    <c:v>t13</c:v>
                  </c:pt>
                  <c:pt idx="13">
                    <c:v>t14</c:v>
                  </c:pt>
                  <c:pt idx="14">
                    <c:v>t15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0.08</c:v>
                </c:pt>
                <c:pt idx="1">
                  <c:v>0.14</c:v>
                </c:pt>
                <c:pt idx="2">
                  <c:v>0.22</c:v>
                </c:pt>
                <c:pt idx="3">
                  <c:v>0.18</c:v>
                </c:pt>
                <c:pt idx="4">
                  <c:v>0.25</c:v>
                </c:pt>
                <c:pt idx="5">
                  <c:v>0.2</c:v>
                </c:pt>
                <c:pt idx="6">
                  <c:v>0.28</c:v>
                </c:pt>
                <c:pt idx="7">
                  <c:v>0.32</c:v>
                </c:pt>
                <c:pt idx="8">
                  <c:v>0.22</c:v>
                </c:pt>
                <c:pt idx="9">
                  <c:v>0.3</c:v>
                </c:pt>
                <c:pt idx="10">
                  <c:v>0.18</c:v>
                </c:pt>
                <c:pt idx="11">
                  <c:v>0.25</c:v>
                </c:pt>
                <c:pt idx="12">
                  <c:v>0.22</c:v>
                </c:pt>
                <c:pt idx="13">
                  <c:v>0.28</c:v>
                </c:pt>
                <c:pt idx="14">
                  <c:v>0.24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  <c:pt idx="12">
                    <c:v>t13</c:v>
                  </c:pt>
                  <c:pt idx="13">
                    <c:v>t14</c:v>
                  </c:pt>
                  <c:pt idx="14">
                    <c:v>t15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0.05</c:v>
                </c:pt>
                <c:pt idx="1">
                  <c:v>0.08</c:v>
                </c:pt>
                <c:pt idx="2">
                  <c:v>0.1</c:v>
                </c:pt>
                <c:pt idx="3">
                  <c:v>0.07</c:v>
                </c:pt>
                <c:pt idx="4">
                  <c:v>0.12</c:v>
                </c:pt>
                <c:pt idx="5">
                  <c:v>0.09</c:v>
                </c:pt>
                <c:pt idx="6">
                  <c:v>0.11</c:v>
                </c:pt>
                <c:pt idx="7">
                  <c:v>0.13</c:v>
                </c:pt>
                <c:pt idx="8">
                  <c:v>0.1</c:v>
                </c:pt>
                <c:pt idx="9">
                  <c:v>0.12</c:v>
                </c:pt>
                <c:pt idx="10">
                  <c:v>0.08</c:v>
                </c:pt>
                <c:pt idx="11">
                  <c:v>0.1</c:v>
                </c:pt>
                <c:pt idx="12">
                  <c:v>0.09</c:v>
                </c:pt>
                <c:pt idx="13">
                  <c:v>0.11</c:v>
                </c:pt>
                <c:pt idx="14">
                  <c:v>0.1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Disengaged</c:v>
                </c:pt>
              </c:strCache>
            </c:strRef>
          </c:tx>
          <c:spPr>
            <a:solidFill>
              <a:srgbClr val="C62828"/>
            </a:solidFill>
            <a:ln w="3175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  <c:pt idx="12">
                    <c:v>t13</c:v>
                  </c:pt>
                  <c:pt idx="13">
                    <c:v>t14</c:v>
                  </c:pt>
                  <c:pt idx="14">
                    <c:v>t15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0.02</c:v>
                </c:pt>
                <c:pt idx="1">
                  <c:v>0.03</c:v>
                </c:pt>
                <c:pt idx="2">
                  <c:v>0.03</c:v>
                </c:pt>
                <c:pt idx="3">
                  <c:v>0.02</c:v>
                </c:pt>
                <c:pt idx="4">
                  <c:v>0.04</c:v>
                </c:pt>
                <c:pt idx="5">
                  <c:v>0.02</c:v>
                </c:pt>
                <c:pt idx="6">
                  <c:v>0.03</c:v>
                </c:pt>
                <c:pt idx="7">
                  <c:v>0.02</c:v>
                </c:pt>
                <c:pt idx="8">
                  <c:v>0.03</c:v>
                </c:pt>
                <c:pt idx="9">
                  <c:v>0.02</c:v>
                </c:pt>
                <c:pt idx="10">
                  <c:v>0.02</c:v>
                </c:pt>
                <c:pt idx="11">
                  <c:v>0.03</c:v>
                </c:pt>
                <c:pt idx="12">
                  <c:v>0.02</c:v>
                </c:pt>
                <c:pt idx="13">
                  <c:v>0.02</c:v>
                </c:pt>
                <c:pt idx="14">
                  <c:v>0.03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4D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COLER: a multimodal dataset from Vietnamese classrooms designed to recognize student engagement at both individual and group levels across 4 ordered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COLER dataset combines four synchronized streams: skeletal pose, behavioral RGB video, object detection context, and classroom layout metadata. This multimodal design captures complementary signals of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audit: 18,546 files scanned. 3,924 validated individual samples and 740 group records. Class distribution is moderately imbalanced — Disengaged (1,162) &gt; Engaged (1,052) &gt; Very Engaged (903) &gt; Normal (807).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desk configurations: Cluster and Hexagonal layouts promote collaborative interaction and predict higher engagement. Traditional rows create passive reception contexts associated with lower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 test confirms the desk layout-engagement association is statistically significant (p &lt; 0.001). Collaborative seating geometries (cluster and hexagonal) are associated with significantly higher engagement rates than traditional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anatomical joints tracked over 15 temporal frames. Engagement signatures are visually and statistically distinct: hand-raising (hand near head = Very Engaged), forward lean (Engaged), neutral seated (Normal), slumped with minimal movement (Disengaged).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engineered features from pose sequences. Bounding box area tracks body expansiveness. Joint velocity (r=+0.54) measures kinematic activity. Wrist-head distance (r=-0.56) is a direct hand-raising proxy — the single strongest individual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Clips downsampled uniformly to 15 frames. Motion Intensity Ratio (MIR) via frame differencing shows clear class separation: Very Engaged shows large spikes (gesture events), Disengaged is near-flat. This is a discriminative temporal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OWL-ViT detects objects in each frame. Educational tools (notebooks, pens) are positive engagement signals. Distractors (phones, tablets) are negative signals. Distractor count is a strong predictor of off-task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Wrist-head distance (r=-0.56) is the strongest single predictor of engagement. Joint velocity (r=+0.54) is the strongest positive predictor. Distractor object count (r=-0.48) confirms OWL-ViT scene context adds independent signal. All six features contribute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preprocess to T=15, extract engineered features, encode skeletal graph via ST-GCN, model temporal dependencies with RNN/Transformer, then fuse all modalities via late attention fusion for final ordinal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modeling decision: engagement classes are ordinal (0 &lt; 1 &lt; 2 &lt; 3). Standard cross-entropy ignores this structure. Ordinal Cross-Entropy, CORAL Loss, or Earth Mover's Distance all enforce proportional penalties and produce monotonic confusion matrices. Evaluate with QWK, not just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554480" cy="1554480"/>
          </a:xfrm>
          <a:prstGeom prst="ellipse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743200" y="228600"/>
            <a:ext cx="1554480" cy="1554480"/>
          </a:xfrm>
          <a:prstGeom prst="ellipse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0604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754880" y="228600"/>
            <a:ext cx="1554480" cy="1554480"/>
          </a:xfrm>
          <a:prstGeom prst="ellipse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"/>
            <a:ext cx="1554480" cy="1554480"/>
          </a:xfrm>
          <a:prstGeom prst="ellipse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ENGAGED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COLER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Learning Engagement Recognition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Exploratory Data Analysis &amp; Classifier Recommendations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Classroom Dataset  ·  4 Engagement Classes  ·  3,924 Individual + 740 Group Samples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Multimodal Streams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collaborative classroom dynamics analyzed across four synchronized data modalities: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93392" cy="3520440"/>
          </a:xfrm>
          <a:prstGeom prst="roundRect">
            <a:avLst>
              <a:gd name="adj" fmla="val 4587"/>
            </a:avLst>
          </a:prstGeom>
          <a:solidFill>
            <a:srgbClr val="EEF0FC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389888"/>
            <a:ext cx="493776" cy="49377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389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J=13 anatomical joints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over T=15 frames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(nose, eyes, ears, shoulders,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elbows, wrists, hips)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325880"/>
            <a:ext cx="1993392" cy="3520440"/>
          </a:xfrm>
          <a:prstGeom prst="roundRect">
            <a:avLst>
              <a:gd name="adj" fmla="val 4587"/>
            </a:avLst>
          </a:prstGeom>
          <a:solidFill>
            <a:srgbClr val="E3F4FB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89888"/>
            <a:ext cx="493776" cy="49377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89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9385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Clips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42032" y="254203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video clips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down-sampled 30fps→15fps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temporal sampling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T=15 frames per clip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325880"/>
            <a:ext cx="1993392" cy="3520440"/>
          </a:xfrm>
          <a:prstGeom prst="roundRect">
            <a:avLst>
              <a:gd name="adj" fmla="val 4587"/>
            </a:avLst>
          </a:prstGeom>
          <a:solidFill>
            <a:srgbClr val="E3F5F2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1389888"/>
            <a:ext cx="493776" cy="49377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1389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9385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Tags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18304" y="254203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detections: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pens (educational)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tablets (distractor)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Scene-level context per frame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325880"/>
            <a:ext cx="1993392" cy="3520440"/>
          </a:xfrm>
          <a:prstGeom prst="roundRect">
            <a:avLst>
              <a:gd name="adj" fmla="val 4587"/>
            </a:avLst>
          </a:prstGeom>
          <a:solidFill>
            <a:srgbClr val="FEF8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2944" y="1389888"/>
            <a:ext cx="493776" cy="49377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1389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19385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Layout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94576" y="254203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student groups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desk configurations: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· Traditional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Tables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95144" y="3081528"/>
            <a:ext cx="155448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471416" y="3081528"/>
            <a:ext cx="155448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647688" y="3081528"/>
            <a:ext cx="155448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Auditing &amp; Quality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784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18,546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 Scanned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audit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9784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14,978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Image Files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50592" y="184708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frame format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9784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Image Files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6864" y="184708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frames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9784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03136" y="184708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metadata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3591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Sample Counts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2359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— Individual Level (3,924)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3840480" cy="896112"/>
          </a:xfrm>
          <a:prstGeom prst="roundRect">
            <a:avLst>
              <a:gd name="adj" fmla="val 10204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3,924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743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Individual-Level Samples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85616"/>
            <a:ext cx="3840480" cy="896112"/>
          </a:xfrm>
          <a:prstGeom prst="roundRect">
            <a:avLst>
              <a:gd name="adj" fmla="val 10204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Samples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0" y="2724912"/>
          <a:ext cx="4206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Environment &amp; Student Behavior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desk configuration acts as a latent behavioral moderator — shaping interaction, visibility, and peer engagement.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779776" cy="3566160"/>
          </a:xfrm>
          <a:prstGeom prst="roundRect">
            <a:avLst>
              <a:gd name="adj" fmla="val 3289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1399032"/>
            <a:ext cx="2633472" cy="475488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3990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Desks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bias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67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peer interaction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collaboration zones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Discussion-first seating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group dynamics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46177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Engaged / Very Engaged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325880"/>
            <a:ext cx="2779776" cy="3566160"/>
          </a:xfrm>
          <a:prstGeom prst="roundRect">
            <a:avLst>
              <a:gd name="adj" fmla="val 3289"/>
            </a:avLst>
          </a:prstGeom>
          <a:solidFill>
            <a:srgbClr val="FBE9E7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399032"/>
            <a:ext cx="2633472" cy="475488"/>
          </a:xfrm>
          <a:prstGeom prst="roundRect">
            <a:avLst>
              <a:gd name="adj" fmla="val 1923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3990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Desks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0128" y="193852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bias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9856" y="2359152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267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Row-facing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19856" y="2761488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reception mode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9856" y="3163824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peer interaction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9856" y="3566160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Instructor-centered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46177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Disengaged / Normal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1325880"/>
            <a:ext cx="2779776" cy="3566160"/>
          </a:xfrm>
          <a:prstGeom prst="roundRect">
            <a:avLst>
              <a:gd name="adj" fmla="val 3289"/>
            </a:avLst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54496" y="1399032"/>
            <a:ext cx="2633472" cy="475488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3990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Tables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72784" y="193852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bias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82512" y="235915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267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Multi-directional seating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82512" y="27614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hub structure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82512" y="316382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active discussion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82512" y="356616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group roles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72784" y="46177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Engaged / Very Engaged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Configurations Shape Engagement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of Independence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3703320"/>
          </a:xfrm>
          <a:prstGeom prst="roundRect">
            <a:avLst>
              <a:gd name="adj" fmla="val 3279"/>
            </a:avLst>
          </a:prstGeom>
          <a:solidFill>
            <a:srgbClr val="1A3560"/>
          </a:solidFill>
          <a:ln w="12700">
            <a:solidFill>
              <a:srgbClr val="3A5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261872"/>
            <a:ext cx="685800" cy="685800"/>
          </a:xfrm>
          <a:prstGeom prst="ellipse">
            <a:avLst/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029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Desk configuration has NO statistically significant association with student engagement level.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329184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seating arrangement is independent of observed engagement distribution.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788920" cy="3703320"/>
          </a:xfrm>
          <a:prstGeom prst="roundRect">
            <a:avLst>
              <a:gd name="adj" fmla="val 3279"/>
            </a:avLst>
          </a:prstGeom>
          <a:solidFill>
            <a:srgbClr val="1A305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261872"/>
            <a:ext cx="685800" cy="6858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46704" y="2029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Formula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46704" y="242316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Σ (O − E)² / 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46704" y="329184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Observed frequency per cell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Expected frequency under independence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freedom: (rows−1)×(cols−1)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188720"/>
            <a:ext cx="2788920" cy="3703320"/>
          </a:xfrm>
          <a:prstGeom prst="roundRect">
            <a:avLst>
              <a:gd name="adj" fmla="val 3279"/>
            </a:avLst>
          </a:prstGeom>
          <a:solidFill>
            <a:srgbClr val="0D2B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1192" y="126187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1192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029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Decision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layouts (Cluster + Hexagonal) produce significantly higher engagement rates than Traditional row-desks.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43F72"/>
          </a:solidFill>
          <a:ln w="12700">
            <a:solidFill>
              <a:srgbClr val="243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82896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classroom layout design is a non-trivial moderator of student engagement and should be encoded as a feature in any multimodal model.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Kinematics: Skeletal Graph Dynamics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Topology (J = 13 anatomical landmarks)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36192"/>
            <a:ext cx="329184" cy="3291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Nose, Left Eye, Right Eye, Left Ear, Right 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286000"/>
            <a:ext cx="329184" cy="329184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Torso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450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Shoulder, Right Shoulder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3035808"/>
            <a:ext cx="329184" cy="329184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&amp; Hands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Elbow, Right Elbow, Left Wrist, Right Wrist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785616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Hip, Right 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074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15 temporal frames per sequence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gradient Purple (t=0) → Yellow (t=14) visualizes joint trajectory paths over time.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932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Posture Signatures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E8F0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4264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ENGAGED — Hand-Raising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7190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joints elevated above shoulder line; hand-to-nose distance minimized. Distinct upward trajectory in T=5–10 frames. Strong kinematic signature.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228600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340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— Active Lean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26334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torso lean; shoulder joints displaced toward instructor. Moderate joint velocity, sustained across all T frames. Note-taking wrist oscillation.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20040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FEF3E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2552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Neutral Seated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5478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posture; shoulder-hip alignment near vertical. Low joint velocity. Minimal wrist-head distance variance across frames.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411480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41696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DISENGAGED — Slump Posture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44622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curvature visible via hip-shoulder-nose angular deviation. Near-zero joint velocity. Head drops toward desk; eye-level lowers consistently.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Skeleton Sequences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engineered kinematics features capture posture, motion, and spatial arm displacement: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641080" cy="1170432"/>
          </a:xfrm>
          <a:prstGeom prst="roundRect">
            <a:avLst>
              <a:gd name="adj" fmla="val 7813"/>
            </a:avLst>
          </a:prstGeom>
          <a:solidFill>
            <a:srgbClr val="1A1F4A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36192"/>
            <a:ext cx="493776" cy="49377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36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Area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Area(t) = x_range(t) × y_range(t)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9568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body compactness vs. expansiveness. Disengaged students exhibit smaller bounding boxes (slumped, contracted). Engaged students expand their spatial footprint.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536192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5C6BC0">
              <a:alpha val="25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with engagement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641080" cy="1170432"/>
          </a:xfrm>
          <a:prstGeom prst="roundRect">
            <a:avLst>
              <a:gd name="adj" fmla="val 7813"/>
            </a:avLst>
          </a:prstGeom>
          <a:solidFill>
            <a:srgbClr val="0D2B3B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798064"/>
            <a:ext cx="493776" cy="49377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98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Joint Velocity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vⱼ(t) = √[(xⱼ(t)−xⱼ(t−1))² + (yⱼ(t)−yⱼ(t−1))²]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per-frame displacement of each joint. Active students gesture, write, and shift; disengaged students are motionless. Pearson r = +0.54 with engagement label.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2798064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0288D1">
              <a:alpha val="25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7980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+0.54 with engagement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8641080" cy="1170432"/>
          </a:xfrm>
          <a:prstGeom prst="roundRect">
            <a:avLst>
              <a:gd name="adj" fmla="val 7813"/>
            </a:avLst>
          </a:prstGeom>
          <a:solidFill>
            <a:srgbClr val="052B26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59936"/>
            <a:ext cx="493776" cy="49377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59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Wrist-Head Displacement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33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d_wrist(t) = min(dist(Wrist_L, Nose), dist(Wrist_R, Nose))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hand-raising behavior: smaller distance = wrist near face = hand raised. A direct proxy for active classroom participation. Pearson r = −0.56.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4059936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00796B">
              <a:alpha val="25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0599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−0.56 with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Video &amp; Motion Intensity Profiling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Uniform Downsampling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clips: 30 fps → Sampled to T=15 frames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idx_k = round(k × (N−1)/(T−1))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= 0, 1, …,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703320" cy="0"/>
          </a:xfrm>
          <a:prstGeom prst="line">
            <a:avLst/>
          </a:prstGeom>
          <a:noFill/>
          <a:ln w="12700">
            <a:solidFill>
              <a:srgbClr val="3A5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Intensity Ratio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Frame-differencing across consecutive frames: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ΔI_t = |I_t − I_(t−1)|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 = |{ΔI_t &gt; θ}| / 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θ filters noise. MIR ≈ 0 → static (Disengaged).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spike → gesture event (Very Engaged).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Signatures by Engagement Class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663440" y="1325880"/>
          <a:ext cx="4160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Object Detection (OWL-ViT Scene Profiles)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detects scene-level objects per frame and categorizes them into two behavioral signal types: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TOOLS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SIGNALS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28600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1762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Textbook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246888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on-task indicator. High count correlates strongly with Engaged / Very Engaged classes.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15468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04495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/ Pencil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" y="33375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note-taking proxy. Presence in frame correlates with low Disengaged prevalence.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402336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91363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Worksheet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" y="420624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Task-completion context. Present in collaborative desk configurations primarily.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1298448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FBE9E7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129844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29844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OBJECTS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27448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OFF-TASK INDICATORS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10328" y="228600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21762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0368" y="246888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off-task signal. Phone presence in frame highly predicts Disengaged / Normal class labels.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0328" y="315468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04495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iPad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30368" y="33375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object: educational context (textbook app) vs. social media distractor. Modeled with scene context.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0328" y="402336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391363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Earphones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30368" y="420624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disengagement indicator. Presence strongly associated with self-directed off-task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Multimodal Pearson 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encoding: 0=Disengaged  1=Normal  2=Engaged  3=Very Engaged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8641080" cy="3611880"/>
          </a:xfrm>
          <a:prstGeom prst="roundRect">
            <a:avLst>
              <a:gd name="adj" fmla="val 2532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9080" y="1207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Engagement Level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35240" y="1207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8394192" cy="0"/>
          </a:xfrm>
          <a:prstGeom prst="line">
            <a:avLst/>
          </a:prstGeom>
          <a:noFill/>
          <a:ln w="12700">
            <a:solidFill>
              <a:srgbClr val="3A5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Wrist-Head Displacement (F3)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9080" y="170992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7957" y="1709928"/>
            <a:ext cx="1945843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167128"/>
            <a:ext cx="8394192" cy="0"/>
          </a:xfrm>
          <a:prstGeom prst="line">
            <a:avLst/>
          </a:prstGeom>
          <a:noFill/>
          <a:ln w="6350">
            <a:solidFill>
              <a:srgbClr val="3A5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11480" y="2167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Joint Velocity (F2)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69080" y="221284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212848"/>
            <a:ext cx="1876349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167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670048"/>
            <a:ext cx="8394192" cy="0"/>
          </a:xfrm>
          <a:prstGeom prst="line">
            <a:avLst/>
          </a:prstGeom>
          <a:noFill/>
          <a:ln w="6350">
            <a:solidFill>
              <a:srgbClr val="3A52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2670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Area (F1)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69080" y="271576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2715768"/>
            <a:ext cx="1077163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670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3172968"/>
            <a:ext cx="8394192" cy="0"/>
          </a:xfrm>
          <a:prstGeom prst="line">
            <a:avLst/>
          </a:prstGeom>
          <a:noFill/>
          <a:ln w="6350">
            <a:solidFill>
              <a:srgbClr val="3A528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1480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Object Count (OWL-ViT)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69080" y="321868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3218688"/>
            <a:ext cx="1528877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3675888"/>
            <a:ext cx="8394192" cy="0"/>
          </a:xfrm>
          <a:prstGeom prst="line">
            <a:avLst/>
          </a:prstGeom>
          <a:noFill/>
          <a:ln w="6350">
            <a:solidFill>
              <a:srgbClr val="3A528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11480" y="3675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Object Count (OWL-ViT)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069080" y="372160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5934" y="3721608"/>
            <a:ext cx="1667866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3675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-0.48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4178808"/>
            <a:ext cx="8394192" cy="0"/>
          </a:xfrm>
          <a:prstGeom prst="line">
            <a:avLst/>
          </a:prstGeom>
          <a:noFill/>
          <a:ln w="6350">
            <a:solidFill>
              <a:srgbClr val="3A528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11480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Layout Score (Chi-Square validated)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069080" y="4224528"/>
            <a:ext cx="3474720" cy="292608"/>
          </a:xfrm>
          <a:prstGeom prst="rect">
            <a:avLst/>
          </a:prstGeom>
          <a:solidFill>
            <a:srgbClr val="E2EAF6"/>
          </a:solidFill>
          <a:ln w="12700">
            <a:solidFill>
              <a:srgbClr val="E2EA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9080" y="4224528"/>
            <a:ext cx="132039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4178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4617720"/>
            <a:ext cx="25603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599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(movement / activity = engagement)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617720"/>
            <a:ext cx="256032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4599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(proximity / distraction = disengagement)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Deep Learning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grounded in EDA findings: temporal structure, graph topology, and multimodal fusion.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EEF0FC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371600"/>
            <a:ext cx="493776" cy="49377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371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252374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temporal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T=15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filtering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normalization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65376" y="3054096"/>
            <a:ext cx="128016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298448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E3F4FB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1371600"/>
            <a:ext cx="493776" cy="49377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371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19385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84832" y="252374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Area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Velocity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Wrist-Head Distance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object counts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02736" y="3054096"/>
            <a:ext cx="128016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298448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E3F5F2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1371600"/>
            <a:ext cx="493776" cy="49377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8536" y="1371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22192" y="19385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22192" y="252374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Network on J=13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topology 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T=15 frames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0096" y="3054096"/>
            <a:ext cx="128016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298448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FEF8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1371600"/>
            <a:ext cx="493776" cy="49377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1371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9552" y="19385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59552" y="252374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Transformer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for temporal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across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T=15 sequence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77456" y="3054096"/>
            <a:ext cx="128016" cy="0"/>
          </a:xfrm>
          <a:prstGeom prst="line">
            <a:avLst/>
          </a:prstGeom>
          <a:noFill/>
          <a:ln w="19050">
            <a:solidFill>
              <a:srgbClr val="8096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298448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EEF0FC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3256" y="1371600"/>
            <a:ext cx="493776" cy="49377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3256" y="1371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19385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296912" y="252374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of pose,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MIR, object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layout encoding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attention gate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846320"/>
            <a:ext cx="8641080" cy="182880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641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4-class ordinal engagement prediction  —  Disengaged  |  Normal  |  Engaged  |  Very Engaged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Label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841248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412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Disengaged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78608" y="1060704"/>
            <a:ext cx="256032" cy="0"/>
          </a:xfrm>
          <a:prstGeom prst="line">
            <a:avLst/>
          </a:prstGeom>
          <a:noFill/>
          <a:ln w="25400">
            <a:solidFill>
              <a:srgbClr val="3A5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841248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8412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Normal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98848" y="1060704"/>
            <a:ext cx="256032" cy="0"/>
          </a:xfrm>
          <a:prstGeom prst="line">
            <a:avLst/>
          </a:prstGeom>
          <a:noFill/>
          <a:ln w="25400">
            <a:solidFill>
              <a:srgbClr val="3A5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41248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412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Engaged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9088" y="1060704"/>
            <a:ext cx="256032" cy="0"/>
          </a:xfrm>
          <a:prstGeom prst="line">
            <a:avLst/>
          </a:prstGeom>
          <a:noFill/>
          <a:ln w="25400">
            <a:solidFill>
              <a:srgbClr val="3A5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841248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8412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Very Engaged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298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Progression  &lt;  &lt;  &lt;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664208"/>
            <a:ext cx="4023360" cy="2971800"/>
          </a:xfrm>
          <a:prstGeom prst="roundRect">
            <a:avLst>
              <a:gd name="adj" fmla="val 3077"/>
            </a:avLst>
          </a:prstGeom>
          <a:solidFill>
            <a:srgbClr val="2D0A0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664208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Standard Categorical Cross-Entropy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230428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212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misclassifications as equal penalty — Disengaged→Very Engaged error costs same as Disengaged→Normal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285292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61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ordinal structure: class 0 and class 3 are treated as equally "different" to class 1 as they are to each other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340156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101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implausible level jumps in predictions with no additional penalty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95020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non-monotonic confusion matrices — a fundamental failure on ordinal tasks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64608" y="1664208"/>
            <a:ext cx="4023360" cy="2971800"/>
          </a:xfrm>
          <a:prstGeom prst="roundRect">
            <a:avLst>
              <a:gd name="adj" fmla="val 3077"/>
            </a:avLst>
          </a:prstGeom>
          <a:solidFill>
            <a:srgbClr val="052B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1664208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Ordinal-Aware Loss Functions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92624" y="2304288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Cross-Entropy Loss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66944" y="25054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errors proportionally to their ordinal distance. Disengaged→Very Engaged incurs 3× the penalty of Disengaged→Normal.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92624" y="310896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Loss (Frank &amp; Hall)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66944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ordinal problem into K-1 binary sub-tasks. Enforces monotonic prediction structure. State-of-the-art for ordinal classification.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92624" y="391363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Earth Mover's Distance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66944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predictions by the cumulative distance from ground-truth class. Naturally aligns with ordinal rank structure.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4663440"/>
            <a:ext cx="8641080" cy="384048"/>
          </a:xfrm>
          <a:prstGeom prst="roundRect">
            <a:avLst>
              <a:gd name="adj" fmla="val 19048"/>
            </a:avLst>
          </a:prstGeom>
          <a:solidFill>
            <a:srgbClr val="243F72"/>
          </a:solidFill>
          <a:ln w="12700">
            <a:solidFill>
              <a:srgbClr val="3A5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681728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Ordinal loss functions align model training with ground-truth class semantics and yield better QWK (Quadratic Weighted Kappa) scores in evaluation.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COLER EDA – Multimodal Classroom Engagement</dc:title>
  <dc:subject>PptxGenJS Presentation</dc:subject>
  <dc:creator>Data Science Team</dc:creator>
  <cp:lastModifiedBy>Data Science Team</cp:lastModifiedBy>
  <cp:revision>1</cp:revision>
  <dcterms:created xsi:type="dcterms:W3CDTF">2026-07-02T09:26:31Z</dcterms:created>
  <dcterms:modified xsi:type="dcterms:W3CDTF">2026-07-02T09:26:31Z</dcterms:modified>
</cp:coreProperties>
</file>